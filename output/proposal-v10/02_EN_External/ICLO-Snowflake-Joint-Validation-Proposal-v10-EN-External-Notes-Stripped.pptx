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2ba281962644bb" /><Relationship Type="http://schemas.openxmlformats.org/officeDocument/2006/relationships/extended-properties" Target="/docProps/app.xml" Id="R9f5e1f59fbd945c5" /><Relationship Type="http://schemas.openxmlformats.org/officeDocument/2006/relationships/officeDocument" Target="/ppt/presentation.xml" Id="R9a045260e44d46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8683d85f7a4c78"/>
  </p:sldMasterIdLst>
  <p:notesMasterIdLst>
    <p:notesMasterId xmlns:r="http://schemas.openxmlformats.org/officeDocument/2006/relationships" r:id="R51ce604f88f44656"/>
  </p:notesMasterIdLst>
  <p:sldIdLst>
    <p:sldId xmlns:r="http://schemas.openxmlformats.org/officeDocument/2006/relationships" id="256" r:id="R612ff83cd4fa4b24"/>
    <p:sldId xmlns:r="http://schemas.openxmlformats.org/officeDocument/2006/relationships" id="257" r:id="Rdb872f216c594c4d"/>
    <p:sldId xmlns:r="http://schemas.openxmlformats.org/officeDocument/2006/relationships" id="258" r:id="Ra2727b3a94914a0f"/>
    <p:sldId xmlns:r="http://schemas.openxmlformats.org/officeDocument/2006/relationships" id="259" r:id="Rd1625dbd558441fc"/>
    <p:sldId xmlns:r="http://schemas.openxmlformats.org/officeDocument/2006/relationships" id="260" r:id="R6de862574be149d4"/>
    <p:sldId xmlns:r="http://schemas.openxmlformats.org/officeDocument/2006/relationships" id="261" r:id="R158dcc62ae674829"/>
    <p:sldId xmlns:r="http://schemas.openxmlformats.org/officeDocument/2006/relationships" id="262" r:id="R7e62e31b9dc5480b"/>
    <p:sldId xmlns:r="http://schemas.openxmlformats.org/officeDocument/2006/relationships" id="263" r:id="Rfd133f8b40864ec7"/>
    <p:sldId xmlns:r="http://schemas.openxmlformats.org/officeDocument/2006/relationships" id="264" r:id="R7dae0d0548f848af"/>
    <p:sldId xmlns:r="http://schemas.openxmlformats.org/officeDocument/2006/relationships" id="265" r:id="R3a9143abac754722"/>
    <p:sldId xmlns:r="http://schemas.openxmlformats.org/officeDocument/2006/relationships" id="266" r:id="R007aeb3cafa84a8e"/>
    <p:sldId xmlns:r="http://schemas.openxmlformats.org/officeDocument/2006/relationships" id="267" r:id="R3eec19a7ec654b33"/>
    <p:sldId xmlns:r="http://schemas.openxmlformats.org/officeDocument/2006/relationships" id="268" r:id="R2b2669b4b5434581"/>
    <p:sldId xmlns:r="http://schemas.openxmlformats.org/officeDocument/2006/relationships" id="269" r:id="R71ca91b728cc47bf"/>
    <p:sldId xmlns:r="http://schemas.openxmlformats.org/officeDocument/2006/relationships" id="270" r:id="R5487e98ceae049ae"/>
    <p:sldId xmlns:r="http://schemas.openxmlformats.org/officeDocument/2006/relationships" id="271" r:id="R004737891da241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981e21b9384786" /><Relationship Type="http://schemas.openxmlformats.org/officeDocument/2006/relationships/slideMaster" Target="/ppt/slideMasters/slideMaster1.xml" Id="Rd48683d85f7a4c78" /><Relationship Type="http://schemas.openxmlformats.org/officeDocument/2006/relationships/notesMaster" Target="/ppt/notesMasters/notesMaster1.xml" Id="R51ce604f88f44656" /><Relationship Type="http://schemas.openxmlformats.org/officeDocument/2006/relationships/presProps" Target="/ppt/presProps.xml" Id="Rd23d332ec82a432a" /><Relationship Type="http://schemas.openxmlformats.org/officeDocument/2006/relationships/tableStyles" Target="/ppt/tableStyles.xml" Id="R591ced1805224915" /><Relationship Type="http://schemas.openxmlformats.org/officeDocument/2006/relationships/slide" Target="/ppt/slides/slide1.xml" Id="R612ff83cd4fa4b24" /><Relationship Type="http://schemas.openxmlformats.org/officeDocument/2006/relationships/slide" Target="/ppt/slides/slide2.xml" Id="Rdb872f216c594c4d" /><Relationship Type="http://schemas.openxmlformats.org/officeDocument/2006/relationships/slide" Target="/ppt/slides/slide3.xml" Id="Ra2727b3a94914a0f" /><Relationship Type="http://schemas.openxmlformats.org/officeDocument/2006/relationships/slide" Target="/ppt/slides/slide4.xml" Id="Rd1625dbd558441fc" /><Relationship Type="http://schemas.openxmlformats.org/officeDocument/2006/relationships/slide" Target="/ppt/slides/slide5.xml" Id="R6de862574be149d4" /><Relationship Type="http://schemas.openxmlformats.org/officeDocument/2006/relationships/slide" Target="/ppt/slides/slide6.xml" Id="R158dcc62ae674829" /><Relationship Type="http://schemas.openxmlformats.org/officeDocument/2006/relationships/slide" Target="/ppt/slides/slide7.xml" Id="R7e62e31b9dc5480b" /><Relationship Type="http://schemas.openxmlformats.org/officeDocument/2006/relationships/slide" Target="/ppt/slides/slide8.xml" Id="Rfd133f8b40864ec7" /><Relationship Type="http://schemas.openxmlformats.org/officeDocument/2006/relationships/slide" Target="/ppt/slides/slide9.xml" Id="R7dae0d0548f848af" /><Relationship Type="http://schemas.openxmlformats.org/officeDocument/2006/relationships/slide" Target="/ppt/slides/slide10.xml" Id="R3a9143abac754722" /><Relationship Type="http://schemas.openxmlformats.org/officeDocument/2006/relationships/slide" Target="/ppt/slides/slide11.xml" Id="R007aeb3cafa84a8e" /><Relationship Type="http://schemas.openxmlformats.org/officeDocument/2006/relationships/slide" Target="/ppt/slides/slide12.xml" Id="R3eec19a7ec654b33" /><Relationship Type="http://schemas.openxmlformats.org/officeDocument/2006/relationships/slide" Target="/ppt/slides/slide13.xml" Id="R2b2669b4b5434581" /><Relationship Type="http://schemas.openxmlformats.org/officeDocument/2006/relationships/slide" Target="/ppt/slides/slide14.xml" Id="R71ca91b728cc47bf" /><Relationship Type="http://schemas.openxmlformats.org/officeDocument/2006/relationships/slide" Target="/ppt/slides/slide15.xml" Id="R5487e98ceae049ae" /><Relationship Type="http://schemas.openxmlformats.org/officeDocument/2006/relationships/slide" Target="/ppt/slides/slide16.xml" Id="R004737891da241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4d869fd35a4d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1.xml" Id="R42ea8a005de94875" /><Relationship Type="http://schemas.openxmlformats.org/officeDocument/2006/relationships/notesMaster" Target="/ppt/notesMasters/notesMaster1.xml" Id="R29eb4ae57102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136006caa40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0cdf6e3edb4a08" /><Relationship Type="http://schemas.openxmlformats.org/officeDocument/2006/relationships/slideLayout" Target="/ppt/slideLayouts/slideLayout1.xml" Id="R48f1f656db5241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1f656db5241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ce90ac5d24191" /><Relationship Type="http://schemas.openxmlformats.org/officeDocument/2006/relationships/image" Target="/ppt/media/image.png" Id="Ra9da77a76a2b464c" /><Relationship Type="http://schemas.openxmlformats.org/officeDocument/2006/relationships/image" Target="/ppt/media/image2.png" Id="R50740946a6de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49e1b36e34c3c" /><Relationship Type="http://schemas.openxmlformats.org/officeDocument/2006/relationships/image" Target="/ppt/media/image3.png" Id="Raa8e4d1ae52a4e14" /><Relationship Type="http://schemas.openxmlformats.org/officeDocument/2006/relationships/image" Target="/ppt/media/image4.png" Id="R72edb8df0aa0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d26395e8047ad" /><Relationship Type="http://schemas.openxmlformats.org/officeDocument/2006/relationships/image" Target="/ppt/media/image5.png" Id="R3a036ac2e8ec4057" /><Relationship Type="http://schemas.openxmlformats.org/officeDocument/2006/relationships/image" Target="/ppt/media/image6.png" Id="R42577866d90147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dc1ddd6a248cb" /><Relationship Type="http://schemas.openxmlformats.org/officeDocument/2006/relationships/image" Target="/ppt/media/image7.png" Id="R9cd22cdb35e74432" /><Relationship Type="http://schemas.openxmlformats.org/officeDocument/2006/relationships/image" Target="/ppt/media/image8.png" Id="Rc040118f9646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b70175cc04816" /><Relationship Type="http://schemas.openxmlformats.org/officeDocument/2006/relationships/image" Target="/ppt/media/image9.png" Id="R7d2233160b3344fe" /><Relationship Type="http://schemas.openxmlformats.org/officeDocument/2006/relationships/image" Target="/ppt/media/image10.png" Id="Raa170997bd2643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f1e8c62044dfc" /><Relationship Type="http://schemas.openxmlformats.org/officeDocument/2006/relationships/image" Target="/ppt/media/image9.png" Id="Rb24898b8e4c94971" /><Relationship Type="http://schemas.openxmlformats.org/officeDocument/2006/relationships/image" Target="/ppt/media/image10.png" Id="Rd6c030b10e0242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2b4fff0544982" /><Relationship Type="http://schemas.openxmlformats.org/officeDocument/2006/relationships/image" Target="/ppt/media/image11.png" Id="R32e2e94cc16b4224" /><Relationship Type="http://schemas.openxmlformats.org/officeDocument/2006/relationships/image" Target="/ppt/media/image12.png" Id="R03da5e8f31e64e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2d4d0f85640d9" /><Relationship Type="http://schemas.openxmlformats.org/officeDocument/2006/relationships/image" Target="/ppt/media/image13.png" Id="Rc451c43351aa4a1d" /><Relationship Type="http://schemas.openxmlformats.org/officeDocument/2006/relationships/image" Target="/ppt/media/image14.png" Id="R8106c52e520e4088" /><Relationship Type="http://schemas.openxmlformats.org/officeDocument/2006/relationships/image" Target="/ppt/media/image15.png" Id="R22e230011d904245" /><Relationship Type="http://schemas.openxmlformats.org/officeDocument/2006/relationships/image" Target="/ppt/media/image16.png" Id="R8dd4f1d251c347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3a355cb964f7d" /><Relationship Type="http://schemas.openxmlformats.org/officeDocument/2006/relationships/image" Target="/ppt/media/image17.png" Id="R6cbecb3732f34a7b" /><Relationship Type="http://schemas.openxmlformats.org/officeDocument/2006/relationships/image" Target="/ppt/media/image18.png" Id="R07759ee85a4e4b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1da34ef24a9b" /><Relationship Type="http://schemas.openxmlformats.org/officeDocument/2006/relationships/image" Target="/ppt/media/image19.png" Id="R832a7dabbcac46fa" /><Relationship Type="http://schemas.openxmlformats.org/officeDocument/2006/relationships/image" Target="/ppt/media/image20.png" Id="Rf6f6fd03fb634d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4d79c29ef4186" /><Relationship Type="http://schemas.openxmlformats.org/officeDocument/2006/relationships/image" Target="/ppt/media/image19.png" Id="R408d77778e104e5a" /><Relationship Type="http://schemas.openxmlformats.org/officeDocument/2006/relationships/image" Target="/ppt/media/image20.png" Id="Rb4b39a1c203742f4" /><Relationship Type="http://schemas.openxmlformats.org/officeDocument/2006/relationships/notesSlide" Target="/ppt/notesSlides/notesSlide1.xml" Id="R4431cd33901042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41ead507343f9" /><Relationship Type="http://schemas.openxmlformats.org/officeDocument/2006/relationships/image" Target="/ppt/media/image7.png" Id="R9af903edbd6d4538" /><Relationship Type="http://schemas.openxmlformats.org/officeDocument/2006/relationships/image" Target="/ppt/media/image8.png" Id="Re1b53552823742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246f9b2a94613" /><Relationship Type="http://schemas.openxmlformats.org/officeDocument/2006/relationships/image" Target="/ppt/media/image21.png" Id="Rc0b9f6fbcafd4d58" /><Relationship Type="http://schemas.openxmlformats.org/officeDocument/2006/relationships/image" Target="/ppt/media/image22.png" Id="Ra86ad385c6ae4e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fb03453f84c8b" /><Relationship Type="http://schemas.openxmlformats.org/officeDocument/2006/relationships/image" Target="/ppt/media/image3.png" Id="R520a57f859ed42d1" /><Relationship Type="http://schemas.openxmlformats.org/officeDocument/2006/relationships/image" Target="/ppt/media/image4.png" Id="Re1eb6689a4b146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d711c67784041" /><Relationship Type="http://schemas.openxmlformats.org/officeDocument/2006/relationships/image" Target="/ppt/media/image23.png" Id="Re2f8cca1b112452a" /><Relationship Type="http://schemas.openxmlformats.org/officeDocument/2006/relationships/image" Target="/ppt/media/image24.png" Id="Re3cb79353fef43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2dffdb99b4255" /><Relationship Type="http://schemas.openxmlformats.org/officeDocument/2006/relationships/image" Target="/ppt/media/image21.png" Id="Rb4e89b89426a4305" /><Relationship Type="http://schemas.openxmlformats.org/officeDocument/2006/relationships/image" Target="/ppt/media/image22.png" Id="R87c7ee021c22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BD1A60-53A0-4782-8C39-0B06DB1F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9B5E8"/>
                </a:solidFill>
              </a:defRPr>
            </a:pPr>
            <a:r>
              <a:rPr sz="900" b="1" i="0">
                <a:solidFill>
                  <a:srgbClr val="29B5E8"/>
                </a:solidFill>
              </a:rPr>
              <a:t>U.S. SELF-FUNDED EMPLOYER DENTAL POC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a77a76a2b464c"/>
          <a:stretch xmlns:a="http://schemas.openxmlformats.org/drawingml/2006/main"/>
        </p:blipFill>
        <p:spPr>
          <a:xfrm xmlns:a="http://schemas.openxmlformats.org/drawingml/2006/main">
            <a:off x="8953500" y="343081"/>
            <a:ext cx="990600" cy="36158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ECFF9-4C0D-477F-8642-85E57708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B8C4D8"/>
                </a:solidFill>
              </a:defRPr>
            </a:pPr>
            <a:r>
              <a:rPr sz="1275" b="1" i="0">
                <a:solidFill>
                  <a:srgbClr val="B8C4D8"/>
                </a:solidFill>
              </a:rPr>
              <a:t>×</a:t>
            </a:r>
          </a:p>
        </p:txBody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40946a6de4103"/>
          <a:stretch xmlns:a="http://schemas.openxmlformats.org/drawingml/2006/main"/>
        </p:blipFill>
        <p:spPr>
          <a:xfrm xmlns:a="http://schemas.openxmlformats.org/drawingml/2006/main">
            <a:off x="10497856" y="285750"/>
            <a:ext cx="930838" cy="52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2424E-6EA1-4744-9C9A-94F82858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763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U.S. Self-Funded Employer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Dental-Benefit PoC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C54D2-A507-487A-AD9E-ACD61E09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D9E2F0"/>
                </a:solidFill>
              </a:defRPr>
            </a:pPr>
            <a:r>
              <a:rPr sz="1650" b="0" i="0">
                <a:solidFill>
                  <a:srgbClr val="D9E2F0"/>
                </a:solidFill>
              </a:rPr>
              <a:t>This proposal converts ICLO's existing Snowflake startup support into a structured 90-day joint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81BFD-4071-4305-AC77-97D20025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838450" cy="11811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ABC33-A306-4EAD-A73A-F3D9C153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95750"/>
            <a:ext cx="3790950" cy="11811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B8EBC-8F48-4C73-9C12-E5CBCA96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3009900" cy="11811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48050" y="46863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8A9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1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905750" y="46863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8A94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53515-821E-43C3-83C5-5D6F6E9B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Employee navigation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D6A62-8475-44A0-9D4A-65CFAABE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8D6E1"/>
                </a:solidFill>
              </a:defRPr>
            </a:pPr>
            <a:r>
              <a:rPr sz="1275" b="0" i="0">
                <a:solidFill>
                  <a:srgbClr val="C8D6E1"/>
                </a:solidFill>
              </a:rPr>
              <a:t>Understand coverage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C8D6E1"/>
                </a:solidFill>
              </a:defRPr>
            </a:pPr>
            <a:r>
              <a:rPr sz="1275" b="0" i="0">
                <a:solidFill>
                  <a:srgbClr val="C8D6E1"/>
                </a:solidFill>
              </a:rPr>
              <a:t>Find care + request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606C3-E05F-41E0-A1E3-597B5C2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52900"/>
            <a:ext cx="3448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Claims-verified evidence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DEAC1-247A-4767-BA64-0C516AE8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86300"/>
            <a:ext cx="3448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8D6E1"/>
                </a:solidFill>
              </a:defRPr>
            </a:pPr>
            <a:r>
              <a:rPr sz="1275" b="0" i="0">
                <a:solidFill>
                  <a:srgbClr val="C8D6E1"/>
                </a:solidFill>
              </a:rPr>
              <a:t>Eligibility + plan + network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C8D6E1"/>
                </a:solidFill>
              </a:defRPr>
            </a:pPr>
            <a:r>
              <a:rPr sz="1275" b="0" i="0">
                <a:solidFill>
                  <a:srgbClr val="C8D6E1"/>
                </a:solidFill>
              </a:rPr>
              <a:t>App events + dental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05B25-9CF9-4A59-AE6A-B1A60511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529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Employer decisions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39BC5-0DB8-467F-91F3-745CD9D8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863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C8D6E1"/>
                </a:solidFill>
              </a:defRPr>
            </a:pPr>
            <a:r>
              <a:rPr sz="1275" b="0" i="0">
                <a:solidFill>
                  <a:srgbClr val="C8D6E1"/>
                </a:solidFill>
              </a:rPr>
              <a:t>Plan + administrator fit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C8D6E1"/>
                </a:solidFill>
              </a:defRPr>
            </a:pPr>
            <a:r>
              <a:rPr sz="1275" b="0" i="0">
                <a:solidFill>
                  <a:srgbClr val="C8D6E1"/>
                </a:solidFill>
              </a:rPr>
              <a:t>Access + claims + OOP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B4D78-42DB-4417-9830-A5A60CA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3519E-3304-47E2-8D05-ABDE3B43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E2F0"/>
                </a:solidFill>
              </a:defRPr>
            </a:pPr>
            <a:r>
              <a:rPr sz="825" b="1" i="0">
                <a:solidFill>
                  <a:srgbClr val="D9E2F0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839E3-446C-43A3-BA02-D74027C9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59817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BE37A-8C71-4A22-87A4-1A2FB3F3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9436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E2F0"/>
                </a:solidFill>
              </a:defRPr>
            </a:pPr>
            <a:r>
              <a:rPr sz="825" b="1" i="0">
                <a:solidFill>
                  <a:srgbClr val="D9E2F0"/>
                </a:solidFill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06B330-0CAA-4BFD-B0C2-779FCF9C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9817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E5821E-9B8E-4654-9CA4-B74CF9AB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436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E2F0"/>
                </a:solidFill>
              </a:defRPr>
            </a:pPr>
            <a:r>
              <a:rPr sz="825" b="1" i="0">
                <a:solidFill>
                  <a:srgbClr val="D9E2F0"/>
                </a:solidFill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0C807-07FB-4739-8E77-6FA0ACB7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981700"/>
            <a:ext cx="95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20F87-46CF-4822-9ECC-B12B32DE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9436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9E2F0"/>
                </a:solidFill>
              </a:defRPr>
            </a:pPr>
            <a:r>
              <a:rPr sz="825" b="1" i="0">
                <a:solidFill>
                  <a:srgbClr val="D9E2F0"/>
                </a:solidFill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D8A67-066C-4846-B5B0-E8744B03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032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B8C4D8"/>
                </a:solidFill>
              </a:defRPr>
            </a:pPr>
            <a:r>
              <a:rPr sz="788" b="0" i="0">
                <a:solidFill>
                  <a:srgbClr val="B8C4D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641503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CE6896-357D-4887-8AD5-539EE92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8A94"/>
                </a:solidFill>
              </a:defRPr>
            </a:pPr>
            <a:r>
              <a:rPr sz="1200" b="1" i="0">
                <a:solidFill>
                  <a:srgbClr val="008A94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EEE67-6F43-4558-A3B4-85BDA1A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7B058-9485-431B-8039-131A790F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EE7BD-3659-4AAA-861F-4AB14A65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ICLO FRAMING / U.S. MARKET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4E150-78A0-49F2-8025-93AC78A3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Four Decisions Stand Between Coverage and Care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04D2F-5B37-4914-BDDA-77C89071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A dental benefit becomes usable only after four separate decisions are resolved.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60099-5853-4B6F-B473-A2A108DD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B17E3-D052-4238-BF4A-6FC8CA1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9"/>
          </a:solidFill>
          <a:ln xmlns:a="http://schemas.openxmlformats.org/drawingml/2006/main" w="0">
            <a:solidFill>
              <a:srgbClr val="FF7A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E0A6E-5A60-431A-AA9A-42519C76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e4d1ae52a4e14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2205A-1DBF-4840-996B-377291F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db8df0aa04ffe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AB97-F871-483F-846D-D4AE6298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451F6-5517-456B-854A-FD793F6A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162742"/>
                </a:solidFill>
              </a:defRPr>
            </a:pPr>
            <a:r>
              <a:rPr sz="788" b="0" i="0">
                <a:solidFill>
                  <a:srgbClr val="162742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B1D02-D831-47C8-8139-577E70E4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034D-CA18-408F-B05D-8642AF74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3AF17-D7B9-4C40-8C3A-6961D11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526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Am I covered today?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Employee + dependent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77EC6-63B1-4610-AA9E-5BD1CE5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549CA-3E53-4113-86BD-5305FB8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E112E-D502-428B-B97D-2C24133A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70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Which dentist fits my plan?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In-network status +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900EB-333C-4AF2-BA03-31DE045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2306C-8399-428E-BFC9-07AC5EB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PLAN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E3EFD-2631-460B-B73C-2AE85EDE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814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What will the plan pay?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Deductible + coinsurance + 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45101-FA48-4ABE-B8D8-70D55A8B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6DA10-DAA3-4F96-B7AB-D2DCAA26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AVAILABILITY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E956D-8E8D-4DBD-9B37-C3AABBF2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Can I actually book?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162742"/>
                </a:solidFill>
              </a:defRPr>
            </a:pPr>
            <a:r>
              <a:rPr sz="1500" b="0" i="0">
                <a:solidFill>
                  <a:srgbClr val="162742"/>
                </a:solidFill>
              </a:rPr>
              <a:t>Directory status + appointment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99F23-B5A8-4BCF-86ED-9E4CD3A1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2038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B2A4A"/>
          </a:solidFill>
          <a:ln xmlns:a="http://schemas.openxmlformats.org/drawingml/2006/main" w="0">
            <a:solidFill>
              <a:srgbClr val="1B2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1D02D-D5EF-4DC5-AB4D-AE8D651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52800"/>
            <a:ext cx="1657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EMPLOYEE</a:t>
            </a:r>
          </a:p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1B6EA-5B33-4F7E-B76A-7D6463E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29075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0" i="0">
                <a:solidFill>
                  <a:srgbClr val="D9E2F0"/>
                </a:solidFill>
              </a:defRPr>
            </a:pPr>
            <a:r>
              <a:rPr sz="1013" b="0" i="0">
                <a:solidFill>
                  <a:srgbClr val="D9E2F0"/>
                </a:solidFill>
              </a:rPr>
              <a:t>Coverage → choice →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01A4F-1A70-4005-B5E5-4A687945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814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2" name=""/>
          <p:cNvCxnSpPr>
            <a:stCxn xmlns:a="http://schemas.openxmlformats.org/drawingml/2006/main" id="30" idx="6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086350" y="3629025"/>
            <a:ext cx="2286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C1F529-AE7E-40CD-8A1B-C211EB11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3810000" cy="3790950"/>
          </a:xfrm>
          <a:prstGeom xmlns:a="http://schemas.openxmlformats.org/drawingml/2006/main" prst="roundRect">
            <a:avLst>
              <a:gd name="adj" fmla="val 20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4" name="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353300" y="3800475"/>
            <a:ext cx="4191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8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38565D-F5D3-40E2-8C99-BDC764B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76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62742"/>
                </a:solidFill>
              </a:defRPr>
            </a:pPr>
            <a:r>
              <a:rPr sz="1200" b="1" i="0">
                <a:solidFill>
                  <a:srgbClr val="162742"/>
                </a:solidFill>
              </a:rPr>
              <a:t>USABLE CARE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9A18E-467B-4431-9D8D-D894BCA2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14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66AF6C-03E1-447D-B5A6-00DE3634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62742"/>
                </a:solidFill>
              </a:defRPr>
            </a:pPr>
            <a:r>
              <a:rPr sz="1125" b="0" i="0">
                <a:solidFill>
                  <a:srgbClr val="162742"/>
                </a:solidFill>
              </a:rPr>
              <a:t>Eligibility confirmed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7894F4-E047-43BD-9970-D245B2B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D5DE8F-A38B-4E57-9624-E487BE1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384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62742"/>
                </a:solidFill>
              </a:defRPr>
            </a:pPr>
            <a:r>
              <a:rPr sz="1125" b="0" i="0">
                <a:solidFill>
                  <a:srgbClr val="162742"/>
                </a:solidFill>
              </a:rPr>
              <a:t>In-network option found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AC0CDD-8671-4792-9BAA-8DEA867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62979E-F173-4B8F-87FE-073F524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62742"/>
                </a:solidFill>
              </a:defRPr>
            </a:pPr>
            <a:r>
              <a:rPr sz="1125" b="0" i="0">
                <a:solidFill>
                  <a:srgbClr val="162742"/>
                </a:solidFill>
              </a:rPr>
              <a:t>Plan rules understood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6BAACB-507B-4413-BB47-FD2B7313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BB4913-BECF-4F7B-9DEC-64247E71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95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62742"/>
                </a:solidFill>
              </a:defRPr>
            </a:pPr>
            <a:r>
              <a:rPr sz="1125" b="0" i="0">
                <a:solidFill>
                  <a:srgbClr val="162742"/>
                </a:solidFill>
              </a:rPr>
              <a:t>Expected OOP bounded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57EE44-71E8-4DAD-9FF9-F285A3D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7D9F5D-CD7E-44B2-AE63-76E9191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62742"/>
                </a:solidFill>
              </a:defRPr>
            </a:pPr>
            <a:r>
              <a:rPr sz="1125" b="0" i="0">
                <a:solidFill>
                  <a:srgbClr val="162742"/>
                </a:solidFill>
              </a:rPr>
              <a:t>Appointment available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2B2D3B-AD81-4432-BBB6-CEC98BB9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BC7C9C-6970-487C-AF69-513FA8A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005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62742"/>
                </a:solidFill>
              </a:defRPr>
            </a:pPr>
            <a:r>
              <a:rPr sz="1125" b="0" i="0">
                <a:solidFill>
                  <a:srgbClr val="162742"/>
                </a:solidFill>
              </a:rPr>
              <a:t>Support requested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BAD1FD-2173-4F03-920D-0F55A2F6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89EC9A-AC37-42F2-B124-48FA08F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62742"/>
                </a:solidFill>
              </a:defRPr>
            </a:pPr>
            <a:r>
              <a:rPr sz="1125" b="0" i="0">
                <a:solidFill>
                  <a:srgbClr val="162742"/>
                </a:solidFill>
              </a:rPr>
              <a:t>Visit prepared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10A239-1803-4358-8D81-DD444D1D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82D28F-06CF-4E2C-A380-CC0ACB8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86464"/>
                </a:solidFill>
              </a:defRPr>
            </a:pPr>
            <a:r>
              <a:rPr sz="1275" b="0" i="0">
                <a:solidFill>
                  <a:srgbClr val="D86464"/>
                </a:solidFill>
              </a:rPr>
              <a:t>The product reduces decision friction; it does not expose raw clinical probabilities.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7F48D2FD-DEC6-455B-B837-642E6B5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A7DD2096-3490-4BBD-82EC-BDFB7A0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32684122-FDED-4819-9DFD-6E5F9927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886D151E-F523-4B75-87FF-E5410619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432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020B6C50-4B4A-44F3-9615-DD929456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3E527DB8-1146-440C-99AD-B471F6F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3F1E6ACB-7042-463E-A91A-B321FB19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4B5BA08E-1F9E-458A-BB40-7E61B52A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720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AE3BF675-141D-4ABE-919A-AD6A9358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28875"/>
            <a:ext cx="0" cy="2743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BC28430E-C9EF-4154-AC6B-BB669D70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00475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9044350-B281-46B7-A4E2-D59A8A1B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52725"/>
            <a:ext cx="0" cy="23431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3106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C3058C-2072-4D6E-B6E0-A2BA2C22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532E9-0E04-49EA-AED5-7BA00D06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94DAA-8B84-48D9-AD76-6A9BFE75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D21FC-6312-42A2-BC70-D46F7AF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CONFIRMED ICLO DIRECTION / ICLO PRODUCT DESIGN PRINCIPLE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4FF6B-EACC-4057-8220-58DD2353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1C29F-140D-435F-AEFC-FB04E9D5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40492-6AE5-48C9-92E7-A1180DCA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717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007A87"/>
                </a:solidFill>
              </a:defRPr>
            </a:pPr>
            <a:r>
              <a:rPr sz="713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8221E-358A-4A9D-A817-5E9B50D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From Dental Benefit to Verified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18149-A801-45FE-B9C7-D15F92D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Navigation in front; a governed, claims-verified evidence layer in back.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80B9B-1A79-4563-B2D0-B082087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3E782-ACDF-46C2-BF2E-F136AC49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A7B9-0CA3-4294-BFC8-4E76BEB8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2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36ac2e8ec4057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E075F-A039-4A4E-8482-71495E79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77866d901474e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D1018-10B4-4780-81FF-7D3C0E6F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E282AA-E589-4F7F-AFC3-49021C77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1BF24-F93D-4EF8-B587-B32F8FBF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400300" cy="1714500"/>
          </a:xfrm>
          <a:prstGeom xmlns:a="http://schemas.openxmlformats.org/drawingml/2006/main" prst="roundRect">
            <a:avLst>
              <a:gd name="adj" fmla="val 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F4B29-CD23-47F2-8EB1-6ACF7FE2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90750"/>
            <a:ext cx="2400300" cy="1714500"/>
          </a:xfrm>
          <a:prstGeom xmlns:a="http://schemas.openxmlformats.org/drawingml/2006/main" prst="roundRect">
            <a:avLst>
              <a:gd name="adj" fmla="val 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4E6EC-49DF-4C98-9F25-0C99E3DF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400300" cy="1714500"/>
          </a:xfrm>
          <a:prstGeom xmlns:a="http://schemas.openxmlformats.org/drawingml/2006/main" prst="roundRect">
            <a:avLst>
              <a:gd name="adj" fmla="val 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6D6D4-60BD-4095-8457-B718B3B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190750"/>
            <a:ext cx="2400300" cy="1714500"/>
          </a:xfrm>
          <a:prstGeom xmlns:a="http://schemas.openxmlformats.org/drawingml/2006/main" prst="roundRect">
            <a:avLst>
              <a:gd name="adj" fmla="val 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9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009900" y="3048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82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80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781675" y="3048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82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281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553450" y="30480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B6B82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43ABA-DF18-4A7B-8800-43B6A06F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EAD77-0077-4E18-9068-981C7EAE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B2A4A"/>
                </a:solidFill>
              </a:defRPr>
            </a:pPr>
            <a:r>
              <a:rPr sz="1425" b="1" i="0">
                <a:solidFill>
                  <a:srgbClr val="1B2A4A"/>
                </a:solidFill>
              </a:rPr>
              <a:t>Employee experience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19CC96-EC9C-490F-B4BE-E0748B18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Concern + benefit understanding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Optional oral image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021AD-51CA-416C-BFF2-A488F8BB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43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B37805-61A7-48C5-807C-79F6568E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955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B2A4A"/>
                </a:solidFill>
              </a:defRPr>
            </a:pPr>
            <a:r>
              <a:rPr sz="1425" b="1" i="0">
                <a:solidFill>
                  <a:srgbClr val="1B2A4A"/>
                </a:solidFill>
              </a:rPr>
              <a:t>Benefit + provider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D8D3CF-7446-4562-992A-85079DB8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57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Eligibility + network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Plan rules + availability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04E87-C2D6-46FA-B585-414760FA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FE9B1A-A479-4636-9539-79BFD87A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55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B2A4A"/>
                </a:solidFill>
              </a:defRPr>
            </a:pPr>
            <a:r>
              <a:rPr sz="1425" b="1" i="0">
                <a:solidFill>
                  <a:srgbClr val="1B2A4A"/>
                </a:solidFill>
              </a:rPr>
              <a:t>Employee-initiated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91F7A-371D-4BE9-820D-E93BFA45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Provider search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Appointment support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E226CE-C225-41C5-AF62-9BA0525B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431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5F076F-8F31-4A21-BD1B-27D6CBC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95575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B2A4A"/>
                </a:solidFill>
              </a:defRPr>
            </a:pPr>
            <a:r>
              <a:rPr sz="1425" b="1" i="0">
                <a:solidFill>
                  <a:srgbClr val="1B2A4A"/>
                </a:solidFill>
              </a:rPr>
              <a:t>Claims-verified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08342C-80C5-49AC-BE36-29945969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25755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Completion + claim line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Employer aggregate only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74F131-B797-4FE3-BFD8-0E3B30A3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990600"/>
          </a:xfrm>
          <a:prstGeom xmlns:a="http://schemas.openxmlformats.org/drawingml/2006/main" prst="roundRect">
            <a:avLst>
              <a:gd name="adj" fmla="val 769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743DC2-6D77-41EA-BC28-6A64AE9E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D86464"/>
                </a:solidFill>
              </a:defRPr>
            </a:pPr>
            <a:r>
              <a:rPr sz="1388" b="1" i="0">
                <a:solidFill>
                  <a:srgbClr val="D86464"/>
                </a:solidFill>
              </a:rPr>
              <a:t>SHADOW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8CAF69-8F1F-45E1-8DB3-341AA53F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152238"/>
                </a:solidFill>
              </a:defRPr>
            </a:pPr>
            <a:r>
              <a:rPr sz="1238" b="0" i="0">
                <a:solidFill>
                  <a:srgbClr val="152238"/>
                </a:solidFill>
              </a:rPr>
              <a:t>Raw disease probabilities are not shown to employees or employers. Model-derived signals do not automatically determine provider, urgency or treatment pathway.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4DFAAA-D474-405B-9FD3-9F26EA23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72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B6B82"/>
                </a:solidFill>
              </a:defRPr>
            </a:pPr>
            <a:r>
              <a:rPr sz="1050" b="0" i="0">
                <a:solidFill>
                  <a:srgbClr val="5B6B82"/>
                </a:solidFill>
              </a:rPr>
              <a:t>Design redline: separate signal, navigation and referral tables; timestamp employee action and consent.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5A554E-14C9-432E-B0A7-A447B755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38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EEA2BA-027C-4176-916F-6307EC7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337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52238"/>
                </a:solidFill>
              </a:defRPr>
            </a:pPr>
            <a:r>
              <a:rPr sz="1200" b="1" i="0">
                <a:solidFill>
                  <a:srgbClr val="152238"/>
                </a:solidFill>
              </a:rP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77B459-D7E7-44AA-B089-700DF11B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7E2FDB-96D8-45CD-8A75-5BB2DD9B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29250"/>
            <a:ext cx="38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110D16-8AA9-4CBE-986D-C501B4E9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48300"/>
            <a:ext cx="337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52238"/>
                </a:solidFill>
              </a:defRPr>
            </a:pPr>
            <a:r>
              <a:rPr sz="1200" b="1" i="0">
                <a:solidFill>
                  <a:srgbClr val="152238"/>
                </a:solidFill>
              </a:rP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3BB470-EA1A-498D-9C38-BEA5EB67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05475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317347-4097-4EC4-B2AF-1A9EB379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29250"/>
            <a:ext cx="38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2D496D-7467-48A4-B3E2-D5C539D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48300"/>
            <a:ext cx="337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52238"/>
                </a:solidFill>
              </a:defRPr>
            </a:pPr>
            <a:r>
              <a:rPr sz="1200" b="1" i="0">
                <a:solidFill>
                  <a:srgbClr val="152238"/>
                </a:solidFill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3174F9-2FFD-489C-BC99-07CB903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05475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8763290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B94BD-B994-4660-909B-38F4E86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8A94"/>
                </a:solidFill>
              </a:defRPr>
            </a:pPr>
            <a:r>
              <a:rPr sz="1200" b="1" i="0">
                <a:solidFill>
                  <a:srgbClr val="008A94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352F0-BFE2-448B-8126-1F799CD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928B0-3EDD-4F90-8B43-5D894F6C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F0C54-3449-45FA-9284-EA30A4D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CONFIRMED ICLO DIRECTION / POC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81299-4F55-4A9B-8466-D5F933A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ED2C9-C111-42C7-AF11-7B21153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329C-ADF5-40F9-B307-92ECDC9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29B5E8"/>
                </a:solidFill>
              </a:defRPr>
            </a:pPr>
            <a:r>
              <a:rPr sz="713" b="1" i="0">
                <a:solidFill>
                  <a:srgbClr val="29B5E8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86BA9-8C7E-4BCE-A04A-1B8765E2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One U.S. Dental-Benefit Lane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0C3A1-CBB5-4F40-8208-A0399275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The U.S. market contains multiple funding models; this proposal validates only self-funded employer dental benefits.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CFACC-36FC-49C4-9E7D-70E03EC7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5FFD4-FF2E-4327-B9E2-F9FCAF49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9"/>
          </a:solidFill>
          <a:ln xmlns:a="http://schemas.openxmlformats.org/drawingml/2006/main" w="0">
            <a:solidFill>
              <a:srgbClr val="FF7A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375EB-EBD2-4D52-8C40-8FC1625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22cdb35e74432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88917-E837-405C-9786-9EABFE3A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0118f964648c8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71BC3-AC5B-4679-B84A-5CABC34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60614-0FFF-4E3A-8A07-E4B126C5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04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038350"/>
                <a:gridCol w="2381250"/>
                <a:gridCol w="2400300"/>
                <a:gridCol w="2552700"/>
              </a:tblGrid>
              <a:tr h="68262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Lens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Korea baseline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U.S. market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This PoC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Coverage base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NHIS-centered; dental is partly supplemental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Dental benefit may be a separate plan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Employer-sponsored dental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D86464"/>
                          </a:solidFill>
                        </a:rPr>
                        <a:t>Rights and data paths differ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Funding risk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Not this proposal's comparator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Fully insured, self-funded, public and individual coexist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Employer funds dental claims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D86464"/>
                          </a:solidFill>
                        </a:rPr>
                        <a:t>Employer has a direct stake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Administration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National operating context differs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Carrier/TPA may run eligibility, network and claims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One administrator lane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D86464"/>
                          </a:solidFill>
                        </a:rPr>
                        <a:t>Cooperation is required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Employee task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Coverage and price questions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Network, plan rules, OOP and availability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Employees + dependents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D86464"/>
                          </a:solidFill>
                        </a:rPr>
                        <a:t>Benefit must become usable care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Evidence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Not assumed comparable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Data sit across employer, administrator and providers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Aggregate employer evidence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D86464"/>
                          </a:solidFill>
                        </a:rPr>
                        <a:t>No employee-level PHI in employer views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432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CE1836-8B27-4A6A-B244-02DB898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86CF1-F25E-4E33-BCEE-B9FAEA6F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8FCA4-6357-44E8-8477-58B57701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3395-539E-41EB-8E53-4C8AF2BB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U.S. DENTAL MARKET CONTEXT / CURRENT POC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9C13-AEC1-4DCD-B582-945D4C89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DC32E-DB30-4481-B8F1-2459FB26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3700-3B07-4D45-BE91-DBFAB043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29B5E8"/>
                </a:solidFill>
              </a:defRPr>
            </a:pPr>
            <a:r>
              <a:rPr sz="713" b="1" i="0">
                <a:solidFill>
                  <a:srgbClr val="29B5E8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ECB0A-A066-488A-BE40-F4DDFAA8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The U.S. Dental-Benefit Operating 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5EDD3-523E-4D07-B6E0-9D8C40D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Funding arrangement, administrator, beneficiary and claim path are separate questions; the PoC covers one specific lane.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9B8BD-58DC-4FDC-B8F3-4F55D9D3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79F21-AE65-468B-9839-78449C6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4B804-E09D-4A9F-ABB9-3BA609AB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4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233160b3344fe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47387-F6A6-4A4B-B4DB-13E42B98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4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70997bd26437a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28C4D-4716-4F52-B401-8186C3C4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F5E33-7A47-4541-AD35-9EC5661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EA7F3-17A7-4000-9F40-10A3297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FF7A79"/>
                </a:solidFill>
              </a:defRPr>
            </a:pPr>
            <a:r>
              <a:rPr sz="900" b="1" i="0">
                <a:solidFill>
                  <a:srgbClr val="FF7A79"/>
                </a:solidFill>
              </a:rPr>
              <a:t>CONTRACTING + CHOICE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65338-A514-4C2E-87AD-A9B0604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8A95E-7F79-4026-95A8-5B8ADA44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55577-B1FD-438C-9219-CE8C48A5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cxnSp>
        <p:nvCxnSpPr>
          <p:cNvPr id="501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657350" y="28956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02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657350" y="39052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3DB28-4173-4CEF-9C10-7484C9DF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>Coverage buyer / sponsor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F0D41-692C-4C27-A214-1593445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 i="0">
                <a:solidFill>
                  <a:srgbClr val="1B2A4A"/>
                </a:solidFill>
              </a:defRPr>
            </a:pPr>
            <a:r>
              <a:rPr sz="1163" b="1" i="0">
                <a:solidFill>
                  <a:srgbClr val="1B2A4A"/>
                </a:solidFill>
              </a:rPr>
              <a:t>Broker / benefits consultant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76D92-456B-4685-9BEB-631805C8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D99A24"/>
                </a:solidFill>
              </a:defRPr>
            </a:pPr>
            <a:r>
              <a:rPr sz="1200" b="1" i="0">
                <a:solidFill>
                  <a:srgbClr val="D99A24"/>
                </a:solidFill>
              </a:rPr>
              <a:t>Carrier / TPA / MCO contract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393C3-6AD3-41CD-B109-514F7DA7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24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9B5E8"/>
                </a:solidFill>
              </a:defRPr>
            </a:pPr>
            <a:r>
              <a:rPr sz="900" b="1" i="0">
                <a:solidFill>
                  <a:srgbClr val="29B5E8"/>
                </a:solidFill>
              </a:rPr>
              <a:t>COVERAGE + FUNDING SEGMENTS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20CEB-59F2-4FE5-8706-39D7925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473AC-14A9-49C2-82DF-343B167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1750D-57FE-4415-9CD5-E05C3643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F408A-6E67-4D31-BA94-2CF69893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58E11-55E4-46DF-BC2D-EE27F1C0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Employer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fully insured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101E1-4F84-4584-B942-35E6C5F2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Employer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self-funded / ASO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04802-F1FA-4246-9105-DBED8221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Individual / family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Marketplace or direct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5898B-8324-42BF-8F56-B7E87052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Medicaid / CHIP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state + MCO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E2778A-1DAF-411C-8BB8-F387EFF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8229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B2A4A"/>
          </a:solidFill>
          <a:ln xmlns:a="http://schemas.openxmlformats.org/drawingml/2006/main" w="0">
            <a:solidFill>
              <a:srgbClr val="1B2A4A"/>
            </a:solidFill>
            <a:prstDash val="solid"/>
          </a:ln>
        </p:spPr>
      </p:sp>
      <p:cxnSp>
        <p:nvCxnSpPr>
          <p:cNvPr id="516" name=""/>
          <p:cNvCxnSpPr>
            <a:stCxn xmlns:a="http://schemas.openxmlformats.org/drawingml/2006/main" id="28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029075" y="2838450"/>
            <a:ext cx="31718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8E2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17" name=""/>
          <p:cNvCxnSpPr>
            <a:stCxn xmlns:a="http://schemas.openxmlformats.org/drawingml/2006/main" id="29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143625" y="2838450"/>
            <a:ext cx="10572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8E2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18" name=""/>
          <p:cNvCxnSpPr>
            <a:stCxn xmlns:a="http://schemas.openxmlformats.org/drawingml/2006/main" id="30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7200900" y="2838450"/>
            <a:ext cx="10572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8E2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19" name=""/>
          <p:cNvCxnSpPr>
            <a:stCxn xmlns:a="http://schemas.openxmlformats.org/drawingml/2006/main" id="31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7200900" y="2838450"/>
            <a:ext cx="31718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8E2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20" name=""/>
          <p:cNvCxnSpPr>
            <a:stCxn xmlns:a="http://schemas.openxmlformats.org/drawingml/2006/main" id="2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2705100" y="4086225"/>
            <a:ext cx="381000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9525">
            <a:solidFill>
              <a:srgbClr val="D8E2E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8564F5-D4EF-466C-B75A-28FA93CE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Dental benefit operating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DAA77B-F7E8-45C0-95E0-4F61A3C8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9B5E8"/>
                </a:solidFill>
              </a:defRPr>
            </a:pPr>
            <a:r>
              <a:rPr sz="1200" b="1" i="0">
                <a:solidFill>
                  <a:srgbClr val="29B5E8"/>
                </a:solidFill>
              </a:rPr>
              <a:t>FUNDING ROLE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37BAF7-2889-4248-970D-BDB2CCF0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D9E2F0"/>
                </a:solidFill>
              </a:defRPr>
            </a:pPr>
            <a:r>
              <a:rPr sz="1088" b="0" i="0">
                <a:solidFill>
                  <a:srgbClr val="D9E2F0"/>
                </a:solidFill>
              </a:rPr>
              <a:t>Who bears dental claim cost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673420-E381-4E51-9ADD-66360EB5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7A79"/>
                </a:solidFill>
              </a:defRPr>
            </a:pPr>
            <a:r>
              <a:rPr sz="1200" b="1" i="0">
                <a:solidFill>
                  <a:srgbClr val="FF7A79"/>
                </a:solidFill>
              </a:rPr>
              <a:t>ADMINISTRATION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89B2BE-E37A-4F13-819B-8A61E2DD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957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D9E2F0"/>
                </a:solidFill>
              </a:defRPr>
            </a:pPr>
            <a:r>
              <a:rPr sz="1088" b="0" i="0">
                <a:solidFill>
                  <a:srgbClr val="D9E2F0"/>
                </a:solidFill>
              </a:rPr>
              <a:t>Eligibility + benefits + network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2DF981-30CA-4951-AB19-F2D5DCC1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87D7D7"/>
                </a:solidFill>
              </a:defRPr>
            </a:pPr>
            <a:r>
              <a:rPr sz="1200" b="1" i="0">
                <a:solidFill>
                  <a:srgbClr val="87D7D7"/>
                </a:solidFill>
              </a:rPr>
              <a:t>CLAIMS + DATA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A3E90F-A726-4E76-92A0-F31D7A6A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D9E2F0"/>
                </a:solidFill>
              </a:defRPr>
            </a:pPr>
            <a:r>
              <a:rPr sz="1088" b="0" i="0">
                <a:solidFill>
                  <a:srgbClr val="D9E2F0"/>
                </a:solidFill>
              </a:rPr>
              <a:t>Adjudication + EOB + claim lines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4F342B-3F61-44EB-8E24-49033E18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13" b="0" i="0">
                <a:solidFill>
                  <a:srgbClr val="D99A24"/>
                </a:solidFill>
              </a:defRPr>
            </a:pPr>
            <a:r>
              <a:rPr sz="1013" b="0" i="0">
                <a:solidFill>
                  <a:srgbClr val="D99A24"/>
                </a:solidFill>
              </a:rPr>
              <a:t>Sets funding, network, benefit rules and data rights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F7A318-3829-4430-A654-2062F4F1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57800"/>
            <a:ext cx="4305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0" name=""/>
          <p:cNvCxnSpPr>
            <a:stCxn xmlns:a="http://schemas.openxmlformats.org/drawingml/2006/main" id="36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7200900" y="4914900"/>
            <a:ext cx="196215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8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B42551-4DAB-4DB7-8E68-2E10F04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7A87"/>
                </a:solidFill>
              </a:defRPr>
            </a:pPr>
            <a:r>
              <a:rPr sz="1350" b="1" i="0">
                <a:solidFill>
                  <a:srgbClr val="007A87"/>
                </a:solidFill>
              </a:rPr>
              <a:t>Beneficiaries + dental providers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B52863-3F33-4B04-9EAB-BF7F5698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695950"/>
            <a:ext cx="392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0" i="0">
                <a:solidFill>
                  <a:srgbClr val="5B6B82"/>
                </a:solidFill>
              </a:defRPr>
            </a:pPr>
            <a:r>
              <a:rPr sz="1013" b="0" i="0">
                <a:solidFill>
                  <a:srgbClr val="5B6B82"/>
                </a:solidFill>
              </a:rPr>
              <a:t>Members receive care; dentists submit claims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45B50E-53AC-4EBA-961C-EA01CD0D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82296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2E8C9F-F863-46D0-91DE-92A985A1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08A94"/>
                </a:solidFill>
              </a:defRPr>
            </a:pPr>
            <a:r>
              <a:rPr sz="1275" b="0" i="0">
                <a:solidFill>
                  <a:srgbClr val="008A94"/>
                </a:solidFill>
              </a:rPr>
              <a:t>CURRENT POC SCOPE: U.S. SELF-FUNDED EMPLOYER + DENTAL CARRIER/TPA + EMPLOYEES/DEPENDENTS</a:t>
            </a:r>
          </a:p>
        </p:txBody>
      </p:sp>
    </p:spTree>
    <p:extLst>
      <p:ext uri="{BB962C8B-B14F-4D97-AF65-F5344CB8AC3E}">
        <p14:creationId xmlns:p14="http://schemas.microsoft.com/office/powerpoint/2010/main" val="1307439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CE1836-8B27-4A6A-B244-02DB8982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86CF1-F25E-4E33-BCEE-B9FAEA6F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8FCA4-6357-44E8-8477-58B57701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3395-539E-41EB-8E53-4C8AF2BB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ICLO PRODUCT DESIGN PRINCIPLE / REQUEST TO SNOWFLAKE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9C13-AEC1-4DCD-B582-945D4C89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DC32E-DB30-4481-B8F1-2459FB26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3700-3B07-4D45-BE91-DBFAB043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29B5E8"/>
                </a:solidFill>
              </a:defRPr>
            </a:pPr>
            <a:r>
              <a:rPr sz="713" b="1" i="0">
                <a:solidFill>
                  <a:srgbClr val="29B5E8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2ECB0A-A066-488A-BE40-F4DDFAA8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The Governed Evidence Layer Runs on Snowflake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5EDD3-523E-4D07-B6E0-9D8C40D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Structured evidence can be governed in Snowflake; raw images and employee-level routing stay outside employer views.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9B8BD-58DC-4FDC-B8F3-4F55D9D3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79F21-AE65-468B-9839-78449C61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4B804-E09D-4A9F-ABB9-3BA609AB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4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4898b8e4c94971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47387-F6A6-4A4B-B4DB-13E42B98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4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030b10e024228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28C4D-4716-4F52-B401-8186C3C4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F5E33-7A47-4541-AD35-9EC56616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EA7F3-17A7-4000-9F40-10A3297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D86464"/>
                </a:solidFill>
              </a:defRPr>
            </a:pPr>
            <a:r>
              <a:rPr sz="1388" b="1" i="0">
                <a:solidFill>
                  <a:srgbClr val="D86464"/>
                </a:solidFill>
              </a:rPr>
              <a:t>RAW-IMAGE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65338-A514-4C2E-87AD-A9B06048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09550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8A95E-7F79-4026-95A8-5B8ADA44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095500" cy="781050"/>
          </a:xfrm>
          <a:prstGeom xmlns:a="http://schemas.openxmlformats.org/drawingml/2006/main" prst="roundRect">
            <a:avLst>
              <a:gd name="adj" fmla="val 97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55577-B1FD-438C-9219-CE8C48A5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1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657350" y="28956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86464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02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657350" y="390525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86464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3DB28-4173-4CEF-9C10-7484C9DF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>Raw oral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F0D41-692C-4C27-A214-15934453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63" b="1" i="0">
                <a:solidFill>
                  <a:srgbClr val="1B2A4A"/>
                </a:solidFill>
              </a:defRPr>
            </a:pPr>
            <a:r>
              <a:rPr sz="1163" b="1" i="0">
                <a:solidFill>
                  <a:srgbClr val="1B2A4A"/>
                </a:solidFill>
              </a:rPr>
              <a:t>Controlled U.S. object storage / PHI vault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76D92-456B-4685-9BEB-631805C8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88" b="1" i="0">
                <a:solidFill>
                  <a:srgbClr val="D86464"/>
                </a:solidFill>
              </a:defRPr>
            </a:pPr>
            <a:r>
              <a:rPr sz="1388" b="1" i="0">
                <a:solidFill>
                  <a:srgbClr val="D86464"/>
                </a:solidFill>
              </a:rPr>
              <a:t>Shadow inference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393C3-6AD3-41CD-B109-514F7DA7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24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STRUCTURED EVIDENCE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20CEB-59F2-4FE5-8706-39D7925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B473AC-14A9-49C2-82DF-343B167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71750D-57FE-4415-9CD5-E05C3643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AF408A-6E67-4D31-BA94-2CF69893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8859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158E11-55E4-46DF-BC2D-EE27F1C0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App events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E101E1-4F84-4584-B942-35E6C5F2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HRIS eligibility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04802-F1FA-4246-9105-DBED8221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Plan + provider context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75898B-8324-42BF-8F56-B7E87052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9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1B2A4A"/>
                </a:solidFill>
              </a:defRPr>
            </a:pPr>
            <a:r>
              <a:rPr sz="1125" b="1" i="0">
                <a:solidFill>
                  <a:srgbClr val="1B2A4A"/>
                </a:solidFill>
              </a:rPr>
              <a:t>TPA / carrier claims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E2778A-1DAF-411C-8BB8-F387EFF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57550"/>
            <a:ext cx="8229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1B2A4A"/>
          </a:solidFill>
          <a:ln xmlns:a="http://schemas.openxmlformats.org/drawingml/2006/main" w="0">
            <a:solidFill>
              <a:srgbClr val="1B2A4A"/>
            </a:solidFill>
            <a:prstDash val="solid"/>
          </a:ln>
        </p:spPr>
      </p:sp>
      <p:cxnSp>
        <p:nvCxnSpPr>
          <p:cNvPr id="516" name=""/>
          <p:cNvCxnSpPr>
            <a:stCxn xmlns:a="http://schemas.openxmlformats.org/drawingml/2006/main" id="28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4029075" y="2838450"/>
            <a:ext cx="31718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517" name=""/>
          <p:cNvCxnSpPr>
            <a:stCxn xmlns:a="http://schemas.openxmlformats.org/drawingml/2006/main" id="29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6143625" y="2838450"/>
            <a:ext cx="10572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518" name=""/>
          <p:cNvCxnSpPr>
            <a:stCxn xmlns:a="http://schemas.openxmlformats.org/drawingml/2006/main" id="30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7200900" y="2838450"/>
            <a:ext cx="105727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519" name=""/>
          <p:cNvCxnSpPr>
            <a:stCxn xmlns:a="http://schemas.openxmlformats.org/drawingml/2006/main" id="31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7200900" y="2838450"/>
            <a:ext cx="3171825" cy="419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520" name=""/>
          <p:cNvCxnSpPr>
            <a:stCxn xmlns:a="http://schemas.openxmlformats.org/drawingml/2006/main" id="21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2705100" y="4086225"/>
            <a:ext cx="381000" cy="390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8564F5-D4EF-466C-B75A-28FA93CE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Snowflake U.S. governed evidence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DAA77B-F7E8-45C0-95E0-4F61A3C8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43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Canonical 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37BAF7-2889-4248-970D-BDB2CCF0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9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D9E2F0"/>
                </a:solidFill>
              </a:defRPr>
            </a:pPr>
            <a:r>
              <a:rPr sz="1088" b="0" i="0">
                <a:solidFill>
                  <a:srgbClr val="D9E2F0"/>
                </a:solidFill>
              </a:rPr>
              <a:t>member-month + plan + event + claim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673420-E381-4E51-9ADD-66360EB5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Quality + controls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89B2BE-E37A-4F13-819B-8A61E2DD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19575"/>
            <a:ext cx="215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D9E2F0"/>
                </a:solidFill>
              </a:defRPr>
            </a:pPr>
            <a:r>
              <a:rPr sz="1088" b="0" i="0">
                <a:solidFill>
                  <a:srgbClr val="D9E2F0"/>
                </a:solidFill>
              </a:rPr>
              <a:t>reconciliation + purpose access + lineage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2DF981-30CA-4951-AB19-F2D5DCC1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Outcome layer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A3E90F-A726-4E76-92A0-F31D7A6A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195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D9E2F0"/>
                </a:solidFill>
              </a:defRPr>
            </a:pPr>
            <a:r>
              <a:rPr sz="1088" b="0" i="0">
                <a:solidFill>
                  <a:srgbClr val="D9E2F0"/>
                </a:solidFill>
              </a:rPr>
              <a:t>claims-confirmed outcomes (arm assignment pending legal + protocol sign-off)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4F342B-3F61-44EB-8E24-49033E18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86464"/>
                </a:solidFill>
              </a:defRPr>
            </a:pPr>
            <a:r>
              <a:rPr sz="1350" b="1" i="0">
                <a:solidFill>
                  <a:srgbClr val="D86464"/>
                </a:solidFill>
              </a:rPr>
              <a:t>No image binaries. Person-linked references and signals do enter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F7A318-3829-4430-A654-2062F4F1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57800"/>
            <a:ext cx="43053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0" name=""/>
          <p:cNvCxnSpPr>
            <a:stCxn xmlns:a="http://schemas.openxmlformats.org/drawingml/2006/main" id="36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7200900" y="4914900"/>
            <a:ext cx="196215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8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B42551-4DAB-4DB7-8E68-2E10F04D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438775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7A87"/>
                </a:solidFill>
              </a:defRPr>
            </a:pPr>
            <a:r>
              <a:rPr sz="1350" b="1" i="0">
                <a:solidFill>
                  <a:srgbClr val="007A87"/>
                </a:solidFill>
              </a:rPr>
              <a:t>Employer aggregate dashboard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B52863-3F33-4B04-9EAB-BF7F5698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695950"/>
            <a:ext cx="392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13" b="0" i="0">
                <a:solidFill>
                  <a:srgbClr val="5B6B82"/>
                </a:solidFill>
              </a:defRPr>
            </a:pPr>
            <a:r>
              <a:rPr sz="1013" b="0" i="0">
                <a:solidFill>
                  <a:srgbClr val="5B6B82"/>
                </a:solidFill>
              </a:rPr>
              <a:t>No employee-level health signals or routing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45B50E-53AC-4EBA-961C-EA01CD0D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57900"/>
            <a:ext cx="82296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2E8C9F-F863-46D0-91DE-92A985A1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86464"/>
                </a:solidFill>
              </a:defRPr>
            </a:pPr>
            <a:r>
              <a:rPr sz="1275" b="0" i="0">
                <a:solidFill>
                  <a:srgbClr val="D86464"/>
                </a:solidFill>
              </a:rPr>
              <a:t>For PHI in Snowflake: Business Critical + executed BAA are platform prerequisites - not ICLO-wide HIPAA compliance.</a:t>
            </a:r>
          </a:p>
        </p:txBody>
      </p:sp>
    </p:spTree>
    <p:extLst>
      <p:ext uri="{BB962C8B-B14F-4D97-AF65-F5344CB8AC3E}">
        <p14:creationId xmlns:p14="http://schemas.microsoft.com/office/powerpoint/2010/main" val="13074395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0BB2E7-8FCF-412F-A4E6-0A2EDCE6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DC5DA-5F31-4F1E-84D8-D7A695F7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D60F5-64FB-48B3-89DF-3480B812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C8995-BBCF-4AD8-B2D7-BFA01D35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D86464"/>
                </a:solidFill>
              </a:defRPr>
            </a:pPr>
            <a:r>
              <a:rPr sz="975" b="1" i="0">
                <a:solidFill>
                  <a:srgbClr val="D86464"/>
                </a:solidFill>
              </a:rPr>
              <a:t>CONFIRMED ICLO DIRECTION / HYPOTHESIS / TO BE VALIDATED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453F1-A330-4FF7-B2E8-A15BEB6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CF822-81F9-4462-A6D5-D1669116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F0697-801A-4F21-AF04-14845269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D99A24"/>
                </a:solidFill>
              </a:defRPr>
            </a:pPr>
            <a:r>
              <a:rPr sz="713" b="1" i="0">
                <a:solidFill>
                  <a:srgbClr val="D99A24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FD3DB2-94C8-4996-9737-E24855B8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B2A4A"/>
                </a:solidFill>
              </a:defRPr>
            </a:pPr>
            <a:r>
              <a:rPr sz="2100" b="1" i="0">
                <a:solidFill>
                  <a:srgbClr val="1B2A4A"/>
                </a:solidFill>
              </a:rPr>
              <a:t>Year One May Cost More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52710-4DB3-45A2-9926-53861CAA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Year-one utilization and dental plan-paid claims may rise before treatment-mix change becomes measurable.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5A0F0-2610-4DF2-A619-5DF5FD13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DFC58-EDF0-448C-A186-338B6D30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2DA94-5ACD-4F8D-9CE0-14E8D578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2e94cc16b4224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BDE81-B501-48D3-9EC2-6EB7C86E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a5e8f31e64ef8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3244D-E274-4789-9588-9933E887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97F63-510D-4B77-92DD-DF00167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9C0CF-EE0A-4E1A-938B-3C48CD0F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86464"/>
                </a:solidFill>
              </a:defRPr>
            </a:pPr>
            <a:r>
              <a:rPr sz="1350" b="1" i="0">
                <a:solidFill>
                  <a:srgbClr val="D86464"/>
                </a:solidFill>
              </a:rPr>
              <a:t>Illustrative shape only - not an ICLO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A79FC-98C8-4992-A8C4-8536DC8D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48F7C-5418-41AE-A362-1F943D0A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33625"/>
            <a:ext cx="2362200" cy="1181100"/>
          </a:xfrm>
          <a:prstGeom xmlns:a="http://schemas.openxmlformats.org/drawingml/2006/main" prst="roundRect">
            <a:avLst>
              <a:gd name="adj" fmla="val 645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2168F-3C5B-48B4-A56B-84C4088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F982D1-B75B-40A1-B3AD-52B685D9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86100"/>
            <a:ext cx="175260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4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324100" y="2924175"/>
            <a:ext cx="4381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29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124450" y="2924175"/>
            <a:ext cx="43815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29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05750" y="3295650"/>
            <a:ext cx="43815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A0625-D2FD-467E-B605-014DEAF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44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B2A4A"/>
                </a:solidFill>
              </a:defRPr>
            </a:pPr>
            <a:r>
              <a:rPr sz="1350" b="1" i="0">
                <a:solidFill>
                  <a:srgbClr val="1B2A4A"/>
                </a:solidFill>
              </a:rPr>
              <a:t>Baseline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B1F5A-FD72-40FF-986D-457847E2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5B6B82"/>
                </a:solidFill>
              </a:defRPr>
            </a:pPr>
            <a:r>
              <a:rPr sz="1088" b="0" i="0">
                <a:solidFill>
                  <a:srgbClr val="5B6B82"/>
                </a:solidFill>
              </a:rPr>
              <a:t>Plan-year start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6707A-A0E7-4F4F-AF6E-B9F9C9D3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003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B2A4A"/>
                </a:solidFill>
              </a:defRPr>
            </a:pPr>
            <a:r>
              <a:rPr sz="1350" b="1" i="0">
                <a:solidFill>
                  <a:srgbClr val="1B2A4A"/>
                </a:solidFill>
              </a:rPr>
              <a:t>Year 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F8D53-8E9F-4DF0-B90B-015943D4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9900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5B6B82"/>
                </a:solidFill>
              </a:defRPr>
            </a:pPr>
            <a:r>
              <a:rPr sz="1088" b="0" i="0">
                <a:solidFill>
                  <a:srgbClr val="5B6B82"/>
                </a:solidFill>
              </a:rPr>
              <a:t>Preventive use rises</a:t>
            </a:r>
          </a:p>
          <a:p xmlns:a="http://schemas.openxmlformats.org/drawingml/2006/main">
            <a:pPr algn="ctr">
              <a:buNone/>
              <a:defRPr sz="1088" b="0" i="0">
                <a:solidFill>
                  <a:srgbClr val="5B6B82"/>
                </a:solidFill>
              </a:defRPr>
            </a:pPr>
            <a:r>
              <a:rPr sz="1088" b="0" i="0">
                <a:solidFill>
                  <a:srgbClr val="5B6B82"/>
                </a:solidFill>
              </a:rPr>
              <a:t>New treatment is discovered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98BD7E-58FA-496F-BF48-C77D2DA2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0030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B2A4A"/>
                </a:solidFill>
              </a:defRPr>
            </a:pPr>
            <a:r>
              <a:rPr sz="1350" b="1" i="0">
                <a:solidFill>
                  <a:srgbClr val="1B2A4A"/>
                </a:solidFill>
              </a:rPr>
              <a:t>Years 2-3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4610C4-5FA4-4F14-9A01-4D03EA5F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09900"/>
            <a:ext cx="2076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5B6B82"/>
                </a:solidFill>
              </a:defRPr>
            </a:pPr>
            <a:r>
              <a:rPr sz="1088" b="0" i="0">
                <a:solidFill>
                  <a:srgbClr val="5B6B82"/>
                </a:solidFill>
              </a:rPr>
              <a:t>Treatment mix + run-out</a:t>
            </a:r>
          </a:p>
          <a:p xmlns:a="http://schemas.openxmlformats.org/drawingml/2006/main">
            <a:pPr algn="ctr">
              <a:buNone/>
              <a:defRPr sz="1088" b="0" i="0">
                <a:solidFill>
                  <a:srgbClr val="5B6B82"/>
                </a:solidFill>
              </a:defRPr>
            </a:pPr>
            <a:r>
              <a:rPr sz="1088" b="0" i="0">
                <a:solidFill>
                  <a:srgbClr val="5B6B82"/>
                </a:solidFill>
              </a:rPr>
              <a:t>become measurable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4E71EA-791B-4F3E-A617-D10998DF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1485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B2A4A"/>
                </a:solidFill>
              </a:defRPr>
            </a:pPr>
            <a:r>
              <a:rPr sz="1350" b="1" i="0">
                <a:solidFill>
                  <a:srgbClr val="1B2A4A"/>
                </a:solidFill>
              </a:rPr>
              <a:t>Validate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8F50C-BA9A-4D83-9519-40A9DDD6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88" b="0" i="0">
                <a:solidFill>
                  <a:srgbClr val="5B6B82"/>
                </a:solidFill>
              </a:defRPr>
            </a:pPr>
            <a:r>
              <a:rPr sz="1088" b="0" i="0">
                <a:solidFill>
                  <a:srgbClr val="5B6B82"/>
                </a:solidFill>
              </a:rPr>
              <a:t>Direction unknown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A91FF4-D709-4ACF-A97F-41D73D6B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90750"/>
            <a:ext cx="13716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7ED0B0-C470-477B-9DAD-7969BFD8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4790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LOW TURNOVER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Multi-year value lens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E2FFA9-9F8A-4ABD-ABAA-29994980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390900"/>
            <a:ext cx="1371600" cy="971550"/>
          </a:xfrm>
          <a:prstGeom xmlns:a="http://schemas.openxmlformats.org/drawingml/2006/main" prst="roundRect">
            <a:avLst>
              <a:gd name="adj" fmla="val 78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7100BC-31F3-4D5F-B146-07A2BE23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276600"/>
            <a:ext cx="161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86464"/>
                </a:solidFill>
              </a:defRPr>
            </a:pPr>
            <a:r>
              <a:rPr sz="1350" b="1" i="0">
                <a:solidFill>
                  <a:srgbClr val="D86464"/>
                </a:solidFill>
              </a:rPr>
              <a:t>HIGH TURNOVER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D86464"/>
                </a:solidFill>
              </a:defRPr>
            </a:pPr>
            <a:r>
              <a:rPr sz="1350" b="1" i="0">
                <a:solidFill>
                  <a:srgbClr val="D86464"/>
                </a:solidFill>
              </a:rPr>
              <a:t>Employee experience lens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D49970-B9A2-49E1-B517-CAB2EE82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76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008A94"/>
                </a:solidFill>
              </a:defRPr>
            </a:pPr>
            <a:r>
              <a:rPr sz="1350" b="0" i="0">
                <a:solidFill>
                  <a:srgbClr val="008A94"/>
                </a:solidFill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2606F9-BD9A-4DED-89F7-7FFEAD47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339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D86464"/>
                </a:solidFill>
              </a:defRPr>
            </a:pPr>
            <a:r>
              <a:rPr sz="1350" b="0" i="0">
                <a:solidFill>
                  <a:srgbClr val="D86464"/>
                </a:solidFill>
              </a:rP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1AC42C-D747-42A1-9BB5-9069190A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26ABCE-0523-4F97-A41E-4FD2E36C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37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52238"/>
                </a:solidFill>
              </a:defRPr>
            </a:pPr>
            <a:r>
              <a:rPr sz="1200" b="1" i="0">
                <a:solidFill>
                  <a:srgbClr val="152238"/>
                </a:solidFill>
              </a:rPr>
              <a:t>UTILIZATION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6DFAF9-83A1-47F5-9080-FF969FCC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57775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Preventive use can raise plan-paid claims.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1E8DE7-EBCD-40DE-83DA-D7C6E6AA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815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C52BD8-47F0-4932-8C62-6D240293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00600"/>
            <a:ext cx="337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52238"/>
                </a:solidFill>
              </a:defRPr>
            </a:pPr>
            <a:r>
              <a:rPr sz="1200" b="1" i="0">
                <a:solidFill>
                  <a:srgbClr val="152238"/>
                </a:solidFill>
              </a:rPr>
              <a:t>COST ALLOCATION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B6CEE3-9AFF-4B9E-98C5-6DC5D35A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57775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Allowed, plan-paid and employee OOP can move differently.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9E9ABD-319C-4492-95B1-ED651133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7C333F-8940-4F20-812E-0B290ADB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337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52238"/>
                </a:solidFill>
              </a:defRPr>
            </a:pPr>
            <a:r>
              <a:rPr sz="1200" b="1" i="0">
                <a:solidFill>
                  <a:srgbClr val="152238"/>
                </a:solidFill>
              </a:rPr>
              <a:t>CONTRACT PRINCIPLE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23F76C-6314-4921-93D7-626D5BE0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57775"/>
            <a:ext cx="337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5B6B82"/>
                </a:solidFill>
              </a:defRPr>
            </a:pPr>
            <a:r>
              <a:rPr sz="1163" b="0" i="0">
                <a:solidFill>
                  <a:srgbClr val="5B6B82"/>
                </a:solidFill>
              </a:rPr>
              <a:t>ICLO will not contract on a year-one savings guarantee.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2FD9E6E8-A21F-41C2-B882-D30A5086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8615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4E68CB9-1AAD-4E18-BE87-2DE05B8D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0" cy="6286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B26E368-722D-4FDD-8E95-6B521D77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75819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691A450-1834-4DDD-BFC4-9990459C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2389BE34-780C-4B10-88AC-095EDB47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365CF2B9-ED53-44B0-929E-8E46A798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6637E98-446F-4110-B24F-F0532304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05669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86F58E-63A5-4A62-BEEC-D46FD279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C551E-4BAA-4ED9-B1C6-2516B963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ECBEB0-025B-4CF1-A773-4AD9CAF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45675-40CB-4F8E-93CC-2AA1C9A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ICLO PRODUCT DESIGN PRINCIPLE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1A311-A5D1-45AB-AE8A-BA3B4BFD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What the Buyer Can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111BD-5DA6-4B27-ACEB-A9F52C79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Not a performance claim: the denominator, freshness, claims lag and privacy rules stay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A4A41-39E8-40FE-A44E-BFC705BE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ED935D-5551-4786-AEA9-F9E49634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5167D-E3AA-4B69-870D-BC9ED652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1c43351aa4a1d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D0A5A-8C1E-4910-8386-6F61E6A9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6c52e520e4088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70E98-E810-4F81-8D48-93743403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33FF1F-58F2-4A69-95FC-A014D5E6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08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230011d904245"/>
          <a:stretch xmlns:a="http://schemas.openxmlformats.org/drawingml/2006/main"/>
        </p:blipFill>
        <p:spPr>
          <a:xfrm xmlns:a="http://schemas.openxmlformats.org/drawingml/2006/main">
            <a:off x="1143000" y="1952625"/>
            <a:ext cx="9906000" cy="3438525"/>
          </a:xfrm>
          <a:prstGeom xmlns:a="http://schemas.openxmlformats.org/drawingml/2006/main" prst="roundRect">
            <a:avLst>
              <a:gd name="adj" fmla="val 2174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EB3741-99F7-4698-B8F0-7AA75620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505200"/>
          </a:xfrm>
          <a:prstGeom xmlns:a="http://schemas.openxmlformats.org/drawingml/2006/main" prst="roundRect">
            <a:avLst>
              <a:gd name="adj" fmla="val 217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DC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708C8-CED3-4916-BA07-0EB740AD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D7E1E-B4FB-406E-9F78-ADB1080B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578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94B"/>
                </a:solidFill>
              </a:defRPr>
            </a:pPr>
            <a:r>
              <a:rPr sz="1350" b="1" i="0">
                <a:solidFill>
                  <a:srgbClr val="13294B"/>
                </a:solidFill>
              </a:rPr>
              <a:t>SYNTHETIC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931C40-E96B-4F38-A96E-82858B7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52238"/>
                </a:solidFill>
              </a:defRPr>
            </a:pPr>
            <a:r>
              <a:rPr sz="1050" b="0" i="0">
                <a:solidFill>
                  <a:srgbClr val="152238"/>
                </a:solidFill>
              </a:rPr>
              <a:t>Illustrative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A9A6F-EA63-4E85-8DAE-9E19AC28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578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708E2-EBC1-4828-9A59-44B15A51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578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94B"/>
                </a:solidFill>
              </a:defRPr>
            </a:pPr>
            <a:r>
              <a:rPr sz="1350" b="1" i="0">
                <a:solidFill>
                  <a:srgbClr val="13294B"/>
                </a:solidFill>
              </a:rPr>
              <a:t>DENOMINATOR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A97AB-2957-4AB6-8E73-8307B2B9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9055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52238"/>
                </a:solidFill>
              </a:defRPr>
            </a:pPr>
            <a:r>
              <a:rPr sz="1050" b="0" i="0">
                <a:solidFill>
                  <a:srgbClr val="152238"/>
                </a:solidFill>
              </a:rPr>
              <a:t>Employees / members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ACE43-00F5-477D-A3B3-71B5417A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6578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F71D5-055F-44F3-BF82-79F0C09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578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94B"/>
                </a:solidFill>
              </a:defRPr>
            </a:pPr>
            <a:r>
              <a:rPr sz="1350" b="1" i="0">
                <a:solidFill>
                  <a:srgbClr val="13294B"/>
                </a:solidFill>
              </a:rPr>
              <a:t>FRESHNESS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85C86-08B8-40F4-9B75-C6C47865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055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52238"/>
                </a:solidFill>
              </a:defRPr>
            </a:pPr>
            <a:r>
              <a:rPr sz="1050" b="0" i="0">
                <a:solidFill>
                  <a:srgbClr val="152238"/>
                </a:solidFill>
              </a:rPr>
              <a:t>Dates + claims lag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9D5D62-6240-4F77-AF6A-3E7693A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578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673FE-9C95-4154-9284-1DC3A7D9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578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94B"/>
                </a:solidFill>
              </a:defRPr>
            </a:pPr>
            <a:r>
              <a:rPr sz="1350" b="1" i="0">
                <a:solidFill>
                  <a:srgbClr val="13294B"/>
                </a:solidFill>
              </a:rPr>
              <a:t>PRIVACY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F0931-82AC-420C-A213-4F0349FB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9055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52238"/>
                </a:solidFill>
              </a:defRPr>
            </a:pPr>
            <a:r>
              <a:rPr sz="1050" b="0" i="0">
                <a:solidFill>
                  <a:srgbClr val="152238"/>
                </a:solidFill>
              </a:rPr>
              <a:t>Aggregate only · min cell by distinct person · employer isolation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4f1d251c34714"/>
          <a:stretch xmlns:a="http://schemas.openxmlformats.org/drawingml/2006/main"/>
        </p:blipFill>
        <p:spPr>
          <a:xfrm xmlns:a="http://schemas.openxmlformats.org/drawingml/2006/main">
            <a:off x="9715500" y="55435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D184D9-5890-4D90-AFA8-6F1E2C90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292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3294B"/>
                </a:solidFill>
              </a:defRPr>
            </a:pPr>
            <a:r>
              <a:rPr sz="1350" b="1" i="0">
                <a:solidFill>
                  <a:srgbClr val="13294B"/>
                </a:solidFill>
              </a:rPr>
              <a:t>LIVE 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FF74B0-711A-4F9E-9313-F479EFF1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229350"/>
            <a:ext cx="567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66768A"/>
                </a:solidFill>
              </a:defRPr>
            </a:pPr>
            <a:r>
              <a:rPr sz="900" b="0" i="0">
                <a:solidFill>
                  <a:srgbClr val="66768A"/>
                </a:solidFill>
              </a:rPr>
              <a:t>Synthetic dashboard · jangwookimbusiness-dev.github.io/iclo-us-employee-dashboard</a:t>
            </a:r>
          </a:p>
        </p:txBody>
      </p:sp>
    </p:spTree>
    <p:extLst>
      <p:ext uri="{BB962C8B-B14F-4D97-AF65-F5344CB8AC3E}">
        <p14:creationId xmlns:p14="http://schemas.microsoft.com/office/powerpoint/2010/main" val="11308724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F6987F-604E-455D-B138-304BD79A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9E825-D8B0-4D06-B66F-78AE5E4D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132EB-86D3-4097-9251-7AF82758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F6359-FE2B-4A47-8215-CE652F1B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REQUEST TO SNOWFLAKE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124E9-9F74-4F8B-8573-C7C22012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Route the Existing Support Relationship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9739B-B051-4796-AB3E-1A14C461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Step 0 is routing: the current Korea startup sponsor names the U.S. HLS GTM and architecture owners before technical work begins.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EE2654-AEE6-4A80-900C-4E860E54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CE0D6-1FC9-45C9-8A55-2A9A9339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F9EAD-DAA4-4D30-9021-2400E507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ecb3732f34a7b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5F6FD-4EF8-4704-8BD3-0073833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59ee85a4e4bce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4922F-4844-4E2E-98D5-5B2C8B0A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C5B0B-5FA3-4BA8-9AE6-CE4C9A6B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8E753-CF64-445F-988C-1603ACF3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4DDB7-6130-44FA-866B-1DB949A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F8E07-A7DA-434C-AFEC-A9D297C6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8A94"/>
                </a:solidFill>
              </a:defRPr>
            </a:pPr>
            <a:r>
              <a:rPr sz="1275" b="1" i="0">
                <a:solidFill>
                  <a:srgbClr val="008A94"/>
                </a:solidFill>
              </a:rPr>
              <a:t>STEP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58F54-E882-4BBA-89DB-C08774AA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764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62742"/>
                </a:solidFill>
              </a:defRPr>
            </a:pPr>
            <a:r>
              <a:rPr sz="1388" b="1" i="0">
                <a:solidFill>
                  <a:srgbClr val="162742"/>
                </a:solidFill>
              </a:rPr>
              <a:t>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23E60-267D-4ACC-B864-66AAB80C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4790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152238"/>
                </a:solidFill>
              </a:defRPr>
            </a:pPr>
            <a:r>
              <a:rPr sz="1238" b="0" i="0">
                <a:solidFill>
                  <a:srgbClr val="152238"/>
                </a:solidFill>
              </a:rPr>
              <a:t>Confirm the official support-program name; the current Korea sponsor routes ICLO to U.S. HLS GTM and architecture.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84447-A75F-416D-88AA-4D3A9BC1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408CC-50C4-4128-B2D2-4C705D83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222C7-4AC0-45F3-A261-491FAE8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527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9B5E8"/>
                </a:solidFill>
              </a:defRPr>
            </a:pPr>
            <a:r>
              <a:rPr sz="1650" b="1" i="0">
                <a:solidFill>
                  <a:srgbClr val="29B5E8"/>
                </a:solidFill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DF6B21-EB41-430B-AE24-651542E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62742"/>
                </a:solidFill>
              </a:defRPr>
            </a:pPr>
            <a:r>
              <a:rPr sz="1388" b="1" i="0">
                <a:solidFill>
                  <a:srgbClr val="162742"/>
                </a:solidFill>
              </a:rPr>
              <a:t>FIT + PEOPLE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A1E18-59D8-40F6-A54F-04544B32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4325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152238"/>
                </a:solidFill>
              </a:defRPr>
            </a:pPr>
            <a:r>
              <a:rPr sz="1238" b="0" i="0">
                <a:solidFill>
                  <a:srgbClr val="152238"/>
                </a:solidFill>
              </a:rPr>
              <a:t>Confirm the primary sales play and name the HLS architect, SE, security/compliance and startup/partner leads.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8096E-3187-445E-A969-B7EB9D7A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1C6D9-C409-4EBF-B0C5-CC918A41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71AFDB-4CD5-4CFB-B0E5-2BB9B9D8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481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9B5E8"/>
                </a:solidFill>
              </a:defRPr>
            </a:pPr>
            <a:r>
              <a:rPr sz="1650" b="1" i="0">
                <a:solidFill>
                  <a:srgbClr val="29B5E8"/>
                </a:solidFill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552BC-641A-4F99-B1FE-B996772F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62742"/>
                </a:solidFill>
              </a:defRPr>
            </a:pPr>
            <a:r>
              <a:rPr sz="1388" b="1" i="0">
                <a:solidFill>
                  <a:srgbClr val="162742"/>
                </a:solidFill>
              </a:rPr>
              <a:t>ACCOUNT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5D098-8FB3-49F6-980F-113B072E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3860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152238"/>
                </a:solidFill>
              </a:defRPr>
            </a:pPr>
            <a:r>
              <a:rPr sz="1238" b="0" i="0">
                <a:solidFill>
                  <a:srgbClr val="152238"/>
                </a:solidFill>
              </a:rPr>
              <a:t>Complete one account diligence row by Day 30; run a separate account-team use-case review by Day 75.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A55EB-76C2-4CD0-8782-85733565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C01D5-8F5C-47F1-822D-7154211B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821F09-4953-46AF-925B-365418C8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43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9B5E8"/>
                </a:solidFill>
              </a:defRPr>
            </a:pPr>
            <a:r>
              <a:rPr sz="1650" b="1" i="0">
                <a:solidFill>
                  <a:srgbClr val="29B5E8"/>
                </a:solidFill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6074E1-2E14-48AB-97F3-F8BC8956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162742"/>
                </a:solidFill>
              </a:defRPr>
            </a:pPr>
            <a:r>
              <a:rPr sz="1388" b="1" i="0">
                <a:solidFill>
                  <a:srgbClr val="162742"/>
                </a:solidFill>
              </a:rPr>
              <a:t>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C0DBD-2B6F-4AC4-9768-8F76EEF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33950"/>
            <a:ext cx="834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38" b="0" i="0">
                <a:solidFill>
                  <a:srgbClr val="152238"/>
                </a:solidFill>
              </a:defRPr>
            </a:pPr>
            <a:r>
              <a:rPr sz="1238" b="0" i="0">
                <a:solidFill>
                  <a:srgbClr val="152238"/>
                </a:solidFill>
              </a:rPr>
              <a:t>Document account/region/BAA, credits/support and partner/co-sell readiness criteria.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6C783E-3594-42D7-A4A1-DD437702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35B07F-057D-4024-95FF-1604A16A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008A94"/>
                </a:solidFill>
              </a:defRPr>
            </a:pPr>
            <a:r>
              <a:rPr sz="1275" b="0" i="0">
                <a:solidFill>
                  <a:srgbClr val="008A94"/>
                </a:solidFill>
              </a:rPr>
              <a:t>Not asking Snowflake for: legal opinions, compliance certification, generic customer introductions or a savings guarantee.</a:t>
            </a:r>
          </a:p>
        </p:txBody>
      </p:sp>
    </p:spTree>
    <p:extLst>
      <p:ext uri="{BB962C8B-B14F-4D97-AF65-F5344CB8AC3E}">
        <p14:creationId xmlns:p14="http://schemas.microsoft.com/office/powerpoint/2010/main" val="2042605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13014-D770-4404-9692-1914F480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2DA44-CEEA-44AB-BDA0-A2AFFB58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3F707-DC58-40E2-94E7-70B1FF00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39469-DAEA-4C8F-B588-938A757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REQUEST TO SNOWFLAKE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F90EA-4FFA-4B92-A3A2-00063EB5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A 90-Day Validation Plan · Route and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0E0F6-BDDB-4CC6-85EB-0F8BDA3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Step 0 through Day 60: name the owners, then design the architecture.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93EAB-5ABA-4AD0-96C2-708BE405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A8C69-3BB3-4E98-B2AC-9277D77C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2DCC-2E46-4338-B341-13A70E2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7dabbcac46fa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474CA-8B80-4E9E-BC88-F9EAA77F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6fd03fb634d87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49389-BC5A-4198-9884-D9EAE958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C7224-8B12-457C-BB42-63E0DEB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9672D-59A2-46C8-B354-33A976B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667250" cy="2286000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834E8-2EC3-472C-8DC6-F0ABD5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4667250" cy="2286000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1FD01-D2BF-4268-91C1-AC9B5D62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82B0B-5A4C-4678-850D-3B122A41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276850" y="32194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26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H="1">
            <a:off x="-1905000" y="3219450"/>
            <a:ext cx="12725400" cy="5357813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26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H="1">
            <a:off x="-1905000" y="8577263"/>
            <a:ext cx="95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E4154-4A2B-46E7-857F-A02ECEE0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8A94"/>
                </a:solidFill>
              </a:defRPr>
            </a:pPr>
            <a:r>
              <a:rPr sz="1275" b="1" i="0">
                <a:solidFill>
                  <a:srgbClr val="008A94"/>
                </a:solidFill>
              </a:rPr>
              <a:t>STEP 0 + DAYS 0-30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33FAD-4BC8-4AB7-B287-62B0E46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>ROUTE + ALIGN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177BE-809C-4146-ACA4-69B77D1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49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>Route to HLS; confirm play, owners and the U.S. account / BAA path.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31801-5B3F-4EC8-98D1-7C498E5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8A94"/>
                </a:solidFill>
              </a:defRPr>
            </a:pPr>
            <a:r>
              <a:rPr sz="1275" b="1" i="0">
                <a:solidFill>
                  <a:srgbClr val="008A94"/>
                </a:solidFill>
              </a:rPr>
              <a:t>DAYS 31-60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CE2BF-F9D9-48C0-8CD3-AB341ADE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>DESIGN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91067-BE41-46FF-95A1-288A6862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49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>Size workload; co-draft the security reference and account matrix.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50810-765E-425F-A2A0-C78F2C3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8A94"/>
                </a:solidFill>
              </a:defRPr>
            </a:pPr>
            <a:r>
              <a:rPr sz="1275" b="1" i="0">
                <a:solidFill>
                  <a:srgbClr val="008A94"/>
                </a:solidFill>
              </a:rP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73971-C939-4A1D-B49F-AB64A8D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53B11-A0EF-474D-9DE0-8ADA9A8A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D9B445-78FF-44C2-8963-849C68B2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6768A"/>
                </a:solidFill>
              </a:defRPr>
            </a:pPr>
            <a:r>
              <a:rPr sz="1275" b="1" i="0">
                <a:solidFill>
                  <a:srgbClr val="66768A"/>
                </a:solidFill>
              </a:rP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64589-9CA4-4814-9D97-D1D35158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42C509-6CFD-4AF1-9AF4-450C9181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490B7-A433-4F17-8DFC-0B30ABB9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7AE27C-D95E-4D09-A691-6D9DB849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6768A"/>
                </a:solidFill>
              </a:defRPr>
            </a:pPr>
            <a:r>
              <a:rPr sz="1350" b="1" i="0">
                <a:solidFill>
                  <a:srgbClr val="66768A"/>
                </a:solidFill>
              </a:rPr>
              <a:t/>
            </a:r>
          </a:p>
        </p:txBody>
      </p:sp>
      <p:sp>
        <p:nvSpPr>
          <p:cNvPr id="128" name="swimlane-snowflake-1">
            <a:extLst xmlns:a="http://schemas.openxmlformats.org/drawingml/2006/main">
              <a:ext uri="{FF2B5EF4-FFF2-40B4-BE49-F238E27FC236}">
                <a16:creationId xmlns:a16="http://schemas.microsoft.com/office/drawing/2014/main" id="{C6707267-D17C-4633-B480-C51A537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>SNOWFLAKE</a:t>
            </a:r>
          </a:p>
        </p:txBody>
      </p:sp>
      <p:sp>
        <p:nvSpPr>
          <p:cNvPr id="129" name="swimlane-rule-1">
            <a:extLst xmlns:a="http://schemas.openxmlformats.org/drawingml/2006/main">
              <a:ext uri="{FF2B5EF4-FFF2-40B4-BE49-F238E27FC236}">
                <a16:creationId xmlns:a16="http://schemas.microsoft.com/office/drawing/2014/main" id="{EBE0DEE5-F399-4284-B4E9-330CBF0A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0" name="swimlane-iclo-label-1">
            <a:extLst xmlns:a="http://schemas.openxmlformats.org/drawingml/2006/main">
              <a:ext uri="{FF2B5EF4-FFF2-40B4-BE49-F238E27FC236}">
                <a16:creationId xmlns:a16="http://schemas.microsoft.com/office/drawing/2014/main" id="{F3865E03-63F2-4FB9-B774-C236360B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>ICLO</a:t>
            </a:r>
          </a:p>
        </p:txBody>
      </p:sp>
      <p:sp>
        <p:nvSpPr>
          <p:cNvPr id="131" name="swimlane-iclo-1">
            <a:extLst xmlns:a="http://schemas.openxmlformats.org/drawingml/2006/main">
              <a:ext uri="{FF2B5EF4-FFF2-40B4-BE49-F238E27FC236}">
                <a16:creationId xmlns:a16="http://schemas.microsoft.com/office/drawing/2014/main" id="{2D4A055B-8ED6-4076-81A9-7B866503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>Provide current-state pack; run workshop and cadence.</a:t>
            </a:r>
          </a:p>
        </p:txBody>
      </p:sp>
      <p:sp>
        <p:nvSpPr>
          <p:cNvPr id="132" name="swimlane-gate-1">
            <a:extLst xmlns:a="http://schemas.openxmlformats.org/drawingml/2006/main">
              <a:ext uri="{FF2B5EF4-FFF2-40B4-BE49-F238E27FC236}">
                <a16:creationId xmlns:a16="http://schemas.microsoft.com/office/drawing/2014/main" id="{20A38B2E-7858-4E74-8791-B825BC22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294B"/>
                </a:solidFill>
              </a:defRPr>
            </a:pPr>
            <a:r>
              <a:rPr sz="1050" b="1">
                <a:solidFill>
                  <a:srgbClr val="13294B"/>
                </a:solidFill>
              </a:rPr>
              <a:t>GATE · Sponsor, owners and route in writing</a:t>
            </a:r>
          </a:p>
        </p:txBody>
      </p:sp>
      <p:sp>
        <p:nvSpPr>
          <p:cNvPr id="133" name="swimlane-snowflake-2">
            <a:extLst xmlns:a="http://schemas.openxmlformats.org/drawingml/2006/main">
              <a:ext uri="{FF2B5EF4-FFF2-40B4-BE49-F238E27FC236}">
                <a16:creationId xmlns:a16="http://schemas.microsoft.com/office/drawing/2014/main" id="{81591F08-3402-499A-9D35-AA5B9DA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>SNOWFLAKE</a:t>
            </a:r>
          </a:p>
        </p:txBody>
      </p:sp>
      <p:sp>
        <p:nvSpPr>
          <p:cNvPr id="134" name="swimlane-rule-2">
            <a:extLst xmlns:a="http://schemas.openxmlformats.org/drawingml/2006/main">
              <a:ext uri="{FF2B5EF4-FFF2-40B4-BE49-F238E27FC236}">
                <a16:creationId xmlns:a16="http://schemas.microsoft.com/office/drawing/2014/main" id="{F4F169D5-9FEF-43D8-A872-58A39E11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5" name="swimlane-iclo-label-2">
            <a:extLst xmlns:a="http://schemas.openxmlformats.org/drawingml/2006/main">
              <a:ext uri="{FF2B5EF4-FFF2-40B4-BE49-F238E27FC236}">
                <a16:creationId xmlns:a16="http://schemas.microsoft.com/office/drawing/2014/main" id="{5094D15A-E7D6-49E8-B80A-AAF1AB38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>ICLO</a:t>
            </a:r>
          </a:p>
        </p:txBody>
      </p:sp>
      <p:sp>
        <p:nvSpPr>
          <p:cNvPr id="136" name="swimlane-iclo-2">
            <a:extLst xmlns:a="http://schemas.openxmlformats.org/drawingml/2006/main">
              <a:ext uri="{FF2B5EF4-FFF2-40B4-BE49-F238E27FC236}">
                <a16:creationId xmlns:a16="http://schemas.microsoft.com/office/drawing/2014/main" id="{25C8FDC8-735C-456D-A889-96C2288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>Provide source map, ingestion test and sizing inputs.</a:t>
            </a:r>
          </a:p>
        </p:txBody>
      </p:sp>
      <p:sp>
        <p:nvSpPr>
          <p:cNvPr id="137" name="swimlane-gate-2">
            <a:extLst xmlns:a="http://schemas.openxmlformats.org/drawingml/2006/main">
              <a:ext uri="{FF2B5EF4-FFF2-40B4-BE49-F238E27FC236}">
                <a16:creationId xmlns:a16="http://schemas.microsoft.com/office/drawing/2014/main" id="{4B4C86CE-2280-47FE-93BB-9E543F8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294B"/>
                </a:solidFill>
              </a:defRPr>
            </a:pPr>
            <a:r>
              <a:rPr sz="1050" b="1">
                <a:solidFill>
                  <a:srgbClr val="13294B"/>
                </a:solidFill>
              </a:rPr>
              <a:t>GATE · Architecture + matrix v1 accepted</a:t>
            </a:r>
          </a:p>
        </p:txBody>
      </p:sp>
      <p:sp>
        <p:nvSpPr>
          <p:cNvPr id="138" name="swimlane-snowflake-3">
            <a:extLst xmlns:a="http://schemas.openxmlformats.org/drawingml/2006/main">
              <a:ext uri="{FF2B5EF4-FFF2-40B4-BE49-F238E27FC236}">
                <a16:creationId xmlns:a16="http://schemas.microsoft.com/office/drawing/2014/main" id="{B80A1A1D-86C6-446D-9DC7-D4615D40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/>
            </a:r>
          </a:p>
        </p:txBody>
      </p:sp>
      <p:sp>
        <p:nvSpPr>
          <p:cNvPr id="139" name="swimlane-rule-3">
            <a:extLst xmlns:a="http://schemas.openxmlformats.org/drawingml/2006/main">
              <a:ext uri="{FF2B5EF4-FFF2-40B4-BE49-F238E27FC236}">
                <a16:creationId xmlns:a16="http://schemas.microsoft.com/office/drawing/2014/main" id="{99C81EF7-998E-45A2-BC60-A7A88C0C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0" name="swimlane-iclo-label-3">
            <a:extLst xmlns:a="http://schemas.openxmlformats.org/drawingml/2006/main">
              <a:ext uri="{FF2B5EF4-FFF2-40B4-BE49-F238E27FC236}">
                <a16:creationId xmlns:a16="http://schemas.microsoft.com/office/drawing/2014/main" id="{500B7B48-833A-4CBC-9D3D-0214DE75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/>
            </a:r>
          </a:p>
        </p:txBody>
      </p:sp>
      <p:sp>
        <p:nvSpPr>
          <p:cNvPr id="141" name="swimlane-iclo-3">
            <a:extLst xmlns:a="http://schemas.openxmlformats.org/drawingml/2006/main">
              <a:ext uri="{FF2B5EF4-FFF2-40B4-BE49-F238E27FC236}">
                <a16:creationId xmlns:a16="http://schemas.microsoft.com/office/drawing/2014/main" id="{55DE5C0D-2D54-494F-8708-207D222B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/>
            </a:r>
          </a:p>
        </p:txBody>
      </p:sp>
      <p:sp>
        <p:nvSpPr>
          <p:cNvPr id="142" name="swimlane-gate-3">
            <a:extLst xmlns:a="http://schemas.openxmlformats.org/drawingml/2006/main">
              <a:ext uri="{FF2B5EF4-FFF2-40B4-BE49-F238E27FC236}">
                <a16:creationId xmlns:a16="http://schemas.microsoft.com/office/drawing/2014/main" id="{3580B65D-6BAB-4429-90A1-A78B622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294B"/>
                </a:solidFill>
              </a:defRPr>
            </a:pPr>
            <a:r>
              <a:rPr sz="1050" b="1">
                <a:solidFill>
                  <a:srgbClr val="13294B"/>
                </a:solidFill>
              </a:rPr>
              <a:t/>
            </a:r>
          </a:p>
        </p:txBody>
      </p:sp>
      <p:sp>
        <p:nvSpPr>
          <p:cNvPr id="143" name="swimlane-snowflake-4">
            <a:extLst xmlns:a="http://schemas.openxmlformats.org/drawingml/2006/main">
              <a:ext uri="{FF2B5EF4-FFF2-40B4-BE49-F238E27FC236}">
                <a16:creationId xmlns:a16="http://schemas.microsoft.com/office/drawing/2014/main" id="{2F1EE61D-7005-4C13-9B20-4EA3FEE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/>
            </a:r>
          </a:p>
        </p:txBody>
      </p:sp>
      <p:sp>
        <p:nvSpPr>
          <p:cNvPr id="144" name="swimlane-rule-4">
            <a:extLst xmlns:a="http://schemas.openxmlformats.org/drawingml/2006/main">
              <a:ext uri="{FF2B5EF4-FFF2-40B4-BE49-F238E27FC236}">
                <a16:creationId xmlns:a16="http://schemas.microsoft.com/office/drawing/2014/main" id="{7C630508-27BE-4FBC-8927-082465C9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5" name="swimlane-iclo-label-4">
            <a:extLst xmlns:a="http://schemas.openxmlformats.org/drawingml/2006/main">
              <a:ext uri="{FF2B5EF4-FFF2-40B4-BE49-F238E27FC236}">
                <a16:creationId xmlns:a16="http://schemas.microsoft.com/office/drawing/2014/main" id="{4AFD8B78-C472-44E5-ADC1-9394548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/>
            </a:r>
          </a:p>
        </p:txBody>
      </p:sp>
      <p:sp>
        <p:nvSpPr>
          <p:cNvPr id="146" name="swimlane-iclo-4">
            <a:extLst xmlns:a="http://schemas.openxmlformats.org/drawingml/2006/main">
              <a:ext uri="{FF2B5EF4-FFF2-40B4-BE49-F238E27FC236}">
                <a16:creationId xmlns:a16="http://schemas.microsoft.com/office/drawing/2014/main" id="{9873CC77-52DA-43F1-83CB-0B90D5BB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/>
            </a:r>
          </a:p>
        </p:txBody>
      </p:sp>
      <p:sp>
        <p:nvSpPr>
          <p:cNvPr id="147" name="swimlane-gate-4">
            <a:extLst xmlns:a="http://schemas.openxmlformats.org/drawingml/2006/main">
              <a:ext uri="{FF2B5EF4-FFF2-40B4-BE49-F238E27FC236}">
                <a16:creationId xmlns:a16="http://schemas.microsoft.com/office/drawing/2014/main" id="{08872C30-F777-4078-AB83-DFF41EE2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86464"/>
                </a:solidFill>
              </a:defRPr>
            </a:pPr>
            <a:r>
              <a:rPr sz="1050" b="1">
                <a:solidFill>
                  <a:srgbClr val="D86464"/>
                </a:solidFill>
              </a:rPr>
              <a:t/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2B49F8D-8831-4FC2-B8BF-F24BD411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495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795E720-50EC-4C26-AB55-1EBA3A76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4495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98B73CCB-F1A6-41B5-9FEA-E8215B1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99215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913014-D770-4404-9692-1914F480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007A87"/>
                </a:solidFill>
              </a:defRPr>
            </a:pPr>
            <a:r>
              <a:rPr sz="825" b="1" i="0">
                <a:solidFill>
                  <a:srgbClr val="007A87"/>
                </a:solidFill>
              </a:rP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2DA44-CEEA-44AB-BDA0-A2AFFB58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3F707-DC58-40E2-94E7-70B1FF00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39469-DAEA-4C8F-B588-938A757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REQUEST TO SNOWFLAKE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F90EA-4FFA-4B92-A3A2-00063EB5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A 90-Day Validation Plan · Validate and Expand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0E0F6-BDDB-4CC6-85EB-0F8BDA3E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Day 61 to Day 90, plus conditional expansion. ICLO owns the cadence and decision log.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93EAB-5ABA-4AD0-96C2-708BE405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A8C69-3BB3-4E98-B2AC-9277D77C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22DCC-2E46-4338-B341-13A70E2B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d77778e104e5a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474CA-8B80-4E9E-BC88-F9EAA77F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39a1c203742f4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49389-BC5A-4198-9884-D9EAE958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C7224-8B12-457C-BB42-63E0DEB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9672D-59A2-46C8-B354-33A976B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834E8-2EC3-472C-8DC6-F0ABD5D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1FD01-D2BF-4268-91C1-AC9B5D62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667250" cy="2286000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82B0B-5A4C-4678-850D-3B122A41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76450"/>
            <a:ext cx="4667250" cy="2286000"/>
          </a:xfrm>
          <a:prstGeom xmlns:a="http://schemas.openxmlformats.org/drawingml/2006/main" prst="roundRect">
            <a:avLst>
              <a:gd name="adj" fmla="val 354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61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-1905000" y="8577263"/>
            <a:ext cx="952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262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-1895475" y="3219450"/>
            <a:ext cx="2505075" cy="5357813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cxnSp>
        <p:nvCxnSpPr>
          <p:cNvPr id="263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276850" y="3219450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E4154-4A2B-46E7-857F-A02ECEE0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8A94"/>
                </a:solidFill>
              </a:defRPr>
            </a:pPr>
            <a:r>
              <a:rPr sz="1275" b="1" i="0">
                <a:solidFill>
                  <a:srgbClr val="008A94"/>
                </a:solidFill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933FAD-4BC8-4AB7-B287-62B0E46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4177BE-809C-4146-ACA4-69B77D18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D31801-5B3F-4EC8-98D1-7C498E54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8A94"/>
                </a:solidFill>
              </a:defRPr>
            </a:pPr>
            <a:r>
              <a:rPr sz="1275" b="1" i="0">
                <a:solidFill>
                  <a:srgbClr val="008A94"/>
                </a:solidFill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CE2BF-F9D9-48C0-8CD3-AB341ADE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891067-BE41-46FF-95A1-288A6862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50810-765E-425F-A2A0-C78F2C3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8A94"/>
                </a:solidFill>
              </a:defRPr>
            </a:pPr>
            <a:r>
              <a:rPr sz="1275" b="1" i="0">
                <a:solidFill>
                  <a:srgbClr val="008A94"/>
                </a:solidFill>
              </a:rPr>
              <a:t>DAYS 61-90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73971-C939-4A1D-B49F-AB64A8D7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53B11-A0EF-474D-9DE0-8ADA9A8A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49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>Sponsor one account-team review; issue the partner-readiness checklist.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D9B445-78FF-44C2-8963-849C68B2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6768A"/>
                </a:solidFill>
              </a:defRPr>
            </a:pPr>
            <a:r>
              <a:rPr sz="1275" b="1" i="0">
                <a:solidFill>
                  <a:srgbClr val="66768A"/>
                </a:solidFill>
              </a:rPr>
              <a:t>CONDITIONAL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64589-9CA4-4814-9D97-D1D35158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860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3294B"/>
                </a:solidFill>
              </a:defRPr>
            </a:pPr>
            <a:r>
              <a:rPr sz="1650" b="1" i="0">
                <a:solidFill>
                  <a:srgbClr val="13294B"/>
                </a:solidFill>
              </a:rPr>
              <a:t>EXPAND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42C509-6CFD-4AF1-9AF4-450C9181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495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6768A"/>
                </a:solidFill>
              </a:defRPr>
            </a:pPr>
            <a:r>
              <a:rPr sz="1125" b="0" i="0">
                <a:solidFill>
                  <a:srgbClr val="66768A"/>
                </a:solidFill>
              </a:rPr>
              <a:t>Assess Native App, Clean Room or federated learning only if needed.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490B7-A433-4F17-8DFC-0B30ABB9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972800" cy="1504950"/>
          </a:xfrm>
          <a:prstGeom xmlns:a="http://schemas.openxmlformats.org/drawingml/2006/main" prst="roundRect">
            <a:avLst>
              <a:gd name="adj" fmla="val 506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7AE27C-D95E-4D09-A691-6D9DB849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6768A"/>
                </a:solidFill>
              </a:defRPr>
            </a:pPr>
            <a:r>
              <a:rPr sz="1350" b="1" i="0">
                <a:solidFill>
                  <a:srgbClr val="66768A"/>
                </a:solidFill>
              </a:rPr>
              <a:t>OPERATING MODEL · ICLO runs weekly written status and one decision log.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66768A"/>
                </a:solidFill>
              </a:defRPr>
            </a:pPr>
            <a:r>
              <a:rPr sz="1350" b="1" i="0">
                <a:solidFill>
                  <a:srgbClr val="66768A"/>
                </a:solidFill>
              </a:rPr>
              <a:t>CONSUMPTION MODEL · ICLO supplies the sizing inputs (employers, member-months, ingestion / transform / outcome-refresh frequency, data volume, warehouse size and runtime); the Snowflake SE calculates annual credits in the Day-30 sizing session.</a:t>
            </a:r>
          </a:p>
        </p:txBody>
      </p:sp>
      <p:sp>
        <p:nvSpPr>
          <p:cNvPr id="128" name="swimlane-snowflake-1">
            <a:extLst xmlns:a="http://schemas.openxmlformats.org/drawingml/2006/main">
              <a:ext uri="{FF2B5EF4-FFF2-40B4-BE49-F238E27FC236}">
                <a16:creationId xmlns:a16="http://schemas.microsoft.com/office/drawing/2014/main" id="{C6707267-D17C-4633-B480-C51A5375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/>
            </a:r>
          </a:p>
        </p:txBody>
      </p:sp>
      <p:sp>
        <p:nvSpPr>
          <p:cNvPr id="129" name="swimlane-rule-1">
            <a:extLst xmlns:a="http://schemas.openxmlformats.org/drawingml/2006/main">
              <a:ext uri="{FF2B5EF4-FFF2-40B4-BE49-F238E27FC236}">
                <a16:creationId xmlns:a16="http://schemas.microsoft.com/office/drawing/2014/main" id="{EBE0DEE5-F399-4284-B4E9-330CBF0A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0" name="swimlane-iclo-label-1">
            <a:extLst xmlns:a="http://schemas.openxmlformats.org/drawingml/2006/main">
              <a:ext uri="{FF2B5EF4-FFF2-40B4-BE49-F238E27FC236}">
                <a16:creationId xmlns:a16="http://schemas.microsoft.com/office/drawing/2014/main" id="{F3865E03-63F2-4FB9-B774-C236360B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/>
            </a:r>
          </a:p>
        </p:txBody>
      </p:sp>
      <p:sp>
        <p:nvSpPr>
          <p:cNvPr id="131" name="swimlane-iclo-1">
            <a:extLst xmlns:a="http://schemas.openxmlformats.org/drawingml/2006/main">
              <a:ext uri="{FF2B5EF4-FFF2-40B4-BE49-F238E27FC236}">
                <a16:creationId xmlns:a16="http://schemas.microsoft.com/office/drawing/2014/main" id="{2D4A055B-8ED6-4076-81A9-7B866503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/>
            </a:r>
          </a:p>
        </p:txBody>
      </p:sp>
      <p:sp>
        <p:nvSpPr>
          <p:cNvPr id="132" name="swimlane-gate-1">
            <a:extLst xmlns:a="http://schemas.openxmlformats.org/drawingml/2006/main">
              <a:ext uri="{FF2B5EF4-FFF2-40B4-BE49-F238E27FC236}">
                <a16:creationId xmlns:a16="http://schemas.microsoft.com/office/drawing/2014/main" id="{20A38B2E-7858-4E74-8791-B825BC22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294B"/>
                </a:solidFill>
              </a:defRPr>
            </a:pPr>
            <a:r>
              <a:rPr sz="1050" b="1">
                <a:solidFill>
                  <a:srgbClr val="13294B"/>
                </a:solidFill>
              </a:rPr>
              <a:t/>
            </a:r>
          </a:p>
        </p:txBody>
      </p:sp>
      <p:sp>
        <p:nvSpPr>
          <p:cNvPr id="133" name="swimlane-snowflake-2">
            <a:extLst xmlns:a="http://schemas.openxmlformats.org/drawingml/2006/main">
              <a:ext uri="{FF2B5EF4-FFF2-40B4-BE49-F238E27FC236}">
                <a16:creationId xmlns:a16="http://schemas.microsoft.com/office/drawing/2014/main" id="{81591F08-3402-499A-9D35-AA5B9DAC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/>
            </a:r>
          </a:p>
        </p:txBody>
      </p:sp>
      <p:sp>
        <p:nvSpPr>
          <p:cNvPr id="134" name="swimlane-rule-2">
            <a:extLst xmlns:a="http://schemas.openxmlformats.org/drawingml/2006/main">
              <a:ext uri="{FF2B5EF4-FFF2-40B4-BE49-F238E27FC236}">
                <a16:creationId xmlns:a16="http://schemas.microsoft.com/office/drawing/2014/main" id="{F4F169D5-9FEF-43D8-A872-58A39E11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5" name="swimlane-iclo-label-2">
            <a:extLst xmlns:a="http://schemas.openxmlformats.org/drawingml/2006/main">
              <a:ext uri="{FF2B5EF4-FFF2-40B4-BE49-F238E27FC236}">
                <a16:creationId xmlns:a16="http://schemas.microsoft.com/office/drawing/2014/main" id="{5094D15A-E7D6-49E8-B80A-AAF1AB38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/>
            </a:r>
          </a:p>
        </p:txBody>
      </p:sp>
      <p:sp>
        <p:nvSpPr>
          <p:cNvPr id="136" name="swimlane-iclo-2">
            <a:extLst xmlns:a="http://schemas.openxmlformats.org/drawingml/2006/main">
              <a:ext uri="{FF2B5EF4-FFF2-40B4-BE49-F238E27FC236}">
                <a16:creationId xmlns:a16="http://schemas.microsoft.com/office/drawing/2014/main" id="{25C8FDC8-735C-456D-A889-96C2288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/>
            </a:r>
          </a:p>
        </p:txBody>
      </p:sp>
      <p:sp>
        <p:nvSpPr>
          <p:cNvPr id="137" name="swimlane-gate-2">
            <a:extLst xmlns:a="http://schemas.openxmlformats.org/drawingml/2006/main">
              <a:ext uri="{FF2B5EF4-FFF2-40B4-BE49-F238E27FC236}">
                <a16:creationId xmlns:a16="http://schemas.microsoft.com/office/drawing/2014/main" id="{4B4C86CE-2280-47FE-93BB-9E543F8E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294B"/>
                </a:solidFill>
              </a:defRPr>
            </a:pPr>
            <a:r>
              <a:rPr sz="1050" b="1">
                <a:solidFill>
                  <a:srgbClr val="13294B"/>
                </a:solidFill>
              </a:rPr>
              <a:t/>
            </a:r>
          </a:p>
        </p:txBody>
      </p:sp>
      <p:sp>
        <p:nvSpPr>
          <p:cNvPr id="138" name="swimlane-snowflake-3">
            <a:extLst xmlns:a="http://schemas.openxmlformats.org/drawingml/2006/main">
              <a:ext uri="{FF2B5EF4-FFF2-40B4-BE49-F238E27FC236}">
                <a16:creationId xmlns:a16="http://schemas.microsoft.com/office/drawing/2014/main" id="{B80A1A1D-86C6-446D-9DC7-D4615D40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>SNOWFLAKE</a:t>
            </a:r>
          </a:p>
        </p:txBody>
      </p:sp>
      <p:sp>
        <p:nvSpPr>
          <p:cNvPr id="139" name="swimlane-rule-3">
            <a:extLst xmlns:a="http://schemas.openxmlformats.org/drawingml/2006/main">
              <a:ext uri="{FF2B5EF4-FFF2-40B4-BE49-F238E27FC236}">
                <a16:creationId xmlns:a16="http://schemas.microsoft.com/office/drawing/2014/main" id="{99C81EF7-998E-45A2-BC60-A7A88C0C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0" name="swimlane-iclo-label-3">
            <a:extLst xmlns:a="http://schemas.openxmlformats.org/drawingml/2006/main">
              <a:ext uri="{FF2B5EF4-FFF2-40B4-BE49-F238E27FC236}">
                <a16:creationId xmlns:a16="http://schemas.microsoft.com/office/drawing/2014/main" id="{500B7B48-833A-4CBC-9D3D-0214DE75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>ICLO</a:t>
            </a:r>
          </a:p>
        </p:txBody>
      </p:sp>
      <p:sp>
        <p:nvSpPr>
          <p:cNvPr id="141" name="swimlane-iclo-3">
            <a:extLst xmlns:a="http://schemas.openxmlformats.org/drawingml/2006/main">
              <a:ext uri="{FF2B5EF4-FFF2-40B4-BE49-F238E27FC236}">
                <a16:creationId xmlns:a16="http://schemas.microsoft.com/office/drawing/2014/main" id="{55DE5C0D-2D54-494F-8708-207D222B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>Run review; recommend go / no-go.</a:t>
            </a:r>
          </a:p>
        </p:txBody>
      </p:sp>
      <p:sp>
        <p:nvSpPr>
          <p:cNvPr id="142" name="swimlane-gate-3">
            <a:extLst xmlns:a="http://schemas.openxmlformats.org/drawingml/2006/main">
              <a:ext uri="{FF2B5EF4-FFF2-40B4-BE49-F238E27FC236}">
                <a16:creationId xmlns:a16="http://schemas.microsoft.com/office/drawing/2014/main" id="{3580B65D-6BAB-4429-90A1-A78B622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13294B"/>
                </a:solidFill>
              </a:defRPr>
            </a:pPr>
            <a:r>
              <a:rPr sz="1050" b="1">
                <a:solidFill>
                  <a:srgbClr val="13294B"/>
                </a:solidFill>
              </a:rPr>
              <a:t>GATE · Use case + evidence minimum agreed</a:t>
            </a:r>
          </a:p>
        </p:txBody>
      </p:sp>
      <p:sp>
        <p:nvSpPr>
          <p:cNvPr id="143" name="swimlane-snowflake-4">
            <a:extLst xmlns:a="http://schemas.openxmlformats.org/drawingml/2006/main">
              <a:ext uri="{FF2B5EF4-FFF2-40B4-BE49-F238E27FC236}">
                <a16:creationId xmlns:a16="http://schemas.microsoft.com/office/drawing/2014/main" id="{2F1EE61D-7005-4C13-9B20-4EA3FEE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0985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008A94"/>
                </a:solidFill>
              </a:defRPr>
            </a:pPr>
            <a:r>
              <a:rPr sz="1238" b="1">
                <a:solidFill>
                  <a:srgbClr val="008A94"/>
                </a:solidFill>
              </a:rPr>
              <a:t>SNOWFLAKE</a:t>
            </a:r>
          </a:p>
        </p:txBody>
      </p:sp>
      <p:sp>
        <p:nvSpPr>
          <p:cNvPr id="144" name="swimlane-rule-4">
            <a:extLst xmlns:a="http://schemas.openxmlformats.org/drawingml/2006/main">
              <a:ext uri="{FF2B5EF4-FFF2-40B4-BE49-F238E27FC236}">
                <a16:creationId xmlns:a16="http://schemas.microsoft.com/office/drawing/2014/main" id="{7C630508-27BE-4FBC-8927-082465C9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0" y="8572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5" name="swimlane-iclo-label-4">
            <a:extLst xmlns:a="http://schemas.openxmlformats.org/drawingml/2006/main">
              <a:ext uri="{FF2B5EF4-FFF2-40B4-BE49-F238E27FC236}">
                <a16:creationId xmlns:a16="http://schemas.microsoft.com/office/drawing/2014/main" id="{4AFD8B78-C472-44E5-ADC1-9394548E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449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38" b="1">
                <a:solidFill>
                  <a:srgbClr val="13294B"/>
                </a:solidFill>
              </a:defRPr>
            </a:pPr>
            <a:r>
              <a:rPr sz="1238" b="1">
                <a:solidFill>
                  <a:srgbClr val="13294B"/>
                </a:solidFill>
              </a:rPr>
              <a:t>ICLO</a:t>
            </a:r>
          </a:p>
        </p:txBody>
      </p:sp>
      <p:sp>
        <p:nvSpPr>
          <p:cNvPr id="146" name="swimlane-iclo-4">
            <a:extLst xmlns:a="http://schemas.openxmlformats.org/drawingml/2006/main">
              <a:ext uri="{FF2B5EF4-FFF2-40B4-BE49-F238E27FC236}">
                <a16:creationId xmlns:a16="http://schemas.microsoft.com/office/drawing/2014/main" id="{9873CC77-52DA-43F1-83CB-0B90D5BB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449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66768A"/>
                </a:solidFill>
              </a:defRPr>
            </a:pPr>
            <a:r>
              <a:rPr sz="1125">
                <a:solidFill>
                  <a:srgbClr val="66768A"/>
                </a:solidFill>
              </a:rPr>
              <a:t>Build only after multi-party demand is confirmed.</a:t>
            </a:r>
          </a:p>
        </p:txBody>
      </p:sp>
      <p:sp>
        <p:nvSpPr>
          <p:cNvPr id="147" name="swimlane-gate-4">
            <a:extLst xmlns:a="http://schemas.openxmlformats.org/drawingml/2006/main">
              <a:ext uri="{FF2B5EF4-FFF2-40B4-BE49-F238E27FC236}">
                <a16:creationId xmlns:a16="http://schemas.microsoft.com/office/drawing/2014/main" id="{08872C30-F777-4078-AB83-DFF41EE2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86464"/>
                </a:solidFill>
              </a:defRPr>
            </a:pPr>
            <a:r>
              <a:rPr sz="1050" b="1">
                <a:solidFill>
                  <a:srgbClr val="D86464"/>
                </a:solidFill>
              </a:rPr>
              <a:t>TRIGGER · Account review confirms multi-party need</a:t>
            </a:r>
          </a:p>
        </p:txBody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4E4DA46A-4E41-480D-974E-5A0866A9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495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35FDE735-0020-4533-9047-01015063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24250"/>
            <a:ext cx="4495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88356D8-FC18-4DF2-A146-58507B6B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5334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99215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B94BD-B994-4660-909B-38F4E86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6768A"/>
                </a:solidFill>
              </a:defRPr>
            </a:pPr>
            <a:r>
              <a:rPr sz="1275" b="1" i="0">
                <a:solidFill>
                  <a:srgbClr val="66768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352F0-BFE2-448B-8126-1F799CD6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928B0-3EDD-4F90-8B43-5D894F6C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F0C54-3449-45FA-9284-EA30A4D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ICLO PRODUCT DESIGN PRINCIPLE / REQUEST TO SNOWFLAKE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81299-4F55-4A9B-8466-D5F933A3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ED2C9-C111-42C7-AF11-7B211534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5329C-ADF5-40F9-B307-92ECDC96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13" b="1" i="0">
                <a:solidFill>
                  <a:srgbClr val="29B5E8"/>
                </a:solidFill>
              </a:defRPr>
            </a:pPr>
            <a:r>
              <a:rPr sz="713" b="1" i="0">
                <a:solidFill>
                  <a:srgbClr val="29B5E8"/>
                </a:solidFill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86BA9-8C7E-4BCE-A04A-1B8765E2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Data and Responsibility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0C3A1-CBB5-4F40-8208-A0399275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Platform responsibility, operating responsibility and legal judgment remain separate.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CFACC-36FC-49C4-9E7D-70E03EC7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5FFD4-FF2E-4327-B9E2-F9FCAF49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9"/>
          </a:solidFill>
          <a:ln xmlns:a="http://schemas.openxmlformats.org/drawingml/2006/main" w="0">
            <a:solidFill>
              <a:srgbClr val="FF7A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375EB-EBD2-4D52-8C40-8FC1625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903edbd6d4538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88917-E837-405C-9786-9EABFE3A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5355282374222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71BC3-AC5B-4679-B84A-5CABC34A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260614-0FFF-4E3A-8A07-E4B126C5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12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00200"/>
                <a:gridCol w="2038350"/>
                <a:gridCol w="2381250"/>
                <a:gridCol w="2400300"/>
                <a:gridCol w="2552700"/>
              </a:tblGrid>
              <a:tr h="682625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Domain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ICLO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Employer / TPA / partner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Snowflake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FFFFFF"/>
                          </a:solidFill>
                        </a:rPr>
                        <a:t>Outside Snowflake scope</a:t>
                      </a:r>
                    </a:p>
                  </a:txBody>
                  <a:tcPr marL="76200" marR="76200" marT="19050" marB="19050" anchor="ctr">
                    <a:solidFill>
                      <a:srgbClr val="007A87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Employee navigation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Product, events, consent UX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Employee action; operational support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Enforce purpose-based access on event data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7A79"/>
                          </a:solidFill>
                        </a:rPr>
                        <a:t>Licensure / referral-law analysis</a:t>
                      </a:r>
                    </a:p>
                  </a:txBody>
                  <a:tcPr marL="76200" marR="76200" marT="19050" marB="19050" anchor="ctr">
                    <a:solidFill>
                      <a:srgbClr val="FFF0F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Eligibility + plan + network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Map and use context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Provide under contract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Canonical model + reconciliation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7A79"/>
                          </a:solidFill>
                        </a:rPr>
                        <a:t>Data-rights determination</a:t>
                      </a:r>
                    </a:p>
                  </a:txBody>
                  <a:tcPr marL="76200" marR="76200" marT="19050" marB="19050" anchor="ctr">
                    <a:solidFill>
                      <a:srgbClr val="FFF0F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Claims + outcomes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Attribution logic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Claims, run-out, completion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Aggregate calculation + access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7A79"/>
                          </a:solidFill>
                        </a:rPr>
                        <a:t>Savings validation</a:t>
                      </a:r>
                    </a:p>
                  </a:txBody>
                  <a:tcPr marL="76200" marR="76200" marT="19050" marB="19050" anchor="ctr">
                    <a:solidFill>
                      <a:srgbClr val="FFF0F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Raw images + models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Vault, inference, validation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Clinical role as applicable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URI + metadata + approved signal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7A79"/>
                          </a:solidFill>
                        </a:rPr>
                        <a:t>Model endpoint validation</a:t>
                      </a:r>
                    </a:p>
                  </a:txBody>
                  <a:tcPr marL="76200" marR="76200" marT="19050" marB="19050" anchor="ctr">
                    <a:solidFill>
                      <a:srgbClr val="FFF0F0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Governance + compliance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App controls + incident operations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Source-system controls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52238"/>
                          </a:solidFill>
                        </a:rPr>
                        <a:t>RBAC, masking, row policy, history</a:t>
                      </a:r>
                    </a:p>
                  </a:txBody>
                  <a:tcPr marL="76200" marR="762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7A79"/>
                          </a:solidFill>
                        </a:rPr>
                        <a:t>ICLO-wide compliance conclusion</a:t>
                      </a:r>
                    </a:p>
                  </a:txBody>
                  <a:tcPr marL="76200" marR="76200" marT="19050" marB="19050" anchor="ctr">
                    <a:solidFill>
                      <a:srgbClr val="FFF0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4324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56177F-AFB1-41AA-A271-161DF68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6768A"/>
                </a:solidFill>
              </a:defRPr>
            </a:pPr>
            <a:r>
              <a:rPr sz="1275" b="1" i="0">
                <a:solidFill>
                  <a:srgbClr val="66768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91EFA-F310-42AB-B74C-76B6911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56E10-AD9D-4DF9-8A9B-1CB5C700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0FE70-442F-4396-BE5E-E2626B6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REQUEST TO SNOWFLAKE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0D41-1643-4A2E-AC09-78F14AC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Technical Decisions for the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F81AF-BA8B-4528-A978-B9883B8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Resolve the pilot pattern first; treat application packaging and multi-party ML as conditional.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A335-5CFE-4C13-BE96-62E8123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977D7-44A8-4E83-9EAC-47F0D455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9"/>
          </a:solidFill>
          <a:ln xmlns:a="http://schemas.openxmlformats.org/drawingml/2006/main" w="0">
            <a:solidFill>
              <a:srgbClr val="FF7A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A659A-85F5-44CE-912D-89D05AFC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9f6fbcafd4d58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2B111-9A98-4875-B081-16B56B0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ad385c6ae4e69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F03A2-FD49-4A27-A82F-8D8BA83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571BD-B994-4BC9-BA3E-D44109BA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2A9A6-96B1-4568-B3D3-5A991AB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7A87"/>
                </a:solidFill>
              </a:defRPr>
            </a:pPr>
            <a:r>
              <a:rPr sz="1200" b="1" i="0">
                <a:solidFill>
                  <a:srgbClr val="007A87"/>
                </a:solidFill>
              </a:rPr>
              <a:t>PRIORITY 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8A8B7-9FF0-489B-8D1F-85C3543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BAA59-EC9F-4C1C-A44F-4E29E33F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FD1A7-0D6F-45FD-9892-8D6F2334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What is the practical U.S. Business Critical and BAA path for ICLO's current Snowflake account?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7B683-1A89-4BB9-ADD5-03BD6DA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0CFE8-84DA-4BF6-A63B-7975B82A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B080F-6F2E-4184-8DDC-66A20246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When should we use same-region Direct Share versus controlled SFTP/API staging?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F570B-4755-48D8-83A1-178EE64F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97286-EE39-44AE-ADA6-DAB33502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42092-9C2A-45F2-B11C-3F87948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What tenancy, masking, row-policy and access-history pattern do you recommend?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D774C8-5D5C-4600-88D0-27D8E075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AA69E-7F25-43DD-933C-FDE98D2A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AB4BD-A366-4541-A937-4D7DB64F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How should we size 2.5K / 10K / 25K populations and measure post-credit unit economics?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9CC95-3D8F-4CC4-994E-65E63BAE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0C903B-80E0-42F9-A333-6C4B65D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DB2893-8350-498E-A804-95D2939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What must ICLO prove for startup, partner, Powered by Snowflake or co-sell readiness?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61505-7886-438C-9076-436036BC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5295900" cy="4095750"/>
          </a:xfrm>
          <a:prstGeom xmlns:a="http://schemas.openxmlformats.org/drawingml/2006/main" prst="roundRect">
            <a:avLst>
              <a:gd name="adj" fmla="val 186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01D38-56FE-49D0-B0BC-47818F0A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9A24"/>
                </a:solidFill>
              </a:defRPr>
            </a:pPr>
            <a:r>
              <a:rPr sz="1200" b="1" i="0">
                <a:solidFill>
                  <a:srgbClr val="D99A24"/>
                </a:solidFill>
              </a:rPr>
              <a:t>CONDITIONAL / LATER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C109F-718A-4F1B-BDF5-A1911F4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>Native 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234A1-55DA-4BD5-B67A-FC884BC9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B82"/>
                </a:solidFill>
              </a:defRPr>
            </a:pPr>
            <a:r>
              <a:rPr sz="1125" b="0" i="0">
                <a:solidFill>
                  <a:srgbClr val="5B6B82"/>
                </a:solidFill>
              </a:rPr>
              <a:t>When does customer-account execution beat a connector pattern?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DDE29B-CCEA-48CF-8FAC-CC5A9FA9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>Clean Room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0CDC96-95F6-4DB1-B272-BCAE3DE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814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B82"/>
                </a:solidFill>
              </a:defRPr>
            </a:pPr>
            <a:r>
              <a:rPr sz="1125" b="0" i="0">
                <a:solidFill>
                  <a:srgbClr val="5B6B82"/>
                </a:solidFill>
              </a:rPr>
              <a:t>Which multi-party payer / TPA / employer collaboration justifies it?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916FA-12D0-45FE-8A14-1C1C57E0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>Federated learning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72BC5-7E1F-42A3-94E5-80B5B00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B82"/>
                </a:solidFill>
              </a:defRPr>
            </a:pPr>
            <a:r>
              <a:rPr sz="1125" b="0" i="0">
                <a:solidFill>
                  <a:srgbClr val="5B6B82"/>
                </a:solidFill>
              </a:rPr>
              <a:t>True local training with parameter aggregation, or collaborative ML in a Clean Room, Native App or customer account?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6BE996-3BEF-4040-874E-03E826C2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19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99A24"/>
                </a:solidFill>
              </a:defRPr>
            </a:pPr>
            <a:r>
              <a:rPr sz="1050" b="1" i="0">
                <a:solidFill>
                  <a:srgbClr val="D99A24"/>
                </a:solidFill>
              </a:rPr>
              <a:t>Not required for the first employer pilot.</a:t>
            </a:r>
          </a:p>
        </p:txBody>
      </p:sp>
    </p:spTree>
    <p:extLst>
      <p:ext uri="{BB962C8B-B14F-4D97-AF65-F5344CB8AC3E}">
        <p14:creationId xmlns:p14="http://schemas.microsoft.com/office/powerpoint/2010/main" val="10068169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CE6896-357D-4887-8AD5-539EE92D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6768A"/>
                </a:solidFill>
              </a:defRPr>
            </a:pPr>
            <a:r>
              <a:rPr sz="1275" b="1" i="0">
                <a:solidFill>
                  <a:srgbClr val="66768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EEE67-6F43-4558-A3B4-85BDA1A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7B058-9485-431B-8039-131A790F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EE7BD-3659-4AAA-861F-4AB14A65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D86464"/>
                </a:solidFill>
              </a:defRPr>
            </a:pPr>
            <a:r>
              <a:rPr sz="975" b="1" i="0">
                <a:solidFill>
                  <a:srgbClr val="D86464"/>
                </a:solidFill>
              </a:rPr>
              <a:t>HYPOTHESIS / TO BE VALIDATED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4E150-78A0-49F2-8025-93AC78A3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What the Scenario Model Needs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04D2F-5B37-4914-BDDA-77C89071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A governed planning heuristic should expose assumptions, scenario versions and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60099-5853-4B6F-B473-A2A108DD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B17E3-D052-4238-BF4A-6FC8CA1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9"/>
          </a:solidFill>
          <a:ln xmlns:a="http://schemas.openxmlformats.org/drawingml/2006/main" w="0">
            <a:solidFill>
              <a:srgbClr val="FF7A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E0A6E-5A60-431A-AA9A-42519C76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a57f859ed42d1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2205A-1DBF-4840-996B-377291FB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b6689a4b14610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6AB97-F871-483F-846D-D4AE6298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451F6-5517-456B-854A-FD793F6A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CB1D02-D831-47C8-8139-577E70E4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4034D-CA18-408F-B05D-8642AF74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POPULATION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3AF17-D7B9-4C40-8C3A-6961D11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526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Employee/dependent age distribution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Turnover + average tenure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77EC6-63B1-4610-AA9E-5BD1CE5A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549CA-3E53-4113-86BD-5305FB8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ACCESS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0E112E-D502-428B-B97D-2C24133A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670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Workforce geography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Network overlap + provider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900EB-333C-4AF2-BA03-31DE0459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2306C-8399-428E-BFC9-07AC5EB1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PLAN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E3EFD-2631-460B-B73C-2AE85EDE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814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Plan design + annual maximum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Employer contribution + paid/OOP split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A45101-FA48-4ABE-B8D8-70D55A8B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42862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E6DA10-DAA3-4F96-B7AB-D2DCAA26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88" b="1" i="0">
                <a:solidFill>
                  <a:srgbClr val="008A94"/>
                </a:solidFill>
              </a:defRPr>
            </a:pPr>
            <a:r>
              <a:rPr sz="1388" b="1" i="0">
                <a:solidFill>
                  <a:srgbClr val="008A94"/>
                </a:solidFill>
              </a:rPr>
              <a:t>BASELINE + TIMING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E956D-8E8D-4DBD-9B37-C3AABBF2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958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Utilization + historical claims</a:t>
            </a:r>
          </a:p>
          <a:p xmlns:a="http://schemas.openxmlformats.org/drawingml/2006/main">
            <a:pPr algn="l">
              <a:buNone/>
              <a:defRPr sz="1088" b="0" i="0">
                <a:solidFill>
                  <a:srgbClr val="152238"/>
                </a:solidFill>
              </a:defRPr>
            </a:pPr>
            <a:r>
              <a:rPr sz="1088" b="0" i="0">
                <a:solidFill>
                  <a:srgbClr val="152238"/>
                </a:solidFill>
              </a:rPr>
              <a:t>Untreated need/incidence + run-out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99F23-B5A8-4BCF-86ED-9E4CD3A1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05150"/>
            <a:ext cx="2038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B2A4A"/>
          </a:solidFill>
          <a:ln xmlns:a="http://schemas.openxmlformats.org/drawingml/2006/main" w="0">
            <a:solidFill>
              <a:srgbClr val="1B2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1D02D-D5EF-4DC5-AB4D-AE8D6510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766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GOVERNED</a:t>
            </a:r>
          </a:p>
          <a:p xmlns:a="http://schemas.openxmlformats.org/drawingml/2006/main">
            <a:pPr algn="ctr"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SCENARIO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1B6EA-5B33-4F7E-B76A-7D6463E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C8D6E1"/>
                </a:solidFill>
              </a:defRPr>
            </a:pPr>
            <a:r>
              <a:rPr sz="975" b="0" i="0">
                <a:solidFill>
                  <a:srgbClr val="C8D6E1"/>
                </a:solidFill>
              </a:rPr>
              <a:t>Lineage + version + uncertainty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01A4F-1A70-4005-B5E5-4A687945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81400"/>
            <a:ext cx="95250" cy="9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2" name=""/>
          <p:cNvCxnSpPr>
            <a:stCxn xmlns:a="http://schemas.openxmlformats.org/drawingml/2006/main" id="30" idx="6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086350" y="3629025"/>
            <a:ext cx="2286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noFill/>
            <a:prstDash val="solid"/>
            <a:headEnd type="none" w="med" len="me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C1F529-AE7E-40CD-8A1B-C211EB11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3810000" cy="3790950"/>
          </a:xfrm>
          <a:prstGeom xmlns:a="http://schemas.openxmlformats.org/drawingml/2006/main" prst="roundRect">
            <a:avLst>
              <a:gd name="adj" fmla="val 201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4" name="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353300" y="3800475"/>
            <a:ext cx="4191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A87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38565D-F5D3-40E2-8C99-BDC764B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76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7A87"/>
                </a:solidFill>
              </a:defRPr>
            </a:pPr>
            <a:r>
              <a:rPr sz="1200" b="1" i="0">
                <a:solidFill>
                  <a:srgbClr val="007A87"/>
                </a:solidFill>
              </a:rPr>
              <a:t>OUTPUTS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9A18E-467B-4431-9D8D-D894BCA2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14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66AF6C-03E1-447D-B5A6-00DE3634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52238"/>
                </a:solidFill>
              </a:defRPr>
            </a:pPr>
            <a:r>
              <a:rPr sz="1125" b="0" i="0">
                <a:solidFill>
                  <a:srgbClr val="152238"/>
                </a:solidFill>
              </a:rPr>
              <a:t>Preventive utilization increase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7894F4-E047-43BD-9970-D245B2B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D5DE8F-A38B-4E57-9624-E487BE1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384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52238"/>
                </a:solidFill>
              </a:defRPr>
            </a:pPr>
            <a:r>
              <a:rPr sz="1125" b="0" i="0">
                <a:solidFill>
                  <a:srgbClr val="152238"/>
                </a:solidFill>
              </a:rPr>
              <a:t>Newly discovered treatment spend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AC0CDD-8671-4792-9BAA-8DEA867C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95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62979E-F173-4B8F-87FE-073F5242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52238"/>
                </a:solidFill>
              </a:defRPr>
            </a:pPr>
            <a:r>
              <a:rPr sz="1125" b="0" i="0">
                <a:solidFill>
                  <a:srgbClr val="152238"/>
                </a:solidFill>
              </a:rPr>
              <a:t>Allowed / plan-paid / OOP separation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6BAACB-507B-4413-BB47-FD2B7313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BB4913-BECF-4F7B-9DEC-64247E71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195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52238"/>
                </a:solidFill>
              </a:defRPr>
            </a:pPr>
            <a:r>
              <a:rPr sz="1125" b="0" i="0">
                <a:solidFill>
                  <a:srgbClr val="152238"/>
                </a:solidFill>
              </a:rPr>
              <a:t>Year 1 / Year 2 / Year 3 scenarios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57EE44-71E8-4DAD-9FF9-F285A3D7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7D9F5D-CD7E-44B2-AE63-76E9191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52238"/>
                </a:solidFill>
              </a:defRPr>
            </a:pPr>
            <a:r>
              <a:rPr sz="1125" b="0" i="0">
                <a:solidFill>
                  <a:srgbClr val="152238"/>
                </a:solidFill>
              </a:rPr>
              <a:t>Turnover sensitivity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2B2D3B-AD81-4432-BBB6-CEC98BB9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BC7C9C-6970-487C-AF69-513FA8A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005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52238"/>
                </a:solidFill>
              </a:defRPr>
            </a:pPr>
            <a:r>
              <a:rPr sz="1125" b="0" i="0">
                <a:solidFill>
                  <a:srgbClr val="152238"/>
                </a:solidFill>
              </a:rPr>
              <a:t>Network-access sensitivity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BAD1FD-2173-4F03-920D-0F55A2F6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87"/>
          </a:solidFill>
          <a:ln xmlns:a="http://schemas.openxmlformats.org/drawingml/2006/main" w="0">
            <a:solidFill>
              <a:srgbClr val="007A8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89EC9A-AC37-42F2-B124-48FA08F1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91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152238"/>
                </a:solidFill>
              </a:defRPr>
            </a:pPr>
            <a:r>
              <a:rPr sz="1125" b="0" i="0">
                <a:solidFill>
                  <a:srgbClr val="152238"/>
                </a:solidFill>
              </a:rPr>
              <a:t>Expected data uncertainty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10A239-1803-4358-8D81-DD444D1D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82D28F-06CF-4E2C-A380-CC0ACB8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86464"/>
                </a:solidFill>
              </a:defRPr>
            </a:pPr>
            <a:r>
              <a:rPr sz="1275" b="0" i="0">
                <a:solidFill>
                  <a:srgbClr val="D86464"/>
                </a:solidFill>
              </a:rPr>
              <a:t>Planning heuristic - calibrate with customer data; not an ICLO outcome.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8A9DCC8A-36D5-4ECC-BF84-18B901D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1D627050-220C-4A45-923F-BA587369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1B32D65B-5850-49A1-AC82-708708F5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937C0C91-9342-421C-8370-A6589843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432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8A6005BF-B58C-4660-8F44-348E462A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FD6F4E99-79BC-4EFF-8EBA-3370591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89C9C428-7E39-451D-8535-BE900352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A9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1A44D86-2EC4-42A8-B5A6-12B51FE2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72075"/>
            <a:ext cx="2286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A8B770A7-A1CC-4AB4-8023-F1896768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28875"/>
            <a:ext cx="0" cy="27432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A263183-4620-4CA4-A453-C38998A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00475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F4DC0D02-6F15-4474-AB77-DF0D3E5A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52725"/>
            <a:ext cx="0" cy="23431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008A9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3106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CEE6D-21CF-4819-95FC-0E7BDF6A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6768A"/>
                </a:solidFill>
              </a:defRPr>
            </a:pPr>
            <a:r>
              <a:rPr sz="1275" b="1" i="0">
                <a:solidFill>
                  <a:srgbClr val="66768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F7E40-F97E-4BC1-91B6-2035863A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22E6D-6B71-4FB1-A93F-DD153DBA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D44CE-8C3A-42CB-9651-FF56570A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REQUEST TO SNOWFLAKE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E7DF6-5AE3-4EFE-882C-1A7B48B7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Account Evidence Required Before Outreach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B490F-8C27-4AA8-8FA7-B7D79EEE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Validate the employer, dental administrator, data workload, rights and technical readiness account by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8FF5B-4073-4D4F-9EC0-3A47B2DE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3B7C4-660E-411D-BAA4-06DBBD7B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9"/>
          </a:solidFill>
          <a:ln xmlns:a="http://schemas.openxmlformats.org/drawingml/2006/main" w="0">
            <a:solidFill>
              <a:srgbClr val="FF7A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5A5AF-5214-40C8-A46A-68CC7F1D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8cca1b112452a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BA233-3C47-45B6-8D15-A9495EDA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b79353fef435f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AE0DF-CFBF-4F67-83E2-132BD2B4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C11FA-BBA1-4EFF-8B53-1C26D0DD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08C6C-08C6-40F9-BBB0-889F279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8A94"/>
                </a:solidFill>
              </a:defRPr>
            </a:pPr>
            <a:r>
              <a:rPr sz="1200" b="1" i="0">
                <a:solidFill>
                  <a:srgbClr val="008A94"/>
                </a:solidFill>
              </a:rPr>
              <a:t>ACCOUNT IDENTITY + DATA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1619250"/>
                <a:gridCol w="1714500"/>
                <a:gridCol w="2000250"/>
                <a:gridCol w="2000250"/>
                <a:gridCol w="1447800"/>
              </a:tblGrid>
              <a:tr h="5334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Organization / legal entity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Account type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Self-funded dental admin?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Dental eligibility in Snowflake?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Claim-line data in Snowflake?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Cloud / region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F623A6-3EDA-4A34-9912-C46793A5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8A94"/>
                </a:solidFill>
              </a:defRPr>
            </a:pPr>
            <a:r>
              <a:rPr sz="1200" b="1" i="0">
                <a:solidFill>
                  <a:srgbClr val="008A94"/>
                </a:solidFill>
              </a:rPr>
              <a:t>COMMERCIAL + TECHNICAL READINESS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609600" y="4486275"/>
          <a:ext xmlns:a="http://schemas.openxmlformats.org/drawingml/2006/main" cx="109728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343150"/>
                <a:gridCol w="2000250"/>
                <a:gridCol w="2076450"/>
                <a:gridCol w="2076450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navigation / teledentistry vendor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Potential ICLO whitespace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Snowflake account owner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Technical validation ready?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introduction ready?</a:t>
                      </a:r>
                    </a:p>
                  </a:txBody>
                  <a:tcPr marL="76200" marR="76200" marT="38100" marB="38100" anchor="ctr">
                    <a:solidFill>
                      <a:srgbClr val="008A9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52238"/>
                          </a:solidFill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0FD43-431F-4889-81DF-3DEA9775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86464"/>
                </a:solidFill>
              </a:defRPr>
            </a:pPr>
            <a:r>
              <a:rPr sz="1275" b="0" i="0">
                <a:solidFill>
                  <a:srgbClr val="D86464"/>
                </a:solidFill>
              </a:rPr>
              <a:t>Blank template, to be completed with the account team. No statement that 'many TPAs are on Snowflake' should be used before this matrix contains account evidence.</a:t>
            </a:r>
          </a:p>
        </p:txBody>
      </p:sp>
    </p:spTree>
    <p:extLst>
      <p:ext uri="{BB962C8B-B14F-4D97-AF65-F5344CB8AC3E}">
        <p14:creationId xmlns:p14="http://schemas.microsoft.com/office/powerpoint/2010/main" val="20514265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56177F-AFB1-41AA-A271-161DF68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66768A"/>
                </a:solidFill>
              </a:defRPr>
            </a:pPr>
            <a:r>
              <a:rPr sz="1275" b="1" i="0">
                <a:solidFill>
                  <a:srgbClr val="66768A"/>
                </a:solidFill>
              </a:rPr>
              <a:t>APPENDIX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91EFA-F310-42AB-B74C-76B6911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56E10-AD9D-4DF9-8A9B-1CB5C700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9550"/>
            <a:ext cx="5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0FE70-442F-4396-BE5E-E2626B6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 i="0">
                <a:solidFill>
                  <a:srgbClr val="008A94"/>
                </a:solidFill>
              </a:defRPr>
            </a:pPr>
            <a:r>
              <a:rPr sz="975" b="1" i="0">
                <a:solidFill>
                  <a:srgbClr val="008A94"/>
                </a:solidFill>
              </a:rPr>
              <a:t>COMPLETION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50D41-1643-4A2E-AC09-78F14AC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 i="0">
                <a:solidFill>
                  <a:srgbClr val="1B2A4A"/>
                </a:solidFill>
              </a:defRPr>
            </a:pPr>
            <a:r>
              <a:rPr sz="2700" b="1" i="0">
                <a:solidFill>
                  <a:srgbClr val="1B2A4A"/>
                </a:solidFill>
              </a:rPr>
              <a:t>ICLO: Confirmed and Still to Verify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F81AF-BA8B-4528-A978-B9883B8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5B6B82"/>
                </a:solidFill>
              </a:defRPr>
            </a:pPr>
            <a:r>
              <a:rPr sz="1575" b="0" i="0">
                <a:solidFill>
                  <a:srgbClr val="5B6B82"/>
                </a:solidFill>
              </a:rPr>
              <a:t>Program selections and a defined product/data boundary support validation; current Snowflake status must be confirmed before release.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A335-5CFE-4C13-BE96-62E81233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977D7-44A8-4E83-9EAC-47F0D455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838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79"/>
          </a:solidFill>
          <a:ln xmlns:a="http://schemas.openxmlformats.org/drawingml/2006/main" w="0">
            <a:solidFill>
              <a:srgbClr val="FF7A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A659A-85F5-44CE-912D-89D05AFC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C"/>
          </a:solidFill>
          <a:ln xmlns:a="http://schemas.openxmlformats.org/drawingml/2006/main" w="0">
            <a:solidFill>
              <a:srgbClr val="DCE3EC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89b89426a4305"/>
          <a:stretch xmlns:a="http://schemas.openxmlformats.org/drawingml/2006/main"/>
        </p:blipFill>
        <p:spPr>
          <a:xfrm xmlns:a="http://schemas.openxmlformats.org/drawingml/2006/main">
            <a:off x="611832" y="6524625"/>
            <a:ext cx="547985" cy="2000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2B111-9A98-4875-B081-16B56B0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3415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5B6B82"/>
                </a:solidFill>
              </a:defRPr>
            </a:pPr>
            <a:r>
              <a:rPr sz="825" b="1" i="0">
                <a:solidFill>
                  <a:srgbClr val="5B6B82"/>
                </a:solidFill>
              </a:rPr>
              <a:t>×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7ee021c2247a1"/>
          <a:stretch xmlns:a="http://schemas.openxmlformats.org/drawingml/2006/main"/>
        </p:blipFill>
        <p:spPr>
          <a:xfrm xmlns:a="http://schemas.openxmlformats.org/drawingml/2006/main">
            <a:off x="1563284" y="6496050"/>
            <a:ext cx="473881" cy="266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F03A2-FD49-4A27-A82F-8D8BA835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54367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External proposal · discussion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571BD-B994-4BC9-BA3E-D44109BA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43675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88" b="0" i="0">
                <a:solidFill>
                  <a:srgbClr val="5B6B82"/>
                </a:solidFill>
              </a:defRPr>
            </a:pPr>
            <a:r>
              <a:rPr sz="788" b="0" i="0">
                <a:solidFill>
                  <a:srgbClr val="5B6B82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2A9A6-96B1-4568-B3D3-5A991AB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7A87"/>
                </a:solidFill>
              </a:defRPr>
            </a:pPr>
            <a:r>
              <a:rPr sz="1200" b="1" i="0">
                <a:solidFill>
                  <a:srgbClr val="007A87"/>
                </a:solidFill>
              </a:rPr>
              <a:t>ICLO AT A GLANCE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28A8B7-9FF0-489B-8D1F-85C3543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ABAA59-EC9F-4C1C-A44F-4E29E33F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FD1A7-0D6F-45FD-9892-8D6F2334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COMPANY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ICLO Co., Ltd. · Jeju, Republic of Korea · Commercial in the Korean market, B2C and B2B · 12 core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7B683-1A89-4BB9-ADD5-03BD6DA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0CFE8-84DA-4BF6-A63B-7975B82A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B080F-6F2E-4184-8DDC-66A20246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PRODUCT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HomeDen SaaS (PMS / EMR / CRM) plus employer dental-benefit navigation and claims-evidence design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F570B-4755-48D8-83A1-178EE64F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97286-EE39-44AE-ADA6-DAB33502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42092-9C2A-45F2-B11C-3F87948F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PROGRAMS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Selected: Fintech Cube Cohort 9; Shinhan Future's Lab Cohort 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D774C8-5D5C-4600-88D0-27D8E075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AA69E-7F25-43DD-933C-FDE98D2A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AB4BD-A366-4541-A937-4D7DB64F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SNOWFLAKE STATUS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To confirm with Snowflake: official program name, sponsor, account, cloud, region, credits and support 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9CC95-3D8F-4CC4-994E-65E63BAE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66700" cy="266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0C903B-80E0-42F9-A333-6C4B65D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008A94"/>
                </a:solidFill>
              </a:defRPr>
            </a:pPr>
            <a:r>
              <a:rPr sz="1350" b="1" i="0">
                <a:solidFill>
                  <a:srgbClr val="008A94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DB2893-8350-498E-A804-95D2939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NEXT PROOF</a:t>
            </a:r>
          </a:p>
          <a:p xmlns:a="http://schemas.openxmlformats.org/drawingml/2006/main">
            <a:pPr algn="l">
              <a:buNone/>
              <a:defRPr sz="1163" b="0" i="0">
                <a:solidFill>
                  <a:srgbClr val="152238"/>
                </a:solidFill>
              </a:defRPr>
            </a:pPr>
            <a:r>
              <a:rPr sz="1163" b="0" i="0">
                <a:solidFill>
                  <a:srgbClr val="152238"/>
                </a:solidFill>
              </a:rPr>
              <a:t>One U.S. self-funded employer dental-data path plus one account-team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61505-7886-438C-9076-436036BC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5295900" cy="4095750"/>
          </a:xfrm>
          <a:prstGeom xmlns:a="http://schemas.openxmlformats.org/drawingml/2006/main" prst="roundRect">
            <a:avLst>
              <a:gd name="adj" fmla="val 186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201D38-56FE-49D0-B0BC-47818F0A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D99A24"/>
                </a:solidFill>
              </a:defRPr>
            </a:pPr>
            <a:r>
              <a:rPr sz="1200" b="1" i="0">
                <a:solidFill>
                  <a:srgbClr val="D99A24"/>
                </a:solidFill>
              </a:rP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DC109F-718A-4F1B-BDF5-A1911F4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E234A1-55DA-4BD5-B67A-FC884BC9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B82"/>
                </a:solidFill>
              </a:defRPr>
            </a:pPr>
            <a:r>
              <a:rPr sz="1125" b="0" i="0">
                <a:solidFill>
                  <a:srgbClr val="5B6B82"/>
                </a:solidFill>
              </a:rP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DDE29B-CCEA-48CF-8FAC-CC5A9FA9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0CDC96-95F6-4DB1-B272-BCAE3DEB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814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B82"/>
                </a:solidFill>
              </a:defRPr>
            </a:pPr>
            <a:r>
              <a:rPr sz="1125" b="0" i="0">
                <a:solidFill>
                  <a:srgbClr val="5B6B82"/>
                </a:solidFill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9916FA-12D0-45FE-8A14-1C1C57E0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B2A4A"/>
                </a:solidFill>
              </a:defRPr>
            </a:pPr>
            <a:r>
              <a:rPr sz="1275" b="1" i="0">
                <a:solidFill>
                  <a:srgbClr val="1B2A4A"/>
                </a:solidFill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B72BC5-7E1F-42A3-94E5-80B5B00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B6B82"/>
                </a:solidFill>
              </a:defRPr>
            </a:pPr>
            <a:r>
              <a:rPr sz="1125" b="0" i="0">
                <a:solidFill>
                  <a:srgbClr val="5B6B82"/>
                </a:solidFill>
              </a:rP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6BE996-3BEF-4040-874E-03E826C2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72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86464"/>
                </a:solidFill>
              </a:defRPr>
            </a:pPr>
            <a:r>
              <a:rPr sz="1275" b="1" i="0">
                <a:solidFill>
                  <a:srgbClr val="D86464"/>
                </a:solidFill>
              </a:rPr>
              <a:t>The Snowflake row is the ask in this meeting. Korean commercial stage and program selection do not prove insurer integration, underwriting, adjudication or U.S. outcomes.</a:t>
            </a:r>
          </a:p>
        </p:txBody>
      </p:sp>
    </p:spTree>
    <p:extLst>
      <p:ext uri="{BB962C8B-B14F-4D97-AF65-F5344CB8AC3E}">
        <p14:creationId xmlns:p14="http://schemas.microsoft.com/office/powerpoint/2010/main" val="1006816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2026-08-09T00:45:50.9300000Z</dcterms:created>
  <dcterms:modified xsi:type="dcterms:W3CDTF">2026-08-09T00:45:50.9300000Z</dcterms:modified>
</coreProperties>
</file>