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f1d0cc6e634f8e" /><Relationship Type="http://schemas.openxmlformats.org/officeDocument/2006/relationships/extended-properties" Target="/docProps/app.xml" Id="Rc043ce6f3a6c4cb8" /><Relationship Type="http://schemas.openxmlformats.org/officeDocument/2006/relationships/officeDocument" Target="/ppt/presentation.xml" Id="R552328a26967465f" /></Relationships>
</file>

<file path=ppt/presentation.xml><?xml version="1.0" encoding="utf-8"?>
<p:presentation xmlns:p="http://schemas.openxmlformats.org/presentationml/2006/main">
  <p:sldMasterIdLst>
    <p:sldMasterId xmlns:r="http://schemas.openxmlformats.org/officeDocument/2006/relationships" id="2147483648" r:id="R35e649d61f054649"/>
  </p:sldMasterIdLst>
  <p:notesMasterIdLst>
    <p:notesMasterId xmlns:r="http://schemas.openxmlformats.org/officeDocument/2006/relationships" r:id="R768576188fc54625"/>
  </p:notesMasterIdLst>
  <p:sldIdLst>
    <p:sldId xmlns:r="http://schemas.openxmlformats.org/officeDocument/2006/relationships" id="256" r:id="R3344137bd8974485"/>
    <p:sldId xmlns:r="http://schemas.openxmlformats.org/officeDocument/2006/relationships" id="257" r:id="Rc71f4b58ff154f69"/>
    <p:sldId xmlns:r="http://schemas.openxmlformats.org/officeDocument/2006/relationships" id="258" r:id="R9051da7358b04366"/>
    <p:sldId xmlns:r="http://schemas.openxmlformats.org/officeDocument/2006/relationships" id="259" r:id="R689ec68941a344a6"/>
    <p:sldId xmlns:r="http://schemas.openxmlformats.org/officeDocument/2006/relationships" id="260" r:id="R59d83aa086a74cbc"/>
    <p:sldId xmlns:r="http://schemas.openxmlformats.org/officeDocument/2006/relationships" id="261" r:id="R2e8ae59e837d47ee"/>
    <p:sldId xmlns:r="http://schemas.openxmlformats.org/officeDocument/2006/relationships" id="262" r:id="Rea7ea14966da4bc7"/>
    <p:sldId xmlns:r="http://schemas.openxmlformats.org/officeDocument/2006/relationships" id="263" r:id="R998d2abda13440f2"/>
    <p:sldId xmlns:r="http://schemas.openxmlformats.org/officeDocument/2006/relationships" id="264" r:id="R49e155b226f64c32"/>
    <p:sldId xmlns:r="http://schemas.openxmlformats.org/officeDocument/2006/relationships" id="265" r:id="R077b8ca1e1a74a9b"/>
    <p:sldId xmlns:r="http://schemas.openxmlformats.org/officeDocument/2006/relationships" id="266" r:id="R87299ceebebf4fa3"/>
    <p:sldId xmlns:r="http://schemas.openxmlformats.org/officeDocument/2006/relationships" id="267" r:id="R04708f66dfc14688"/>
    <p:sldId xmlns:r="http://schemas.openxmlformats.org/officeDocument/2006/relationships" id="268" r:id="Rda7e6d8e33a047dc"/>
    <p:sldId xmlns:r="http://schemas.openxmlformats.org/officeDocument/2006/relationships" id="269" r:id="R399a0dd7fd264bbe"/>
    <p:sldId xmlns:r="http://schemas.openxmlformats.org/officeDocument/2006/relationships" id="270" r:id="R4685abf872904ee4"/>
    <p:sldId xmlns:r="http://schemas.openxmlformats.org/officeDocument/2006/relationships" id="271" r:id="Rf7cd8cb3d22542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acb56a53424f22" /><Relationship Type="http://schemas.openxmlformats.org/officeDocument/2006/relationships/slideMaster" Target="/ppt/slideMasters/slideMaster1.xml" Id="R35e649d61f054649" /><Relationship Type="http://schemas.openxmlformats.org/officeDocument/2006/relationships/notesMaster" Target="/ppt/notesMasters/notesMaster1.xml" Id="R768576188fc54625" /><Relationship Type="http://schemas.openxmlformats.org/officeDocument/2006/relationships/presProps" Target="/ppt/presProps.xml" Id="Rd0538b88b9cd41d6" /><Relationship Type="http://schemas.openxmlformats.org/officeDocument/2006/relationships/tableStyles" Target="/ppt/tableStyles.xml" Id="R6655c62be4e74f86" /><Relationship Type="http://schemas.openxmlformats.org/officeDocument/2006/relationships/slide" Target="/ppt/slides/slide1.xml" Id="R3344137bd8974485" /><Relationship Type="http://schemas.openxmlformats.org/officeDocument/2006/relationships/slide" Target="/ppt/slides/slide2.xml" Id="Rc71f4b58ff154f69" /><Relationship Type="http://schemas.openxmlformats.org/officeDocument/2006/relationships/slide" Target="/ppt/slides/slide3.xml" Id="R9051da7358b04366" /><Relationship Type="http://schemas.openxmlformats.org/officeDocument/2006/relationships/slide" Target="/ppt/slides/slide4.xml" Id="R689ec68941a344a6" /><Relationship Type="http://schemas.openxmlformats.org/officeDocument/2006/relationships/slide" Target="/ppt/slides/slide5.xml" Id="R59d83aa086a74cbc" /><Relationship Type="http://schemas.openxmlformats.org/officeDocument/2006/relationships/slide" Target="/ppt/slides/slide6.xml" Id="R2e8ae59e837d47ee" /><Relationship Type="http://schemas.openxmlformats.org/officeDocument/2006/relationships/slide" Target="/ppt/slides/slide7.xml" Id="Rea7ea14966da4bc7" /><Relationship Type="http://schemas.openxmlformats.org/officeDocument/2006/relationships/slide" Target="/ppt/slides/slide8.xml" Id="R998d2abda13440f2" /><Relationship Type="http://schemas.openxmlformats.org/officeDocument/2006/relationships/slide" Target="/ppt/slides/slide9.xml" Id="R49e155b226f64c32" /><Relationship Type="http://schemas.openxmlformats.org/officeDocument/2006/relationships/slide" Target="/ppt/slides/slide10.xml" Id="R077b8ca1e1a74a9b" /><Relationship Type="http://schemas.openxmlformats.org/officeDocument/2006/relationships/slide" Target="/ppt/slides/slide11.xml" Id="R87299ceebebf4fa3" /><Relationship Type="http://schemas.openxmlformats.org/officeDocument/2006/relationships/slide" Target="/ppt/slides/slide12.xml" Id="R04708f66dfc14688" /><Relationship Type="http://schemas.openxmlformats.org/officeDocument/2006/relationships/slide" Target="/ppt/slides/slide13.xml" Id="Rda7e6d8e33a047dc" /><Relationship Type="http://schemas.openxmlformats.org/officeDocument/2006/relationships/slide" Target="/ppt/slides/slide14.xml" Id="R399a0dd7fd264bbe" /><Relationship Type="http://schemas.openxmlformats.org/officeDocument/2006/relationships/slide" Target="/ppt/slides/slide15.xml" Id="R4685abf872904ee4" /><Relationship Type="http://schemas.openxmlformats.org/officeDocument/2006/relationships/slide" Target="/ppt/slides/slide16.xml" Id="Rf7cd8cb3d22542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3d297016de41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e02c6623d5487d" /><Relationship Type="http://schemas.openxmlformats.org/officeDocument/2006/relationships/notesMaster" Target="/ppt/notesMasters/notesMaster1.xml" Id="R81fa097800514b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06350c40ac4a05" /><Relationship Type="http://schemas.openxmlformats.org/officeDocument/2006/relationships/notesMaster" Target="/ppt/notesMasters/notesMaster1.xml" Id="Rc19bae4c3f5548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19c95d12ae465f" /><Relationship Type="http://schemas.openxmlformats.org/officeDocument/2006/relationships/notesMaster" Target="/ppt/notesMasters/notesMaster1.xml" Id="Rd95636f57ffd41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a229366fc448ae" /><Relationship Type="http://schemas.openxmlformats.org/officeDocument/2006/relationships/notesMaster" Target="/ppt/notesMasters/notesMaster1.xml" Id="Raee12575f82445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bbde4d2d0149e8" /><Relationship Type="http://schemas.openxmlformats.org/officeDocument/2006/relationships/notesMaster" Target="/ppt/notesMasters/notesMaster1.xml" Id="Rde21fbbe2a4e4e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9f8246f47c4806" /><Relationship Type="http://schemas.openxmlformats.org/officeDocument/2006/relationships/notesMaster" Target="/ppt/notesMasters/notesMaster1.xml" Id="Re718e7286ac94a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83965644bc4d5d" /><Relationship Type="http://schemas.openxmlformats.org/officeDocument/2006/relationships/notesMaster" Target="/ppt/notesMasters/notesMaster1.xml" Id="R788aa1e86e3f47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55d6032f1a44a7" /><Relationship Type="http://schemas.openxmlformats.org/officeDocument/2006/relationships/notesMaster" Target="/ppt/notesMasters/notesMaster1.xml" Id="R7adf8de2b24b48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69ee5504a44108" /><Relationship Type="http://schemas.openxmlformats.org/officeDocument/2006/relationships/notesMaster" Target="/ppt/notesMasters/notesMaster1.xml" Id="Rcf8c2f00f5dc48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0dd9fe36c54fd0" /><Relationship Type="http://schemas.openxmlformats.org/officeDocument/2006/relationships/notesMaster" Target="/ppt/notesMasters/notesMaster1.xml" Id="Rf67493c5c6314e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462e8817004fd4" /><Relationship Type="http://schemas.openxmlformats.org/officeDocument/2006/relationships/notesMaster" Target="/ppt/notesMasters/notesMaster1.xml" Id="R47d69d456fd14f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b3c629826a4760" /><Relationship Type="http://schemas.openxmlformats.org/officeDocument/2006/relationships/notesMaster" Target="/ppt/notesMasters/notesMaster1.xml" Id="Rf178a090bfb84c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0e784978b24dd9" /><Relationship Type="http://schemas.openxmlformats.org/officeDocument/2006/relationships/notesMaster" Target="/ppt/notesMasters/notesMaster1.xml" Id="Rc5a74850329944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ed826243204720" /><Relationship Type="http://schemas.openxmlformats.org/officeDocument/2006/relationships/notesMaster" Target="/ppt/notesMasters/notesMaster1.xml" Id="Rec46d6ad51184c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fbe0c5091c4e9d" /><Relationship Type="http://schemas.openxmlformats.org/officeDocument/2006/relationships/notesMaster" Target="/ppt/notesMasters/notesMaster1.xml" Id="R8c05a81b9abe4f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769302a2f14432" /><Relationship Type="http://schemas.openxmlformats.org/officeDocument/2006/relationships/notesMaster" Target="/ppt/notesMasters/notesMaster1.xml" Id="R9a5b784df24840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장에서 현재 Snowflake 지원 관계를 90일 공동 검증으로 전환한다는 목적을 명시한다. 공식 프로그램명과 현재 스폰서는 외부 공유 전에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치아보험 가입 여부와 실제 진료 이용 사이의 네 가지 의사결정 마찰을 보여준다. 선형 절차가 아니라 직원이 동시에 확인해야 하는 입력-판단-결과 구조다.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ADA, Dental benefit plan designs: https://www.ada.org/resources/practice/dental-insurance/benefit-plan-designs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직원이 혜택을 이해하고 본인 요청으로 치과 찾기나 예약 지원을 받는 흐름이다. 초기 이미지 모델은 shadow mode이며 특정 치과, 응급도, 치료경로를 자동 결정하지 않는다. 이는 잠정적 제품 설계 경계이며 미국 규제 자문 전의 확정 법률 판단이 아니다.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미국 전체 치아보험 시장을 일반화하지 않고, 여러 구조 가운데 이번 PoC가 검증하는 self-funded employer 치아보험 한 레인만 비교한다. 한국 비교는 이해를 돕기 위한 제한적 기준이다.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 Department of Labor, self-insured group health plans</a:t>
            </a:r>
          </a:p>
          <a:p xmlns:a="http://schemas.openxmlformats.org/drawingml/2006/main">
            <a:r>
              <a:t>- ADA, Dental benefit plan designs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미국 치아보험 시장을 보장 시장, 비용 부담 구조, 계약·운영·청구 흐름으로 나누어 설명한다. fully insured와 self-funded는 비용 부담 방식이고, individual/Marketplace와 Medicaid/CHIP는 보장 시장이다. 현재 PoC는 미국 self-funded employer + 치아보험사/TPA + 임직원·가족 경로에만 한정한다.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a:p xmlns:a="http://schemas.openxmlformats.org/drawingml/2006/main">
            <a:r>
              <a:t>- https://www.dol.gov/agencies/ebsa/about-ebsa/our-activities/resource-center/publications/understanding-your-fiduciary-responsibilities-under-a-group-health-plan</a:t>
            </a:r>
          </a:p>
          <a:p xmlns:a="http://schemas.openxmlformats.org/drawingml/2006/main">
            <a:r>
              <a:t>- https://beta.dol.gov/research-data/surveys-reports-publications/2026-report-congress-annual-report-self-insured-group-health-plans</a:t>
            </a:r>
          </a:p>
          <a:p xmlns:a="http://schemas.openxmlformats.org/drawingml/2006/main">
            <a:r>
              <a:t>- https://www.healthcare.gov/coverage/dental-coverage/</a:t>
            </a:r>
          </a:p>
          <a:p xmlns:a="http://schemas.openxmlformats.org/drawingml/2006/main">
            <a:r>
              <a:t>- https://www.medicaid.gov/medicaid/benefits/prevention</a:t>
            </a:r>
          </a:p>
          <a:p xmlns:a="http://schemas.openxmlformats.org/drawingml/2006/main">
            <a:r>
              <a:t>- https://www.ada.org/resources/practice/dental-insurance/benefit-plan-designs</a:t>
            </a:r>
          </a:p>
          <a:p xmlns:a="http://schemas.openxmlformats.org/drawingml/2006/main">
            <a:r>
              <a:t>- https://www.ada.org/resources/community-initiatives/dental-benefits-plan-for-employees</a:t>
            </a:r>
          </a:p>
          <a:p xmlns:a="http://schemas.openxmlformats.org/drawingml/2006/main">
            <a:r>
              <a:t>- https://www.nhis.or.kr/english/wbheaa02600m01.do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Snowflake는 가입 자격, 플랜, 앱 이벤트, 치아보험 청구를 연결하는 관리형 근거·협업 레이어다. 원본 구강 이미지는 별도 통제 저장소에 두고 Snowflake에는 URI, 메타데이터, 모델 버전, 승인된 파생 신호만 둔다. 기업은 직원별 건강 신호를 보지 않는다.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a:p xmlns:a="http://schemas.openxmlformats.org/drawingml/2006/main">
            <a:r>
              <a:t>- https://docs.snowflake.com/en/user-guide/intro-editions</a:t>
            </a:r>
          </a:p>
          <a:p xmlns:a="http://schemas.openxmlformats.org/drawingml/2006/main">
            <a:r>
              <a:t>- https://docs.snowflake.com/en/user-guide/security-row-intro</a:t>
            </a:r>
          </a:p>
          <a:p xmlns:a="http://schemas.openxmlformats.org/drawingml/2006/main">
            <a:r>
              <a:t>- https://docs.snowflake.com/en/user-guide/data-protection-policies-snowsight</a:t>
            </a:r>
          </a:p>
          <a:p xmlns:a="http://schemas.openxmlformats.org/drawingml/2006/main">
            <a:r>
              <a:t>- https://docs.snowflake.com/en/user-guide/access-history</a:t>
            </a:r>
          </a:p>
          <a:p xmlns:a="http://schemas.openxmlformats.org/drawingml/2006/main">
            <a:r>
              <a:t>- https://docs.snowflake.com/en/collaboration/listings-bcdr-consumers</a:t>
            </a:r>
          </a:p>
          <a:p xmlns:a="http://schemas.openxmlformats.org/drawingml/2006/main">
            <a:r>
              <a:t>- https://docs.snowflake.com/en/user-guide/secure-data-sharing-across-regions-platforms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예방진료 이용과 미치료 상태 발견이 늘면 첫해 치아보험 지급액이 먼저 오를 수 있다. 허용액, 플랜 지급액, 직원 본인부담금을 분리하고 이직률과 청구 반영 지연을 함께 보아야 한다. 그래프는 가설이며 실제 성과가 아니다.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대시보드는 합성 데이터 예시다. 성과를 주장하는 화면이 아니라 직원/가입자 분모, 가입 자격 기준일, 청구 지연, 완결성, n&gt;=20 셀 억제, 개인 PHI 미제공을 구매자에게 보이는 설계 증거다.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0은 현재 한국 담당자가 미국 HLS GTM·아키텍처 담당자로 연결하는 라우팅 단계다. 계정 검증 행 작성과 계정팀 사용사례 검토를 서로 다른 액션으로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Snowflake와 ICLO의 단계별 역할, 게이트, 공동 산출물을 한 화면에 묶는다. ICLO가 주간 현황과 단일 의사결정 기록을 운영한다.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Snowflake와 ICLO의 단계별 역할, 게이트, 공동 산출물을 한 화면에 묶는다. ICLO가 주간 현황과 단일 의사결정 기록을 운영한다.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책임을 플랫폼, 운영, 데이터 제공, 법률 판단으로 분리한다. Snowflake가 제공할 수 있는 기술 통제와 ICLO·employer·TPA가 책임져야 할 운영·계약·규제 판단을 혼동하지 않는다.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a:p xmlns:a="http://schemas.openxmlformats.org/drawingml/2006/main">
            <a:r>
              <a:t>- https://docs.snowflake.com/en/user-guide/intro-editions</a:t>
            </a:r>
          </a:p>
          <a:p xmlns:a="http://schemas.openxmlformats.org/drawingml/2006/main">
            <a:r>
              <a:t>- https://docs.snowflake.com/en/user-guide/security-row-intro</a:t>
            </a:r>
          </a:p>
          <a:p xmlns:a="http://schemas.openxmlformats.org/drawingml/2006/main">
            <a:r>
              <a:t>- https://docs.snowflake.com/en/user-guide/data-protection-policies-snowsight</a:t>
            </a:r>
          </a:p>
          <a:p xmlns:a="http://schemas.openxmlformats.org/drawingml/2006/main">
            <a:r>
              <a:t>- https://docs.snowflake.com/en/user-guide/access-history</a:t>
            </a:r>
          </a:p>
          <a:p xmlns:a="http://schemas.openxmlformats.org/drawingml/2006/main">
            <a:r>
              <a:t>- https://docs.snowflake.com/en/collaboration/listings-bcdr-consumers</a:t>
            </a:r>
          </a:p>
          <a:p xmlns:a="http://schemas.openxmlformats.org/drawingml/2006/main">
            <a:r>
              <a:t>- https://docs.snowflake.com/en/user-guide/secure-data-sharing-across-regions-platforms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Snowflake 계정·클라우드·리전·크레딧 상태를 확인한 뒤 미국 Business Critical·BAA 경로를 구체화한다.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J-curve는 고객 데이터로 보정할 계획 가설이다. 입력 가정과 모델 버전, 불확실성을 관리하고 실제 ICLO 성과처럼 제시하지 않는다. 이직률은 고용주가 장기 효과를 회수할 수 있는 기간과 신규 미치료 수요 유입에 영향을 줄 수 있다.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시장 단위의 막연한 주장을 법인·데이터·리전·기술 준비도 근거로 바꾸기 위한 템플릿이다. 'Snowflake 고객인 TPA가 많다'는 표현은 계정 증거가 채워지기 전에는 사용하지 않는다.</a:t>
            </a:r>
          </a:p>
          <a:p xmlns:a="http://schemas.openxmlformats.org/drawingml/2006/main">
            <a:r>
              <a:t/>
            </a:r>
          </a:p>
          <a:p xmlns:a="http://schemas.openxmlformats.org/drawingml/2006/main">
            <a:r>
              <a:t>[Sources]</a:t>
            </a:r>
          </a:p>
          <a:p xmlns:a="http://schemas.openxmlformats.org/drawingml/2006/main">
            <a:r>
              <a:t>- User-provided ICLO x Snowflake external briefing requirements, 2026-08-05</a:t>
            </a:r>
          </a:p>
          <a:p xmlns:a="http://schemas.openxmlformats.org/drawingml/2006/main">
            <a:r>
              <a:t>- User-provided CEO Junbae Kim and CMO Hyeyoon Choi review emails, 2026-08-05</a:t>
            </a:r>
          </a:p>
          <a:p xmlns:a="http://schemas.openxmlformats.org/drawingml/2006/main">
            <a:r>
              <a:t>- ICLO Employer Dashboard synthetic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대괄호 항목은 외부 공유 전 반드시 채운다. 프로그램 선정은 협업 준비 신호이며 보험사 연동·인수·심사 또는 미국 성과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f8cfb9012f4d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86159fab294403" /><Relationship Type="http://schemas.openxmlformats.org/officeDocument/2006/relationships/slideLayout" Target="/ppt/slideLayouts/slideLayout1.xml" Id="Rcf19629f14bd4d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19629f14bd4d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5fc21500d741bd" /><Relationship Type="http://schemas.openxmlformats.org/officeDocument/2006/relationships/image" Target="/ppt/media/image.png" Id="R1a3feb57faa44606" /><Relationship Type="http://schemas.openxmlformats.org/officeDocument/2006/relationships/image" Target="/ppt/media/image2.png" Id="R26f36b34f67d49ba" /><Relationship Type="http://schemas.openxmlformats.org/officeDocument/2006/relationships/notesSlide" Target="/ppt/notesSlides/notesSlide1.xml" Id="R3b607af67ae643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8d40c73be14690" /><Relationship Type="http://schemas.openxmlformats.org/officeDocument/2006/relationships/image" Target="/ppt/media/image3.png" Id="R389e5271386c418e" /><Relationship Type="http://schemas.openxmlformats.org/officeDocument/2006/relationships/image" Target="/ppt/media/image4.png" Id="R8145a571450b445f" /><Relationship Type="http://schemas.openxmlformats.org/officeDocument/2006/relationships/notesSlide" Target="/ppt/notesSlides/notesSlide2.xml" Id="R0b2274b1c1d04f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94a07600fd4a67" /><Relationship Type="http://schemas.openxmlformats.org/officeDocument/2006/relationships/image" Target="/ppt/media/image5.png" Id="Rfc9d1449d6294f39" /><Relationship Type="http://schemas.openxmlformats.org/officeDocument/2006/relationships/image" Target="/ppt/media/image6.png" Id="Rdaaf5ac73fc74117" /><Relationship Type="http://schemas.openxmlformats.org/officeDocument/2006/relationships/notesSlide" Target="/ppt/notesSlides/notesSlide3.xml" Id="Rb3aa99d724a845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a9671986724524" /><Relationship Type="http://schemas.openxmlformats.org/officeDocument/2006/relationships/image" Target="/ppt/media/image7.png" Id="R41f61104e24f4c6a" /><Relationship Type="http://schemas.openxmlformats.org/officeDocument/2006/relationships/image" Target="/ppt/media/image8.png" Id="R8a3ae08932df459b" /><Relationship Type="http://schemas.openxmlformats.org/officeDocument/2006/relationships/notesSlide" Target="/ppt/notesSlides/notesSlide4.xml" Id="Rf3de194c57fb40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2e030401ae475d" /><Relationship Type="http://schemas.openxmlformats.org/officeDocument/2006/relationships/image" Target="/ppt/media/image9.png" Id="R5fc53ce9750b4b7d" /><Relationship Type="http://schemas.openxmlformats.org/officeDocument/2006/relationships/image" Target="/ppt/media/image10.png" Id="Rfe02f1114b5847c4" /><Relationship Type="http://schemas.openxmlformats.org/officeDocument/2006/relationships/notesSlide" Target="/ppt/notesSlides/notesSlide5.xml" Id="Rc031450fb0ad4e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d4ca75e7d64193" /><Relationship Type="http://schemas.openxmlformats.org/officeDocument/2006/relationships/image" Target="/ppt/media/image9.png" Id="Rc39c0439e67b4f42" /><Relationship Type="http://schemas.openxmlformats.org/officeDocument/2006/relationships/image" Target="/ppt/media/image10.png" Id="R7aeff87288754554" /><Relationship Type="http://schemas.openxmlformats.org/officeDocument/2006/relationships/notesSlide" Target="/ppt/notesSlides/notesSlide6.xml" Id="R14997ae46d4249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d363a6300242ee" /><Relationship Type="http://schemas.openxmlformats.org/officeDocument/2006/relationships/image" Target="/ppt/media/image11.png" Id="R69253dcbc37e454e" /><Relationship Type="http://schemas.openxmlformats.org/officeDocument/2006/relationships/image" Target="/ppt/media/image12.png" Id="R3f3b39801752409c" /><Relationship Type="http://schemas.openxmlformats.org/officeDocument/2006/relationships/notesSlide" Target="/ppt/notesSlides/notesSlide7.xml" Id="R7e174d558f2540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ad9a121fac4e8a" /><Relationship Type="http://schemas.openxmlformats.org/officeDocument/2006/relationships/image" Target="/ppt/media/image13.png" Id="R6ee1eca81ea04498" /><Relationship Type="http://schemas.openxmlformats.org/officeDocument/2006/relationships/image" Target="/ppt/media/image14.png" Id="Rfff167e9eb7b4dfd" /><Relationship Type="http://schemas.openxmlformats.org/officeDocument/2006/relationships/image" Target="/ppt/media/image15.png" Id="R1019b1c249104ac2" /><Relationship Type="http://schemas.openxmlformats.org/officeDocument/2006/relationships/image" Target="/ppt/media/image16.png" Id="Rc17ab1e2d67a43d9" /><Relationship Type="http://schemas.openxmlformats.org/officeDocument/2006/relationships/notesSlide" Target="/ppt/notesSlides/notesSlide8.xml" Id="Rdd22d4faea8247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890f20ae7342e0" /><Relationship Type="http://schemas.openxmlformats.org/officeDocument/2006/relationships/image" Target="/ppt/media/image17.png" Id="R6024545d1f4b4a05" /><Relationship Type="http://schemas.openxmlformats.org/officeDocument/2006/relationships/image" Target="/ppt/media/image18.png" Id="Rd346d9e4e51d434b" /><Relationship Type="http://schemas.openxmlformats.org/officeDocument/2006/relationships/notesSlide" Target="/ppt/notesSlides/notesSlide9.xml" Id="R675db5ec84234f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5bc92657644390" /><Relationship Type="http://schemas.openxmlformats.org/officeDocument/2006/relationships/image" Target="/ppt/media/image19.png" Id="R6403870d21824cb1" /><Relationship Type="http://schemas.openxmlformats.org/officeDocument/2006/relationships/image" Target="/ppt/media/image20.png" Id="R541224adb98e4072" /><Relationship Type="http://schemas.openxmlformats.org/officeDocument/2006/relationships/notesSlide" Target="/ppt/notesSlides/notesSlide10.xml" Id="R4e9b6a31e8404e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a4b9d73b42463d" /><Relationship Type="http://schemas.openxmlformats.org/officeDocument/2006/relationships/image" Target="/ppt/media/image19.png" Id="Rbeb6aa65b0f548c4" /><Relationship Type="http://schemas.openxmlformats.org/officeDocument/2006/relationships/image" Target="/ppt/media/image20.png" Id="R3d910d98f8e449f2" /><Relationship Type="http://schemas.openxmlformats.org/officeDocument/2006/relationships/notesSlide" Target="/ppt/notesSlides/notesSlide11.xml" Id="R2f48364b5acd4d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b7161c7ae74348" /><Relationship Type="http://schemas.openxmlformats.org/officeDocument/2006/relationships/image" Target="/ppt/media/image7.png" Id="R02e82eea3453463c" /><Relationship Type="http://schemas.openxmlformats.org/officeDocument/2006/relationships/image" Target="/ppt/media/image8.png" Id="R8bed57956b504f06" /><Relationship Type="http://schemas.openxmlformats.org/officeDocument/2006/relationships/notesSlide" Target="/ppt/notesSlides/notesSlide12.xml" Id="R46b54b8b0f6c47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d16d80521f404e" /><Relationship Type="http://schemas.openxmlformats.org/officeDocument/2006/relationships/image" Target="/ppt/media/image21.png" Id="R92d9ddbc7b0145cb" /><Relationship Type="http://schemas.openxmlformats.org/officeDocument/2006/relationships/image" Target="/ppt/media/image22.png" Id="Rf86793c700004d4f" /><Relationship Type="http://schemas.openxmlformats.org/officeDocument/2006/relationships/notesSlide" Target="/ppt/notesSlides/notesSlide13.xml" Id="R1e3a2335956641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d5c4d45fa0487e" /><Relationship Type="http://schemas.openxmlformats.org/officeDocument/2006/relationships/image" Target="/ppt/media/image3.png" Id="R6d19381a3d7a4a05" /><Relationship Type="http://schemas.openxmlformats.org/officeDocument/2006/relationships/image" Target="/ppt/media/image4.png" Id="R1244f21619f74c2b" /><Relationship Type="http://schemas.openxmlformats.org/officeDocument/2006/relationships/notesSlide" Target="/ppt/notesSlides/notesSlide14.xml" Id="R44333c7ff46847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163499aa97f4a17" /><Relationship Type="http://schemas.openxmlformats.org/officeDocument/2006/relationships/image" Target="/ppt/media/image23.png" Id="Ra947211fde784874" /><Relationship Type="http://schemas.openxmlformats.org/officeDocument/2006/relationships/image" Target="/ppt/media/image24.png" Id="Re7c49f06f29d4ec7" /><Relationship Type="http://schemas.openxmlformats.org/officeDocument/2006/relationships/notesSlide" Target="/ppt/notesSlides/notesSlide15.xml" Id="R02b59c1deb9843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9c087d656b40c4" /><Relationship Type="http://schemas.openxmlformats.org/officeDocument/2006/relationships/image" Target="/ppt/media/image21.png" Id="R6d4eba5aa8de4186" /><Relationship Type="http://schemas.openxmlformats.org/officeDocument/2006/relationships/image" Target="/ppt/media/image22.png" Id="R74a6f9cd3327447d" /><Relationship Type="http://schemas.openxmlformats.org/officeDocument/2006/relationships/notesSlide" Target="/ppt/notesSlides/notesSlide16.xml" Id="Racce1e1f435543c7" /></Relationships>
</file>

<file path=ppt/slides/slide1.xml><?xml version="1.0" encoding="utf-8"?>
<p:sld xmlns:p="http://schemas.openxmlformats.org/presentationml/2006/main">
  <p:cSld>
    <p:bg>
      <p:bgPr>
        <a:solidFill xmlns:a="http://schemas.openxmlformats.org/drawingml/2006/main">
          <a:srgbClr val="1B2A4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6BD1A60-53A0-4782-8C39-0B06DB1FAD3E}"/>
              </a:ext>
            </a:extLst>
          </p:cNvPr>
          <p:cNvSpPr>
            <a:spLocks xmlns:a="http://schemas.openxmlformats.org/drawingml/2006/main" noGrp="1"/>
          </p:cNvSpPr>
          <p:nvPr/>
        </p:nvSpPr>
        <p:spPr>
          <a:xfrm xmlns:a="http://schemas.openxmlformats.org/drawingml/2006/main">
            <a:off x="609600"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i="0">
                <a:solidFill>
                  <a:srgbClr val="29B5E8"/>
                </a:solidFill>
              </a:defRPr>
            </a:pPr>
            <a:r>
              <a:rPr sz="900" b="1" i="0">
                <a:solidFill>
                  <a:srgbClr val="29B5E8"/>
                </a:solidFill>
              </a:rPr>
              <a:t>미국 SELF-FUNDED EMPLOYER 치아보험 POC</a:t>
            </a:r>
          </a:p>
        </p:txBody>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1a3feb57faa44606"/>
          <a:stretch xmlns:a="http://schemas.openxmlformats.org/drawingml/2006/main"/>
        </p:blipFill>
        <p:spPr>
          <a:xfrm xmlns:a="http://schemas.openxmlformats.org/drawingml/2006/main">
            <a:off x="8953500" y="343081"/>
            <a:ext cx="990600" cy="36158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CECFF9-4C0D-477F-8642-85E57708FA67}"/>
              </a:ext>
            </a:extLst>
          </p:cNvPr>
          <p:cNvSpPr>
            <a:spLocks xmlns:a="http://schemas.openxmlformats.org/drawingml/2006/main" noGrp="1"/>
          </p:cNvSpPr>
          <p:nvPr/>
        </p:nvSpPr>
        <p:spPr>
          <a:xfrm xmlns:a="http://schemas.openxmlformats.org/drawingml/2006/main">
            <a:off x="10039350" y="4381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i="0">
                <a:solidFill>
                  <a:srgbClr val="B8C4D8"/>
                </a:solidFill>
              </a:defRPr>
            </a:pPr>
            <a:r>
              <a:rPr sz="1275" b="1" i="0">
                <a:solidFill>
                  <a:srgbClr val="B8C4D8"/>
                </a:solidFill>
              </a:rPr>
              <a:t>×</a:t>
            </a:r>
          </a:p>
        </p:txBody>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26f36b34f67d49ba"/>
          <a:stretch xmlns:a="http://schemas.openxmlformats.org/drawingml/2006/main"/>
        </p:blipFill>
        <p:spPr>
          <a:xfrm xmlns:a="http://schemas.openxmlformats.org/drawingml/2006/main">
            <a:off x="10497856" y="285750"/>
            <a:ext cx="930838" cy="52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EA2424E-6EA1-4744-9C9A-94F82858B8B0}"/>
              </a:ext>
            </a:extLst>
          </p:cNvPr>
          <p:cNvSpPr>
            <a:spLocks xmlns:a="http://schemas.openxmlformats.org/drawingml/2006/main" noGrp="1"/>
          </p:cNvSpPr>
          <p:nvPr/>
        </p:nvSpPr>
        <p:spPr>
          <a:xfrm xmlns:a="http://schemas.openxmlformats.org/drawingml/2006/main">
            <a:off x="609600" y="1257300"/>
            <a:ext cx="8763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450" b="1" i="0">
                <a:solidFill>
                  <a:srgbClr val="FFFFFF"/>
                </a:solidFill>
              </a:defRPr>
            </a:pPr>
            <a:r>
              <a:rPr sz="3450" b="1" i="0">
                <a:solidFill>
                  <a:srgbClr val="FFFFFF"/>
                </a:solidFill>
              </a:rPr>
              <a:t>U.S. Self-Funded Employer</a:t>
            </a:r>
          </a:p>
          <a:p xmlns:a="http://schemas.openxmlformats.org/drawingml/2006/main">
            <a:pPr algn="l">
              <a:buNone/>
              <a:defRPr sz="3450" b="1" i="0">
                <a:solidFill>
                  <a:srgbClr val="FFFFFF"/>
                </a:solidFill>
              </a:defRPr>
            </a:pPr>
            <a:r>
              <a:rPr sz="3450" b="1" i="0">
                <a:solidFill>
                  <a:srgbClr val="FFFFFF"/>
                </a:solidFill>
              </a:rPr>
              <a:t>Dental-Benefit PoC</a:t>
            </a:r>
          </a:p>
        </p:txBody>
      </p:sp>
      <p:sp>
        <p:nvSpPr>
          <p:cNvPr id="6" name="">
            <a:extLst xmlns:a="http://schemas.openxmlformats.org/drawingml/2006/main">
              <a:ext uri="{FF2B5EF4-FFF2-40B4-BE49-F238E27FC236}">
                <a16:creationId xmlns:a16="http://schemas.microsoft.com/office/drawing/2014/main" id="{EACC54D2-A507-487A-AD9E-ACD61E094229}"/>
              </a:ext>
            </a:extLst>
          </p:cNvPr>
          <p:cNvSpPr>
            <a:spLocks xmlns:a="http://schemas.openxmlformats.org/drawingml/2006/main" noGrp="1"/>
          </p:cNvSpPr>
          <p:nvPr/>
        </p:nvSpPr>
        <p:spPr>
          <a:xfrm xmlns:a="http://schemas.openxmlformats.org/drawingml/2006/main">
            <a:off x="609600" y="2628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D9E2F0"/>
                </a:solidFill>
              </a:defRPr>
            </a:pPr>
            <a:r>
              <a:rPr sz="1650" b="0" i="0">
                <a:solidFill>
                  <a:srgbClr val="D9E2F0"/>
                </a:solidFill>
              </a:rPr>
              <a:t>현재 Snowflake 지원 관계를 구조화된 90일 공동 검증으로 전환하는 제안입니다.</a:t>
            </a:r>
          </a:p>
        </p:txBody>
      </p:sp>
      <p:sp>
        <p:nvSpPr>
          <p:cNvPr id="7" name="">
            <a:extLst xmlns:a="http://schemas.openxmlformats.org/drawingml/2006/main">
              <a:ext uri="{FF2B5EF4-FFF2-40B4-BE49-F238E27FC236}">
                <a16:creationId xmlns:a16="http://schemas.microsoft.com/office/drawing/2014/main" id="{AF881BFD-4071-4305-AC77-97D20025D125}"/>
              </a:ext>
            </a:extLst>
          </p:cNvPr>
          <p:cNvSpPr>
            <a:spLocks xmlns:a="http://schemas.openxmlformats.org/drawingml/2006/main" noGrp="1"/>
          </p:cNvSpPr>
          <p:nvPr/>
        </p:nvSpPr>
        <p:spPr>
          <a:xfrm xmlns:a="http://schemas.openxmlformats.org/drawingml/2006/main">
            <a:off x="609600" y="4095750"/>
            <a:ext cx="2838450" cy="1181100"/>
          </a:xfrm>
          <a:prstGeom xmlns:a="http://schemas.openxmlformats.org/drawingml/2006/main" prst="roundRect">
            <a:avLst>
              <a:gd name="adj" fmla="val 6452"/>
            </a:avLst>
          </a:prstGeom>
          <a:noFill xmlns:a="http://schemas.openxmlformats.org/drawingml/2006/main"/>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6ABC33-A306-4EAD-A73A-F3D9C153E3F8}"/>
              </a:ext>
            </a:extLst>
          </p:cNvPr>
          <p:cNvSpPr>
            <a:spLocks xmlns:a="http://schemas.openxmlformats.org/drawingml/2006/main" noGrp="1"/>
          </p:cNvSpPr>
          <p:nvPr/>
        </p:nvSpPr>
        <p:spPr>
          <a:xfrm xmlns:a="http://schemas.openxmlformats.org/drawingml/2006/main">
            <a:off x="4114800" y="4095750"/>
            <a:ext cx="3790950" cy="1181100"/>
          </a:xfrm>
          <a:prstGeom xmlns:a="http://schemas.openxmlformats.org/drawingml/2006/main" prst="roundRect">
            <a:avLst>
              <a:gd name="adj" fmla="val 6452"/>
            </a:avLst>
          </a:prstGeom>
          <a:noFill xmlns:a="http://schemas.openxmlformats.org/drawingml/2006/main"/>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75B8EBC-8F48-4C73-9C12-E5CBCA9653B2}"/>
              </a:ext>
            </a:extLst>
          </p:cNvPr>
          <p:cNvSpPr>
            <a:spLocks xmlns:a="http://schemas.openxmlformats.org/drawingml/2006/main" noGrp="1"/>
          </p:cNvSpPr>
          <p:nvPr/>
        </p:nvSpPr>
        <p:spPr>
          <a:xfrm xmlns:a="http://schemas.openxmlformats.org/drawingml/2006/main">
            <a:off x="8572500" y="4095750"/>
            <a:ext cx="3009900" cy="1181100"/>
          </a:xfrm>
          <a:prstGeom xmlns:a="http://schemas.openxmlformats.org/drawingml/2006/main" prst="roundRect">
            <a:avLst>
              <a:gd name="adj" fmla="val 6452"/>
            </a:avLst>
          </a:prstGeom>
          <a:noFill xmlns:a="http://schemas.openxmlformats.org/drawingml/2006/main"/>
          <a:ln xmlns:a="http://schemas.openxmlformats.org/drawingml/2006/main" w="0">
            <a:noFill/>
            <a:prstDash val="solid"/>
          </a:ln>
        </p:spPr>
      </p:sp>
      <p:cxnSp>
        <p:nvCxnSpPr>
          <p:cNvPr id="140" name=""/>
          <p:cNvCxnSpPr>
            <a:stCxn xmlns:a="http://schemas.openxmlformats.org/drawingml/2006/main" id="7" idx="3"/>
            <a:endCxn xmlns:a="http://schemas.openxmlformats.org/drawingml/2006/main" id="8" idx="1"/>
          </p:cNvCxnSpPr>
          <p:nvPr/>
        </p:nvCxnSpPr>
        <p:spPr>
          <a:xfrm xmlns:a="http://schemas.openxmlformats.org/drawingml/2006/main">
            <a:off x="3448050" y="4686300"/>
            <a:ext cx="666750" cy="0"/>
          </a:xfrm>
          <a:prstGeom xmlns:a="http://schemas.openxmlformats.org/drawingml/2006/main" prst="straightConnector1">
            <a:avLst/>
          </a:prstGeom>
          <a:ln xmlns:a="http://schemas.openxmlformats.org/drawingml/2006/main" w="9525">
            <a:solidFill>
              <a:srgbClr val="008A94"/>
            </a:solidFill>
            <a:prstDash val="solid"/>
            <a:headEnd type="none" w="med" len="med"/>
            <a:tailEnd type="arrow" w="med" len="med"/>
          </a:ln>
        </p:spPr>
      </p:cxnSp>
      <p:cxnSp>
        <p:nvCxnSpPr>
          <p:cNvPr id="141" name=""/>
          <p:cNvCxnSpPr>
            <a:stCxn xmlns:a="http://schemas.openxmlformats.org/drawingml/2006/main" id="8" idx="3"/>
            <a:endCxn xmlns:a="http://schemas.openxmlformats.org/drawingml/2006/main" id="9" idx="1"/>
          </p:cNvCxnSpPr>
          <p:nvPr/>
        </p:nvCxnSpPr>
        <p:spPr>
          <a:xfrm xmlns:a="http://schemas.openxmlformats.org/drawingml/2006/main">
            <a:off x="7905750" y="4686300"/>
            <a:ext cx="666750" cy="0"/>
          </a:xfrm>
          <a:prstGeom xmlns:a="http://schemas.openxmlformats.org/drawingml/2006/main" prst="straightConnector1">
            <a:avLst/>
          </a:prstGeom>
          <a:ln xmlns:a="http://schemas.openxmlformats.org/drawingml/2006/main" w="9525">
            <a:solidFill>
              <a:srgbClr val="008A94"/>
            </a:solidFill>
            <a:prstDash val="solid"/>
            <a:headEnd type="none" w="med" len="med"/>
            <a:tailEnd type="arrow" w="med" len="med"/>
          </a:ln>
        </p:spPr>
      </p:cxnSp>
      <p:sp>
        <p:nvSpPr>
          <p:cNvPr id="12" name="">
            <a:extLst xmlns:a="http://schemas.openxmlformats.org/drawingml/2006/main">
              <a:ext uri="{FF2B5EF4-FFF2-40B4-BE49-F238E27FC236}">
                <a16:creationId xmlns:a16="http://schemas.microsoft.com/office/drawing/2014/main" id="{6CF53515-821E-43C3-83C5-5D6F6E9B61FC}"/>
              </a:ext>
            </a:extLst>
          </p:cNvPr>
          <p:cNvSpPr>
            <a:spLocks xmlns:a="http://schemas.openxmlformats.org/drawingml/2006/main" noGrp="1"/>
          </p:cNvSpPr>
          <p:nvPr/>
        </p:nvSpPr>
        <p:spPr>
          <a:xfrm xmlns:a="http://schemas.openxmlformats.org/drawingml/2006/main">
            <a:off x="781050" y="415290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FFFFFF"/>
                </a:solidFill>
              </a:defRPr>
            </a:pPr>
            <a:r>
              <a:rPr sz="1575" b="1" i="0">
                <a:solidFill>
                  <a:srgbClr val="FFFFFF"/>
                </a:solidFill>
              </a:rPr>
              <a:t>Employee / 임직원</a:t>
            </a:r>
          </a:p>
        </p:txBody>
      </p:sp>
      <p:sp>
        <p:nvSpPr>
          <p:cNvPr id="13" name="">
            <a:extLst xmlns:a="http://schemas.openxmlformats.org/drawingml/2006/main">
              <a:ext uri="{FF2B5EF4-FFF2-40B4-BE49-F238E27FC236}">
                <a16:creationId xmlns:a16="http://schemas.microsoft.com/office/drawing/2014/main" id="{049D6A62-8475-44A0-9D4A-65CFAABEA53B}"/>
              </a:ext>
            </a:extLst>
          </p:cNvPr>
          <p:cNvSpPr>
            <a:spLocks xmlns:a="http://schemas.openxmlformats.org/drawingml/2006/main" noGrp="1"/>
          </p:cNvSpPr>
          <p:nvPr/>
        </p:nvSpPr>
        <p:spPr>
          <a:xfrm xmlns:a="http://schemas.openxmlformats.org/drawingml/2006/main">
            <a:off x="781050" y="468630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C8D6E1"/>
                </a:solidFill>
              </a:defRPr>
            </a:pPr>
            <a:r>
              <a:rPr sz="1275" b="0" i="0">
                <a:solidFill>
                  <a:srgbClr val="C8D6E1"/>
                </a:solidFill>
              </a:rPr>
              <a:t>치아보험 이해</a:t>
            </a:r>
          </a:p>
          <a:p xmlns:a="http://schemas.openxmlformats.org/drawingml/2006/main">
            <a:pPr algn="l">
              <a:buNone/>
              <a:defRPr sz="1275" b="0" i="0">
                <a:solidFill>
                  <a:srgbClr val="C8D6E1"/>
                </a:solidFill>
              </a:defRPr>
            </a:pPr>
            <a:r>
              <a:rPr sz="1275" b="0" i="0">
                <a:solidFill>
                  <a:srgbClr val="C8D6E1"/>
                </a:solidFill>
              </a:rPr>
              <a:t>치과 찾기 + 지원 요청</a:t>
            </a:r>
          </a:p>
        </p:txBody>
      </p:sp>
      <p:sp>
        <p:nvSpPr>
          <p:cNvPr id="14" name="">
            <a:extLst xmlns:a="http://schemas.openxmlformats.org/drawingml/2006/main">
              <a:ext uri="{FF2B5EF4-FFF2-40B4-BE49-F238E27FC236}">
                <a16:creationId xmlns:a16="http://schemas.microsoft.com/office/drawing/2014/main" id="{C9D606C3-E05F-41E0-A1E3-597B5C21E510}"/>
              </a:ext>
            </a:extLst>
          </p:cNvPr>
          <p:cNvSpPr>
            <a:spLocks xmlns:a="http://schemas.openxmlformats.org/drawingml/2006/main" noGrp="1"/>
          </p:cNvSpPr>
          <p:nvPr/>
        </p:nvSpPr>
        <p:spPr>
          <a:xfrm xmlns:a="http://schemas.openxmlformats.org/drawingml/2006/main">
            <a:off x="4286250" y="4152900"/>
            <a:ext cx="3448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FFFFFF"/>
                </a:solidFill>
              </a:defRPr>
            </a:pPr>
            <a:r>
              <a:rPr sz="1575" b="1" i="0">
                <a:solidFill>
                  <a:srgbClr val="FFFFFF"/>
                </a:solidFill>
              </a:rPr>
              <a:t>Evidence / 데이터 근거</a:t>
            </a:r>
          </a:p>
        </p:txBody>
      </p:sp>
      <p:sp>
        <p:nvSpPr>
          <p:cNvPr id="15" name="">
            <a:extLst xmlns:a="http://schemas.openxmlformats.org/drawingml/2006/main">
              <a:ext uri="{FF2B5EF4-FFF2-40B4-BE49-F238E27FC236}">
                <a16:creationId xmlns:a16="http://schemas.microsoft.com/office/drawing/2014/main" id="{704DEAC1-247A-4767-BA64-0C516AE88712}"/>
              </a:ext>
            </a:extLst>
          </p:cNvPr>
          <p:cNvSpPr>
            <a:spLocks xmlns:a="http://schemas.openxmlformats.org/drawingml/2006/main" noGrp="1"/>
          </p:cNvSpPr>
          <p:nvPr/>
        </p:nvSpPr>
        <p:spPr>
          <a:xfrm xmlns:a="http://schemas.openxmlformats.org/drawingml/2006/main">
            <a:off x="4286250" y="4686300"/>
            <a:ext cx="3448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C8D6E1"/>
                </a:solidFill>
              </a:defRPr>
            </a:pPr>
            <a:r>
              <a:rPr sz="1275" b="0" i="0">
                <a:solidFill>
                  <a:srgbClr val="C8D6E1"/>
                </a:solidFill>
              </a:rPr>
              <a:t>가입·플랜·네트워크</a:t>
            </a:r>
          </a:p>
          <a:p xmlns:a="http://schemas.openxmlformats.org/drawingml/2006/main">
            <a:pPr algn="l">
              <a:buNone/>
              <a:defRPr sz="1275" b="0" i="0">
                <a:solidFill>
                  <a:srgbClr val="C8D6E1"/>
                </a:solidFill>
              </a:defRPr>
            </a:pPr>
            <a:r>
              <a:rPr sz="1275" b="0" i="0">
                <a:solidFill>
                  <a:srgbClr val="C8D6E1"/>
                </a:solidFill>
              </a:rPr>
              <a:t>이용 기록 + 치아보험 청구</a:t>
            </a:r>
          </a:p>
        </p:txBody>
      </p:sp>
      <p:sp>
        <p:nvSpPr>
          <p:cNvPr id="16" name="">
            <a:extLst xmlns:a="http://schemas.openxmlformats.org/drawingml/2006/main">
              <a:ext uri="{FF2B5EF4-FFF2-40B4-BE49-F238E27FC236}">
                <a16:creationId xmlns:a16="http://schemas.microsoft.com/office/drawing/2014/main" id="{67E05B25-9CF9-4A59-AE6A-B1A6051108F5}"/>
              </a:ext>
            </a:extLst>
          </p:cNvPr>
          <p:cNvSpPr>
            <a:spLocks xmlns:a="http://schemas.openxmlformats.org/drawingml/2006/main" noGrp="1"/>
          </p:cNvSpPr>
          <p:nvPr/>
        </p:nvSpPr>
        <p:spPr>
          <a:xfrm xmlns:a="http://schemas.openxmlformats.org/drawingml/2006/main">
            <a:off x="8743950" y="415290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FFFFFF"/>
                </a:solidFill>
              </a:defRPr>
            </a:pPr>
            <a:r>
              <a:rPr sz="1575" b="1" i="0">
                <a:solidFill>
                  <a:srgbClr val="FFFFFF"/>
                </a:solidFill>
              </a:rPr>
              <a:t>Employer / 기업 의사결정</a:t>
            </a:r>
          </a:p>
        </p:txBody>
      </p:sp>
      <p:sp>
        <p:nvSpPr>
          <p:cNvPr id="17" name="">
            <a:extLst xmlns:a="http://schemas.openxmlformats.org/drawingml/2006/main">
              <a:ext uri="{FF2B5EF4-FFF2-40B4-BE49-F238E27FC236}">
                <a16:creationId xmlns:a16="http://schemas.microsoft.com/office/drawing/2014/main" id="{31639BC5-0DB8-467F-91F3-745CD9D8D56D}"/>
              </a:ext>
            </a:extLst>
          </p:cNvPr>
          <p:cNvSpPr>
            <a:spLocks xmlns:a="http://schemas.openxmlformats.org/drawingml/2006/main" noGrp="1"/>
          </p:cNvSpPr>
          <p:nvPr/>
        </p:nvSpPr>
        <p:spPr>
          <a:xfrm xmlns:a="http://schemas.openxmlformats.org/drawingml/2006/main">
            <a:off x="8743950" y="468630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C8D6E1"/>
                </a:solidFill>
              </a:defRPr>
            </a:pPr>
            <a:r>
              <a:rPr sz="1275" b="0" i="0">
                <a:solidFill>
                  <a:srgbClr val="C8D6E1"/>
                </a:solidFill>
              </a:rPr>
              <a:t>플랜·운영사 적합성</a:t>
            </a:r>
          </a:p>
          <a:p xmlns:a="http://schemas.openxmlformats.org/drawingml/2006/main">
            <a:pPr algn="l">
              <a:buNone/>
              <a:defRPr sz="1275" b="0" i="0">
                <a:solidFill>
                  <a:srgbClr val="C8D6E1"/>
                </a:solidFill>
              </a:defRPr>
            </a:pPr>
            <a:r>
              <a:rPr sz="1275" b="0" i="0">
                <a:solidFill>
                  <a:srgbClr val="C8D6E1"/>
                </a:solidFill>
              </a:rPr>
              <a:t>접근성 + 청구 + 본인부담</a:t>
            </a:r>
          </a:p>
        </p:txBody>
      </p:sp>
      <p:sp>
        <p:nvSpPr>
          <p:cNvPr id="18" name="">
            <a:extLst xmlns:a="http://schemas.openxmlformats.org/drawingml/2006/main">
              <a:ext uri="{FF2B5EF4-FFF2-40B4-BE49-F238E27FC236}">
                <a16:creationId xmlns:a16="http://schemas.microsoft.com/office/drawing/2014/main" id="{E7DB4D78-42DB-4417-9830-A5A60CA0D949}"/>
              </a:ext>
            </a:extLst>
          </p:cNvPr>
          <p:cNvSpPr>
            <a:spLocks xmlns:a="http://schemas.openxmlformats.org/drawingml/2006/main" noGrp="1"/>
          </p:cNvSpPr>
          <p:nvPr/>
        </p:nvSpPr>
        <p:spPr>
          <a:xfrm xmlns:a="http://schemas.openxmlformats.org/drawingml/2006/main">
            <a:off x="609600" y="5981700"/>
            <a:ext cx="95250" cy="95250"/>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0A3519E-3304-47E2-8D05-ABDE3B43D78C}"/>
              </a:ext>
            </a:extLst>
          </p:cNvPr>
          <p:cNvSpPr>
            <a:spLocks xmlns:a="http://schemas.openxmlformats.org/drawingml/2006/main" noGrp="1"/>
          </p:cNvSpPr>
          <p:nvPr/>
        </p:nvSpPr>
        <p:spPr>
          <a:xfrm xmlns:a="http://schemas.openxmlformats.org/drawingml/2006/main">
            <a:off x="781050"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D9E2F0"/>
                </a:solidFill>
              </a:defRPr>
            </a:pPr>
            <a:r>
              <a:rPr sz="825" b="1" i="0">
                <a:solidFill>
                  <a:srgbClr val="D9E2F0"/>
                </a:solidFill>
              </a:rPr>
              <a:t/>
            </a:r>
          </a:p>
        </p:txBody>
      </p:sp>
      <p:sp>
        <p:nvSpPr>
          <p:cNvPr id="20" name="">
            <a:extLst xmlns:a="http://schemas.openxmlformats.org/drawingml/2006/main">
              <a:ext uri="{FF2B5EF4-FFF2-40B4-BE49-F238E27FC236}">
                <a16:creationId xmlns:a16="http://schemas.microsoft.com/office/drawing/2014/main" id="{6F1839E3-446C-43A3-BA02-D74027C9DF92}"/>
              </a:ext>
            </a:extLst>
          </p:cNvPr>
          <p:cNvSpPr>
            <a:spLocks xmlns:a="http://schemas.openxmlformats.org/drawingml/2006/main" noGrp="1"/>
          </p:cNvSpPr>
          <p:nvPr/>
        </p:nvSpPr>
        <p:spPr>
          <a:xfrm xmlns:a="http://schemas.openxmlformats.org/drawingml/2006/main">
            <a:off x="2657475" y="5981700"/>
            <a:ext cx="95250" cy="95250"/>
          </a:xfrm>
          <a:prstGeom xmlns:a="http://schemas.openxmlformats.org/drawingml/2006/main" prst="rect">
            <a:avLst/>
          </a:prstGeom>
          <a:noFill xmlns:a="http://schemas.openxmlformats.org/drawingml/2006/main"/>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1BE37A-8C71-4A22-87A4-1A2FB3F3996B}"/>
              </a:ext>
            </a:extLst>
          </p:cNvPr>
          <p:cNvSpPr>
            <a:spLocks xmlns:a="http://schemas.openxmlformats.org/drawingml/2006/main" noGrp="1"/>
          </p:cNvSpPr>
          <p:nvPr/>
        </p:nvSpPr>
        <p:spPr>
          <a:xfrm xmlns:a="http://schemas.openxmlformats.org/drawingml/2006/main">
            <a:off x="2828925"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D9E2F0"/>
                </a:solidFill>
              </a:defRPr>
            </a:pPr>
            <a:r>
              <a:rPr sz="825" b="1" i="0">
                <a:solidFill>
                  <a:srgbClr val="D9E2F0"/>
                </a:solidFill>
              </a:rPr>
              <a:t/>
            </a:r>
          </a:p>
        </p:txBody>
      </p:sp>
      <p:sp>
        <p:nvSpPr>
          <p:cNvPr id="22" name="">
            <a:extLst xmlns:a="http://schemas.openxmlformats.org/drawingml/2006/main">
              <a:ext uri="{FF2B5EF4-FFF2-40B4-BE49-F238E27FC236}">
                <a16:creationId xmlns:a16="http://schemas.microsoft.com/office/drawing/2014/main" id="{E406B330-0CAA-4BFD-B0C2-779FCF9CF267}"/>
              </a:ext>
            </a:extLst>
          </p:cNvPr>
          <p:cNvSpPr>
            <a:spLocks xmlns:a="http://schemas.openxmlformats.org/drawingml/2006/main" noGrp="1"/>
          </p:cNvSpPr>
          <p:nvPr/>
        </p:nvSpPr>
        <p:spPr>
          <a:xfrm xmlns:a="http://schemas.openxmlformats.org/drawingml/2006/main">
            <a:off x="4705350" y="5981700"/>
            <a:ext cx="95250" cy="95250"/>
          </a:xfrm>
          <a:prstGeom xmlns:a="http://schemas.openxmlformats.org/drawingml/2006/main" prst="rect">
            <a:avLst/>
          </a:prstGeom>
          <a:noFill xmlns:a="http://schemas.openxmlformats.org/drawingml/2006/main"/>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3E5821E-9B8E-4654-9CA4-B74CF9AB0A4B}"/>
              </a:ext>
            </a:extLst>
          </p:cNvPr>
          <p:cNvSpPr>
            <a:spLocks xmlns:a="http://schemas.openxmlformats.org/drawingml/2006/main" noGrp="1"/>
          </p:cNvSpPr>
          <p:nvPr/>
        </p:nvSpPr>
        <p:spPr>
          <a:xfrm xmlns:a="http://schemas.openxmlformats.org/drawingml/2006/main">
            <a:off x="4876800"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D9E2F0"/>
                </a:solidFill>
              </a:defRPr>
            </a:pPr>
            <a:r>
              <a:rPr sz="825" b="1" i="0">
                <a:solidFill>
                  <a:srgbClr val="D9E2F0"/>
                </a:solidFill>
              </a:rPr>
              <a:t/>
            </a:r>
          </a:p>
        </p:txBody>
      </p:sp>
      <p:sp>
        <p:nvSpPr>
          <p:cNvPr id="24" name="">
            <a:extLst xmlns:a="http://schemas.openxmlformats.org/drawingml/2006/main">
              <a:ext uri="{FF2B5EF4-FFF2-40B4-BE49-F238E27FC236}">
                <a16:creationId xmlns:a16="http://schemas.microsoft.com/office/drawing/2014/main" id="{3770C807-07FB-4739-8E77-6FA0ACB71D87}"/>
              </a:ext>
            </a:extLst>
          </p:cNvPr>
          <p:cNvSpPr>
            <a:spLocks xmlns:a="http://schemas.openxmlformats.org/drawingml/2006/main" noGrp="1"/>
          </p:cNvSpPr>
          <p:nvPr/>
        </p:nvSpPr>
        <p:spPr>
          <a:xfrm xmlns:a="http://schemas.openxmlformats.org/drawingml/2006/main">
            <a:off x="6753225" y="5981700"/>
            <a:ext cx="95250" cy="95250"/>
          </a:xfrm>
          <a:prstGeom xmlns:a="http://schemas.openxmlformats.org/drawingml/2006/main" prst="rect">
            <a:avLst/>
          </a:prstGeom>
          <a:noFill xmlns:a="http://schemas.openxmlformats.org/drawingml/2006/main"/>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AC20F87-46CF-4822-9ECC-B12B32DE2AF3}"/>
              </a:ext>
            </a:extLst>
          </p:cNvPr>
          <p:cNvSpPr>
            <a:spLocks xmlns:a="http://schemas.openxmlformats.org/drawingml/2006/main" noGrp="1"/>
          </p:cNvSpPr>
          <p:nvPr/>
        </p:nvSpPr>
        <p:spPr>
          <a:xfrm xmlns:a="http://schemas.openxmlformats.org/drawingml/2006/main">
            <a:off x="6924675"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D9E2F0"/>
                </a:solidFill>
              </a:defRPr>
            </a:pPr>
            <a:r>
              <a:rPr sz="825" b="1" i="0">
                <a:solidFill>
                  <a:srgbClr val="D9E2F0"/>
                </a:solidFill>
              </a:rPr>
              <a:t/>
            </a:r>
          </a:p>
        </p:txBody>
      </p:sp>
      <p:sp>
        <p:nvSpPr>
          <p:cNvPr id="26" name="">
            <a:extLst xmlns:a="http://schemas.openxmlformats.org/drawingml/2006/main">
              <a:ext uri="{FF2B5EF4-FFF2-40B4-BE49-F238E27FC236}">
                <a16:creationId xmlns:a16="http://schemas.microsoft.com/office/drawing/2014/main" id="{922D8A67-066C-4846-B5B0-E8744B039B38}"/>
              </a:ext>
            </a:extLst>
          </p:cNvPr>
          <p:cNvSpPr>
            <a:spLocks xmlns:a="http://schemas.openxmlformats.org/drawingml/2006/main" noGrp="1"/>
          </p:cNvSpPr>
          <p:nvPr/>
        </p:nvSpPr>
        <p:spPr>
          <a:xfrm xmlns:a="http://schemas.openxmlformats.org/drawingml/2006/main">
            <a:off x="11125200" y="64103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B8C4D8"/>
                </a:solidFill>
              </a:defRPr>
            </a:pPr>
            <a:r>
              <a:rPr sz="788" b="0" i="0">
                <a:solidFill>
                  <a:srgbClr val="B8C4D8"/>
                </a:solidFill>
              </a:rPr>
              <a:t>01</a:t>
            </a:r>
          </a:p>
        </p:txBody>
      </p:sp>
    </p:spTree>
    <p:extLst>
      <p:ext uri="{BB962C8B-B14F-4D97-AF65-F5344CB8AC3E}">
        <p14:creationId xmlns:p14="http://schemas.microsoft.com/office/powerpoint/2010/main" val="4641503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9CE6896-357D-4887-8AD5-539EE92D2EF7}"/>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08A94"/>
                </a:solidFill>
              </a:defRPr>
            </a:pPr>
            <a:r>
              <a:rPr sz="1200" b="1" i="0">
                <a:solidFill>
                  <a:srgbClr val="008A94"/>
                </a:solidFill>
              </a:rPr>
              <a:t/>
            </a:r>
          </a:p>
        </p:txBody>
      </p:sp>
      <p:sp>
        <p:nvSpPr>
          <p:cNvPr id="2" name="">
            <a:extLst xmlns:a="http://schemas.openxmlformats.org/drawingml/2006/main">
              <a:ext uri="{FF2B5EF4-FFF2-40B4-BE49-F238E27FC236}">
                <a16:creationId xmlns:a16="http://schemas.microsoft.com/office/drawing/2014/main" id="{517EEE67-6F43-4558-A3B4-85BDA1AE3C74}"/>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E7B058-9485-431B-8039-131A790F87CB}"/>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0EE7BD-3659-4AAA-861F-4AB14A65BF43}"/>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ICLO 관점 / 미국 시장 맥락</a:t>
            </a:r>
          </a:p>
        </p:txBody>
      </p:sp>
      <p:sp>
        <p:nvSpPr>
          <p:cNvPr id="5" name="">
            <a:extLst xmlns:a="http://schemas.openxmlformats.org/drawingml/2006/main">
              <a:ext uri="{FF2B5EF4-FFF2-40B4-BE49-F238E27FC236}">
                <a16:creationId xmlns:a16="http://schemas.microsoft.com/office/drawing/2014/main" id="{AAC4E150-78A0-49F2-8025-93AC78A3850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치아보험에서 실제 진료까지 네 가지 판단이 남습니다</a:t>
            </a:r>
          </a:p>
        </p:txBody>
      </p:sp>
      <p:sp>
        <p:nvSpPr>
          <p:cNvPr id="6" name="">
            <a:extLst xmlns:a="http://schemas.openxmlformats.org/drawingml/2006/main">
              <a:ext uri="{FF2B5EF4-FFF2-40B4-BE49-F238E27FC236}">
                <a16:creationId xmlns:a16="http://schemas.microsoft.com/office/drawing/2014/main" id="{27704D2F-5B37-4914-BDDA-77C89071048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임직원은 실제 진료 전에 네 가지 질문을 각각 해결해야 합니다.</a:t>
            </a:r>
          </a:p>
        </p:txBody>
      </p:sp>
      <p:sp>
        <p:nvSpPr>
          <p:cNvPr id="7" name="">
            <a:extLst xmlns:a="http://schemas.openxmlformats.org/drawingml/2006/main">
              <a:ext uri="{FF2B5EF4-FFF2-40B4-BE49-F238E27FC236}">
                <a16:creationId xmlns:a16="http://schemas.microsoft.com/office/drawing/2014/main" id="{CBF60099-5853-4B6F-B473-A2A108DDF74E}"/>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0E8B17E3-D052-4238-BF4A-6FC8CA10B39D}"/>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1B0E0A6E-5A60-431A-AA9A-42519C7686A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351" name=""/>
          <p:cNvPicPr>
            <a:picLocks xmlns:a="http://schemas.openxmlformats.org/drawingml/2006/main" noChangeAspect="1"/>
          </p:cNvPicPr>
          <p:nvPr/>
        </p:nvPicPr>
        <p:blipFill>
          <a:blip xmlns:r="http://schemas.openxmlformats.org/officeDocument/2006/relationships" xmlns:a="http://schemas.openxmlformats.org/drawingml/2006/main" r:embed="R389e5271386c418e"/>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C52205A-1DBF-4840-996B-377291FB0AB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353" name=""/>
          <p:cNvPicPr>
            <a:picLocks xmlns:a="http://schemas.openxmlformats.org/drawingml/2006/main" noChangeAspect="1"/>
          </p:cNvPicPr>
          <p:nvPr/>
        </p:nvPicPr>
        <p:blipFill>
          <a:blip xmlns:r="http://schemas.openxmlformats.org/officeDocument/2006/relationships" xmlns:a="http://schemas.openxmlformats.org/drawingml/2006/main" r:embed="R8145a571450b445f"/>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186AB97-F871-483F-846D-D4AE629804D8}"/>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29C451F6-5517-456B-854A-FD793F6A2367}"/>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162742"/>
                </a:solidFill>
              </a:defRPr>
            </a:pPr>
            <a:r>
              <a:rPr sz="788" b="0" i="0">
                <a:solidFill>
                  <a:srgbClr val="162742"/>
                </a:solidFill>
              </a:rPr>
              <a:t>02</a:t>
            </a:r>
          </a:p>
        </p:txBody>
      </p:sp>
      <p:sp>
        <p:nvSpPr>
          <p:cNvPr id="15" name="">
            <a:extLst xmlns:a="http://schemas.openxmlformats.org/drawingml/2006/main">
              <a:ext uri="{FF2B5EF4-FFF2-40B4-BE49-F238E27FC236}">
                <a16:creationId xmlns:a16="http://schemas.microsoft.com/office/drawing/2014/main" id="{ECCB1D02-D831-47C8-8139-577E70E40746}"/>
              </a:ext>
            </a:extLst>
          </p:cNvPr>
          <p:cNvSpPr>
            <a:spLocks xmlns:a="http://schemas.openxmlformats.org/drawingml/2006/main" noGrp="1"/>
          </p:cNvSpPr>
          <p:nvPr/>
        </p:nvSpPr>
        <p:spPr>
          <a:xfrm xmlns:a="http://schemas.openxmlformats.org/drawingml/2006/main">
            <a:off x="609600" y="20574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7D4034D-CA18-408F-B05D-8642AF748D87}"/>
              </a:ext>
            </a:extLst>
          </p:cNvPr>
          <p:cNvSpPr>
            <a:spLocks xmlns:a="http://schemas.openxmlformats.org/drawingml/2006/main" noGrp="1"/>
          </p:cNvSpPr>
          <p:nvPr/>
        </p:nvSpPr>
        <p:spPr>
          <a:xfrm xmlns:a="http://schemas.openxmlformats.org/drawingml/2006/main">
            <a:off x="781050" y="21717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가입 자격</a:t>
            </a:r>
          </a:p>
        </p:txBody>
      </p:sp>
      <p:sp>
        <p:nvSpPr>
          <p:cNvPr id="17" name="">
            <a:extLst xmlns:a="http://schemas.openxmlformats.org/drawingml/2006/main">
              <a:ext uri="{FF2B5EF4-FFF2-40B4-BE49-F238E27FC236}">
                <a16:creationId xmlns:a16="http://schemas.microsoft.com/office/drawing/2014/main" id="{D3A3AF17-D7B9-4C40-8C3A-6961D11E1C7B}"/>
              </a:ext>
            </a:extLst>
          </p:cNvPr>
          <p:cNvSpPr>
            <a:spLocks xmlns:a="http://schemas.openxmlformats.org/drawingml/2006/main" noGrp="1"/>
          </p:cNvSpPr>
          <p:nvPr/>
        </p:nvSpPr>
        <p:spPr>
          <a:xfrm xmlns:a="http://schemas.openxmlformats.org/drawingml/2006/main">
            <a:off x="2286000" y="21526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162742"/>
                </a:solidFill>
              </a:defRPr>
            </a:pPr>
            <a:r>
              <a:rPr sz="1500" b="0" i="0">
                <a:solidFill>
                  <a:srgbClr val="162742"/>
                </a:solidFill>
              </a:rPr>
              <a:t>오늘 보장 대상인가?</a:t>
            </a:r>
          </a:p>
          <a:p xmlns:a="http://schemas.openxmlformats.org/drawingml/2006/main">
            <a:pPr algn="l">
              <a:buNone/>
              <a:defRPr sz="1500" b="0" i="0">
                <a:solidFill>
                  <a:srgbClr val="162742"/>
                </a:solidFill>
              </a:defRPr>
            </a:pPr>
            <a:r>
              <a:rPr sz="1500" b="0" i="0">
                <a:solidFill>
                  <a:srgbClr val="162742"/>
                </a:solidFill>
              </a:rPr>
              <a:t>임직원·가족 + 효력일</a:t>
            </a:r>
          </a:p>
        </p:txBody>
      </p:sp>
      <p:sp>
        <p:nvSpPr>
          <p:cNvPr id="18" name="">
            <a:extLst xmlns:a="http://schemas.openxmlformats.org/drawingml/2006/main">
              <a:ext uri="{FF2B5EF4-FFF2-40B4-BE49-F238E27FC236}">
                <a16:creationId xmlns:a16="http://schemas.microsoft.com/office/drawing/2014/main" id="{FA377EC6-63B1-4610-AA9E-5BD1CE5AAF63}"/>
              </a:ext>
            </a:extLst>
          </p:cNvPr>
          <p:cNvSpPr>
            <a:spLocks xmlns:a="http://schemas.openxmlformats.org/drawingml/2006/main" noGrp="1"/>
          </p:cNvSpPr>
          <p:nvPr/>
        </p:nvSpPr>
        <p:spPr>
          <a:xfrm xmlns:a="http://schemas.openxmlformats.org/drawingml/2006/main">
            <a:off x="609600" y="29718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D4549CA-3E53-4113-86BD-5305FB8B75A7}"/>
              </a:ext>
            </a:extLst>
          </p:cNvPr>
          <p:cNvSpPr>
            <a:spLocks xmlns:a="http://schemas.openxmlformats.org/drawingml/2006/main" noGrp="1"/>
          </p:cNvSpPr>
          <p:nvPr/>
        </p:nvSpPr>
        <p:spPr>
          <a:xfrm xmlns:a="http://schemas.openxmlformats.org/drawingml/2006/main">
            <a:off x="781050" y="30861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네트워크</a:t>
            </a:r>
          </a:p>
        </p:txBody>
      </p:sp>
      <p:sp>
        <p:nvSpPr>
          <p:cNvPr id="20" name="">
            <a:extLst xmlns:a="http://schemas.openxmlformats.org/drawingml/2006/main">
              <a:ext uri="{FF2B5EF4-FFF2-40B4-BE49-F238E27FC236}">
                <a16:creationId xmlns:a16="http://schemas.microsoft.com/office/drawing/2014/main" id="{8A0E112E-D502-428B-B97D-2C24133AC3D9}"/>
              </a:ext>
            </a:extLst>
          </p:cNvPr>
          <p:cNvSpPr>
            <a:spLocks xmlns:a="http://schemas.openxmlformats.org/drawingml/2006/main" noGrp="1"/>
          </p:cNvSpPr>
          <p:nvPr/>
        </p:nvSpPr>
        <p:spPr>
          <a:xfrm xmlns:a="http://schemas.openxmlformats.org/drawingml/2006/main">
            <a:off x="2286000" y="30670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162742"/>
                </a:solidFill>
              </a:defRPr>
            </a:pPr>
            <a:r>
              <a:rPr sz="1500" b="0" i="0">
                <a:solidFill>
                  <a:srgbClr val="162742"/>
                </a:solidFill>
              </a:rPr>
              <a:t>어느 치과가 플랜에 맞나?</a:t>
            </a:r>
          </a:p>
          <a:p xmlns:a="http://schemas.openxmlformats.org/drawingml/2006/main">
            <a:pPr algn="l">
              <a:buNone/>
              <a:defRPr sz="1500" b="0" i="0">
                <a:solidFill>
                  <a:srgbClr val="162742"/>
                </a:solidFill>
              </a:defRPr>
            </a:pPr>
            <a:r>
              <a:rPr sz="1500" b="0" i="0">
                <a:solidFill>
                  <a:srgbClr val="162742"/>
                </a:solidFill>
              </a:rPr>
              <a:t>네트워크 + 거리</a:t>
            </a:r>
          </a:p>
        </p:txBody>
      </p:sp>
      <p:sp>
        <p:nvSpPr>
          <p:cNvPr id="21" name="">
            <a:extLst xmlns:a="http://schemas.openxmlformats.org/drawingml/2006/main">
              <a:ext uri="{FF2B5EF4-FFF2-40B4-BE49-F238E27FC236}">
                <a16:creationId xmlns:a16="http://schemas.microsoft.com/office/drawing/2014/main" id="{21A900EB-333C-4AF2-BA03-31DE04598579}"/>
              </a:ext>
            </a:extLst>
          </p:cNvPr>
          <p:cNvSpPr>
            <a:spLocks xmlns:a="http://schemas.openxmlformats.org/drawingml/2006/main" noGrp="1"/>
          </p:cNvSpPr>
          <p:nvPr/>
        </p:nvSpPr>
        <p:spPr>
          <a:xfrm xmlns:a="http://schemas.openxmlformats.org/drawingml/2006/main">
            <a:off x="609600" y="38862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62306C-8399-428E-BFC9-07AC5EB10C5C}"/>
              </a:ext>
            </a:extLst>
          </p:cNvPr>
          <p:cNvSpPr>
            <a:spLocks xmlns:a="http://schemas.openxmlformats.org/drawingml/2006/main" noGrp="1"/>
          </p:cNvSpPr>
          <p:nvPr/>
        </p:nvSpPr>
        <p:spPr>
          <a:xfrm xmlns:a="http://schemas.openxmlformats.org/drawingml/2006/main">
            <a:off x="781050" y="40005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치아보험 조건</a:t>
            </a:r>
          </a:p>
        </p:txBody>
      </p:sp>
      <p:sp>
        <p:nvSpPr>
          <p:cNvPr id="23" name="">
            <a:extLst xmlns:a="http://schemas.openxmlformats.org/drawingml/2006/main">
              <a:ext uri="{FF2B5EF4-FFF2-40B4-BE49-F238E27FC236}">
                <a16:creationId xmlns:a16="http://schemas.microsoft.com/office/drawing/2014/main" id="{572E3EFD-2631-460B-B73C-2AE85EDE363D}"/>
              </a:ext>
            </a:extLst>
          </p:cNvPr>
          <p:cNvSpPr>
            <a:spLocks xmlns:a="http://schemas.openxmlformats.org/drawingml/2006/main" noGrp="1"/>
          </p:cNvSpPr>
          <p:nvPr/>
        </p:nvSpPr>
        <p:spPr>
          <a:xfrm xmlns:a="http://schemas.openxmlformats.org/drawingml/2006/main">
            <a:off x="2286000" y="39814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162742"/>
                </a:solidFill>
              </a:defRPr>
            </a:pPr>
            <a:r>
              <a:rPr sz="1500" b="0" i="0">
                <a:solidFill>
                  <a:srgbClr val="162742"/>
                </a:solidFill>
              </a:rPr>
              <a:t>치아보험이 얼마를 내나?</a:t>
            </a:r>
          </a:p>
          <a:p xmlns:a="http://schemas.openxmlformats.org/drawingml/2006/main">
            <a:pPr algn="l">
              <a:buNone/>
              <a:defRPr sz="1500" b="0" i="0">
                <a:solidFill>
                  <a:srgbClr val="162742"/>
                </a:solidFill>
              </a:defRPr>
            </a:pPr>
            <a:r>
              <a:rPr sz="1500" b="0" i="0">
                <a:solidFill>
                  <a:srgbClr val="162742"/>
                </a:solidFill>
              </a:rPr>
              <a:t>공제액 + 본인부담 + 연간 한도</a:t>
            </a:r>
          </a:p>
        </p:txBody>
      </p:sp>
      <p:sp>
        <p:nvSpPr>
          <p:cNvPr id="24" name="">
            <a:extLst xmlns:a="http://schemas.openxmlformats.org/drawingml/2006/main">
              <a:ext uri="{FF2B5EF4-FFF2-40B4-BE49-F238E27FC236}">
                <a16:creationId xmlns:a16="http://schemas.microsoft.com/office/drawing/2014/main" id="{B2A45101-FA48-4ABE-B8D8-70D55A8B264B}"/>
              </a:ext>
            </a:extLst>
          </p:cNvPr>
          <p:cNvSpPr>
            <a:spLocks xmlns:a="http://schemas.openxmlformats.org/drawingml/2006/main" noGrp="1"/>
          </p:cNvSpPr>
          <p:nvPr/>
        </p:nvSpPr>
        <p:spPr>
          <a:xfrm xmlns:a="http://schemas.openxmlformats.org/drawingml/2006/main">
            <a:off x="609600" y="48006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0E6DA10-DAA3-4F96-B7AB-D2DCAA26562F}"/>
              </a:ext>
            </a:extLst>
          </p:cNvPr>
          <p:cNvSpPr>
            <a:spLocks xmlns:a="http://schemas.openxmlformats.org/drawingml/2006/main" noGrp="1"/>
          </p:cNvSpPr>
          <p:nvPr/>
        </p:nvSpPr>
        <p:spPr>
          <a:xfrm xmlns:a="http://schemas.openxmlformats.org/drawingml/2006/main">
            <a:off x="781050" y="49149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예약 가능성</a:t>
            </a:r>
          </a:p>
        </p:txBody>
      </p:sp>
      <p:sp>
        <p:nvSpPr>
          <p:cNvPr id="26" name="">
            <a:extLst xmlns:a="http://schemas.openxmlformats.org/drawingml/2006/main">
              <a:ext uri="{FF2B5EF4-FFF2-40B4-BE49-F238E27FC236}">
                <a16:creationId xmlns:a16="http://schemas.microsoft.com/office/drawing/2014/main" id="{D1DE956D-8E8D-4DBD-9B37-C3AABBF226D5}"/>
              </a:ext>
            </a:extLst>
          </p:cNvPr>
          <p:cNvSpPr>
            <a:spLocks xmlns:a="http://schemas.openxmlformats.org/drawingml/2006/main" noGrp="1"/>
          </p:cNvSpPr>
          <p:nvPr/>
        </p:nvSpPr>
        <p:spPr>
          <a:xfrm xmlns:a="http://schemas.openxmlformats.org/drawingml/2006/main">
            <a:off x="2286000" y="48958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162742"/>
                </a:solidFill>
              </a:defRPr>
            </a:pPr>
            <a:r>
              <a:rPr sz="1500" b="0" i="0">
                <a:solidFill>
                  <a:srgbClr val="162742"/>
                </a:solidFill>
              </a:rPr>
              <a:t>실제로 예약할 수 있나?</a:t>
            </a:r>
          </a:p>
          <a:p xmlns:a="http://schemas.openxmlformats.org/drawingml/2006/main">
            <a:pPr algn="l">
              <a:buNone/>
              <a:defRPr sz="1500" b="0" i="0">
                <a:solidFill>
                  <a:srgbClr val="162742"/>
                </a:solidFill>
              </a:defRPr>
            </a:pPr>
            <a:r>
              <a:rPr sz="1500" b="0" i="0">
                <a:solidFill>
                  <a:srgbClr val="162742"/>
                </a:solidFill>
              </a:rPr>
              <a:t>치과 목록 + 예약 가능 시간</a:t>
            </a:r>
          </a:p>
        </p:txBody>
      </p:sp>
      <p:sp>
        <p:nvSpPr>
          <p:cNvPr id="27" name="">
            <a:extLst xmlns:a="http://schemas.openxmlformats.org/drawingml/2006/main">
              <a:ext uri="{FF2B5EF4-FFF2-40B4-BE49-F238E27FC236}">
                <a16:creationId xmlns:a16="http://schemas.microsoft.com/office/drawing/2014/main" id="{08699F23-B5A8-4BCF-86ED-9E4CD3A1CCF0}"/>
              </a:ext>
            </a:extLst>
          </p:cNvPr>
          <p:cNvSpPr>
            <a:spLocks xmlns:a="http://schemas.openxmlformats.org/drawingml/2006/main" noGrp="1"/>
          </p:cNvSpPr>
          <p:nvPr/>
        </p:nvSpPr>
        <p:spPr>
          <a:xfrm xmlns:a="http://schemas.openxmlformats.org/drawingml/2006/main">
            <a:off x="5314950" y="3105150"/>
            <a:ext cx="2038350" cy="1390650"/>
          </a:xfrm>
          <a:prstGeom xmlns:a="http://schemas.openxmlformats.org/drawingml/2006/main" prst="roundRect">
            <a:avLst>
              <a:gd name="adj" fmla="val 5479"/>
            </a:avLst>
          </a:prstGeom>
          <a:solidFill xmlns:a="http://schemas.openxmlformats.org/drawingml/2006/main">
            <a:srgbClr val="1B2A4A"/>
          </a:solidFill>
          <a:ln xmlns:a="http://schemas.openxmlformats.org/drawingml/2006/main" w="0">
            <a:solidFill>
              <a:srgbClr val="1B2A4A"/>
            </a:solidFill>
            <a:prstDash val="solid"/>
          </a:ln>
        </p:spPr>
      </p:sp>
      <p:sp>
        <p:nvSpPr>
          <p:cNvPr id="28" name="">
            <a:extLst xmlns:a="http://schemas.openxmlformats.org/drawingml/2006/main">
              <a:ext uri="{FF2B5EF4-FFF2-40B4-BE49-F238E27FC236}">
                <a16:creationId xmlns:a16="http://schemas.microsoft.com/office/drawing/2014/main" id="{AA01D02D-D5EF-4DC5-AB4D-AE8D6510D3E5}"/>
              </a:ext>
            </a:extLst>
          </p:cNvPr>
          <p:cNvSpPr>
            <a:spLocks xmlns:a="http://schemas.openxmlformats.org/drawingml/2006/main" noGrp="1"/>
          </p:cNvSpPr>
          <p:nvPr/>
        </p:nvSpPr>
        <p:spPr>
          <a:xfrm xmlns:a="http://schemas.openxmlformats.org/drawingml/2006/main">
            <a:off x="5505450" y="3352800"/>
            <a:ext cx="16573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임직원</a:t>
            </a:r>
          </a:p>
          <a:p xmlns:a="http://schemas.openxmlformats.org/drawingml/2006/main">
            <a:pPr algn="ctr">
              <a:buNone/>
              <a:defRPr sz="1500" b="1" i="0">
                <a:solidFill>
                  <a:srgbClr val="FFFFFF"/>
                </a:solidFill>
              </a:defRPr>
            </a:pPr>
            <a:r>
              <a:rPr sz="1500" b="1" i="0">
                <a:solidFill>
                  <a:srgbClr val="FFFFFF"/>
                </a:solidFill>
              </a:rPr>
              <a:t>의사결정</a:t>
            </a:r>
          </a:p>
        </p:txBody>
      </p:sp>
      <p:sp>
        <p:nvSpPr>
          <p:cNvPr id="29" name="">
            <a:extLst xmlns:a="http://schemas.openxmlformats.org/drawingml/2006/main">
              <a:ext uri="{FF2B5EF4-FFF2-40B4-BE49-F238E27FC236}">
                <a16:creationId xmlns:a16="http://schemas.microsoft.com/office/drawing/2014/main" id="{3F01B6EA-5B33-4F7E-B76A-7D6463E5B023}"/>
              </a:ext>
            </a:extLst>
          </p:cNvPr>
          <p:cNvSpPr>
            <a:spLocks xmlns:a="http://schemas.openxmlformats.org/drawingml/2006/main" noGrp="1"/>
          </p:cNvSpPr>
          <p:nvPr/>
        </p:nvSpPr>
        <p:spPr>
          <a:xfrm xmlns:a="http://schemas.openxmlformats.org/drawingml/2006/main">
            <a:off x="5505450" y="4029075"/>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b="0" i="0">
                <a:solidFill>
                  <a:srgbClr val="D9E2F0"/>
                </a:solidFill>
              </a:defRPr>
            </a:pPr>
            <a:r>
              <a:rPr sz="1013" b="0" i="0">
                <a:solidFill>
                  <a:srgbClr val="D9E2F0"/>
                </a:solidFill>
              </a:rPr>
              <a:t>보장 → 선택 → 행동</a:t>
            </a:r>
          </a:p>
        </p:txBody>
      </p:sp>
      <p:sp>
        <p:nvSpPr>
          <p:cNvPr id="30" name="">
            <a:extLst xmlns:a="http://schemas.openxmlformats.org/drawingml/2006/main">
              <a:ext uri="{FF2B5EF4-FFF2-40B4-BE49-F238E27FC236}">
                <a16:creationId xmlns:a16="http://schemas.microsoft.com/office/drawing/2014/main" id="{47301A4F-1A70-4005-B5E5-4A687945B7FA}"/>
              </a:ext>
            </a:extLst>
          </p:cNvPr>
          <p:cNvSpPr>
            <a:spLocks xmlns:a="http://schemas.openxmlformats.org/drawingml/2006/main" noGrp="1"/>
          </p:cNvSpPr>
          <p:nvPr/>
        </p:nvSpPr>
        <p:spPr>
          <a:xfrm xmlns:a="http://schemas.openxmlformats.org/drawingml/2006/main">
            <a:off x="4991100" y="3581400"/>
            <a:ext cx="95250" cy="952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372" name=""/>
          <p:cNvCxnSpPr>
            <a:stCxn xmlns:a="http://schemas.openxmlformats.org/drawingml/2006/main" id="30" idx="6"/>
            <a:endCxn xmlns:a="http://schemas.openxmlformats.org/drawingml/2006/main" id="27" idx="1"/>
          </p:cNvCxnSpPr>
          <p:nvPr/>
        </p:nvCxnSpPr>
        <p:spPr>
          <a:xfrm xmlns:a="http://schemas.openxmlformats.org/drawingml/2006/main">
            <a:off x="5086350" y="3629025"/>
            <a:ext cx="228600" cy="171450"/>
          </a:xfrm>
          <a:prstGeom xmlns:a="http://schemas.openxmlformats.org/drawingml/2006/main" prst="straightConnector1">
            <a:avLst/>
          </a:prstGeom>
          <a:ln xmlns:a="http://schemas.openxmlformats.org/drawingml/2006/main" w="0">
            <a:noFill/>
            <a:prstDash val="solid"/>
            <a:headEnd type="none" w="med" len="med"/>
            <a:tailEnd type="arrow" w="med" len="med"/>
          </a:ln>
        </p:spPr>
      </p:cxnSp>
      <p:sp>
        <p:nvSpPr>
          <p:cNvPr id="32" name="">
            <a:extLst xmlns:a="http://schemas.openxmlformats.org/drawingml/2006/main">
              <a:ext uri="{FF2B5EF4-FFF2-40B4-BE49-F238E27FC236}">
                <a16:creationId xmlns:a16="http://schemas.microsoft.com/office/drawing/2014/main" id="{D8C1F529-AE7E-40CD-8A1B-C211EB11B980}"/>
              </a:ext>
            </a:extLst>
          </p:cNvPr>
          <p:cNvSpPr>
            <a:spLocks xmlns:a="http://schemas.openxmlformats.org/drawingml/2006/main" noGrp="1"/>
          </p:cNvSpPr>
          <p:nvPr/>
        </p:nvSpPr>
        <p:spPr>
          <a:xfrm xmlns:a="http://schemas.openxmlformats.org/drawingml/2006/main">
            <a:off x="7772400" y="2057400"/>
            <a:ext cx="3810000" cy="3790950"/>
          </a:xfrm>
          <a:prstGeom xmlns:a="http://schemas.openxmlformats.org/drawingml/2006/main" prst="roundRect">
            <a:avLst>
              <a:gd name="adj" fmla="val 2010"/>
            </a:avLst>
          </a:prstGeom>
          <a:noFill xmlns:a="http://schemas.openxmlformats.org/drawingml/2006/main"/>
          <a:ln xmlns:a="http://schemas.openxmlformats.org/drawingml/2006/main" w="0">
            <a:noFill/>
            <a:prstDash val="solid"/>
          </a:ln>
        </p:spPr>
      </p:sp>
      <p:cxnSp>
        <p:nvCxnSpPr>
          <p:cNvPr id="374" name=""/>
          <p:cNvCxnSpPr>
            <a:stCxn xmlns:a="http://schemas.openxmlformats.org/drawingml/2006/main" id="27" idx="3"/>
            <a:endCxn xmlns:a="http://schemas.openxmlformats.org/drawingml/2006/main" id="32" idx="1"/>
          </p:cNvCxnSpPr>
          <p:nvPr/>
        </p:nvCxnSpPr>
        <p:spPr>
          <a:xfrm xmlns:a="http://schemas.openxmlformats.org/drawingml/2006/main">
            <a:off x="7353300" y="3800475"/>
            <a:ext cx="419100" cy="152400"/>
          </a:xfrm>
          <a:prstGeom xmlns:a="http://schemas.openxmlformats.org/drawingml/2006/main" prst="straightConnector1">
            <a:avLst/>
          </a:prstGeom>
          <a:ln xmlns:a="http://schemas.openxmlformats.org/drawingml/2006/main" w="19050">
            <a:solidFill>
              <a:srgbClr val="007A87"/>
            </a:solidFill>
            <a:prstDash val="solid"/>
            <a:headEnd type="none" w="med" len="med"/>
            <a:tailEnd type="arrow" w="med" len="med"/>
          </a:ln>
        </p:spPr>
      </p:cxnSp>
      <p:sp>
        <p:nvSpPr>
          <p:cNvPr id="34" name="">
            <a:extLst xmlns:a="http://schemas.openxmlformats.org/drawingml/2006/main">
              <a:ext uri="{FF2B5EF4-FFF2-40B4-BE49-F238E27FC236}">
                <a16:creationId xmlns:a16="http://schemas.microsoft.com/office/drawing/2014/main" id="{7538565D-F5D3-40E2-8C99-BDC764B7BE3E}"/>
              </a:ext>
            </a:extLst>
          </p:cNvPr>
          <p:cNvSpPr>
            <a:spLocks xmlns:a="http://schemas.openxmlformats.org/drawingml/2006/main" noGrp="1"/>
          </p:cNvSpPr>
          <p:nvPr/>
        </p:nvSpPr>
        <p:spPr>
          <a:xfrm xmlns:a="http://schemas.openxmlformats.org/drawingml/2006/main">
            <a:off x="8020050" y="22764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62742"/>
                </a:solidFill>
              </a:defRPr>
            </a:pPr>
            <a:r>
              <a:rPr sz="1200" b="1" i="0">
                <a:solidFill>
                  <a:srgbClr val="162742"/>
                </a:solidFill>
              </a:rPr>
              <a:t>실제 이용</a:t>
            </a:r>
          </a:p>
        </p:txBody>
      </p:sp>
      <p:sp>
        <p:nvSpPr>
          <p:cNvPr id="35" name="">
            <a:extLst xmlns:a="http://schemas.openxmlformats.org/drawingml/2006/main">
              <a:ext uri="{FF2B5EF4-FFF2-40B4-BE49-F238E27FC236}">
                <a16:creationId xmlns:a16="http://schemas.microsoft.com/office/drawing/2014/main" id="{AA59A18E-467B-4431-9D8D-D894BCA2F0BF}"/>
              </a:ext>
            </a:extLst>
          </p:cNvPr>
          <p:cNvSpPr>
            <a:spLocks xmlns:a="http://schemas.openxmlformats.org/drawingml/2006/main" noGrp="1"/>
          </p:cNvSpPr>
          <p:nvPr/>
        </p:nvSpPr>
        <p:spPr>
          <a:xfrm xmlns:a="http://schemas.openxmlformats.org/drawingml/2006/main">
            <a:off x="8020050" y="2714625"/>
            <a:ext cx="76200" cy="7620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766AF6C-03E1-447D-B5A6-00DE3634745A}"/>
              </a:ext>
            </a:extLst>
          </p:cNvPr>
          <p:cNvSpPr>
            <a:spLocks xmlns:a="http://schemas.openxmlformats.org/drawingml/2006/main" noGrp="1"/>
          </p:cNvSpPr>
          <p:nvPr/>
        </p:nvSpPr>
        <p:spPr>
          <a:xfrm xmlns:a="http://schemas.openxmlformats.org/drawingml/2006/main">
            <a:off x="8229600" y="26479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62742"/>
                </a:solidFill>
              </a:defRPr>
            </a:pPr>
            <a:r>
              <a:rPr sz="1125" b="0" i="0">
                <a:solidFill>
                  <a:srgbClr val="162742"/>
                </a:solidFill>
              </a:rPr>
              <a:t>가입 자격 확인</a:t>
            </a:r>
          </a:p>
        </p:txBody>
      </p:sp>
      <p:sp>
        <p:nvSpPr>
          <p:cNvPr id="37" name="">
            <a:extLst xmlns:a="http://schemas.openxmlformats.org/drawingml/2006/main">
              <a:ext uri="{FF2B5EF4-FFF2-40B4-BE49-F238E27FC236}">
                <a16:creationId xmlns:a16="http://schemas.microsoft.com/office/drawing/2014/main" id="{427894F4-E047-43BD-9970-D245B2B37C63}"/>
              </a:ext>
            </a:extLst>
          </p:cNvPr>
          <p:cNvSpPr>
            <a:spLocks xmlns:a="http://schemas.openxmlformats.org/drawingml/2006/main" noGrp="1"/>
          </p:cNvSpPr>
          <p:nvPr/>
        </p:nvSpPr>
        <p:spPr>
          <a:xfrm xmlns:a="http://schemas.openxmlformats.org/drawingml/2006/main">
            <a:off x="8020050" y="3105150"/>
            <a:ext cx="76200" cy="7620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6D5DE8F-A38B-4E57-9624-E487BE135EBE}"/>
              </a:ext>
            </a:extLst>
          </p:cNvPr>
          <p:cNvSpPr>
            <a:spLocks xmlns:a="http://schemas.openxmlformats.org/drawingml/2006/main" noGrp="1"/>
          </p:cNvSpPr>
          <p:nvPr/>
        </p:nvSpPr>
        <p:spPr>
          <a:xfrm xmlns:a="http://schemas.openxmlformats.org/drawingml/2006/main">
            <a:off x="8229600" y="30384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62742"/>
                </a:solidFill>
              </a:defRPr>
            </a:pPr>
            <a:r>
              <a:rPr sz="1125" b="0" i="0">
                <a:solidFill>
                  <a:srgbClr val="162742"/>
                </a:solidFill>
              </a:rPr>
              <a:t>네트워크 치과 확인</a:t>
            </a:r>
          </a:p>
        </p:txBody>
      </p:sp>
      <p:sp>
        <p:nvSpPr>
          <p:cNvPr id="39" name="">
            <a:extLst xmlns:a="http://schemas.openxmlformats.org/drawingml/2006/main">
              <a:ext uri="{FF2B5EF4-FFF2-40B4-BE49-F238E27FC236}">
                <a16:creationId xmlns:a16="http://schemas.microsoft.com/office/drawing/2014/main" id="{89AC0CDD-8671-4792-9BAA-8DEA867C3C86}"/>
              </a:ext>
            </a:extLst>
          </p:cNvPr>
          <p:cNvSpPr>
            <a:spLocks xmlns:a="http://schemas.openxmlformats.org/drawingml/2006/main" noGrp="1"/>
          </p:cNvSpPr>
          <p:nvPr/>
        </p:nvSpPr>
        <p:spPr>
          <a:xfrm xmlns:a="http://schemas.openxmlformats.org/drawingml/2006/main">
            <a:off x="8020050" y="3495675"/>
            <a:ext cx="76200" cy="7620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762979E-F173-4B8F-87FE-073F5242686B}"/>
              </a:ext>
            </a:extLst>
          </p:cNvPr>
          <p:cNvSpPr>
            <a:spLocks xmlns:a="http://schemas.openxmlformats.org/drawingml/2006/main" noGrp="1"/>
          </p:cNvSpPr>
          <p:nvPr/>
        </p:nvSpPr>
        <p:spPr>
          <a:xfrm xmlns:a="http://schemas.openxmlformats.org/drawingml/2006/main">
            <a:off x="8229600" y="3429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62742"/>
                </a:solidFill>
              </a:defRPr>
            </a:pPr>
            <a:r>
              <a:rPr sz="1125" b="0" i="0">
                <a:solidFill>
                  <a:srgbClr val="162742"/>
                </a:solidFill>
              </a:rPr>
              <a:t>치아보험 조건 이해</a:t>
            </a:r>
          </a:p>
        </p:txBody>
      </p:sp>
      <p:sp>
        <p:nvSpPr>
          <p:cNvPr id="41" name="">
            <a:extLst xmlns:a="http://schemas.openxmlformats.org/drawingml/2006/main">
              <a:ext uri="{FF2B5EF4-FFF2-40B4-BE49-F238E27FC236}">
                <a16:creationId xmlns:a16="http://schemas.microsoft.com/office/drawing/2014/main" id="{116BAACB-507B-4413-BB47-FD2B7313E030}"/>
              </a:ext>
            </a:extLst>
          </p:cNvPr>
          <p:cNvSpPr>
            <a:spLocks xmlns:a="http://schemas.openxmlformats.org/drawingml/2006/main" noGrp="1"/>
          </p:cNvSpPr>
          <p:nvPr/>
        </p:nvSpPr>
        <p:spPr>
          <a:xfrm xmlns:a="http://schemas.openxmlformats.org/drawingml/2006/main">
            <a:off x="8020050" y="3886200"/>
            <a:ext cx="76200" cy="7620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3CBB4913-BECF-4F7B-9DEC-64247E712E54}"/>
              </a:ext>
            </a:extLst>
          </p:cNvPr>
          <p:cNvSpPr>
            <a:spLocks xmlns:a="http://schemas.openxmlformats.org/drawingml/2006/main" noGrp="1"/>
          </p:cNvSpPr>
          <p:nvPr/>
        </p:nvSpPr>
        <p:spPr>
          <a:xfrm xmlns:a="http://schemas.openxmlformats.org/drawingml/2006/main">
            <a:off x="8229600" y="38195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62742"/>
                </a:solidFill>
              </a:defRPr>
            </a:pPr>
            <a:r>
              <a:rPr sz="1125" b="0" i="0">
                <a:solidFill>
                  <a:srgbClr val="162742"/>
                </a:solidFill>
              </a:rPr>
              <a:t>예상 본인부담 범위</a:t>
            </a:r>
          </a:p>
        </p:txBody>
      </p:sp>
      <p:sp>
        <p:nvSpPr>
          <p:cNvPr id="43" name="">
            <a:extLst xmlns:a="http://schemas.openxmlformats.org/drawingml/2006/main">
              <a:ext uri="{FF2B5EF4-FFF2-40B4-BE49-F238E27FC236}">
                <a16:creationId xmlns:a16="http://schemas.microsoft.com/office/drawing/2014/main" id="{EA57EE44-71E8-4DAD-9FF9-F285A3D746DE}"/>
              </a:ext>
            </a:extLst>
          </p:cNvPr>
          <p:cNvSpPr>
            <a:spLocks xmlns:a="http://schemas.openxmlformats.org/drawingml/2006/main" noGrp="1"/>
          </p:cNvSpPr>
          <p:nvPr/>
        </p:nvSpPr>
        <p:spPr>
          <a:xfrm xmlns:a="http://schemas.openxmlformats.org/drawingml/2006/main">
            <a:off x="8020050" y="4276725"/>
            <a:ext cx="76200" cy="7620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F7D9F5D-CD7E-44B2-AE63-76E9191F0702}"/>
              </a:ext>
            </a:extLst>
          </p:cNvPr>
          <p:cNvSpPr>
            <a:spLocks xmlns:a="http://schemas.openxmlformats.org/drawingml/2006/main" noGrp="1"/>
          </p:cNvSpPr>
          <p:nvPr/>
        </p:nvSpPr>
        <p:spPr>
          <a:xfrm xmlns:a="http://schemas.openxmlformats.org/drawingml/2006/main">
            <a:off x="8229600" y="42100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62742"/>
                </a:solidFill>
              </a:defRPr>
            </a:pPr>
            <a:r>
              <a:rPr sz="1125" b="0" i="0">
                <a:solidFill>
                  <a:srgbClr val="162742"/>
                </a:solidFill>
              </a:rPr>
              <a:t>예약 가능 시간 확인</a:t>
            </a:r>
          </a:p>
        </p:txBody>
      </p:sp>
      <p:sp>
        <p:nvSpPr>
          <p:cNvPr id="45" name="">
            <a:extLst xmlns:a="http://schemas.openxmlformats.org/drawingml/2006/main">
              <a:ext uri="{FF2B5EF4-FFF2-40B4-BE49-F238E27FC236}">
                <a16:creationId xmlns:a16="http://schemas.microsoft.com/office/drawing/2014/main" id="{982B2D3B-AD81-4432-BBB6-CEC98BB9A0D1}"/>
              </a:ext>
            </a:extLst>
          </p:cNvPr>
          <p:cNvSpPr>
            <a:spLocks xmlns:a="http://schemas.openxmlformats.org/drawingml/2006/main" noGrp="1"/>
          </p:cNvSpPr>
          <p:nvPr/>
        </p:nvSpPr>
        <p:spPr>
          <a:xfrm xmlns:a="http://schemas.openxmlformats.org/drawingml/2006/main">
            <a:off x="8020050" y="4667250"/>
            <a:ext cx="76200" cy="7620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4BC7C9C-6970-487C-AF69-513FA8AEC3CA}"/>
              </a:ext>
            </a:extLst>
          </p:cNvPr>
          <p:cNvSpPr>
            <a:spLocks xmlns:a="http://schemas.openxmlformats.org/drawingml/2006/main" noGrp="1"/>
          </p:cNvSpPr>
          <p:nvPr/>
        </p:nvSpPr>
        <p:spPr>
          <a:xfrm xmlns:a="http://schemas.openxmlformats.org/drawingml/2006/main">
            <a:off x="8229600" y="46005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62742"/>
                </a:solidFill>
              </a:defRPr>
            </a:pPr>
            <a:r>
              <a:rPr sz="1125" b="0" i="0">
                <a:solidFill>
                  <a:srgbClr val="162742"/>
                </a:solidFill>
              </a:rPr>
              <a:t>필요한 지원 요청</a:t>
            </a:r>
          </a:p>
        </p:txBody>
      </p:sp>
      <p:sp>
        <p:nvSpPr>
          <p:cNvPr id="47" name="">
            <a:extLst xmlns:a="http://schemas.openxmlformats.org/drawingml/2006/main">
              <a:ext uri="{FF2B5EF4-FFF2-40B4-BE49-F238E27FC236}">
                <a16:creationId xmlns:a16="http://schemas.microsoft.com/office/drawing/2014/main" id="{81BAD1FD-2173-4F03-920D-0F55A2F604A3}"/>
              </a:ext>
            </a:extLst>
          </p:cNvPr>
          <p:cNvSpPr>
            <a:spLocks xmlns:a="http://schemas.openxmlformats.org/drawingml/2006/main" noGrp="1"/>
          </p:cNvSpPr>
          <p:nvPr/>
        </p:nvSpPr>
        <p:spPr>
          <a:xfrm xmlns:a="http://schemas.openxmlformats.org/drawingml/2006/main">
            <a:off x="8020050" y="5057775"/>
            <a:ext cx="76200" cy="7620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B89EC9A-AC37-42F2-B124-48FA08F1A253}"/>
              </a:ext>
            </a:extLst>
          </p:cNvPr>
          <p:cNvSpPr>
            <a:spLocks xmlns:a="http://schemas.openxmlformats.org/drawingml/2006/main" noGrp="1"/>
          </p:cNvSpPr>
          <p:nvPr/>
        </p:nvSpPr>
        <p:spPr>
          <a:xfrm xmlns:a="http://schemas.openxmlformats.org/drawingml/2006/main">
            <a:off x="8229600" y="4991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62742"/>
                </a:solidFill>
              </a:defRPr>
            </a:pPr>
            <a:r>
              <a:rPr sz="1125" b="0" i="0">
                <a:solidFill>
                  <a:srgbClr val="162742"/>
                </a:solidFill>
              </a:rPr>
              <a:t>진료 준비 완료</a:t>
            </a:r>
          </a:p>
        </p:txBody>
      </p:sp>
      <p:sp>
        <p:nvSpPr>
          <p:cNvPr id="49" name="">
            <a:extLst xmlns:a="http://schemas.openxmlformats.org/drawingml/2006/main">
              <a:ext uri="{FF2B5EF4-FFF2-40B4-BE49-F238E27FC236}">
                <a16:creationId xmlns:a16="http://schemas.microsoft.com/office/drawing/2014/main" id="{9A10A239-1803-4358-8D81-DD444D1DF68C}"/>
              </a:ext>
            </a:extLst>
          </p:cNvPr>
          <p:cNvSpPr>
            <a:spLocks xmlns:a="http://schemas.openxmlformats.org/drawingml/2006/main" noGrp="1"/>
          </p:cNvSpPr>
          <p:nvPr/>
        </p:nvSpPr>
        <p:spPr>
          <a:xfrm xmlns:a="http://schemas.openxmlformats.org/drawingml/2006/main">
            <a:off x="609600" y="6019800"/>
            <a:ext cx="10972800" cy="304800"/>
          </a:xfrm>
          <a:prstGeom xmlns:a="http://schemas.openxmlformats.org/drawingml/2006/main" prst="roundRect">
            <a:avLst>
              <a:gd name="adj" fmla="val 25000"/>
            </a:avLst>
          </a:prstGeom>
          <a:noFill xmlns:a="http://schemas.openxmlformats.org/drawingml/2006/main"/>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882D28F-06CF-4E2C-A380-CC0ACB85DD89}"/>
              </a:ext>
            </a:extLst>
          </p:cNvPr>
          <p:cNvSpPr>
            <a:spLocks xmlns:a="http://schemas.openxmlformats.org/drawingml/2006/main" noGrp="1"/>
          </p:cNvSpPr>
          <p:nvPr/>
        </p:nvSpPr>
        <p:spPr>
          <a:xfrm xmlns:a="http://schemas.openxmlformats.org/drawingml/2006/main">
            <a:off x="609600" y="60388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008A94"/>
                </a:solidFill>
              </a:defRPr>
            </a:pPr>
            <a:r>
              <a:rPr sz="1275" b="0" i="0">
                <a:solidFill>
                  <a:srgbClr val="008A94"/>
                </a:solidFill>
              </a:rPr>
              <a:t>ICLO는 의사결정 마찰을 줄이며, 원시 임상 확률을 노출하지 않습니다.</a:t>
            </a:r>
          </a:p>
        </p:txBody>
      </p:sp>
      <p:sp>
        <p:nvSpPr>
          <p:cNvPr id="331" name="">
            <a:extLst xmlns:a="http://schemas.openxmlformats.org/drawingml/2006/main">
              <a:ext uri="{FF2B5EF4-FFF2-40B4-BE49-F238E27FC236}">
                <a16:creationId xmlns:a16="http://schemas.microsoft.com/office/drawing/2014/main" id="{2B777494-FDD1-4144-A306-635DFE76C4D5}"/>
              </a:ext>
            </a:extLst>
          </p:cNvPr>
          <p:cNvSpPr>
            <a:spLocks xmlns:a="http://schemas.openxmlformats.org/drawingml/2006/main" noGrp="1"/>
          </p:cNvSpPr>
          <p:nvPr/>
        </p:nvSpPr>
        <p:spPr>
          <a:xfrm xmlns:a="http://schemas.openxmlformats.org/drawingml/2006/main">
            <a:off x="609600" y="21336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2" name="">
            <a:extLst xmlns:a="http://schemas.openxmlformats.org/drawingml/2006/main">
              <a:ext uri="{FF2B5EF4-FFF2-40B4-BE49-F238E27FC236}">
                <a16:creationId xmlns:a16="http://schemas.microsoft.com/office/drawing/2014/main" id="{EA814669-2A52-44DD-BDE0-7ADFB472B21A}"/>
              </a:ext>
            </a:extLst>
          </p:cNvPr>
          <p:cNvSpPr>
            <a:spLocks xmlns:a="http://schemas.openxmlformats.org/drawingml/2006/main" noGrp="1"/>
          </p:cNvSpPr>
          <p:nvPr/>
        </p:nvSpPr>
        <p:spPr>
          <a:xfrm xmlns:a="http://schemas.openxmlformats.org/drawingml/2006/main">
            <a:off x="4762500" y="2428875"/>
            <a:ext cx="228600" cy="0"/>
          </a:xfrm>
          <a:prstGeom xmlns:a="http://schemas.openxmlformats.org/drawingml/2006/main" prst="line">
            <a:avLst/>
          </a:prstGeom>
          <a:ln xmlns:a="http://schemas.openxmlformats.org/drawingml/2006/main" w="14288">
            <a:solidFill>
              <a:srgbClr val="008A94"/>
            </a:solidFill>
            <a:prstDash val="solid"/>
          </a:ln>
        </p:spPr>
      </p:sp>
      <p:sp>
        <p:nvSpPr>
          <p:cNvPr id="333" name="">
            <a:extLst xmlns:a="http://schemas.openxmlformats.org/drawingml/2006/main">
              <a:ext uri="{FF2B5EF4-FFF2-40B4-BE49-F238E27FC236}">
                <a16:creationId xmlns:a16="http://schemas.microsoft.com/office/drawing/2014/main" id="{8CFFD678-F98D-459A-A432-B95CA10C2FDB}"/>
              </a:ext>
            </a:extLst>
          </p:cNvPr>
          <p:cNvSpPr>
            <a:spLocks xmlns:a="http://schemas.openxmlformats.org/drawingml/2006/main" noGrp="1"/>
          </p:cNvSpPr>
          <p:nvPr/>
        </p:nvSpPr>
        <p:spPr>
          <a:xfrm xmlns:a="http://schemas.openxmlformats.org/drawingml/2006/main">
            <a:off x="609600" y="30480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4" name="">
            <a:extLst xmlns:a="http://schemas.openxmlformats.org/drawingml/2006/main">
              <a:ext uri="{FF2B5EF4-FFF2-40B4-BE49-F238E27FC236}">
                <a16:creationId xmlns:a16="http://schemas.microsoft.com/office/drawing/2014/main" id="{9BE0D572-2136-40A0-AC34-64ECB27A3031}"/>
              </a:ext>
            </a:extLst>
          </p:cNvPr>
          <p:cNvSpPr>
            <a:spLocks xmlns:a="http://schemas.openxmlformats.org/drawingml/2006/main" noGrp="1"/>
          </p:cNvSpPr>
          <p:nvPr/>
        </p:nvSpPr>
        <p:spPr>
          <a:xfrm xmlns:a="http://schemas.openxmlformats.org/drawingml/2006/main">
            <a:off x="4762500" y="3343275"/>
            <a:ext cx="228600" cy="0"/>
          </a:xfrm>
          <a:prstGeom xmlns:a="http://schemas.openxmlformats.org/drawingml/2006/main" prst="line">
            <a:avLst/>
          </a:prstGeom>
          <a:ln xmlns:a="http://schemas.openxmlformats.org/drawingml/2006/main" w="14288">
            <a:solidFill>
              <a:srgbClr val="008A94"/>
            </a:solidFill>
            <a:prstDash val="solid"/>
          </a:ln>
        </p:spPr>
      </p:sp>
      <p:sp>
        <p:nvSpPr>
          <p:cNvPr id="335" name="">
            <a:extLst xmlns:a="http://schemas.openxmlformats.org/drawingml/2006/main">
              <a:ext uri="{FF2B5EF4-FFF2-40B4-BE49-F238E27FC236}">
                <a16:creationId xmlns:a16="http://schemas.microsoft.com/office/drawing/2014/main" id="{317EA78A-6E4C-44EF-B2B5-76B50A81F73B}"/>
              </a:ext>
            </a:extLst>
          </p:cNvPr>
          <p:cNvSpPr>
            <a:spLocks xmlns:a="http://schemas.openxmlformats.org/drawingml/2006/main" noGrp="1"/>
          </p:cNvSpPr>
          <p:nvPr/>
        </p:nvSpPr>
        <p:spPr>
          <a:xfrm xmlns:a="http://schemas.openxmlformats.org/drawingml/2006/main">
            <a:off x="609600" y="39624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6" name="">
            <a:extLst xmlns:a="http://schemas.openxmlformats.org/drawingml/2006/main">
              <a:ext uri="{FF2B5EF4-FFF2-40B4-BE49-F238E27FC236}">
                <a16:creationId xmlns:a16="http://schemas.microsoft.com/office/drawing/2014/main" id="{A6E54BF3-A4E9-40A9-ACD4-92848F3A0C74}"/>
              </a:ext>
            </a:extLst>
          </p:cNvPr>
          <p:cNvSpPr>
            <a:spLocks xmlns:a="http://schemas.openxmlformats.org/drawingml/2006/main" noGrp="1"/>
          </p:cNvSpPr>
          <p:nvPr/>
        </p:nvSpPr>
        <p:spPr>
          <a:xfrm xmlns:a="http://schemas.openxmlformats.org/drawingml/2006/main">
            <a:off x="4762500" y="4257675"/>
            <a:ext cx="228600" cy="0"/>
          </a:xfrm>
          <a:prstGeom xmlns:a="http://schemas.openxmlformats.org/drawingml/2006/main" prst="line">
            <a:avLst/>
          </a:prstGeom>
          <a:ln xmlns:a="http://schemas.openxmlformats.org/drawingml/2006/main" w="14288">
            <a:solidFill>
              <a:srgbClr val="008A94"/>
            </a:solidFill>
            <a:prstDash val="solid"/>
          </a:ln>
        </p:spPr>
      </p:sp>
      <p:sp>
        <p:nvSpPr>
          <p:cNvPr id="337" name="">
            <a:extLst xmlns:a="http://schemas.openxmlformats.org/drawingml/2006/main">
              <a:ext uri="{FF2B5EF4-FFF2-40B4-BE49-F238E27FC236}">
                <a16:creationId xmlns:a16="http://schemas.microsoft.com/office/drawing/2014/main" id="{594E368B-0C4B-4FC7-B2F4-01FDD43D3C4D}"/>
              </a:ext>
            </a:extLst>
          </p:cNvPr>
          <p:cNvSpPr>
            <a:spLocks xmlns:a="http://schemas.openxmlformats.org/drawingml/2006/main" noGrp="1"/>
          </p:cNvSpPr>
          <p:nvPr/>
        </p:nvSpPr>
        <p:spPr>
          <a:xfrm xmlns:a="http://schemas.openxmlformats.org/drawingml/2006/main">
            <a:off x="609600" y="48768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8" name="">
            <a:extLst xmlns:a="http://schemas.openxmlformats.org/drawingml/2006/main">
              <a:ext uri="{FF2B5EF4-FFF2-40B4-BE49-F238E27FC236}">
                <a16:creationId xmlns:a16="http://schemas.microsoft.com/office/drawing/2014/main" id="{41121156-B1C8-4DE2-B92C-FC0887D3EB2D}"/>
              </a:ext>
            </a:extLst>
          </p:cNvPr>
          <p:cNvSpPr>
            <a:spLocks xmlns:a="http://schemas.openxmlformats.org/drawingml/2006/main" noGrp="1"/>
          </p:cNvSpPr>
          <p:nvPr/>
        </p:nvSpPr>
        <p:spPr>
          <a:xfrm xmlns:a="http://schemas.openxmlformats.org/drawingml/2006/main">
            <a:off x="4762500" y="5172075"/>
            <a:ext cx="228600" cy="0"/>
          </a:xfrm>
          <a:prstGeom xmlns:a="http://schemas.openxmlformats.org/drawingml/2006/main" prst="line">
            <a:avLst/>
          </a:prstGeom>
          <a:ln xmlns:a="http://schemas.openxmlformats.org/drawingml/2006/main" w="14288">
            <a:solidFill>
              <a:srgbClr val="008A94"/>
            </a:solidFill>
            <a:prstDash val="solid"/>
          </a:ln>
        </p:spPr>
      </p:sp>
      <p:sp>
        <p:nvSpPr>
          <p:cNvPr id="339" name="">
            <a:extLst xmlns:a="http://schemas.openxmlformats.org/drawingml/2006/main">
              <a:ext uri="{FF2B5EF4-FFF2-40B4-BE49-F238E27FC236}">
                <a16:creationId xmlns:a16="http://schemas.microsoft.com/office/drawing/2014/main" id="{9F36257A-0A72-4D57-9CC3-925B28AE4D1E}"/>
              </a:ext>
            </a:extLst>
          </p:cNvPr>
          <p:cNvSpPr>
            <a:spLocks xmlns:a="http://schemas.openxmlformats.org/drawingml/2006/main" noGrp="1"/>
          </p:cNvSpPr>
          <p:nvPr/>
        </p:nvSpPr>
        <p:spPr>
          <a:xfrm xmlns:a="http://schemas.openxmlformats.org/drawingml/2006/main">
            <a:off x="4991100" y="2428875"/>
            <a:ext cx="0" cy="2743200"/>
          </a:xfrm>
          <a:prstGeom xmlns:a="http://schemas.openxmlformats.org/drawingml/2006/main" prst="line">
            <a:avLst/>
          </a:prstGeom>
          <a:ln xmlns:a="http://schemas.openxmlformats.org/drawingml/2006/main" w="14288">
            <a:solidFill>
              <a:srgbClr val="008A94"/>
            </a:solidFill>
            <a:prstDash val="solid"/>
          </a:ln>
        </p:spPr>
      </p:sp>
      <p:sp>
        <p:nvSpPr>
          <p:cNvPr id="340" name="">
            <a:extLst xmlns:a="http://schemas.openxmlformats.org/drawingml/2006/main">
              <a:ext uri="{FF2B5EF4-FFF2-40B4-BE49-F238E27FC236}">
                <a16:creationId xmlns:a16="http://schemas.microsoft.com/office/drawing/2014/main" id="{BA82D6A7-9D89-45BA-93BB-1671AE00DB59}"/>
              </a:ext>
            </a:extLst>
          </p:cNvPr>
          <p:cNvSpPr>
            <a:spLocks xmlns:a="http://schemas.openxmlformats.org/drawingml/2006/main" noGrp="1"/>
          </p:cNvSpPr>
          <p:nvPr/>
        </p:nvSpPr>
        <p:spPr>
          <a:xfrm xmlns:a="http://schemas.openxmlformats.org/drawingml/2006/main">
            <a:off x="4991100" y="3800475"/>
            <a:ext cx="323850" cy="0"/>
          </a:xfrm>
          <a:prstGeom xmlns:a="http://schemas.openxmlformats.org/drawingml/2006/main" prst="line">
            <a:avLst/>
          </a:prstGeom>
          <a:ln xmlns:a="http://schemas.openxmlformats.org/drawingml/2006/main" w="14288">
            <a:solidFill>
              <a:srgbClr val="008A94"/>
            </a:solidFill>
            <a:prstDash val="solid"/>
          </a:ln>
        </p:spPr>
      </p:sp>
      <p:sp>
        <p:nvSpPr>
          <p:cNvPr id="341" name="">
            <a:extLst xmlns:a="http://schemas.openxmlformats.org/drawingml/2006/main">
              <a:ext uri="{FF2B5EF4-FFF2-40B4-BE49-F238E27FC236}">
                <a16:creationId xmlns:a16="http://schemas.microsoft.com/office/drawing/2014/main" id="{B42BE886-36A9-40C4-84FA-86523807548B}"/>
              </a:ext>
            </a:extLst>
          </p:cNvPr>
          <p:cNvSpPr>
            <a:spLocks xmlns:a="http://schemas.openxmlformats.org/drawingml/2006/main" noGrp="1"/>
          </p:cNvSpPr>
          <p:nvPr/>
        </p:nvSpPr>
        <p:spPr>
          <a:xfrm xmlns:a="http://schemas.openxmlformats.org/drawingml/2006/main">
            <a:off x="7772400" y="2752725"/>
            <a:ext cx="0" cy="2343150"/>
          </a:xfrm>
          <a:prstGeom xmlns:a="http://schemas.openxmlformats.org/drawingml/2006/main" prst="line">
            <a:avLst/>
          </a:prstGeom>
          <a:ln xmlns:a="http://schemas.openxmlformats.org/drawingml/2006/main" w="14288">
            <a:solidFill>
              <a:srgbClr val="008A94"/>
            </a:solidFill>
            <a:prstDash val="solid"/>
          </a:ln>
        </p:spPr>
      </p:sp>
    </p:spTree>
    <p:extLst>
      <p:ext uri="{BB962C8B-B14F-4D97-AF65-F5344CB8AC3E}">
        <p14:creationId xmlns:p14="http://schemas.microsoft.com/office/powerpoint/2010/main" val="6731067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9C3058C-2072-4D6E-B6E0-A2BA2C228613}"/>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9E0532E9-0E04-49EA-AED5-7BA00D06A45F}"/>
              </a:ext>
            </a:extLst>
          </p:cNvPr>
          <p:cNvSpPr>
            <a:spLocks xmlns:a="http://schemas.openxmlformats.org/drawingml/2006/main" noGrp="1"/>
          </p:cNvSpPr>
          <p:nvPr/>
        </p:nvSpPr>
        <p:spPr>
          <a:xfrm xmlns:a="http://schemas.openxmlformats.org/drawingml/2006/main">
            <a:off x="7010400" y="209550"/>
            <a:ext cx="2057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0594DAA-8B84-48D9-AD76-6A9BFE753AB5}"/>
              </a:ext>
            </a:extLst>
          </p:cNvPr>
          <p:cNvSpPr>
            <a:spLocks xmlns:a="http://schemas.openxmlformats.org/drawingml/2006/main" noGrp="1"/>
          </p:cNvSpPr>
          <p:nvPr/>
        </p:nvSpPr>
        <p:spPr>
          <a:xfrm xmlns:a="http://schemas.openxmlformats.org/drawingml/2006/main">
            <a:off x="70104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ED21FC-6312-42A2-BC70-D46F7AFD07DE}"/>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확정된 ICLO 방향 / ICLO 제품 설계 원칙</a:t>
            </a:r>
          </a:p>
        </p:txBody>
      </p:sp>
      <p:sp>
        <p:nvSpPr>
          <p:cNvPr id="5" name="">
            <a:extLst xmlns:a="http://schemas.openxmlformats.org/drawingml/2006/main">
              <a:ext uri="{FF2B5EF4-FFF2-40B4-BE49-F238E27FC236}">
                <a16:creationId xmlns:a16="http://schemas.microsoft.com/office/drawing/2014/main" id="{4154FF6B-EACC-4057-8220-58DD23537C88}"/>
              </a:ext>
            </a:extLst>
          </p:cNvPr>
          <p:cNvSpPr>
            <a:spLocks xmlns:a="http://schemas.openxmlformats.org/drawingml/2006/main" noGrp="1"/>
          </p:cNvSpPr>
          <p:nvPr/>
        </p:nvSpPr>
        <p:spPr>
          <a:xfrm xmlns:a="http://schemas.openxmlformats.org/drawingml/2006/main">
            <a:off x="9144000" y="209550"/>
            <a:ext cx="2438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B1C29F-140D-435F-AEFC-FB04E9D5A710}"/>
              </a:ext>
            </a:extLst>
          </p:cNvPr>
          <p:cNvSpPr>
            <a:spLocks xmlns:a="http://schemas.openxmlformats.org/drawingml/2006/main" noGrp="1"/>
          </p:cNvSpPr>
          <p:nvPr/>
        </p:nvSpPr>
        <p:spPr>
          <a:xfrm xmlns:a="http://schemas.openxmlformats.org/drawingml/2006/main">
            <a:off x="91440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A40492-6AE5-48C9-92E7-A1180DCA2EAC}"/>
              </a:ext>
            </a:extLst>
          </p:cNvPr>
          <p:cNvSpPr>
            <a:spLocks xmlns:a="http://schemas.openxmlformats.org/drawingml/2006/main" noGrp="1"/>
          </p:cNvSpPr>
          <p:nvPr/>
        </p:nvSpPr>
        <p:spPr>
          <a:xfrm xmlns:a="http://schemas.openxmlformats.org/drawingml/2006/main">
            <a:off x="92583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13" b="1" i="0">
                <a:solidFill>
                  <a:srgbClr val="007A87"/>
                </a:solidFill>
              </a:defRPr>
            </a:pPr>
            <a:r>
              <a:rPr sz="713" b="1" i="0">
                <a:solidFill>
                  <a:srgbClr val="007A87"/>
                </a:solidFill>
              </a:rPr>
              <a:t/>
            </a:r>
          </a:p>
        </p:txBody>
      </p:sp>
      <p:sp>
        <p:nvSpPr>
          <p:cNvPr id="8" name="">
            <a:extLst xmlns:a="http://schemas.openxmlformats.org/drawingml/2006/main">
              <a:ext uri="{FF2B5EF4-FFF2-40B4-BE49-F238E27FC236}">
                <a16:creationId xmlns:a16="http://schemas.microsoft.com/office/drawing/2014/main" id="{6818221E-358A-4A9D-A817-5E9B50DA6049}"/>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치아보험 이용을 청구 근거까지 연결합니다</a:t>
            </a:r>
          </a:p>
        </p:txBody>
      </p:sp>
      <p:sp>
        <p:nvSpPr>
          <p:cNvPr id="9" name="">
            <a:extLst xmlns:a="http://schemas.openxmlformats.org/drawingml/2006/main">
              <a:ext uri="{FF2B5EF4-FFF2-40B4-BE49-F238E27FC236}">
                <a16:creationId xmlns:a16="http://schemas.microsoft.com/office/drawing/2014/main" id="{BD918149-A801-45FE-B9C7-D15F92D823CA}"/>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앞에서는 치아보험 이용을 돕고, 뒤에서는 청구로 확인 가능한 근거를 만듭니다.</a:t>
            </a:r>
          </a:p>
        </p:txBody>
      </p:sp>
      <p:sp>
        <p:nvSpPr>
          <p:cNvPr id="10" name="">
            <a:extLst xmlns:a="http://schemas.openxmlformats.org/drawingml/2006/main">
              <a:ext uri="{FF2B5EF4-FFF2-40B4-BE49-F238E27FC236}">
                <a16:creationId xmlns:a16="http://schemas.microsoft.com/office/drawing/2014/main" id="{7A780B9B-1A79-4563-B2D0-B08208706978}"/>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C083E782-ACDF-46C2-BF2E-F136AC4969E2}"/>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E65EA7B9-0CA3-4294-BFC8-4E76BEB8DBF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270" name=""/>
          <p:cNvPicPr>
            <a:picLocks xmlns:a="http://schemas.openxmlformats.org/drawingml/2006/main" noChangeAspect="1"/>
          </p:cNvPicPr>
          <p:nvPr/>
        </p:nvPicPr>
        <p:blipFill>
          <a:blip xmlns:r="http://schemas.openxmlformats.org/officeDocument/2006/relationships" xmlns:a="http://schemas.openxmlformats.org/drawingml/2006/main" r:embed="Rfc9d1449d6294f39"/>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36E075F-A039-4A4E-8482-71495E79D70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272" name=""/>
          <p:cNvPicPr>
            <a:picLocks xmlns:a="http://schemas.openxmlformats.org/drawingml/2006/main" noChangeAspect="1"/>
          </p:cNvPicPr>
          <p:nvPr/>
        </p:nvPicPr>
        <p:blipFill>
          <a:blip xmlns:r="http://schemas.openxmlformats.org/officeDocument/2006/relationships" xmlns:a="http://schemas.openxmlformats.org/drawingml/2006/main" r:embed="Rdaaf5ac73fc74117"/>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8AD1018-10B4-4780-81FF-7D3C0E6FDCE4}"/>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7" name="">
            <a:extLst xmlns:a="http://schemas.openxmlformats.org/drawingml/2006/main">
              <a:ext uri="{FF2B5EF4-FFF2-40B4-BE49-F238E27FC236}">
                <a16:creationId xmlns:a16="http://schemas.microsoft.com/office/drawing/2014/main" id="{C5E282AA-E589-4F7F-AFC3-49021C77400F}"/>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03</a:t>
            </a:r>
          </a:p>
        </p:txBody>
      </p:sp>
      <p:sp>
        <p:nvSpPr>
          <p:cNvPr id="18" name="">
            <a:extLst xmlns:a="http://schemas.openxmlformats.org/drawingml/2006/main">
              <a:ext uri="{FF2B5EF4-FFF2-40B4-BE49-F238E27FC236}">
                <a16:creationId xmlns:a16="http://schemas.microsoft.com/office/drawing/2014/main" id="{C471BF24-F93D-4EF8-B587-B32F8FBFCE23}"/>
              </a:ext>
            </a:extLst>
          </p:cNvPr>
          <p:cNvSpPr>
            <a:spLocks xmlns:a="http://schemas.openxmlformats.org/drawingml/2006/main" noGrp="1"/>
          </p:cNvSpPr>
          <p:nvPr/>
        </p:nvSpPr>
        <p:spPr>
          <a:xfrm xmlns:a="http://schemas.openxmlformats.org/drawingml/2006/main">
            <a:off x="609600" y="2190750"/>
            <a:ext cx="2400300" cy="1714500"/>
          </a:xfrm>
          <a:prstGeom xmlns:a="http://schemas.openxmlformats.org/drawingml/2006/main" prst="roundRect">
            <a:avLst>
              <a:gd name="adj" fmla="val 4444"/>
            </a:avLst>
          </a:prstGeom>
          <a:noFill xmlns:a="http://schemas.openxmlformats.org/drawingml/2006/main"/>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D9F4B29-CD23-47F2-8EB1-6ACF7FE2711F}"/>
              </a:ext>
            </a:extLst>
          </p:cNvPr>
          <p:cNvSpPr>
            <a:spLocks xmlns:a="http://schemas.openxmlformats.org/drawingml/2006/main" noGrp="1"/>
          </p:cNvSpPr>
          <p:nvPr/>
        </p:nvSpPr>
        <p:spPr>
          <a:xfrm xmlns:a="http://schemas.openxmlformats.org/drawingml/2006/main">
            <a:off x="3381375" y="2190750"/>
            <a:ext cx="2400300" cy="1714500"/>
          </a:xfrm>
          <a:prstGeom xmlns:a="http://schemas.openxmlformats.org/drawingml/2006/main" prst="roundRect">
            <a:avLst>
              <a:gd name="adj" fmla="val 4444"/>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914E6EC-49DF-4C98-9F25-0C99E3DFC0EA}"/>
              </a:ext>
            </a:extLst>
          </p:cNvPr>
          <p:cNvSpPr>
            <a:spLocks xmlns:a="http://schemas.openxmlformats.org/drawingml/2006/main" noGrp="1"/>
          </p:cNvSpPr>
          <p:nvPr/>
        </p:nvSpPr>
        <p:spPr>
          <a:xfrm xmlns:a="http://schemas.openxmlformats.org/drawingml/2006/main">
            <a:off x="6153150" y="2190750"/>
            <a:ext cx="2400300" cy="1714500"/>
          </a:xfrm>
          <a:prstGeom xmlns:a="http://schemas.openxmlformats.org/drawingml/2006/main" prst="roundRect">
            <a:avLst>
              <a:gd name="adj" fmla="val 4444"/>
            </a:avLst>
          </a:prstGeom>
          <a:noFill xmlns:a="http://schemas.openxmlformats.org/drawingml/2006/main"/>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ED6D6D4-60BD-4095-8457-B718B3B3A9EA}"/>
              </a:ext>
            </a:extLst>
          </p:cNvPr>
          <p:cNvSpPr>
            <a:spLocks xmlns:a="http://schemas.openxmlformats.org/drawingml/2006/main" noGrp="1"/>
          </p:cNvSpPr>
          <p:nvPr/>
        </p:nvSpPr>
        <p:spPr>
          <a:xfrm xmlns:a="http://schemas.openxmlformats.org/drawingml/2006/main">
            <a:off x="8924925" y="2190750"/>
            <a:ext cx="2400300" cy="1714500"/>
          </a:xfrm>
          <a:prstGeom xmlns:a="http://schemas.openxmlformats.org/drawingml/2006/main" prst="roundRect">
            <a:avLst>
              <a:gd name="adj" fmla="val 4444"/>
            </a:avLst>
          </a:prstGeom>
          <a:noFill xmlns:a="http://schemas.openxmlformats.org/drawingml/2006/main"/>
          <a:ln xmlns:a="http://schemas.openxmlformats.org/drawingml/2006/main" w="0">
            <a:noFill/>
            <a:prstDash val="solid"/>
          </a:ln>
        </p:spPr>
      </p:sp>
      <p:cxnSp>
        <p:nvCxnSpPr>
          <p:cNvPr id="279" name=""/>
          <p:cNvCxnSpPr>
            <a:stCxn xmlns:a="http://schemas.openxmlformats.org/drawingml/2006/main" id="18" idx="3"/>
            <a:endCxn xmlns:a="http://schemas.openxmlformats.org/drawingml/2006/main" id="19" idx="1"/>
          </p:cNvCxnSpPr>
          <p:nvPr/>
        </p:nvCxnSpPr>
        <p:spPr>
          <a:xfrm xmlns:a="http://schemas.openxmlformats.org/drawingml/2006/main">
            <a:off x="3009900" y="3048000"/>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280" name=""/>
          <p:cNvCxnSpPr>
            <a:stCxn xmlns:a="http://schemas.openxmlformats.org/drawingml/2006/main" id="19" idx="3"/>
            <a:endCxn xmlns:a="http://schemas.openxmlformats.org/drawingml/2006/main" id="20" idx="1"/>
          </p:cNvCxnSpPr>
          <p:nvPr/>
        </p:nvCxnSpPr>
        <p:spPr>
          <a:xfrm xmlns:a="http://schemas.openxmlformats.org/drawingml/2006/main">
            <a:off x="5781675" y="3048000"/>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281" name=""/>
          <p:cNvCxnSpPr>
            <a:stCxn xmlns:a="http://schemas.openxmlformats.org/drawingml/2006/main" id="20" idx="3"/>
            <a:endCxn xmlns:a="http://schemas.openxmlformats.org/drawingml/2006/main" id="21" idx="1"/>
          </p:cNvCxnSpPr>
          <p:nvPr/>
        </p:nvCxnSpPr>
        <p:spPr>
          <a:xfrm xmlns:a="http://schemas.openxmlformats.org/drawingml/2006/main">
            <a:off x="8553450" y="3048000"/>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sp>
        <p:nvSpPr>
          <p:cNvPr id="25" name="">
            <a:extLst xmlns:a="http://schemas.openxmlformats.org/drawingml/2006/main">
              <a:ext uri="{FF2B5EF4-FFF2-40B4-BE49-F238E27FC236}">
                <a16:creationId xmlns:a16="http://schemas.microsoft.com/office/drawing/2014/main" id="{DB043ABA-DF18-4A7B-8800-43B6A06F082B}"/>
              </a:ext>
            </a:extLst>
          </p:cNvPr>
          <p:cNvSpPr>
            <a:spLocks xmlns:a="http://schemas.openxmlformats.org/drawingml/2006/main" noGrp="1"/>
          </p:cNvSpPr>
          <p:nvPr/>
        </p:nvSpPr>
        <p:spPr>
          <a:xfrm xmlns:a="http://schemas.openxmlformats.org/drawingml/2006/main">
            <a:off x="781050"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1</a:t>
            </a:r>
          </a:p>
        </p:txBody>
      </p:sp>
      <p:sp>
        <p:nvSpPr>
          <p:cNvPr id="26" name="">
            <a:extLst xmlns:a="http://schemas.openxmlformats.org/drawingml/2006/main">
              <a:ext uri="{FF2B5EF4-FFF2-40B4-BE49-F238E27FC236}">
                <a16:creationId xmlns:a16="http://schemas.microsoft.com/office/drawing/2014/main" id="{C06EAD77-0077-4E18-9068-981C7EAE1482}"/>
              </a:ext>
            </a:extLst>
          </p:cNvPr>
          <p:cNvSpPr>
            <a:spLocks xmlns:a="http://schemas.openxmlformats.org/drawingml/2006/main" noGrp="1"/>
          </p:cNvSpPr>
          <p:nvPr/>
        </p:nvSpPr>
        <p:spPr>
          <a:xfrm xmlns:a="http://schemas.openxmlformats.org/drawingml/2006/main">
            <a:off x="781050"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B2A4A"/>
                </a:solidFill>
              </a:defRPr>
            </a:pPr>
            <a:r>
              <a:rPr sz="1425" b="1" i="0">
                <a:solidFill>
                  <a:srgbClr val="1B2A4A"/>
                </a:solidFill>
              </a:rPr>
              <a:t>직원 경험</a:t>
            </a:r>
          </a:p>
        </p:txBody>
      </p:sp>
      <p:sp>
        <p:nvSpPr>
          <p:cNvPr id="27" name="">
            <a:extLst xmlns:a="http://schemas.openxmlformats.org/drawingml/2006/main">
              <a:ext uri="{FF2B5EF4-FFF2-40B4-BE49-F238E27FC236}">
                <a16:creationId xmlns:a16="http://schemas.microsoft.com/office/drawing/2014/main" id="{A419CC96-EC9C-490F-B4BE-E0748B187D1E}"/>
              </a:ext>
            </a:extLst>
          </p:cNvPr>
          <p:cNvSpPr>
            <a:spLocks xmlns:a="http://schemas.openxmlformats.org/drawingml/2006/main" noGrp="1"/>
          </p:cNvSpPr>
          <p:nvPr/>
        </p:nvSpPr>
        <p:spPr>
          <a:xfrm xmlns:a="http://schemas.openxmlformats.org/drawingml/2006/main">
            <a:off x="781050"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우려 사항 + 혜택 이해</a:t>
            </a:r>
          </a:p>
          <a:p xmlns:a="http://schemas.openxmlformats.org/drawingml/2006/main">
            <a:pPr algn="l">
              <a:buNone/>
              <a:defRPr sz="1163" b="0" i="0">
                <a:solidFill>
                  <a:srgbClr val="5B6B82"/>
                </a:solidFill>
              </a:defRPr>
            </a:pPr>
            <a:r>
              <a:rPr sz="1163" b="0" i="0">
                <a:solidFill>
                  <a:srgbClr val="5B6B82"/>
                </a:solidFill>
              </a:rPr>
              <a:t>선택적 구강 사진</a:t>
            </a:r>
          </a:p>
        </p:txBody>
      </p:sp>
      <p:sp>
        <p:nvSpPr>
          <p:cNvPr id="28" name="">
            <a:extLst xmlns:a="http://schemas.openxmlformats.org/drawingml/2006/main">
              <a:ext uri="{FF2B5EF4-FFF2-40B4-BE49-F238E27FC236}">
                <a16:creationId xmlns:a16="http://schemas.microsoft.com/office/drawing/2014/main" id="{6A4021AD-51CA-416C-BFF2-A488F8BB7134}"/>
              </a:ext>
            </a:extLst>
          </p:cNvPr>
          <p:cNvSpPr>
            <a:spLocks xmlns:a="http://schemas.openxmlformats.org/drawingml/2006/main" noGrp="1"/>
          </p:cNvSpPr>
          <p:nvPr/>
        </p:nvSpPr>
        <p:spPr>
          <a:xfrm xmlns:a="http://schemas.openxmlformats.org/drawingml/2006/main">
            <a:off x="3552825"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2</a:t>
            </a:r>
          </a:p>
        </p:txBody>
      </p:sp>
      <p:sp>
        <p:nvSpPr>
          <p:cNvPr id="29" name="">
            <a:extLst xmlns:a="http://schemas.openxmlformats.org/drawingml/2006/main">
              <a:ext uri="{FF2B5EF4-FFF2-40B4-BE49-F238E27FC236}">
                <a16:creationId xmlns:a16="http://schemas.microsoft.com/office/drawing/2014/main" id="{12B37805-61A7-48C5-807C-79F6568EF722}"/>
              </a:ext>
            </a:extLst>
          </p:cNvPr>
          <p:cNvSpPr>
            <a:spLocks xmlns:a="http://schemas.openxmlformats.org/drawingml/2006/main" noGrp="1"/>
          </p:cNvSpPr>
          <p:nvPr/>
        </p:nvSpPr>
        <p:spPr>
          <a:xfrm xmlns:a="http://schemas.openxmlformats.org/drawingml/2006/main">
            <a:off x="3552825"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B2A4A"/>
                </a:solidFill>
              </a:defRPr>
            </a:pPr>
            <a:r>
              <a:rPr sz="1425" b="1" i="0">
                <a:solidFill>
                  <a:srgbClr val="1B2A4A"/>
                </a:solidFill>
              </a:rPr>
              <a:t>혜택·치과 정보</a:t>
            </a:r>
          </a:p>
        </p:txBody>
      </p:sp>
      <p:sp>
        <p:nvSpPr>
          <p:cNvPr id="30" name="">
            <a:extLst xmlns:a="http://schemas.openxmlformats.org/drawingml/2006/main">
              <a:ext uri="{FF2B5EF4-FFF2-40B4-BE49-F238E27FC236}">
                <a16:creationId xmlns:a16="http://schemas.microsoft.com/office/drawing/2014/main" id="{07D8D3CF-7446-4562-992A-85079DB87359}"/>
              </a:ext>
            </a:extLst>
          </p:cNvPr>
          <p:cNvSpPr>
            <a:spLocks xmlns:a="http://schemas.openxmlformats.org/drawingml/2006/main" noGrp="1"/>
          </p:cNvSpPr>
          <p:nvPr/>
        </p:nvSpPr>
        <p:spPr>
          <a:xfrm xmlns:a="http://schemas.openxmlformats.org/drawingml/2006/main">
            <a:off x="3552825"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가입 자격 + 네트워크</a:t>
            </a:r>
          </a:p>
          <a:p xmlns:a="http://schemas.openxmlformats.org/drawingml/2006/main">
            <a:pPr algn="l">
              <a:buNone/>
              <a:defRPr sz="1163" b="0" i="0">
                <a:solidFill>
                  <a:srgbClr val="5B6B82"/>
                </a:solidFill>
              </a:defRPr>
            </a:pPr>
            <a:r>
              <a:rPr sz="1163" b="0" i="0">
                <a:solidFill>
                  <a:srgbClr val="5B6B82"/>
                </a:solidFill>
              </a:rPr>
              <a:t>플랜 조건 + 예약 정보</a:t>
            </a:r>
          </a:p>
        </p:txBody>
      </p:sp>
      <p:sp>
        <p:nvSpPr>
          <p:cNvPr id="31" name="">
            <a:extLst xmlns:a="http://schemas.openxmlformats.org/drawingml/2006/main">
              <a:ext uri="{FF2B5EF4-FFF2-40B4-BE49-F238E27FC236}">
                <a16:creationId xmlns:a16="http://schemas.microsoft.com/office/drawing/2014/main" id="{12504E87-C2D6-46FA-B585-414760FAF1E6}"/>
              </a:ext>
            </a:extLst>
          </p:cNvPr>
          <p:cNvSpPr>
            <a:spLocks xmlns:a="http://schemas.openxmlformats.org/drawingml/2006/main" noGrp="1"/>
          </p:cNvSpPr>
          <p:nvPr/>
        </p:nvSpPr>
        <p:spPr>
          <a:xfrm xmlns:a="http://schemas.openxmlformats.org/drawingml/2006/main">
            <a:off x="6324600"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3</a:t>
            </a:r>
          </a:p>
        </p:txBody>
      </p:sp>
      <p:sp>
        <p:nvSpPr>
          <p:cNvPr id="32" name="">
            <a:extLst xmlns:a="http://schemas.openxmlformats.org/drawingml/2006/main">
              <a:ext uri="{FF2B5EF4-FFF2-40B4-BE49-F238E27FC236}">
                <a16:creationId xmlns:a16="http://schemas.microsoft.com/office/drawing/2014/main" id="{2CFE9B1A-A479-4636-9539-79BFD87AC8E8}"/>
              </a:ext>
            </a:extLst>
          </p:cNvPr>
          <p:cNvSpPr>
            <a:spLocks xmlns:a="http://schemas.openxmlformats.org/drawingml/2006/main" noGrp="1"/>
          </p:cNvSpPr>
          <p:nvPr/>
        </p:nvSpPr>
        <p:spPr>
          <a:xfrm xmlns:a="http://schemas.openxmlformats.org/drawingml/2006/main">
            <a:off x="6324600"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B2A4A"/>
                </a:solidFill>
              </a:defRPr>
            </a:pPr>
            <a:r>
              <a:rPr sz="1425" b="1" i="0">
                <a:solidFill>
                  <a:srgbClr val="1B2A4A"/>
                </a:solidFill>
              </a:rPr>
              <a:t>직원 요청 기반 행동</a:t>
            </a:r>
          </a:p>
        </p:txBody>
      </p:sp>
      <p:sp>
        <p:nvSpPr>
          <p:cNvPr id="33" name="">
            <a:extLst xmlns:a="http://schemas.openxmlformats.org/drawingml/2006/main">
              <a:ext uri="{FF2B5EF4-FFF2-40B4-BE49-F238E27FC236}">
                <a16:creationId xmlns:a16="http://schemas.microsoft.com/office/drawing/2014/main" id="{D2191F7A-371D-4BE9-820D-E93BFA457522}"/>
              </a:ext>
            </a:extLst>
          </p:cNvPr>
          <p:cNvSpPr>
            <a:spLocks xmlns:a="http://schemas.openxmlformats.org/drawingml/2006/main" noGrp="1"/>
          </p:cNvSpPr>
          <p:nvPr/>
        </p:nvSpPr>
        <p:spPr>
          <a:xfrm xmlns:a="http://schemas.openxmlformats.org/drawingml/2006/main">
            <a:off x="6324600"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치과 찾기</a:t>
            </a:r>
          </a:p>
          <a:p xmlns:a="http://schemas.openxmlformats.org/drawingml/2006/main">
            <a:pPr algn="l">
              <a:buNone/>
              <a:defRPr sz="1163" b="0" i="0">
                <a:solidFill>
                  <a:srgbClr val="5B6B82"/>
                </a:solidFill>
              </a:defRPr>
            </a:pPr>
            <a:r>
              <a:rPr sz="1163" b="0" i="0">
                <a:solidFill>
                  <a:srgbClr val="5B6B82"/>
                </a:solidFill>
              </a:rPr>
              <a:t>예약 지원</a:t>
            </a:r>
          </a:p>
        </p:txBody>
      </p:sp>
      <p:sp>
        <p:nvSpPr>
          <p:cNvPr id="34" name="">
            <a:extLst xmlns:a="http://schemas.openxmlformats.org/drawingml/2006/main">
              <a:ext uri="{FF2B5EF4-FFF2-40B4-BE49-F238E27FC236}">
                <a16:creationId xmlns:a16="http://schemas.microsoft.com/office/drawing/2014/main" id="{CEE226CE-C225-41C5-AF62-9BA0525BF9E1}"/>
              </a:ext>
            </a:extLst>
          </p:cNvPr>
          <p:cNvSpPr>
            <a:spLocks xmlns:a="http://schemas.openxmlformats.org/drawingml/2006/main" noGrp="1"/>
          </p:cNvSpPr>
          <p:nvPr/>
        </p:nvSpPr>
        <p:spPr>
          <a:xfrm xmlns:a="http://schemas.openxmlformats.org/drawingml/2006/main">
            <a:off x="9096375"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4</a:t>
            </a:r>
          </a:p>
        </p:txBody>
      </p:sp>
      <p:sp>
        <p:nvSpPr>
          <p:cNvPr id="35" name="">
            <a:extLst xmlns:a="http://schemas.openxmlformats.org/drawingml/2006/main">
              <a:ext uri="{FF2B5EF4-FFF2-40B4-BE49-F238E27FC236}">
                <a16:creationId xmlns:a16="http://schemas.microsoft.com/office/drawing/2014/main" id="{715F076F-8F31-4A21-BD1B-27D6CBCE45FE}"/>
              </a:ext>
            </a:extLst>
          </p:cNvPr>
          <p:cNvSpPr>
            <a:spLocks xmlns:a="http://schemas.openxmlformats.org/drawingml/2006/main" noGrp="1"/>
          </p:cNvSpPr>
          <p:nvPr/>
        </p:nvSpPr>
        <p:spPr>
          <a:xfrm xmlns:a="http://schemas.openxmlformats.org/drawingml/2006/main">
            <a:off x="9096375"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B2A4A"/>
                </a:solidFill>
              </a:defRPr>
            </a:pPr>
            <a:r>
              <a:rPr sz="1425" b="1" i="0">
                <a:solidFill>
                  <a:srgbClr val="1B2A4A"/>
                </a:solidFill>
              </a:rPr>
              <a:t>청구로 확인한 근거</a:t>
            </a:r>
          </a:p>
        </p:txBody>
      </p:sp>
      <p:sp>
        <p:nvSpPr>
          <p:cNvPr id="36" name="">
            <a:extLst xmlns:a="http://schemas.openxmlformats.org/drawingml/2006/main">
              <a:ext uri="{FF2B5EF4-FFF2-40B4-BE49-F238E27FC236}">
                <a16:creationId xmlns:a16="http://schemas.microsoft.com/office/drawing/2014/main" id="{DB08342C-80C5-49AC-BE36-29945969DC5D}"/>
              </a:ext>
            </a:extLst>
          </p:cNvPr>
          <p:cNvSpPr>
            <a:spLocks xmlns:a="http://schemas.openxmlformats.org/drawingml/2006/main" noGrp="1"/>
          </p:cNvSpPr>
          <p:nvPr/>
        </p:nvSpPr>
        <p:spPr>
          <a:xfrm xmlns:a="http://schemas.openxmlformats.org/drawingml/2006/main">
            <a:off x="9096375"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방문 완료 + 청구 항목</a:t>
            </a:r>
          </a:p>
          <a:p xmlns:a="http://schemas.openxmlformats.org/drawingml/2006/main">
            <a:pPr algn="l">
              <a:buNone/>
              <a:defRPr sz="1163" b="0" i="0">
                <a:solidFill>
                  <a:srgbClr val="5B6B82"/>
                </a:solidFill>
              </a:defRPr>
            </a:pPr>
            <a:r>
              <a:rPr sz="1163" b="0" i="0">
                <a:solidFill>
                  <a:srgbClr val="5B6B82"/>
                </a:solidFill>
              </a:rPr>
              <a:t>기업에는 집계만</a:t>
            </a:r>
          </a:p>
        </p:txBody>
      </p:sp>
      <p:sp>
        <p:nvSpPr>
          <p:cNvPr id="37" name="">
            <a:extLst xmlns:a="http://schemas.openxmlformats.org/drawingml/2006/main">
              <a:ext uri="{FF2B5EF4-FFF2-40B4-BE49-F238E27FC236}">
                <a16:creationId xmlns:a16="http://schemas.microsoft.com/office/drawing/2014/main" id="{6374F131-B797-4FE3-BFD8-0E3B30A3E0F9}"/>
              </a:ext>
            </a:extLst>
          </p:cNvPr>
          <p:cNvSpPr>
            <a:spLocks xmlns:a="http://schemas.openxmlformats.org/drawingml/2006/main" noGrp="1"/>
          </p:cNvSpPr>
          <p:nvPr/>
        </p:nvSpPr>
        <p:spPr>
          <a:xfrm xmlns:a="http://schemas.openxmlformats.org/drawingml/2006/main">
            <a:off x="609600" y="4333875"/>
            <a:ext cx="10972800" cy="990600"/>
          </a:xfrm>
          <a:prstGeom xmlns:a="http://schemas.openxmlformats.org/drawingml/2006/main" prst="roundRect">
            <a:avLst>
              <a:gd name="adj" fmla="val 7692"/>
            </a:avLst>
          </a:prstGeom>
          <a:noFill xmlns:a="http://schemas.openxmlformats.org/drawingml/2006/main"/>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D743DC2-6D77-41EA-BC28-6A64AE9ED53F}"/>
              </a:ext>
            </a:extLst>
          </p:cNvPr>
          <p:cNvSpPr>
            <a:spLocks xmlns:a="http://schemas.openxmlformats.org/drawingml/2006/main" noGrp="1"/>
          </p:cNvSpPr>
          <p:nvPr/>
        </p:nvSpPr>
        <p:spPr>
          <a:xfrm xmlns:a="http://schemas.openxmlformats.org/drawingml/2006/main">
            <a:off x="800100" y="45148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D99A24"/>
                </a:solidFill>
              </a:defRPr>
            </a:pPr>
            <a:r>
              <a:rPr sz="1050" b="1" i="0">
                <a:solidFill>
                  <a:srgbClr val="D99A24"/>
                </a:solidFill>
              </a:rPr>
              <a:t>모델은 그림자 모드</a:t>
            </a:r>
          </a:p>
        </p:txBody>
      </p:sp>
      <p:sp>
        <p:nvSpPr>
          <p:cNvPr id="39" name="">
            <a:extLst xmlns:a="http://schemas.openxmlformats.org/drawingml/2006/main">
              <a:ext uri="{FF2B5EF4-FFF2-40B4-BE49-F238E27FC236}">
                <a16:creationId xmlns:a16="http://schemas.microsoft.com/office/drawing/2014/main" id="{638CAF69-8F1F-45E1-8DB3-341AA53F3022}"/>
              </a:ext>
            </a:extLst>
          </p:cNvPr>
          <p:cNvSpPr>
            <a:spLocks xmlns:a="http://schemas.openxmlformats.org/drawingml/2006/main" noGrp="1"/>
          </p:cNvSpPr>
          <p:nvPr/>
        </p:nvSpPr>
        <p:spPr>
          <a:xfrm xmlns:a="http://schemas.openxmlformats.org/drawingml/2006/main">
            <a:off x="2571750" y="44767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0" i="0">
                <a:solidFill>
                  <a:srgbClr val="152238"/>
                </a:solidFill>
              </a:defRPr>
            </a:pPr>
            <a:r>
              <a:rPr sz="1238" b="0" i="0">
                <a:solidFill>
                  <a:srgbClr val="152238"/>
                </a:solidFill>
              </a:rPr>
              <a:t>초기 모델의 질병 확률은 임직원이나 기업에 보여주지 않습니다. 특정 치과, 응급도, 치료경로도 자동으로 결정하지 않습니다.</a:t>
            </a:r>
          </a:p>
        </p:txBody>
      </p:sp>
      <p:sp>
        <p:nvSpPr>
          <p:cNvPr id="40" name="">
            <a:extLst xmlns:a="http://schemas.openxmlformats.org/drawingml/2006/main">
              <a:ext uri="{FF2B5EF4-FFF2-40B4-BE49-F238E27FC236}">
                <a16:creationId xmlns:a16="http://schemas.microsoft.com/office/drawing/2014/main" id="{724DFAAA-D474-405B-9FD3-9F26EA23F80B}"/>
              </a:ext>
            </a:extLst>
          </p:cNvPr>
          <p:cNvSpPr>
            <a:spLocks xmlns:a="http://schemas.openxmlformats.org/drawingml/2006/main" noGrp="1"/>
          </p:cNvSpPr>
          <p:nvPr/>
        </p:nvSpPr>
        <p:spPr>
          <a:xfrm xmlns:a="http://schemas.openxmlformats.org/drawingml/2006/main">
            <a:off x="2571750" y="49720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5B6B82"/>
                </a:solidFill>
              </a:defRPr>
            </a:pPr>
            <a:r>
              <a:rPr sz="1050" b="0" i="0">
                <a:solidFill>
                  <a:srgbClr val="5B6B82"/>
                </a:solidFill>
              </a:rPr>
              <a:t>설계 경계: 모델 신호·이용 지원·연계 기록을 분리하고 임직원 행동과 동의 시각을 남깁니다.</a:t>
            </a:r>
          </a:p>
        </p:txBody>
      </p:sp>
      <p:sp>
        <p:nvSpPr>
          <p:cNvPr id="41" name="">
            <a:extLst xmlns:a="http://schemas.openxmlformats.org/drawingml/2006/main">
              <a:ext uri="{FF2B5EF4-FFF2-40B4-BE49-F238E27FC236}">
                <a16:creationId xmlns:a16="http://schemas.microsoft.com/office/drawing/2014/main" id="{265A554E-14C9-432E-B0A7-A447B7555BDF}"/>
              </a:ext>
            </a:extLst>
          </p:cNvPr>
          <p:cNvSpPr>
            <a:spLocks xmlns:a="http://schemas.openxmlformats.org/drawingml/2006/main" noGrp="1"/>
          </p:cNvSpPr>
          <p:nvPr/>
        </p:nvSpPr>
        <p:spPr>
          <a:xfrm xmlns:a="http://schemas.openxmlformats.org/drawingml/2006/main">
            <a:off x="609600" y="5429250"/>
            <a:ext cx="38100" cy="876300"/>
          </a:xfrm>
          <a:prstGeom xmlns:a="http://schemas.openxmlformats.org/drawingml/2006/main" prst="rect">
            <a:avLst/>
          </a:prstGeom>
          <a:noFill xmlns:a="http://schemas.openxmlformats.org/drawingml/2006/main"/>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8EEA2BA-027C-4176-916F-6307EC7C01AF}"/>
              </a:ext>
            </a:extLst>
          </p:cNvPr>
          <p:cNvSpPr>
            <a:spLocks xmlns:a="http://schemas.openxmlformats.org/drawingml/2006/main" noGrp="1"/>
          </p:cNvSpPr>
          <p:nvPr/>
        </p:nvSpPr>
        <p:spPr>
          <a:xfrm xmlns:a="http://schemas.openxmlformats.org/drawingml/2006/main">
            <a:off x="7429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52238"/>
                </a:solidFill>
              </a:defRPr>
            </a:pPr>
            <a:r>
              <a:rPr sz="1200" b="1" i="0">
                <a:solidFill>
                  <a:srgbClr val="152238"/>
                </a:solidFill>
              </a:rPr>
              <a:t/>
            </a:r>
          </a:p>
        </p:txBody>
      </p:sp>
      <p:sp>
        <p:nvSpPr>
          <p:cNvPr id="43" name="">
            <a:extLst xmlns:a="http://schemas.openxmlformats.org/drawingml/2006/main">
              <a:ext uri="{FF2B5EF4-FFF2-40B4-BE49-F238E27FC236}">
                <a16:creationId xmlns:a16="http://schemas.microsoft.com/office/drawing/2014/main" id="{C977B459-D7E7-44AA-B089-700DF11B21EE}"/>
              </a:ext>
            </a:extLst>
          </p:cNvPr>
          <p:cNvSpPr>
            <a:spLocks xmlns:a="http://schemas.openxmlformats.org/drawingml/2006/main" noGrp="1"/>
          </p:cNvSpPr>
          <p:nvPr/>
        </p:nvSpPr>
        <p:spPr>
          <a:xfrm xmlns:a="http://schemas.openxmlformats.org/drawingml/2006/main">
            <a:off x="7429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
            </a:r>
          </a:p>
        </p:txBody>
      </p:sp>
      <p:sp>
        <p:nvSpPr>
          <p:cNvPr id="44" name="">
            <a:extLst xmlns:a="http://schemas.openxmlformats.org/drawingml/2006/main">
              <a:ext uri="{FF2B5EF4-FFF2-40B4-BE49-F238E27FC236}">
                <a16:creationId xmlns:a16="http://schemas.microsoft.com/office/drawing/2014/main" id="{DC7E2FDB-96D8-45CD-8A75-5BB2DD9B5BC2}"/>
              </a:ext>
            </a:extLst>
          </p:cNvPr>
          <p:cNvSpPr>
            <a:spLocks xmlns:a="http://schemas.openxmlformats.org/drawingml/2006/main" noGrp="1"/>
          </p:cNvSpPr>
          <p:nvPr/>
        </p:nvSpPr>
        <p:spPr>
          <a:xfrm xmlns:a="http://schemas.openxmlformats.org/drawingml/2006/main">
            <a:off x="4343400" y="5429250"/>
            <a:ext cx="38100" cy="876300"/>
          </a:xfrm>
          <a:prstGeom xmlns:a="http://schemas.openxmlformats.org/drawingml/2006/main" prst="rect">
            <a:avLst/>
          </a:prstGeom>
          <a:noFill xmlns:a="http://schemas.openxmlformats.org/drawingml/2006/main"/>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3110D16-8AA9-4CBE-986D-C501B4E97544}"/>
              </a:ext>
            </a:extLst>
          </p:cNvPr>
          <p:cNvSpPr>
            <a:spLocks xmlns:a="http://schemas.openxmlformats.org/drawingml/2006/main" noGrp="1"/>
          </p:cNvSpPr>
          <p:nvPr/>
        </p:nvSpPr>
        <p:spPr>
          <a:xfrm xmlns:a="http://schemas.openxmlformats.org/drawingml/2006/main">
            <a:off x="44767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52238"/>
                </a:solidFill>
              </a:defRPr>
            </a:pPr>
            <a:r>
              <a:rPr sz="1200" b="1" i="0">
                <a:solidFill>
                  <a:srgbClr val="152238"/>
                </a:solidFill>
              </a:rPr>
              <a:t/>
            </a:r>
          </a:p>
        </p:txBody>
      </p:sp>
      <p:sp>
        <p:nvSpPr>
          <p:cNvPr id="46" name="">
            <a:extLst xmlns:a="http://schemas.openxmlformats.org/drawingml/2006/main">
              <a:ext uri="{FF2B5EF4-FFF2-40B4-BE49-F238E27FC236}">
                <a16:creationId xmlns:a16="http://schemas.microsoft.com/office/drawing/2014/main" id="{113BB470-EA1A-498D-9C38-BEA5EB67E8E0}"/>
              </a:ext>
            </a:extLst>
          </p:cNvPr>
          <p:cNvSpPr>
            <a:spLocks xmlns:a="http://schemas.openxmlformats.org/drawingml/2006/main" noGrp="1"/>
          </p:cNvSpPr>
          <p:nvPr/>
        </p:nvSpPr>
        <p:spPr>
          <a:xfrm xmlns:a="http://schemas.openxmlformats.org/drawingml/2006/main">
            <a:off x="44767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
            </a:r>
          </a:p>
        </p:txBody>
      </p:sp>
      <p:sp>
        <p:nvSpPr>
          <p:cNvPr id="47" name="">
            <a:extLst xmlns:a="http://schemas.openxmlformats.org/drawingml/2006/main">
              <a:ext uri="{FF2B5EF4-FFF2-40B4-BE49-F238E27FC236}">
                <a16:creationId xmlns:a16="http://schemas.microsoft.com/office/drawing/2014/main" id="{40317347-4097-4EC4-B2AF-1A9EB3791080}"/>
              </a:ext>
            </a:extLst>
          </p:cNvPr>
          <p:cNvSpPr>
            <a:spLocks xmlns:a="http://schemas.openxmlformats.org/drawingml/2006/main" noGrp="1"/>
          </p:cNvSpPr>
          <p:nvPr/>
        </p:nvSpPr>
        <p:spPr>
          <a:xfrm xmlns:a="http://schemas.openxmlformats.org/drawingml/2006/main">
            <a:off x="8077200" y="5429250"/>
            <a:ext cx="38100" cy="876300"/>
          </a:xfrm>
          <a:prstGeom xmlns:a="http://schemas.openxmlformats.org/drawingml/2006/main" prst="rect">
            <a:avLst/>
          </a:prstGeom>
          <a:noFill xmlns:a="http://schemas.openxmlformats.org/drawingml/2006/main"/>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F2D496D-7467-48A4-B3E2-D5C539DA64FC}"/>
              </a:ext>
            </a:extLst>
          </p:cNvPr>
          <p:cNvSpPr>
            <a:spLocks xmlns:a="http://schemas.openxmlformats.org/drawingml/2006/main" noGrp="1"/>
          </p:cNvSpPr>
          <p:nvPr/>
        </p:nvSpPr>
        <p:spPr>
          <a:xfrm xmlns:a="http://schemas.openxmlformats.org/drawingml/2006/main">
            <a:off x="82105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52238"/>
                </a:solidFill>
              </a:defRPr>
            </a:pPr>
            <a:r>
              <a:rPr sz="1200" b="1" i="0">
                <a:solidFill>
                  <a:srgbClr val="152238"/>
                </a:solidFill>
              </a:rPr>
              <a:t/>
            </a:r>
          </a:p>
        </p:txBody>
      </p:sp>
      <p:sp>
        <p:nvSpPr>
          <p:cNvPr id="49" name="">
            <a:extLst xmlns:a="http://schemas.openxmlformats.org/drawingml/2006/main">
              <a:ext uri="{FF2B5EF4-FFF2-40B4-BE49-F238E27FC236}">
                <a16:creationId xmlns:a16="http://schemas.microsoft.com/office/drawing/2014/main" id="{9D3174F9-2FFD-489C-BC99-07CB903433C0}"/>
              </a:ext>
            </a:extLst>
          </p:cNvPr>
          <p:cNvSpPr>
            <a:spLocks xmlns:a="http://schemas.openxmlformats.org/drawingml/2006/main" noGrp="1"/>
          </p:cNvSpPr>
          <p:nvPr/>
        </p:nvSpPr>
        <p:spPr>
          <a:xfrm xmlns:a="http://schemas.openxmlformats.org/drawingml/2006/main">
            <a:off x="82105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
            </a:r>
          </a:p>
        </p:txBody>
      </p:sp>
    </p:spTree>
    <p:extLst>
      <p:ext uri="{BB962C8B-B14F-4D97-AF65-F5344CB8AC3E}">
        <p14:creationId xmlns:p14="http://schemas.microsoft.com/office/powerpoint/2010/main" val="18763290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3B94BD-B994-4660-909B-38F4E86CF484}"/>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08A94"/>
                </a:solidFill>
              </a:defRPr>
            </a:pPr>
            <a:r>
              <a:rPr sz="1200" b="1" i="0">
                <a:solidFill>
                  <a:srgbClr val="008A94"/>
                </a:solidFill>
              </a:rPr>
              <a:t/>
            </a:r>
          </a:p>
        </p:txBody>
      </p:sp>
      <p:sp>
        <p:nvSpPr>
          <p:cNvPr id="2" name="">
            <a:extLst xmlns:a="http://schemas.openxmlformats.org/drawingml/2006/main">
              <a:ext uri="{FF2B5EF4-FFF2-40B4-BE49-F238E27FC236}">
                <a16:creationId xmlns:a16="http://schemas.microsoft.com/office/drawing/2014/main" id="{F0A352F0-BFE2-448B-8126-1F799CD6C70C}"/>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5928B0-3EDD-4F90-8B43-5D894F6C71E3}"/>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BF0C54-3449-45FA-9284-EA30A4D5BED6}"/>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확정된 ICLO 방향 / PoC 범위</a:t>
            </a:r>
          </a:p>
        </p:txBody>
      </p:sp>
      <p:sp>
        <p:nvSpPr>
          <p:cNvPr id="5" name="">
            <a:extLst xmlns:a="http://schemas.openxmlformats.org/drawingml/2006/main">
              <a:ext uri="{FF2B5EF4-FFF2-40B4-BE49-F238E27FC236}">
                <a16:creationId xmlns:a16="http://schemas.microsoft.com/office/drawing/2014/main" id="{B8D81299-4F55-4A9B-8466-D5F933A37BE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DED2C9-C111-42C7-AF11-7B211534995A}"/>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C15329C-ADF5-40F9-B307-92ECDC96F87D}"/>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13" b="1" i="0">
                <a:solidFill>
                  <a:srgbClr val="29B5E8"/>
                </a:solidFill>
              </a:defRPr>
            </a:pPr>
            <a:r>
              <a:rPr sz="713" b="1" i="0">
                <a:solidFill>
                  <a:srgbClr val="29B5E8"/>
                </a:solidFill>
              </a:rPr>
              <a:t/>
            </a:r>
          </a:p>
        </p:txBody>
      </p:sp>
      <p:sp>
        <p:nvSpPr>
          <p:cNvPr id="8" name="">
            <a:extLst xmlns:a="http://schemas.openxmlformats.org/drawingml/2006/main">
              <a:ext uri="{FF2B5EF4-FFF2-40B4-BE49-F238E27FC236}">
                <a16:creationId xmlns:a16="http://schemas.microsoft.com/office/drawing/2014/main" id="{97D86BA9-8C7E-4BCE-A04A-1B8765E2C11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이번 PoC는 미국 시장의 한 운영 구조만 검증합니다</a:t>
            </a:r>
          </a:p>
        </p:txBody>
      </p:sp>
      <p:sp>
        <p:nvSpPr>
          <p:cNvPr id="9" name="">
            <a:extLst xmlns:a="http://schemas.openxmlformats.org/drawingml/2006/main">
              <a:ext uri="{FF2B5EF4-FFF2-40B4-BE49-F238E27FC236}">
                <a16:creationId xmlns:a16="http://schemas.microsoft.com/office/drawing/2014/main" id="{93A0C3A1-CBB5-4F40-8208-A0399275EC16}"/>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미국에는 여러 비용부담 방식이 공존하며, 이번 제안은 self-funded employer 치아보험에만 초점을 둡니다.</a:t>
            </a:r>
          </a:p>
        </p:txBody>
      </p:sp>
      <p:sp>
        <p:nvSpPr>
          <p:cNvPr id="10" name="">
            <a:extLst xmlns:a="http://schemas.openxmlformats.org/drawingml/2006/main">
              <a:ext uri="{FF2B5EF4-FFF2-40B4-BE49-F238E27FC236}">
                <a16:creationId xmlns:a16="http://schemas.microsoft.com/office/drawing/2014/main" id="{218CFACC-36FC-49C4-9E7D-70E03EC72E2E}"/>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8735FFD4-FF2E-4327-B9E2-F9FCAF49AE4D}"/>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12" name="">
            <a:extLst xmlns:a="http://schemas.openxmlformats.org/drawingml/2006/main">
              <a:ext uri="{FF2B5EF4-FFF2-40B4-BE49-F238E27FC236}">
                <a16:creationId xmlns:a16="http://schemas.microsoft.com/office/drawing/2014/main" id="{77A375EB-EBD2-4D52-8C40-8FC162570BF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1f61104e24f4c6a"/>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9688917-E837-405C-9786-9EABFE3A3BE3}"/>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a3ae08932df459b"/>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6F71BC3-AC5B-4679-B84A-5CABC34A98AB}"/>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7" name="">
            <a:extLst xmlns:a="http://schemas.openxmlformats.org/drawingml/2006/main">
              <a:ext uri="{FF2B5EF4-FFF2-40B4-BE49-F238E27FC236}">
                <a16:creationId xmlns:a16="http://schemas.microsoft.com/office/drawing/2014/main" id="{7F260614-0FFF-4E3A-8A07-E4B126C509CB}"/>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04</a:t>
            </a:r>
          </a:p>
        </p:txBody>
      </p:sp>
      <p:graphicFrame>
        <p:nvGraphicFramePr>
          <p:cNvPr id="40" name=""/>
          <p:cNvGraphicFramePr/>
          <p:nvPr/>
        </p:nvGraphicFramePr>
        <p:xfrm>
          <a:off xmlns:a="http://schemas.openxmlformats.org/drawingml/2006/main" x="609600" y="1952625"/>
          <a:ext xmlns:a="http://schemas.openxmlformats.org/drawingml/2006/main" cx="10972800" cy="4095750"/>
        </p:xfrm>
        <a:graphic xmlns:a="http://schemas.openxmlformats.org/drawingml/2006/main">
          <a:graphicData uri="http://schemas.openxmlformats.org/drawingml/2006/table">
            <a:tbl>
              <a:tblPr/>
              <a:tblGrid>
                <a:gridCol w="1600200"/>
                <a:gridCol w="2038350"/>
                <a:gridCol w="2381250"/>
                <a:gridCol w="2400300"/>
                <a:gridCol w="2552700"/>
              </a:tblGrid>
              <a:tr h="682625">
                <a:tc>
                  <a:txBody>
                    <a:bodyPr/>
                    <a:lstStyle/>
                    <a:p>
                      <a:r>
                        <a:rPr sz="1313" b="1">
                          <a:solidFill>
                            <a:srgbClr val="FFFFFF"/>
                          </a:solidFill>
                        </a:rPr>
                        <a:t>구분</a:t>
                      </a:r>
                    </a:p>
                  </a:txBody>
                  <a:tcPr marL="76200" marR="76200" marT="19050" marB="19050" anchor="ctr">
                    <a:solidFill>
                      <a:srgbClr val="007A87"/>
                    </a:solidFill>
                  </a:tcPr>
                </a:tc>
                <a:tc>
                  <a:txBody>
                    <a:bodyPr/>
                    <a:lstStyle/>
                    <a:p>
                      <a:r>
                        <a:rPr sz="1313" b="1">
                          <a:solidFill>
                            <a:srgbClr val="FFFFFF"/>
                          </a:solidFill>
                        </a:rPr>
                        <a:t>한국 이해 기준</a:t>
                      </a:r>
                    </a:p>
                  </a:txBody>
                  <a:tcPr marL="76200" marR="76200" marT="19050" marB="19050" anchor="ctr">
                    <a:solidFill>
                      <a:srgbClr val="007A87"/>
                    </a:solidFill>
                  </a:tcPr>
                </a:tc>
                <a:tc>
                  <a:txBody>
                    <a:bodyPr/>
                    <a:lstStyle/>
                    <a:p>
                      <a:r>
                        <a:rPr sz="1313" b="1">
                          <a:solidFill>
                            <a:srgbClr val="FFFFFF"/>
                          </a:solidFill>
                        </a:rPr>
                        <a:t>미국 시장</a:t>
                      </a:r>
                    </a:p>
                  </a:txBody>
                  <a:tcPr marL="76200" marR="76200" marT="19050" marB="19050" anchor="ctr">
                    <a:solidFill>
                      <a:srgbClr val="007A87"/>
                    </a:solidFill>
                  </a:tcPr>
                </a:tc>
                <a:tc>
                  <a:txBody>
                    <a:bodyPr/>
                    <a:lstStyle/>
                    <a:p>
                      <a:r>
                        <a:rPr sz="1313" b="1">
                          <a:solidFill>
                            <a:srgbClr val="FFFFFF"/>
                          </a:solidFill>
                        </a:rPr>
                        <a:t>이번 PoC</a:t>
                      </a:r>
                    </a:p>
                  </a:txBody>
                  <a:tcPr marL="76200" marR="76200" marT="19050" marB="19050" anchor="ctr">
                    <a:solidFill>
                      <a:srgbClr val="007A87"/>
                    </a:solidFill>
                  </a:tcPr>
                </a:tc>
                <a:tc>
                  <a:txBody>
                    <a:bodyPr/>
                    <a:lstStyle/>
                    <a:p>
                      <a:r>
                        <a:rPr sz="1313" b="1">
                          <a:solidFill>
                            <a:srgbClr val="FFFFFF"/>
                          </a:solidFill>
                        </a:rPr>
                        <a:t>의미</a:t>
                      </a:r>
                    </a:p>
                  </a:txBody>
                  <a:tcPr marL="76200" marR="76200" marT="19050" marB="19050" anchor="ctr">
                    <a:solidFill>
                      <a:srgbClr val="007A87"/>
                    </a:solidFill>
                  </a:tcPr>
                </a:tc>
              </a:tr>
              <a:tr h="682625">
                <a:tc>
                  <a:txBody>
                    <a:bodyPr/>
                    <a:lstStyle/>
                    <a:p>
                      <a:r>
                        <a:rPr sz="1350">
                          <a:solidFill>
                            <a:srgbClr val="152238"/>
                          </a:solidFill>
                        </a:rPr>
                        <a:t>보장 기반</a:t>
                      </a:r>
                    </a:p>
                  </a:txBody>
                  <a:tcPr marL="76200" marR="76200" marT="19050" marB="19050" anchor="ctr">
                    <a:solidFill>
                      <a:srgbClr val="FFFFFF"/>
                    </a:solidFill>
                  </a:tcPr>
                </a:tc>
                <a:tc>
                  <a:txBody>
                    <a:bodyPr/>
                    <a:lstStyle/>
                    <a:p>
                      <a:r>
                        <a:rPr sz="1350">
                          <a:solidFill>
                            <a:srgbClr val="152238"/>
                          </a:solidFill>
                        </a:rPr>
                        <a:t>국민건강보험 중심; 치과 일부 비급여</a:t>
                      </a:r>
                    </a:p>
                  </a:txBody>
                  <a:tcPr marL="76200" marR="76200" marT="19050" marB="19050" anchor="ctr">
                    <a:solidFill>
                      <a:srgbClr val="FFFFFF"/>
                    </a:solidFill>
                  </a:tcPr>
                </a:tc>
                <a:tc>
                  <a:txBody>
                    <a:bodyPr/>
                    <a:lstStyle/>
                    <a:p>
                      <a:r>
                        <a:rPr sz="1350">
                          <a:solidFill>
                            <a:srgbClr val="152238"/>
                          </a:solidFill>
                        </a:rPr>
                        <a:t>치아보험이 별도 복지 플랜일 수 있음</a:t>
                      </a:r>
                    </a:p>
                  </a:txBody>
                  <a:tcPr marL="76200" marR="76200" marT="19050" marB="19050" anchor="ctr">
                    <a:solidFill>
                      <a:srgbClr val="FFFFFF"/>
                    </a:solidFill>
                  </a:tcPr>
                </a:tc>
                <a:tc>
                  <a:txBody>
                    <a:bodyPr/>
                    <a:lstStyle/>
                    <a:p>
                      <a:r>
                        <a:rPr sz="1350">
                          <a:solidFill>
                            <a:srgbClr val="152238"/>
                          </a:solidFill>
                        </a:rPr>
                        <a:t>기업 제공 치아보험</a:t>
                      </a:r>
                    </a:p>
                  </a:txBody>
                  <a:tcPr marL="76200" marR="76200" marT="19050" marB="19050" anchor="ctr">
                    <a:solidFill>
                      <a:srgbClr val="FFFFFF"/>
                    </a:solidFill>
                  </a:tcPr>
                </a:tc>
                <a:tc>
                  <a:txBody>
                    <a:bodyPr/>
                    <a:lstStyle/>
                    <a:p>
                      <a:r>
                        <a:rPr sz="1350" b="1">
                          <a:solidFill>
                            <a:srgbClr val="D86464"/>
                          </a:solidFill>
                        </a:rPr>
                        <a:t>권리·데이터 경로가 다름</a:t>
                      </a:r>
                    </a:p>
                  </a:txBody>
                  <a:tcPr marL="76200" marR="76200" marT="19050" marB="19050" anchor="ctr">
                    <a:solidFill>
                      <a:srgbClr val="FFFFFF"/>
                    </a:solidFill>
                  </a:tcPr>
                </a:tc>
              </a:tr>
              <a:tr h="682625">
                <a:tc>
                  <a:txBody>
                    <a:bodyPr/>
                    <a:lstStyle/>
                    <a:p>
                      <a:r>
                        <a:rPr sz="1350">
                          <a:solidFill>
                            <a:srgbClr val="152238"/>
                          </a:solidFill>
                        </a:rPr>
                        <a:t>비용 위험</a:t>
                      </a:r>
                    </a:p>
                  </a:txBody>
                  <a:tcPr marL="76200" marR="76200" marT="19050" marB="19050" anchor="ctr">
                    <a:solidFill>
                      <a:srgbClr val="FFFFFF"/>
                    </a:solidFill>
                  </a:tcPr>
                </a:tc>
                <a:tc>
                  <a:txBody>
                    <a:bodyPr/>
                    <a:lstStyle/>
                    <a:p>
                      <a:r>
                        <a:rPr sz="1350">
                          <a:solidFill>
                            <a:srgbClr val="152238"/>
                          </a:solidFill>
                        </a:rPr>
                        <a:t>이번 PoC의 비교 대상 아님</a:t>
                      </a:r>
                    </a:p>
                  </a:txBody>
                  <a:tcPr marL="76200" marR="76200" marT="19050" marB="19050" anchor="ctr">
                    <a:solidFill>
                      <a:srgbClr val="FFFFFF"/>
                    </a:solidFill>
                  </a:tcPr>
                </a:tc>
                <a:tc>
                  <a:txBody>
                    <a:bodyPr/>
                    <a:lstStyle/>
                    <a:p>
                      <a:r>
                        <a:rPr sz="1350">
                          <a:solidFill>
                            <a:srgbClr val="152238"/>
                          </a:solidFill>
                        </a:rPr>
                        <a:t>완전보험·자가부담·공공·개인 시장 공존</a:t>
                      </a:r>
                    </a:p>
                  </a:txBody>
                  <a:tcPr marL="76200" marR="76200" marT="19050" marB="19050" anchor="ctr">
                    <a:solidFill>
                      <a:srgbClr val="FFFFFF"/>
                    </a:solidFill>
                  </a:tcPr>
                </a:tc>
                <a:tc>
                  <a:txBody>
                    <a:bodyPr/>
                    <a:lstStyle/>
                    <a:p>
                      <a:r>
                        <a:rPr sz="1350">
                          <a:solidFill>
                            <a:srgbClr val="152238"/>
                          </a:solidFill>
                        </a:rPr>
                        <a:t>기업이 치아보험 청구비용 부담</a:t>
                      </a:r>
                    </a:p>
                  </a:txBody>
                  <a:tcPr marL="76200" marR="76200" marT="19050" marB="19050" anchor="ctr">
                    <a:solidFill>
                      <a:srgbClr val="FFFFFF"/>
                    </a:solidFill>
                  </a:tcPr>
                </a:tc>
                <a:tc>
                  <a:txBody>
                    <a:bodyPr/>
                    <a:lstStyle/>
                    <a:p>
                      <a:r>
                        <a:rPr sz="1350" b="1">
                          <a:solidFill>
                            <a:srgbClr val="D86464"/>
                          </a:solidFill>
                        </a:rPr>
                        <a:t>기업의 직접 이해관계</a:t>
                      </a:r>
                    </a:p>
                  </a:txBody>
                  <a:tcPr marL="76200" marR="76200" marT="19050" marB="19050" anchor="ctr">
                    <a:solidFill>
                      <a:srgbClr val="FFFFFF"/>
                    </a:solidFill>
                  </a:tcPr>
                </a:tc>
              </a:tr>
              <a:tr h="682625">
                <a:tc>
                  <a:txBody>
                    <a:bodyPr/>
                    <a:lstStyle/>
                    <a:p>
                      <a:r>
                        <a:rPr sz="1350">
                          <a:solidFill>
                            <a:srgbClr val="152238"/>
                          </a:solidFill>
                        </a:rPr>
                        <a:t>운영</a:t>
                      </a:r>
                    </a:p>
                  </a:txBody>
                  <a:tcPr marL="76200" marR="76200" marT="19050" marB="19050" anchor="ctr">
                    <a:solidFill>
                      <a:srgbClr val="FFFFFF"/>
                    </a:solidFill>
                  </a:tcPr>
                </a:tc>
                <a:tc>
                  <a:txBody>
                    <a:bodyPr/>
                    <a:lstStyle/>
                    <a:p>
                      <a:r>
                        <a:rPr sz="1350">
                          <a:solidFill>
                            <a:srgbClr val="152238"/>
                          </a:solidFill>
                        </a:rPr>
                        <a:t>국내 운영 구조와 다름</a:t>
                      </a:r>
                    </a:p>
                  </a:txBody>
                  <a:tcPr marL="76200" marR="76200" marT="19050" marB="19050" anchor="ctr">
                    <a:solidFill>
                      <a:srgbClr val="FFFFFF"/>
                    </a:solidFill>
                  </a:tcPr>
                </a:tc>
                <a:tc>
                  <a:txBody>
                    <a:bodyPr/>
                    <a:lstStyle/>
                    <a:p>
                      <a:r>
                        <a:rPr sz="1350">
                          <a:solidFill>
                            <a:srgbClr val="152238"/>
                          </a:solidFill>
                        </a:rPr>
                        <a:t>보험사/TPA가 가입·네트워크·청구 운영 가능</a:t>
                      </a:r>
                    </a:p>
                  </a:txBody>
                  <a:tcPr marL="76200" marR="76200" marT="19050" marB="19050" anchor="ctr">
                    <a:solidFill>
                      <a:srgbClr val="FFFFFF"/>
                    </a:solidFill>
                  </a:tcPr>
                </a:tc>
                <a:tc>
                  <a:txBody>
                    <a:bodyPr/>
                    <a:lstStyle/>
                    <a:p>
                      <a:r>
                        <a:rPr sz="1350">
                          <a:solidFill>
                            <a:srgbClr val="152238"/>
                          </a:solidFill>
                        </a:rPr>
                        <a:t>운영사 한 곳의 데이터 경로</a:t>
                      </a:r>
                    </a:p>
                  </a:txBody>
                  <a:tcPr marL="76200" marR="76200" marT="19050" marB="19050" anchor="ctr">
                    <a:solidFill>
                      <a:srgbClr val="FFFFFF"/>
                    </a:solidFill>
                  </a:tcPr>
                </a:tc>
                <a:tc>
                  <a:txBody>
                    <a:bodyPr/>
                    <a:lstStyle/>
                    <a:p>
                      <a:r>
                        <a:rPr sz="1350" b="1">
                          <a:solidFill>
                            <a:srgbClr val="D86464"/>
                          </a:solidFill>
                        </a:rPr>
                        <a:t>협조와 권리 확인 필요</a:t>
                      </a:r>
                    </a:p>
                  </a:txBody>
                  <a:tcPr marL="76200" marR="76200" marT="19050" marB="19050" anchor="ctr">
                    <a:solidFill>
                      <a:srgbClr val="FFFFFF"/>
                    </a:solidFill>
                  </a:tcPr>
                </a:tc>
              </a:tr>
              <a:tr h="682625">
                <a:tc>
                  <a:txBody>
                    <a:bodyPr/>
                    <a:lstStyle/>
                    <a:p>
                      <a:r>
                        <a:rPr sz="1350">
                          <a:solidFill>
                            <a:srgbClr val="152238"/>
                          </a:solidFill>
                        </a:rPr>
                        <a:t>임직원 과업</a:t>
                      </a:r>
                    </a:p>
                  </a:txBody>
                  <a:tcPr marL="76200" marR="76200" marT="19050" marB="19050" anchor="ctr">
                    <a:solidFill>
                      <a:srgbClr val="FFFFFF"/>
                    </a:solidFill>
                  </a:tcPr>
                </a:tc>
                <a:tc>
                  <a:txBody>
                    <a:bodyPr/>
                    <a:lstStyle/>
                    <a:p>
                      <a:r>
                        <a:rPr sz="1350">
                          <a:solidFill>
                            <a:srgbClr val="152238"/>
                          </a:solidFill>
                        </a:rPr>
                        <a:t>급여·비급여와 예상비용 이해</a:t>
                      </a:r>
                    </a:p>
                  </a:txBody>
                  <a:tcPr marL="76200" marR="76200" marT="19050" marB="19050" anchor="ctr">
                    <a:solidFill>
                      <a:srgbClr val="FFFFFF"/>
                    </a:solidFill>
                  </a:tcPr>
                </a:tc>
                <a:tc>
                  <a:txBody>
                    <a:bodyPr/>
                    <a:lstStyle/>
                    <a:p>
                      <a:r>
                        <a:rPr sz="1350">
                          <a:solidFill>
                            <a:srgbClr val="152238"/>
                          </a:solidFill>
                        </a:rPr>
                        <a:t>네트워크·플랜·본인부담·예약 확인</a:t>
                      </a:r>
                    </a:p>
                  </a:txBody>
                  <a:tcPr marL="76200" marR="76200" marT="19050" marB="19050" anchor="ctr">
                    <a:solidFill>
                      <a:srgbClr val="FFFFFF"/>
                    </a:solidFill>
                  </a:tcPr>
                </a:tc>
                <a:tc>
                  <a:txBody>
                    <a:bodyPr/>
                    <a:lstStyle/>
                    <a:p>
                      <a:r>
                        <a:rPr sz="1350">
                          <a:solidFill>
                            <a:srgbClr val="152238"/>
                          </a:solidFill>
                        </a:rPr>
                        <a:t>임직원·가족</a:t>
                      </a:r>
                    </a:p>
                  </a:txBody>
                  <a:tcPr marL="76200" marR="76200" marT="19050" marB="19050" anchor="ctr">
                    <a:solidFill>
                      <a:srgbClr val="FFFFFF"/>
                    </a:solidFill>
                  </a:tcPr>
                </a:tc>
                <a:tc>
                  <a:txBody>
                    <a:bodyPr/>
                    <a:lstStyle/>
                    <a:p>
                      <a:r>
                        <a:rPr sz="1350" b="1">
                          <a:solidFill>
                            <a:srgbClr val="D86464"/>
                          </a:solidFill>
                        </a:rPr>
                        <a:t>혜택을 실제 이용으로 전환</a:t>
                      </a:r>
                    </a:p>
                  </a:txBody>
                  <a:tcPr marL="76200" marR="76200" marT="19050" marB="19050" anchor="ctr">
                    <a:solidFill>
                      <a:srgbClr val="FFFFFF"/>
                    </a:solidFill>
                  </a:tcPr>
                </a:tc>
              </a:tr>
              <a:tr h="682625">
                <a:tc>
                  <a:txBody>
                    <a:bodyPr/>
                    <a:lstStyle/>
                    <a:p>
                      <a:r>
                        <a:rPr sz="1350">
                          <a:solidFill>
                            <a:srgbClr val="152238"/>
                          </a:solidFill>
                        </a:rPr>
                        <a:t>기업 근거</a:t>
                      </a:r>
                    </a:p>
                  </a:txBody>
                  <a:tcPr marL="76200" marR="76200" marT="19050" marB="19050" anchor="ctr">
                    <a:solidFill>
                      <a:srgbClr val="FFFFFF"/>
                    </a:solidFill>
                  </a:tcPr>
                </a:tc>
                <a:tc>
                  <a:txBody>
                    <a:bodyPr/>
                    <a:lstStyle/>
                    <a:p>
                      <a:r>
                        <a:rPr sz="1350">
                          <a:solidFill>
                            <a:srgbClr val="152238"/>
                          </a:solidFill>
                        </a:rPr>
                        <a:t>동일 기준으로 가정하지 않음</a:t>
                      </a:r>
                    </a:p>
                  </a:txBody>
                  <a:tcPr marL="76200" marR="76200" marT="19050" marB="19050" anchor="ctr">
                    <a:solidFill>
                      <a:srgbClr val="FFFFFF"/>
                    </a:solidFill>
                  </a:tcPr>
                </a:tc>
                <a:tc>
                  <a:txBody>
                    <a:bodyPr/>
                    <a:lstStyle/>
                    <a:p>
                      <a:r>
                        <a:rPr sz="1350">
                          <a:solidFill>
                            <a:srgbClr val="152238"/>
                          </a:solidFill>
                        </a:rPr>
                        <a:t>데이터가 여러 기관에 분산</a:t>
                      </a:r>
                    </a:p>
                  </a:txBody>
                  <a:tcPr marL="76200" marR="76200" marT="19050" marB="19050" anchor="ctr">
                    <a:solidFill>
                      <a:srgbClr val="FFFFFF"/>
                    </a:solidFill>
                  </a:tcPr>
                </a:tc>
                <a:tc>
                  <a:txBody>
                    <a:bodyPr/>
                    <a:lstStyle/>
                    <a:p>
                      <a:r>
                        <a:rPr sz="1350">
                          <a:solidFill>
                            <a:srgbClr val="152238"/>
                          </a:solidFill>
                        </a:rPr>
                        <a:t>기업 단위 집계 근거</a:t>
                      </a:r>
                    </a:p>
                  </a:txBody>
                  <a:tcPr marL="76200" marR="76200" marT="19050" marB="19050" anchor="ctr">
                    <a:solidFill>
                      <a:srgbClr val="FFFFFF"/>
                    </a:solidFill>
                  </a:tcPr>
                </a:tc>
                <a:tc>
                  <a:txBody>
                    <a:bodyPr/>
                    <a:lstStyle/>
                    <a:p>
                      <a:r>
                        <a:rPr sz="1350" b="1">
                          <a:solidFill>
                            <a:srgbClr val="D86464"/>
                          </a:solidFill>
                        </a:rPr>
                        <a:t>기업 화면에 직원별 PHI 미노출</a:t>
                      </a:r>
                    </a:p>
                  </a:txBody>
                  <a:tcPr marL="76200" marR="76200" marT="19050" marB="19050" anchor="ctr">
                    <a:solidFill>
                      <a:srgbClr val="FFFFFF"/>
                    </a:solidFill>
                  </a:tcPr>
                </a:tc>
              </a:tr>
            </a:tbl>
          </a:graphicData>
        </a:graphic>
      </p:graphicFrame>
    </p:spTree>
    <p:extLst>
      <p:ext uri="{BB962C8B-B14F-4D97-AF65-F5344CB8AC3E}">
        <p14:creationId xmlns:p14="http://schemas.microsoft.com/office/powerpoint/2010/main" val="21234324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9CE1836-8B27-4A6A-B244-02DB89820280}"/>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24E86CF1-F25E-4E33-BCEE-B9FAEA6F73B9}"/>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C8FCA4-6357-44E8-8477-58B577017B3A}"/>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143395-539E-41EB-8E53-4C8AF2BBC025}"/>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미국 치아보험 시장 구조 / 현재 PoC 범위</a:t>
            </a:r>
          </a:p>
        </p:txBody>
      </p:sp>
      <p:sp>
        <p:nvSpPr>
          <p:cNvPr id="5" name="">
            <a:extLst xmlns:a="http://schemas.openxmlformats.org/drawingml/2006/main">
              <a:ext uri="{FF2B5EF4-FFF2-40B4-BE49-F238E27FC236}">
                <a16:creationId xmlns:a16="http://schemas.microsoft.com/office/drawing/2014/main" id="{9C5D9C13-AEC1-4DCD-B582-945D4C89B95C}"/>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1DC32E-DB30-4481-B8F1-2459FB2608EE}"/>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8BB3700-3B07-4D45-BE91-DBFAB043678D}"/>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13" b="1" i="0">
                <a:solidFill>
                  <a:srgbClr val="29B5E8"/>
                </a:solidFill>
              </a:defRPr>
            </a:pPr>
            <a:r>
              <a:rPr sz="713" b="1" i="0">
                <a:solidFill>
                  <a:srgbClr val="29B5E8"/>
                </a:solidFill>
              </a:rPr>
              <a:t/>
            </a:r>
          </a:p>
        </p:txBody>
      </p:sp>
      <p:sp>
        <p:nvSpPr>
          <p:cNvPr id="8" name="">
            <a:extLst xmlns:a="http://schemas.openxmlformats.org/drawingml/2006/main">
              <a:ext uri="{FF2B5EF4-FFF2-40B4-BE49-F238E27FC236}">
                <a16:creationId xmlns:a16="http://schemas.microsoft.com/office/drawing/2014/main" id="{242ECB0A-A066-488A-BE40-F4DDFAA8141D}"/>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미국 치아보험은 계약·운영·청구 주체가 다릅니다</a:t>
            </a:r>
          </a:p>
        </p:txBody>
      </p:sp>
      <p:sp>
        <p:nvSpPr>
          <p:cNvPr id="9" name="">
            <a:extLst xmlns:a="http://schemas.openxmlformats.org/drawingml/2006/main">
              <a:ext uri="{FF2B5EF4-FFF2-40B4-BE49-F238E27FC236}">
                <a16:creationId xmlns:a16="http://schemas.microsoft.com/office/drawing/2014/main" id="{3245EDD3-523E-4D07-B6E0-9D8C40D169CD}"/>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fully insured·self-funded는 비용 구조이고, individual·Medicaid는 보장 시장입니다. 현재 PoC는 한 경로만 대상으로 합니다.</a:t>
            </a:r>
          </a:p>
        </p:txBody>
      </p:sp>
      <p:sp>
        <p:nvSpPr>
          <p:cNvPr id="10" name="">
            <a:extLst xmlns:a="http://schemas.openxmlformats.org/drawingml/2006/main">
              <a:ext uri="{FF2B5EF4-FFF2-40B4-BE49-F238E27FC236}">
                <a16:creationId xmlns:a16="http://schemas.microsoft.com/office/drawing/2014/main" id="{16E9B8BD-58DC-4FDC-B8F3-4F55D9D3C98B}"/>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15279F21-AE65-468B-9839-78449C61A9BC}"/>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6414B804-E09D-4A9F-ABB9-3BA609AB9A5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92" name=""/>
          <p:cNvPicPr>
            <a:picLocks xmlns:a="http://schemas.openxmlformats.org/drawingml/2006/main" noChangeAspect="1"/>
          </p:cNvPicPr>
          <p:nvPr/>
        </p:nvPicPr>
        <p:blipFill>
          <a:blip xmlns:r="http://schemas.openxmlformats.org/officeDocument/2006/relationships" xmlns:a="http://schemas.openxmlformats.org/drawingml/2006/main" r:embed="R5fc53ce9750b4b7d"/>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7047387-F6A6-4A4B-B4DB-13E42B98087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494" name=""/>
          <p:cNvPicPr>
            <a:picLocks xmlns:a="http://schemas.openxmlformats.org/drawingml/2006/main" noChangeAspect="1"/>
          </p:cNvPicPr>
          <p:nvPr/>
        </p:nvPicPr>
        <p:blipFill>
          <a:blip xmlns:r="http://schemas.openxmlformats.org/officeDocument/2006/relationships" xmlns:a="http://schemas.openxmlformats.org/drawingml/2006/main" r:embed="Rfe02f1114b5847c4"/>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8928C4D-4716-4F52-B401-8186C3C45B76}"/>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7" name="">
            <a:extLst xmlns:a="http://schemas.openxmlformats.org/drawingml/2006/main">
              <a:ext uri="{FF2B5EF4-FFF2-40B4-BE49-F238E27FC236}">
                <a16:creationId xmlns:a16="http://schemas.microsoft.com/office/drawing/2014/main" id="{8D2F5E33-7A47-4541-AD35-9EC5661690A1}"/>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05</a:t>
            </a:r>
          </a:p>
        </p:txBody>
      </p:sp>
      <p:sp>
        <p:nvSpPr>
          <p:cNvPr id="18" name="">
            <a:extLst xmlns:a="http://schemas.openxmlformats.org/drawingml/2006/main">
              <a:ext uri="{FF2B5EF4-FFF2-40B4-BE49-F238E27FC236}">
                <a16:creationId xmlns:a16="http://schemas.microsoft.com/office/drawing/2014/main" id="{8A0EA7F3-17A7-4000-9F40-10A32970587D}"/>
              </a:ext>
            </a:extLst>
          </p:cNvPr>
          <p:cNvSpPr>
            <a:spLocks xmlns:a="http://schemas.openxmlformats.org/drawingml/2006/main" noGrp="1"/>
          </p:cNvSpPr>
          <p:nvPr/>
        </p:nvSpPr>
        <p:spPr>
          <a:xfrm xmlns:a="http://schemas.openxmlformats.org/drawingml/2006/main">
            <a:off x="609600" y="19240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i="0">
                <a:solidFill>
                  <a:srgbClr val="FF7A79"/>
                </a:solidFill>
              </a:defRPr>
            </a:pPr>
            <a:r>
              <a:rPr sz="900" b="1" i="0">
                <a:solidFill>
                  <a:srgbClr val="FF7A79"/>
                </a:solidFill>
              </a:rPr>
              <a:t>계약 + 선택</a:t>
            </a:r>
          </a:p>
        </p:txBody>
      </p:sp>
      <p:sp>
        <p:nvSpPr>
          <p:cNvPr id="19" name="">
            <a:extLst xmlns:a="http://schemas.openxmlformats.org/drawingml/2006/main">
              <a:ext uri="{FF2B5EF4-FFF2-40B4-BE49-F238E27FC236}">
                <a16:creationId xmlns:a16="http://schemas.microsoft.com/office/drawing/2014/main" id="{10065338-A514-4C2E-87AD-A9B0604875D9}"/>
              </a:ext>
            </a:extLst>
          </p:cNvPr>
          <p:cNvSpPr>
            <a:spLocks xmlns:a="http://schemas.openxmlformats.org/drawingml/2006/main" noGrp="1"/>
          </p:cNvSpPr>
          <p:nvPr/>
        </p:nvSpPr>
        <p:spPr>
          <a:xfrm xmlns:a="http://schemas.openxmlformats.org/drawingml/2006/main">
            <a:off x="609600" y="2266950"/>
            <a:ext cx="2095500" cy="628650"/>
          </a:xfrm>
          <a:prstGeom xmlns:a="http://schemas.openxmlformats.org/drawingml/2006/main" prst="roundRect">
            <a:avLst>
              <a:gd name="adj" fmla="val 12121"/>
            </a:avLst>
          </a:prstGeom>
          <a:noFill xmlns:a="http://schemas.openxmlformats.org/drawingml/2006/main"/>
          <a:ln xmlns:a="http://schemas.openxmlformats.org/drawingml/2006/main" w="9525">
            <a:solidFill>
              <a:srgbClr val="D8E2E8"/>
            </a:solidFill>
            <a:prstDash val="solid"/>
          </a:ln>
        </p:spPr>
      </p:sp>
      <p:sp>
        <p:nvSpPr>
          <p:cNvPr id="20" name="">
            <a:extLst xmlns:a="http://schemas.openxmlformats.org/drawingml/2006/main">
              <a:ext uri="{FF2B5EF4-FFF2-40B4-BE49-F238E27FC236}">
                <a16:creationId xmlns:a16="http://schemas.microsoft.com/office/drawing/2014/main" id="{BEF8A95E-7F79-4026-95A8-5B8ADA44B6BF}"/>
              </a:ext>
            </a:extLst>
          </p:cNvPr>
          <p:cNvSpPr>
            <a:spLocks xmlns:a="http://schemas.openxmlformats.org/drawingml/2006/main" noGrp="1"/>
          </p:cNvSpPr>
          <p:nvPr/>
        </p:nvSpPr>
        <p:spPr>
          <a:xfrm xmlns:a="http://schemas.openxmlformats.org/drawingml/2006/main">
            <a:off x="609600" y="3124200"/>
            <a:ext cx="2095500" cy="781050"/>
          </a:xfrm>
          <a:prstGeom xmlns:a="http://schemas.openxmlformats.org/drawingml/2006/main" prst="roundRect">
            <a:avLst>
              <a:gd name="adj" fmla="val 9756"/>
            </a:avLst>
          </a:prstGeom>
          <a:noFill xmlns:a="http://schemas.openxmlformats.org/drawingml/2006/main"/>
          <a:ln xmlns:a="http://schemas.openxmlformats.org/drawingml/2006/main" w="9525">
            <a:solidFill>
              <a:srgbClr val="D8E2E8"/>
            </a:solidFill>
            <a:prstDash val="solid"/>
          </a:ln>
        </p:spPr>
      </p:sp>
      <p:sp>
        <p:nvSpPr>
          <p:cNvPr id="21" name="">
            <a:extLst xmlns:a="http://schemas.openxmlformats.org/drawingml/2006/main">
              <a:ext uri="{FF2B5EF4-FFF2-40B4-BE49-F238E27FC236}">
                <a16:creationId xmlns:a16="http://schemas.microsoft.com/office/drawing/2014/main" id="{D5655577-B1FD-438C-9219-CE8C48A5E4B8}"/>
              </a:ext>
            </a:extLst>
          </p:cNvPr>
          <p:cNvSpPr>
            <a:spLocks xmlns:a="http://schemas.openxmlformats.org/drawingml/2006/main" noGrp="1"/>
          </p:cNvSpPr>
          <p:nvPr/>
        </p:nvSpPr>
        <p:spPr>
          <a:xfrm xmlns:a="http://schemas.openxmlformats.org/drawingml/2006/main">
            <a:off x="609600" y="4133850"/>
            <a:ext cx="2095500" cy="685800"/>
          </a:xfrm>
          <a:prstGeom xmlns:a="http://schemas.openxmlformats.org/drawingml/2006/main" prst="roundRect">
            <a:avLst>
              <a:gd name="adj" fmla="val 11111"/>
            </a:avLst>
          </a:prstGeom>
          <a:noFill xmlns:a="http://schemas.openxmlformats.org/drawingml/2006/main"/>
          <a:ln xmlns:a="http://schemas.openxmlformats.org/drawingml/2006/main" w="9525">
            <a:solidFill>
              <a:srgbClr val="D8E2E8"/>
            </a:solidFill>
            <a:prstDash val="solid"/>
          </a:ln>
        </p:spPr>
      </p:sp>
      <p:cxnSp>
        <p:nvCxnSpPr>
          <p:cNvPr id="501" name=""/>
          <p:cNvCxnSpPr>
            <a:stCxn xmlns:a="http://schemas.openxmlformats.org/drawingml/2006/main" id="19" idx="2"/>
            <a:endCxn xmlns:a="http://schemas.openxmlformats.org/drawingml/2006/main" id="20" idx="0"/>
          </p:cNvCxnSpPr>
          <p:nvPr/>
        </p:nvCxnSpPr>
        <p:spPr>
          <a:xfrm xmlns:a="http://schemas.openxmlformats.org/drawingml/2006/main">
            <a:off x="1657350" y="2895600"/>
            <a:ext cx="0" cy="228600"/>
          </a:xfrm>
          <a:prstGeom xmlns:a="http://schemas.openxmlformats.org/drawingml/2006/main" prst="straightConnector1">
            <a:avLst/>
          </a:prstGeom>
          <a:ln xmlns:a="http://schemas.openxmlformats.org/drawingml/2006/main" w="14288">
            <a:solidFill>
              <a:srgbClr val="008A94"/>
            </a:solidFill>
            <a:prstDash val="solid"/>
            <a:headEnd type="none" w="med" len="med"/>
            <a:tailEnd type="arrow" w="med" len="med"/>
          </a:ln>
        </p:spPr>
      </p:cxnSp>
      <p:cxnSp>
        <p:nvCxnSpPr>
          <p:cNvPr id="502" name=""/>
          <p:cNvCxnSpPr>
            <a:stCxn xmlns:a="http://schemas.openxmlformats.org/drawingml/2006/main" id="20" idx="2"/>
            <a:endCxn xmlns:a="http://schemas.openxmlformats.org/drawingml/2006/main" id="21" idx="0"/>
          </p:cNvCxnSpPr>
          <p:nvPr/>
        </p:nvCxnSpPr>
        <p:spPr>
          <a:xfrm xmlns:a="http://schemas.openxmlformats.org/drawingml/2006/main">
            <a:off x="1657350" y="3905250"/>
            <a:ext cx="0" cy="228600"/>
          </a:xfrm>
          <a:prstGeom xmlns:a="http://schemas.openxmlformats.org/drawingml/2006/main" prst="straightConnector1">
            <a:avLst/>
          </a:prstGeom>
          <a:ln xmlns:a="http://schemas.openxmlformats.org/drawingml/2006/main" w="14288">
            <a:solidFill>
              <a:srgbClr val="008A94"/>
            </a:solidFill>
            <a:prstDash val="solid"/>
            <a:headEnd type="none" w="med" len="med"/>
            <a:tailEnd type="arrow" w="med" len="med"/>
          </a:ln>
        </p:spPr>
      </p:cxnSp>
      <p:sp>
        <p:nvSpPr>
          <p:cNvPr id="24" name="">
            <a:extLst xmlns:a="http://schemas.openxmlformats.org/drawingml/2006/main">
              <a:ext uri="{FF2B5EF4-FFF2-40B4-BE49-F238E27FC236}">
                <a16:creationId xmlns:a16="http://schemas.microsoft.com/office/drawing/2014/main" id="{7B03DB28-4173-4CEF-9C10-7484C9DF97A7}"/>
              </a:ext>
            </a:extLst>
          </p:cNvPr>
          <p:cNvSpPr>
            <a:spLocks xmlns:a="http://schemas.openxmlformats.org/drawingml/2006/main" noGrp="1"/>
          </p:cNvSpPr>
          <p:nvPr/>
        </p:nvSpPr>
        <p:spPr>
          <a:xfrm xmlns:a="http://schemas.openxmlformats.org/drawingml/2006/main">
            <a:off x="781050" y="24765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i="0">
                <a:solidFill>
                  <a:srgbClr val="1B2A4A"/>
                </a:solidFill>
              </a:defRPr>
            </a:pPr>
            <a:r>
              <a:rPr sz="1275" b="1" i="0">
                <a:solidFill>
                  <a:srgbClr val="1B2A4A"/>
                </a:solidFill>
              </a:rPr>
              <a:t>보험 구매자 / 플랜 주체</a:t>
            </a:r>
          </a:p>
        </p:txBody>
      </p:sp>
      <p:sp>
        <p:nvSpPr>
          <p:cNvPr id="25" name="">
            <a:extLst xmlns:a="http://schemas.openxmlformats.org/drawingml/2006/main">
              <a:ext uri="{FF2B5EF4-FFF2-40B4-BE49-F238E27FC236}">
                <a16:creationId xmlns:a16="http://schemas.microsoft.com/office/drawing/2014/main" id="{872F0D41-692C-4C27-A214-15934453B80F}"/>
              </a:ext>
            </a:extLst>
          </p:cNvPr>
          <p:cNvSpPr>
            <a:spLocks xmlns:a="http://schemas.openxmlformats.org/drawingml/2006/main" noGrp="1"/>
          </p:cNvSpPr>
          <p:nvPr/>
        </p:nvSpPr>
        <p:spPr>
          <a:xfrm xmlns:a="http://schemas.openxmlformats.org/drawingml/2006/main">
            <a:off x="781050" y="333375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63" b="1" i="0">
                <a:solidFill>
                  <a:srgbClr val="1B2A4A"/>
                </a:solidFill>
              </a:defRPr>
            </a:pPr>
            <a:r>
              <a:rPr sz="1163" b="1" i="0">
                <a:solidFill>
                  <a:srgbClr val="1B2A4A"/>
                </a:solidFill>
              </a:rPr>
              <a:t>브로커 / 복지 컨설턴트</a:t>
            </a:r>
          </a:p>
        </p:txBody>
      </p:sp>
      <p:sp>
        <p:nvSpPr>
          <p:cNvPr id="26" name="">
            <a:extLst xmlns:a="http://schemas.openxmlformats.org/drawingml/2006/main">
              <a:ext uri="{FF2B5EF4-FFF2-40B4-BE49-F238E27FC236}">
                <a16:creationId xmlns:a16="http://schemas.microsoft.com/office/drawing/2014/main" id="{ECF76D92-456B-4685-9BEB-631805C84C30}"/>
              </a:ext>
            </a:extLst>
          </p:cNvPr>
          <p:cNvSpPr>
            <a:spLocks xmlns:a="http://schemas.openxmlformats.org/drawingml/2006/main" noGrp="1"/>
          </p:cNvSpPr>
          <p:nvPr/>
        </p:nvSpPr>
        <p:spPr>
          <a:xfrm xmlns:a="http://schemas.openxmlformats.org/drawingml/2006/main">
            <a:off x="781050" y="43624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D99A24"/>
                </a:solidFill>
              </a:defRPr>
            </a:pPr>
            <a:r>
              <a:rPr sz="1200" b="1" i="0">
                <a:solidFill>
                  <a:srgbClr val="D99A24"/>
                </a:solidFill>
              </a:rPr>
              <a:t>보험사 / TPA / MCO 계약</a:t>
            </a:r>
          </a:p>
        </p:txBody>
      </p:sp>
      <p:sp>
        <p:nvSpPr>
          <p:cNvPr id="27" name="">
            <a:extLst xmlns:a="http://schemas.openxmlformats.org/drawingml/2006/main">
              <a:ext uri="{FF2B5EF4-FFF2-40B4-BE49-F238E27FC236}">
                <a16:creationId xmlns:a16="http://schemas.microsoft.com/office/drawing/2014/main" id="{7CA393C3-6AD3-41CD-B109-514F7DA7BC0B}"/>
              </a:ext>
            </a:extLst>
          </p:cNvPr>
          <p:cNvSpPr>
            <a:spLocks xmlns:a="http://schemas.openxmlformats.org/drawingml/2006/main" noGrp="1"/>
          </p:cNvSpPr>
          <p:nvPr/>
        </p:nvSpPr>
        <p:spPr>
          <a:xfrm xmlns:a="http://schemas.openxmlformats.org/drawingml/2006/main">
            <a:off x="3086100" y="1924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i="0">
                <a:solidFill>
                  <a:srgbClr val="29B5E8"/>
                </a:solidFill>
              </a:defRPr>
            </a:pPr>
            <a:r>
              <a:rPr sz="900" b="1" i="0">
                <a:solidFill>
                  <a:srgbClr val="29B5E8"/>
                </a:solidFill>
              </a:rPr>
              <a:t>보장 시장 + 비용 구조</a:t>
            </a:r>
          </a:p>
        </p:txBody>
      </p:sp>
      <p:sp>
        <p:nvSpPr>
          <p:cNvPr id="28" name="">
            <a:extLst xmlns:a="http://schemas.openxmlformats.org/drawingml/2006/main">
              <a:ext uri="{FF2B5EF4-FFF2-40B4-BE49-F238E27FC236}">
                <a16:creationId xmlns:a16="http://schemas.microsoft.com/office/drawing/2014/main" id="{EC620CEB-59F2-4FE5-8706-39D792516B6B}"/>
              </a:ext>
            </a:extLst>
          </p:cNvPr>
          <p:cNvSpPr>
            <a:spLocks xmlns:a="http://schemas.openxmlformats.org/drawingml/2006/main" noGrp="1"/>
          </p:cNvSpPr>
          <p:nvPr/>
        </p:nvSpPr>
        <p:spPr>
          <a:xfrm xmlns:a="http://schemas.openxmlformats.org/drawingml/2006/main">
            <a:off x="308610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9525">
            <a:solidFill>
              <a:srgbClr val="D8E2E8"/>
            </a:solidFill>
            <a:prstDash val="solid"/>
          </a:ln>
        </p:spPr>
      </p:sp>
      <p:sp>
        <p:nvSpPr>
          <p:cNvPr id="29" name="">
            <a:extLst xmlns:a="http://schemas.openxmlformats.org/drawingml/2006/main">
              <a:ext uri="{FF2B5EF4-FFF2-40B4-BE49-F238E27FC236}">
                <a16:creationId xmlns:a16="http://schemas.microsoft.com/office/drawing/2014/main" id="{B5B473AC-14A9-49C2-82DF-343B16745880}"/>
              </a:ext>
            </a:extLst>
          </p:cNvPr>
          <p:cNvSpPr>
            <a:spLocks xmlns:a="http://schemas.openxmlformats.org/drawingml/2006/main" noGrp="1"/>
          </p:cNvSpPr>
          <p:nvPr/>
        </p:nvSpPr>
        <p:spPr>
          <a:xfrm xmlns:a="http://schemas.openxmlformats.org/drawingml/2006/main">
            <a:off x="520065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9525">
            <a:solidFill>
              <a:srgbClr val="D8E2E8"/>
            </a:solidFill>
            <a:prstDash val="solid"/>
          </a:ln>
        </p:spPr>
      </p:sp>
      <p:sp>
        <p:nvSpPr>
          <p:cNvPr id="30" name="">
            <a:extLst xmlns:a="http://schemas.openxmlformats.org/drawingml/2006/main">
              <a:ext uri="{FF2B5EF4-FFF2-40B4-BE49-F238E27FC236}">
                <a16:creationId xmlns:a16="http://schemas.microsoft.com/office/drawing/2014/main" id="{6871750D-57FE-4415-9CD5-E05C3643738C}"/>
              </a:ext>
            </a:extLst>
          </p:cNvPr>
          <p:cNvSpPr>
            <a:spLocks xmlns:a="http://schemas.openxmlformats.org/drawingml/2006/main" noGrp="1"/>
          </p:cNvSpPr>
          <p:nvPr/>
        </p:nvSpPr>
        <p:spPr>
          <a:xfrm xmlns:a="http://schemas.openxmlformats.org/drawingml/2006/main">
            <a:off x="731520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9525">
            <a:solidFill>
              <a:srgbClr val="D8E2E8"/>
            </a:solidFill>
            <a:prstDash val="solid"/>
          </a:ln>
        </p:spPr>
      </p:sp>
      <p:sp>
        <p:nvSpPr>
          <p:cNvPr id="31" name="">
            <a:extLst xmlns:a="http://schemas.openxmlformats.org/drawingml/2006/main">
              <a:ext uri="{FF2B5EF4-FFF2-40B4-BE49-F238E27FC236}">
                <a16:creationId xmlns:a16="http://schemas.microsoft.com/office/drawing/2014/main" id="{65AF408A-6E67-4D31-BA94-2CF698932B81}"/>
              </a:ext>
            </a:extLst>
          </p:cNvPr>
          <p:cNvSpPr>
            <a:spLocks xmlns:a="http://schemas.openxmlformats.org/drawingml/2006/main" noGrp="1"/>
          </p:cNvSpPr>
          <p:nvPr/>
        </p:nvSpPr>
        <p:spPr>
          <a:xfrm xmlns:a="http://schemas.openxmlformats.org/drawingml/2006/main">
            <a:off x="942975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9525">
            <a:solidFill>
              <a:srgbClr val="D8E2E8"/>
            </a:solidFill>
            <a:prstDash val="solid"/>
          </a:ln>
        </p:spPr>
      </p:sp>
      <p:sp>
        <p:nvSpPr>
          <p:cNvPr id="32" name="">
            <a:extLst xmlns:a="http://schemas.openxmlformats.org/drawingml/2006/main">
              <a:ext uri="{FF2B5EF4-FFF2-40B4-BE49-F238E27FC236}">
                <a16:creationId xmlns:a16="http://schemas.microsoft.com/office/drawing/2014/main" id="{5B158E11-55E4-46DF-BC2D-EE27F1C0B581}"/>
              </a:ext>
            </a:extLst>
          </p:cNvPr>
          <p:cNvSpPr>
            <a:spLocks xmlns:a="http://schemas.openxmlformats.org/drawingml/2006/main" noGrp="1"/>
          </p:cNvSpPr>
          <p:nvPr/>
        </p:nvSpPr>
        <p:spPr>
          <a:xfrm xmlns:a="http://schemas.openxmlformats.org/drawingml/2006/main">
            <a:off x="32004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기업</a:t>
            </a:r>
          </a:p>
          <a:p xmlns:a="http://schemas.openxmlformats.org/drawingml/2006/main">
            <a:pPr algn="ctr">
              <a:buNone/>
              <a:defRPr sz="1125" b="1" i="0">
                <a:solidFill>
                  <a:srgbClr val="1B2A4A"/>
                </a:solidFill>
              </a:defRPr>
            </a:pPr>
            <a:r>
              <a:rPr sz="1125" b="1" i="0">
                <a:solidFill>
                  <a:srgbClr val="1B2A4A"/>
                </a:solidFill>
              </a:rPr>
              <a:t>보험형</a:t>
            </a:r>
          </a:p>
        </p:txBody>
      </p:sp>
      <p:sp>
        <p:nvSpPr>
          <p:cNvPr id="33" name="">
            <a:extLst xmlns:a="http://schemas.openxmlformats.org/drawingml/2006/main">
              <a:ext uri="{FF2B5EF4-FFF2-40B4-BE49-F238E27FC236}">
                <a16:creationId xmlns:a16="http://schemas.microsoft.com/office/drawing/2014/main" id="{8AE101E1-4F84-4584-B942-35E6C5F22317}"/>
              </a:ext>
            </a:extLst>
          </p:cNvPr>
          <p:cNvSpPr>
            <a:spLocks xmlns:a="http://schemas.openxmlformats.org/drawingml/2006/main" noGrp="1"/>
          </p:cNvSpPr>
          <p:nvPr/>
        </p:nvSpPr>
        <p:spPr>
          <a:xfrm xmlns:a="http://schemas.openxmlformats.org/drawingml/2006/main">
            <a:off x="53149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기업</a:t>
            </a:r>
          </a:p>
          <a:p xmlns:a="http://schemas.openxmlformats.org/drawingml/2006/main">
            <a:pPr algn="ctr">
              <a:buNone/>
              <a:defRPr sz="1125" b="1" i="0">
                <a:solidFill>
                  <a:srgbClr val="1B2A4A"/>
                </a:solidFill>
              </a:defRPr>
            </a:pPr>
            <a:r>
              <a:rPr sz="1125" b="1" i="0">
                <a:solidFill>
                  <a:srgbClr val="1B2A4A"/>
                </a:solidFill>
              </a:rPr>
              <a:t>자가부담형 / ASO</a:t>
            </a:r>
          </a:p>
        </p:txBody>
      </p:sp>
      <p:sp>
        <p:nvSpPr>
          <p:cNvPr id="34" name="">
            <a:extLst xmlns:a="http://schemas.openxmlformats.org/drawingml/2006/main">
              <a:ext uri="{FF2B5EF4-FFF2-40B4-BE49-F238E27FC236}">
                <a16:creationId xmlns:a16="http://schemas.microsoft.com/office/drawing/2014/main" id="{8EF04802-F1FA-4246-9105-DBED8221EE1E}"/>
              </a:ext>
            </a:extLst>
          </p:cNvPr>
          <p:cNvSpPr>
            <a:spLocks xmlns:a="http://schemas.openxmlformats.org/drawingml/2006/main" noGrp="1"/>
          </p:cNvSpPr>
          <p:nvPr/>
        </p:nvSpPr>
        <p:spPr>
          <a:xfrm xmlns:a="http://schemas.openxmlformats.org/drawingml/2006/main">
            <a:off x="74295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개인 / 가족</a:t>
            </a:r>
          </a:p>
          <a:p xmlns:a="http://schemas.openxmlformats.org/drawingml/2006/main">
            <a:pPr algn="ctr">
              <a:buNone/>
              <a:defRPr sz="1125" b="1" i="0">
                <a:solidFill>
                  <a:srgbClr val="1B2A4A"/>
                </a:solidFill>
              </a:defRPr>
            </a:pPr>
            <a:r>
              <a:rPr sz="1125" b="1" i="0">
                <a:solidFill>
                  <a:srgbClr val="1B2A4A"/>
                </a:solidFill>
              </a:rPr>
              <a:t>Marketplace·직접 가입</a:t>
            </a:r>
          </a:p>
        </p:txBody>
      </p:sp>
      <p:sp>
        <p:nvSpPr>
          <p:cNvPr id="35" name="">
            <a:extLst xmlns:a="http://schemas.openxmlformats.org/drawingml/2006/main">
              <a:ext uri="{FF2B5EF4-FFF2-40B4-BE49-F238E27FC236}">
                <a16:creationId xmlns:a16="http://schemas.microsoft.com/office/drawing/2014/main" id="{E975898B-8324-42BF-8F56-B7E8705253D5}"/>
              </a:ext>
            </a:extLst>
          </p:cNvPr>
          <p:cNvSpPr>
            <a:spLocks xmlns:a="http://schemas.openxmlformats.org/drawingml/2006/main" noGrp="1"/>
          </p:cNvSpPr>
          <p:nvPr/>
        </p:nvSpPr>
        <p:spPr>
          <a:xfrm xmlns:a="http://schemas.openxmlformats.org/drawingml/2006/main">
            <a:off x="95440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Medicaid / CHIP</a:t>
            </a:r>
          </a:p>
          <a:p xmlns:a="http://schemas.openxmlformats.org/drawingml/2006/main">
            <a:pPr algn="ctr">
              <a:buNone/>
              <a:defRPr sz="1125" b="1" i="0">
                <a:solidFill>
                  <a:srgbClr val="1B2A4A"/>
                </a:solidFill>
              </a:defRPr>
            </a:pPr>
            <a:r>
              <a:rPr sz="1125" b="1" i="0">
                <a:solidFill>
                  <a:srgbClr val="1B2A4A"/>
                </a:solidFill>
              </a:rPr>
              <a:t>주정부 + MCO</a:t>
            </a:r>
          </a:p>
        </p:txBody>
      </p:sp>
      <p:sp>
        <p:nvSpPr>
          <p:cNvPr id="36" name="">
            <a:extLst xmlns:a="http://schemas.openxmlformats.org/drawingml/2006/main">
              <a:ext uri="{FF2B5EF4-FFF2-40B4-BE49-F238E27FC236}">
                <a16:creationId xmlns:a16="http://schemas.microsoft.com/office/drawing/2014/main" id="{D6E2778A-1DAF-411C-8BB8-F387EFFE67F4}"/>
              </a:ext>
            </a:extLst>
          </p:cNvPr>
          <p:cNvSpPr>
            <a:spLocks xmlns:a="http://schemas.openxmlformats.org/drawingml/2006/main" noGrp="1"/>
          </p:cNvSpPr>
          <p:nvPr/>
        </p:nvSpPr>
        <p:spPr>
          <a:xfrm xmlns:a="http://schemas.openxmlformats.org/drawingml/2006/main">
            <a:off x="3086100" y="3257550"/>
            <a:ext cx="8229600" cy="1657350"/>
          </a:xfrm>
          <a:prstGeom xmlns:a="http://schemas.openxmlformats.org/drawingml/2006/main" prst="roundRect">
            <a:avLst>
              <a:gd name="adj" fmla="val 4598"/>
            </a:avLst>
          </a:prstGeom>
          <a:solidFill xmlns:a="http://schemas.openxmlformats.org/drawingml/2006/main">
            <a:srgbClr val="1B2A4A"/>
          </a:solidFill>
          <a:ln xmlns:a="http://schemas.openxmlformats.org/drawingml/2006/main" w="0">
            <a:solidFill>
              <a:srgbClr val="1B2A4A"/>
            </a:solidFill>
            <a:prstDash val="solid"/>
          </a:ln>
        </p:spPr>
      </p:sp>
      <p:cxnSp>
        <p:nvCxnSpPr>
          <p:cNvPr id="516" name=""/>
          <p:cNvCxnSpPr>
            <a:stCxn xmlns:a="http://schemas.openxmlformats.org/drawingml/2006/main" id="28" idx="2"/>
            <a:endCxn xmlns:a="http://schemas.openxmlformats.org/drawingml/2006/main" id="36" idx="0"/>
          </p:cNvCxnSpPr>
          <p:nvPr/>
        </p:nvCxnSpPr>
        <p:spPr>
          <a:xfrm xmlns:a="http://schemas.openxmlformats.org/drawingml/2006/main">
            <a:off x="4029075" y="2838450"/>
            <a:ext cx="3171825" cy="419100"/>
          </a:xfrm>
          <a:prstGeom xmlns:a="http://schemas.openxmlformats.org/drawingml/2006/main" prst="bentConnector4">
            <a:avLst>
              <a:gd name="adj1" fmla="val 0"/>
              <a:gd name="adj2" fmla="val 50000"/>
            </a:avLst>
          </a:prstGeom>
          <a:ln xmlns:a="http://schemas.openxmlformats.org/drawingml/2006/main" w="9525">
            <a:solidFill>
              <a:srgbClr val="D8E2E8"/>
            </a:solidFill>
            <a:prstDash val="solid"/>
            <a:headEnd type="none" w="med" len="med"/>
            <a:tailEnd type="arrow" w="med" len="med"/>
          </a:ln>
        </p:spPr>
      </p:cxnSp>
      <p:cxnSp>
        <p:nvCxnSpPr>
          <p:cNvPr id="517" name=""/>
          <p:cNvCxnSpPr>
            <a:stCxn xmlns:a="http://schemas.openxmlformats.org/drawingml/2006/main" id="29" idx="2"/>
            <a:endCxn xmlns:a="http://schemas.openxmlformats.org/drawingml/2006/main" id="36" idx="0"/>
          </p:cNvCxnSpPr>
          <p:nvPr/>
        </p:nvCxnSpPr>
        <p:spPr>
          <a:xfrm xmlns:a="http://schemas.openxmlformats.org/drawingml/2006/main">
            <a:off x="6143625" y="2838450"/>
            <a:ext cx="1057275" cy="419100"/>
          </a:xfrm>
          <a:prstGeom xmlns:a="http://schemas.openxmlformats.org/drawingml/2006/main" prst="bentConnector4">
            <a:avLst>
              <a:gd name="adj1" fmla="val 0"/>
              <a:gd name="adj2" fmla="val 50000"/>
            </a:avLst>
          </a:prstGeom>
          <a:ln xmlns:a="http://schemas.openxmlformats.org/drawingml/2006/main" w="9525">
            <a:solidFill>
              <a:srgbClr val="D8E2E8"/>
            </a:solidFill>
            <a:prstDash val="solid"/>
            <a:headEnd type="none" w="med" len="med"/>
            <a:tailEnd type="arrow" w="med" len="med"/>
          </a:ln>
        </p:spPr>
      </p:cxnSp>
      <p:cxnSp>
        <p:nvCxnSpPr>
          <p:cNvPr id="518" name=""/>
          <p:cNvCxnSpPr>
            <a:stCxn xmlns:a="http://schemas.openxmlformats.org/drawingml/2006/main" id="30" idx="2"/>
            <a:endCxn xmlns:a="http://schemas.openxmlformats.org/drawingml/2006/main" id="36" idx="0"/>
          </p:cNvCxnSpPr>
          <p:nvPr/>
        </p:nvCxnSpPr>
        <p:spPr>
          <a:xfrm xmlns:a="http://schemas.openxmlformats.org/drawingml/2006/main" flipH="1">
            <a:off x="7200900" y="2838450"/>
            <a:ext cx="1057275" cy="419100"/>
          </a:xfrm>
          <a:prstGeom xmlns:a="http://schemas.openxmlformats.org/drawingml/2006/main" prst="bentConnector4">
            <a:avLst>
              <a:gd name="adj1" fmla="val 0"/>
              <a:gd name="adj2" fmla="val 50000"/>
            </a:avLst>
          </a:prstGeom>
          <a:ln xmlns:a="http://schemas.openxmlformats.org/drawingml/2006/main" w="9525">
            <a:solidFill>
              <a:srgbClr val="D8E2E8"/>
            </a:solidFill>
            <a:prstDash val="solid"/>
            <a:headEnd type="none" w="med" len="med"/>
            <a:tailEnd type="arrow" w="med" len="med"/>
          </a:ln>
        </p:spPr>
      </p:cxnSp>
      <p:cxnSp>
        <p:nvCxnSpPr>
          <p:cNvPr id="519" name=""/>
          <p:cNvCxnSpPr>
            <a:stCxn xmlns:a="http://schemas.openxmlformats.org/drawingml/2006/main" id="31" idx="2"/>
            <a:endCxn xmlns:a="http://schemas.openxmlformats.org/drawingml/2006/main" id="36" idx="0"/>
          </p:cNvCxnSpPr>
          <p:nvPr/>
        </p:nvCxnSpPr>
        <p:spPr>
          <a:xfrm xmlns:a="http://schemas.openxmlformats.org/drawingml/2006/main" flipH="1">
            <a:off x="7200900" y="2838450"/>
            <a:ext cx="3171825" cy="419100"/>
          </a:xfrm>
          <a:prstGeom xmlns:a="http://schemas.openxmlformats.org/drawingml/2006/main" prst="bentConnector4">
            <a:avLst>
              <a:gd name="adj1" fmla="val 0"/>
              <a:gd name="adj2" fmla="val 50000"/>
            </a:avLst>
          </a:prstGeom>
          <a:ln xmlns:a="http://schemas.openxmlformats.org/drawingml/2006/main" w="9525">
            <a:solidFill>
              <a:srgbClr val="D8E2E8"/>
            </a:solidFill>
            <a:prstDash val="solid"/>
            <a:headEnd type="none" w="med" len="med"/>
            <a:tailEnd type="arrow" w="med" len="med"/>
          </a:ln>
        </p:spPr>
      </p:cxnSp>
      <p:cxnSp>
        <p:nvCxnSpPr>
          <p:cNvPr id="520" name=""/>
          <p:cNvCxnSpPr>
            <a:stCxn xmlns:a="http://schemas.openxmlformats.org/drawingml/2006/main" id="21" idx="3"/>
            <a:endCxn xmlns:a="http://schemas.openxmlformats.org/drawingml/2006/main" id="36" idx="1"/>
          </p:cNvCxnSpPr>
          <p:nvPr/>
        </p:nvCxnSpPr>
        <p:spPr>
          <a:xfrm xmlns:a="http://schemas.openxmlformats.org/drawingml/2006/main" flipV="1">
            <a:off x="2705100" y="4086225"/>
            <a:ext cx="381000" cy="390525"/>
          </a:xfrm>
          <a:prstGeom xmlns:a="http://schemas.openxmlformats.org/drawingml/2006/main" prst="bentConnector3">
            <a:avLst>
              <a:gd name="adj1" fmla="val 50000"/>
            </a:avLst>
          </a:prstGeom>
          <a:ln xmlns:a="http://schemas.openxmlformats.org/drawingml/2006/main" w="9525">
            <a:solidFill>
              <a:srgbClr val="D8E2E8"/>
            </a:solidFill>
            <a:prstDash val="solid"/>
            <a:headEnd type="none" w="med" len="med"/>
            <a:tailEnd type="arrow" w="med" len="med"/>
          </a:ln>
        </p:spPr>
      </p:cxnSp>
      <p:sp>
        <p:nvSpPr>
          <p:cNvPr id="42" name="">
            <a:extLst xmlns:a="http://schemas.openxmlformats.org/drawingml/2006/main">
              <a:ext uri="{FF2B5EF4-FFF2-40B4-BE49-F238E27FC236}">
                <a16:creationId xmlns:a16="http://schemas.microsoft.com/office/drawing/2014/main" id="{1F8564F5-D4EF-466C-B75A-28FA93CEE825}"/>
              </a:ext>
            </a:extLst>
          </p:cNvPr>
          <p:cNvSpPr>
            <a:spLocks xmlns:a="http://schemas.openxmlformats.org/drawingml/2006/main" noGrp="1"/>
          </p:cNvSpPr>
          <p:nvPr/>
        </p:nvSpPr>
        <p:spPr>
          <a:xfrm xmlns:a="http://schemas.openxmlformats.org/drawingml/2006/main">
            <a:off x="3333750" y="34480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FFFFFF"/>
                </a:solidFill>
              </a:defRPr>
            </a:pPr>
            <a:r>
              <a:rPr sz="1650" b="1" i="0">
                <a:solidFill>
                  <a:srgbClr val="FFFFFF"/>
                </a:solidFill>
              </a:rPr>
              <a:t>치아보험 운영 레이어</a:t>
            </a:r>
          </a:p>
        </p:txBody>
      </p:sp>
      <p:sp>
        <p:nvSpPr>
          <p:cNvPr id="43" name="">
            <a:extLst xmlns:a="http://schemas.openxmlformats.org/drawingml/2006/main">
              <a:ext uri="{FF2B5EF4-FFF2-40B4-BE49-F238E27FC236}">
                <a16:creationId xmlns:a16="http://schemas.microsoft.com/office/drawing/2014/main" id="{38DAA77B-F7E8-45C0-95E0-4F61A3C8EFD6}"/>
              </a:ext>
            </a:extLst>
          </p:cNvPr>
          <p:cNvSpPr>
            <a:spLocks xmlns:a="http://schemas.openxmlformats.org/drawingml/2006/main" noGrp="1"/>
          </p:cNvSpPr>
          <p:nvPr/>
        </p:nvSpPr>
        <p:spPr>
          <a:xfrm xmlns:a="http://schemas.openxmlformats.org/drawingml/2006/main">
            <a:off x="33337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29B5E8"/>
                </a:solidFill>
              </a:defRPr>
            </a:pPr>
            <a:r>
              <a:rPr sz="1200" b="1" i="0">
                <a:solidFill>
                  <a:srgbClr val="29B5E8"/>
                </a:solidFill>
              </a:rPr>
              <a:t>비용 부담</a:t>
            </a:r>
          </a:p>
        </p:txBody>
      </p:sp>
      <p:sp>
        <p:nvSpPr>
          <p:cNvPr id="44" name="">
            <a:extLst xmlns:a="http://schemas.openxmlformats.org/drawingml/2006/main">
              <a:ext uri="{FF2B5EF4-FFF2-40B4-BE49-F238E27FC236}">
                <a16:creationId xmlns:a16="http://schemas.microsoft.com/office/drawing/2014/main" id="{9D37BAF7-2889-4248-970D-BDB2CCF03718}"/>
              </a:ext>
            </a:extLst>
          </p:cNvPr>
          <p:cNvSpPr>
            <a:spLocks xmlns:a="http://schemas.openxmlformats.org/drawingml/2006/main" noGrp="1"/>
          </p:cNvSpPr>
          <p:nvPr/>
        </p:nvSpPr>
        <p:spPr>
          <a:xfrm xmlns:a="http://schemas.openxmlformats.org/drawingml/2006/main">
            <a:off x="3333750" y="42195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D9E2F0"/>
                </a:solidFill>
              </a:defRPr>
            </a:pPr>
            <a:r>
              <a:rPr sz="1088" b="0" i="0">
                <a:solidFill>
                  <a:srgbClr val="D9E2F0"/>
                </a:solidFill>
              </a:rPr>
              <a:t>누가 치아보험 청구비용을 부담하는가</a:t>
            </a:r>
          </a:p>
        </p:txBody>
      </p:sp>
      <p:sp>
        <p:nvSpPr>
          <p:cNvPr id="45" name="">
            <a:extLst xmlns:a="http://schemas.openxmlformats.org/drawingml/2006/main">
              <a:ext uri="{FF2B5EF4-FFF2-40B4-BE49-F238E27FC236}">
                <a16:creationId xmlns:a16="http://schemas.microsoft.com/office/drawing/2014/main" id="{52673420-E381-4E51-9ADD-66360EB5262B}"/>
              </a:ext>
            </a:extLst>
          </p:cNvPr>
          <p:cNvSpPr>
            <a:spLocks xmlns:a="http://schemas.openxmlformats.org/drawingml/2006/main" noGrp="1"/>
          </p:cNvSpPr>
          <p:nvPr/>
        </p:nvSpPr>
        <p:spPr>
          <a:xfrm xmlns:a="http://schemas.openxmlformats.org/drawingml/2006/main">
            <a:off x="58102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FF7A79"/>
                </a:solidFill>
              </a:defRPr>
            </a:pPr>
            <a:r>
              <a:rPr sz="1200" b="1" i="0">
                <a:solidFill>
                  <a:srgbClr val="FF7A79"/>
                </a:solidFill>
              </a:rPr>
              <a:t>운영</a:t>
            </a:r>
          </a:p>
        </p:txBody>
      </p:sp>
      <p:sp>
        <p:nvSpPr>
          <p:cNvPr id="46" name="">
            <a:extLst xmlns:a="http://schemas.openxmlformats.org/drawingml/2006/main">
              <a:ext uri="{FF2B5EF4-FFF2-40B4-BE49-F238E27FC236}">
                <a16:creationId xmlns:a16="http://schemas.microsoft.com/office/drawing/2014/main" id="{7989B2BE-E37A-4F13-819B-8A61E2DDB54F}"/>
              </a:ext>
            </a:extLst>
          </p:cNvPr>
          <p:cNvSpPr>
            <a:spLocks xmlns:a="http://schemas.openxmlformats.org/drawingml/2006/main" noGrp="1"/>
          </p:cNvSpPr>
          <p:nvPr/>
        </p:nvSpPr>
        <p:spPr>
          <a:xfrm xmlns:a="http://schemas.openxmlformats.org/drawingml/2006/main">
            <a:off x="5810250" y="4219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D9E2F0"/>
                </a:solidFill>
              </a:defRPr>
            </a:pPr>
            <a:r>
              <a:rPr sz="1088" b="0" i="0">
                <a:solidFill>
                  <a:srgbClr val="D9E2F0"/>
                </a:solidFill>
              </a:rPr>
              <a:t>가입 자격 + 혜택 + 네트워크</a:t>
            </a:r>
          </a:p>
        </p:txBody>
      </p:sp>
      <p:sp>
        <p:nvSpPr>
          <p:cNvPr id="47" name="">
            <a:extLst xmlns:a="http://schemas.openxmlformats.org/drawingml/2006/main">
              <a:ext uri="{FF2B5EF4-FFF2-40B4-BE49-F238E27FC236}">
                <a16:creationId xmlns:a16="http://schemas.microsoft.com/office/drawing/2014/main" id="{8B2DF981-30CA-4951-AB19-F2D5DCC186BB}"/>
              </a:ext>
            </a:extLst>
          </p:cNvPr>
          <p:cNvSpPr>
            <a:spLocks xmlns:a="http://schemas.openxmlformats.org/drawingml/2006/main" noGrp="1"/>
          </p:cNvSpPr>
          <p:nvPr/>
        </p:nvSpPr>
        <p:spPr>
          <a:xfrm xmlns:a="http://schemas.openxmlformats.org/drawingml/2006/main">
            <a:off x="83629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87D7D7"/>
                </a:solidFill>
              </a:defRPr>
            </a:pPr>
            <a:r>
              <a:rPr sz="1200" b="1" i="0">
                <a:solidFill>
                  <a:srgbClr val="87D7D7"/>
                </a:solidFill>
              </a:rPr>
              <a:t>청구 + 데이터</a:t>
            </a:r>
          </a:p>
        </p:txBody>
      </p:sp>
      <p:sp>
        <p:nvSpPr>
          <p:cNvPr id="48" name="">
            <a:extLst xmlns:a="http://schemas.openxmlformats.org/drawingml/2006/main">
              <a:ext uri="{FF2B5EF4-FFF2-40B4-BE49-F238E27FC236}">
                <a16:creationId xmlns:a16="http://schemas.microsoft.com/office/drawing/2014/main" id="{33A3E90F-A726-4E76-92A0-F31D7A6A66B8}"/>
              </a:ext>
            </a:extLst>
          </p:cNvPr>
          <p:cNvSpPr>
            <a:spLocks xmlns:a="http://schemas.openxmlformats.org/drawingml/2006/main" noGrp="1"/>
          </p:cNvSpPr>
          <p:nvPr/>
        </p:nvSpPr>
        <p:spPr>
          <a:xfrm xmlns:a="http://schemas.openxmlformats.org/drawingml/2006/main">
            <a:off x="8362950" y="42195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D9E2F0"/>
                </a:solidFill>
              </a:defRPr>
            </a:pPr>
            <a:r>
              <a:rPr sz="1088" b="0" i="0">
                <a:solidFill>
                  <a:srgbClr val="D9E2F0"/>
                </a:solidFill>
              </a:rPr>
              <a:t>심사 + EOB + 청구 항목</a:t>
            </a:r>
          </a:p>
        </p:txBody>
      </p:sp>
      <p:sp>
        <p:nvSpPr>
          <p:cNvPr id="49" name="">
            <a:extLst xmlns:a="http://schemas.openxmlformats.org/drawingml/2006/main">
              <a:ext uri="{FF2B5EF4-FFF2-40B4-BE49-F238E27FC236}">
                <a16:creationId xmlns:a16="http://schemas.microsoft.com/office/drawing/2014/main" id="{484F342B-3F61-44EB-8E24-49033E18B91F}"/>
              </a:ext>
            </a:extLst>
          </p:cNvPr>
          <p:cNvSpPr>
            <a:spLocks xmlns:a="http://schemas.openxmlformats.org/drawingml/2006/main" noGrp="1"/>
          </p:cNvSpPr>
          <p:nvPr/>
        </p:nvSpPr>
        <p:spPr>
          <a:xfrm xmlns:a="http://schemas.openxmlformats.org/drawingml/2006/main">
            <a:off x="723900" y="49911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D99A24"/>
                </a:solidFill>
              </a:defRPr>
            </a:pPr>
            <a:r>
              <a:rPr sz="1013" b="0" i="0">
                <a:solidFill>
                  <a:srgbClr val="D99A24"/>
                </a:solidFill>
              </a:rPr>
              <a:t>비용 구조, 네트워크, 혜택 규칙, 데이터 권리와 보고 범위를 정합니다.</a:t>
            </a:r>
          </a:p>
        </p:txBody>
      </p:sp>
      <p:sp>
        <p:nvSpPr>
          <p:cNvPr id="50" name="">
            <a:extLst xmlns:a="http://schemas.openxmlformats.org/drawingml/2006/main">
              <a:ext uri="{FF2B5EF4-FFF2-40B4-BE49-F238E27FC236}">
                <a16:creationId xmlns:a16="http://schemas.microsoft.com/office/drawing/2014/main" id="{D2F7A318-3829-4430-A654-2062F4F14A24}"/>
              </a:ext>
            </a:extLst>
          </p:cNvPr>
          <p:cNvSpPr>
            <a:spLocks xmlns:a="http://schemas.openxmlformats.org/drawingml/2006/main" noGrp="1"/>
          </p:cNvSpPr>
          <p:nvPr/>
        </p:nvSpPr>
        <p:spPr>
          <a:xfrm xmlns:a="http://schemas.openxmlformats.org/drawingml/2006/main">
            <a:off x="7010400" y="5257800"/>
            <a:ext cx="4305300" cy="685800"/>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sp>
      <p:cxnSp>
        <p:nvCxnSpPr>
          <p:cNvPr id="530" name=""/>
          <p:cNvCxnSpPr>
            <a:stCxn xmlns:a="http://schemas.openxmlformats.org/drawingml/2006/main" id="36" idx="2"/>
            <a:endCxn xmlns:a="http://schemas.openxmlformats.org/drawingml/2006/main" id="50" idx="0"/>
          </p:cNvCxnSpPr>
          <p:nvPr/>
        </p:nvCxnSpPr>
        <p:spPr>
          <a:xfrm xmlns:a="http://schemas.openxmlformats.org/drawingml/2006/main">
            <a:off x="7200900" y="4914900"/>
            <a:ext cx="1962150" cy="342900"/>
          </a:xfrm>
          <a:prstGeom xmlns:a="http://schemas.openxmlformats.org/drawingml/2006/main" prst="straightConnector1">
            <a:avLst/>
          </a:prstGeom>
          <a:ln xmlns:a="http://schemas.openxmlformats.org/drawingml/2006/main" w="19050">
            <a:solidFill>
              <a:srgbClr val="007A87"/>
            </a:solidFill>
            <a:prstDash val="solid"/>
            <a:headEnd type="none" w="med" len="med"/>
            <a:tailEnd type="arrow" w="med" len="med"/>
          </a:ln>
        </p:spPr>
      </p:cxnSp>
      <p:sp>
        <p:nvSpPr>
          <p:cNvPr id="52" name="">
            <a:extLst xmlns:a="http://schemas.openxmlformats.org/drawingml/2006/main">
              <a:ext uri="{FF2B5EF4-FFF2-40B4-BE49-F238E27FC236}">
                <a16:creationId xmlns:a16="http://schemas.microsoft.com/office/drawing/2014/main" id="{92B42551-4DAB-4DB7-8E68-2E10F04DDE16}"/>
              </a:ext>
            </a:extLst>
          </p:cNvPr>
          <p:cNvSpPr>
            <a:spLocks xmlns:a="http://schemas.openxmlformats.org/drawingml/2006/main" noGrp="1"/>
          </p:cNvSpPr>
          <p:nvPr/>
        </p:nvSpPr>
        <p:spPr>
          <a:xfrm xmlns:a="http://schemas.openxmlformats.org/drawingml/2006/main">
            <a:off x="7200900" y="5438775"/>
            <a:ext cx="3924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7A87"/>
                </a:solidFill>
              </a:defRPr>
            </a:pPr>
            <a:r>
              <a:rPr sz="1350" b="1" i="0">
                <a:solidFill>
                  <a:srgbClr val="007A87"/>
                </a:solidFill>
              </a:rPr>
              <a:t>수혜자 + 치과</a:t>
            </a:r>
          </a:p>
        </p:txBody>
      </p:sp>
      <p:sp>
        <p:nvSpPr>
          <p:cNvPr id="53" name="">
            <a:extLst xmlns:a="http://schemas.openxmlformats.org/drawingml/2006/main">
              <a:ext uri="{FF2B5EF4-FFF2-40B4-BE49-F238E27FC236}">
                <a16:creationId xmlns:a16="http://schemas.microsoft.com/office/drawing/2014/main" id="{FFB52863-3F33-4B04-9EAB-BF7F5698508F}"/>
              </a:ext>
            </a:extLst>
          </p:cNvPr>
          <p:cNvSpPr>
            <a:spLocks xmlns:a="http://schemas.openxmlformats.org/drawingml/2006/main" noGrp="1"/>
          </p:cNvSpPr>
          <p:nvPr/>
        </p:nvSpPr>
        <p:spPr>
          <a:xfrm xmlns:a="http://schemas.openxmlformats.org/drawingml/2006/main">
            <a:off x="7200900" y="5695950"/>
            <a:ext cx="392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b="0" i="0">
                <a:solidFill>
                  <a:srgbClr val="5B6B82"/>
                </a:solidFill>
              </a:defRPr>
            </a:pPr>
            <a:r>
              <a:rPr sz="1013" b="0" i="0">
                <a:solidFill>
                  <a:srgbClr val="5B6B82"/>
                </a:solidFill>
              </a:rPr>
              <a:t>임직원·가족은 진료를 받고, 치과는 청구합니다.</a:t>
            </a:r>
          </a:p>
        </p:txBody>
      </p:sp>
      <p:sp>
        <p:nvSpPr>
          <p:cNvPr id="54" name="">
            <a:extLst xmlns:a="http://schemas.openxmlformats.org/drawingml/2006/main">
              <a:ext uri="{FF2B5EF4-FFF2-40B4-BE49-F238E27FC236}">
                <a16:creationId xmlns:a16="http://schemas.microsoft.com/office/drawing/2014/main" id="{6045B50E-53AC-4EBA-961C-EA01CD0D7F73}"/>
              </a:ext>
            </a:extLst>
          </p:cNvPr>
          <p:cNvSpPr>
            <a:spLocks xmlns:a="http://schemas.openxmlformats.org/drawingml/2006/main" noGrp="1"/>
          </p:cNvSpPr>
          <p:nvPr/>
        </p:nvSpPr>
        <p:spPr>
          <a:xfrm xmlns:a="http://schemas.openxmlformats.org/drawingml/2006/main">
            <a:off x="3086100" y="6057900"/>
            <a:ext cx="8229600" cy="285750"/>
          </a:xfrm>
          <a:prstGeom xmlns:a="http://schemas.openxmlformats.org/drawingml/2006/main" prst="roundRect">
            <a:avLst>
              <a:gd name="adj" fmla="val 26667"/>
            </a:avLst>
          </a:prstGeom>
          <a:noFill xmlns:a="http://schemas.openxmlformats.org/drawingml/2006/main"/>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352E8C9F-F863-46D0-91DE-92A985A17613}"/>
              </a:ext>
            </a:extLst>
          </p:cNvPr>
          <p:cNvSpPr>
            <a:spLocks xmlns:a="http://schemas.openxmlformats.org/drawingml/2006/main" noGrp="1"/>
          </p:cNvSpPr>
          <p:nvPr/>
        </p:nvSpPr>
        <p:spPr>
          <a:xfrm xmlns:a="http://schemas.openxmlformats.org/drawingml/2006/main">
            <a:off x="609600" y="60579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008A94"/>
                </a:solidFill>
              </a:defRPr>
            </a:pPr>
            <a:r>
              <a:rPr sz="1275" b="0" i="0">
                <a:solidFill>
                  <a:srgbClr val="008A94"/>
                </a:solidFill>
              </a:rPr>
              <a:t>현재 PoC 범위: 미국 self-funded employer + 치아보험사/TPA + 임직원·가족</a:t>
            </a:r>
          </a:p>
        </p:txBody>
      </p:sp>
    </p:spTree>
    <p:extLst>
      <p:ext uri="{BB962C8B-B14F-4D97-AF65-F5344CB8AC3E}">
        <p14:creationId xmlns:p14="http://schemas.microsoft.com/office/powerpoint/2010/main" val="13074395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9CE1836-8B27-4A6A-B244-02DB89820280}"/>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24E86CF1-F25E-4E33-BCEE-B9FAEA6F73B9}"/>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C8FCA4-6357-44E8-8477-58B577017B3A}"/>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143395-539E-41EB-8E53-4C8AF2BBC025}"/>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ICLO 제품 설계 원칙 / Snowflake 요청</a:t>
            </a:r>
          </a:p>
        </p:txBody>
      </p:sp>
      <p:sp>
        <p:nvSpPr>
          <p:cNvPr id="5" name="">
            <a:extLst xmlns:a="http://schemas.openxmlformats.org/drawingml/2006/main">
              <a:ext uri="{FF2B5EF4-FFF2-40B4-BE49-F238E27FC236}">
                <a16:creationId xmlns:a16="http://schemas.microsoft.com/office/drawing/2014/main" id="{9C5D9C13-AEC1-4DCD-B582-945D4C89B95C}"/>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1DC32E-DB30-4481-B8F1-2459FB2608EE}"/>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8BB3700-3B07-4D45-BE91-DBFAB043678D}"/>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13" b="1" i="0">
                <a:solidFill>
                  <a:srgbClr val="29B5E8"/>
                </a:solidFill>
              </a:defRPr>
            </a:pPr>
            <a:r>
              <a:rPr sz="713" b="1" i="0">
                <a:solidFill>
                  <a:srgbClr val="29B5E8"/>
                </a:solidFill>
              </a:rPr>
              <a:t/>
            </a:r>
          </a:p>
        </p:txBody>
      </p:sp>
      <p:sp>
        <p:nvSpPr>
          <p:cNvPr id="8" name="">
            <a:extLst xmlns:a="http://schemas.openxmlformats.org/drawingml/2006/main">
              <a:ext uri="{FF2B5EF4-FFF2-40B4-BE49-F238E27FC236}">
                <a16:creationId xmlns:a16="http://schemas.microsoft.com/office/drawing/2014/main" id="{242ECB0A-A066-488A-BE40-F4DDFAA8141D}"/>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근거 레이어를 Snowflake 위에서 통제합니다</a:t>
            </a:r>
          </a:p>
        </p:txBody>
      </p:sp>
      <p:sp>
        <p:nvSpPr>
          <p:cNvPr id="9" name="">
            <a:extLst xmlns:a="http://schemas.openxmlformats.org/drawingml/2006/main">
              <a:ext uri="{FF2B5EF4-FFF2-40B4-BE49-F238E27FC236}">
                <a16:creationId xmlns:a16="http://schemas.microsoft.com/office/drawing/2014/main" id="{3245EDD3-523E-4D07-B6E0-9D8C40D169CD}"/>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가입·플랜·이용·청구 데이터는 Snowflake에서 관리하고, 원본 사진과 임직원별 진료 경로는 기업 화면 밖에 둡니다.</a:t>
            </a:r>
          </a:p>
        </p:txBody>
      </p:sp>
      <p:sp>
        <p:nvSpPr>
          <p:cNvPr id="10" name="">
            <a:extLst xmlns:a="http://schemas.openxmlformats.org/drawingml/2006/main">
              <a:ext uri="{FF2B5EF4-FFF2-40B4-BE49-F238E27FC236}">
                <a16:creationId xmlns:a16="http://schemas.microsoft.com/office/drawing/2014/main" id="{16E9B8BD-58DC-4FDC-B8F3-4F55D9D3C98B}"/>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15279F21-AE65-468B-9839-78449C61A9BC}"/>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6414B804-E09D-4A9F-ABB9-3BA609AB9A5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92" name=""/>
          <p:cNvPicPr>
            <a:picLocks xmlns:a="http://schemas.openxmlformats.org/drawingml/2006/main" noChangeAspect="1"/>
          </p:cNvPicPr>
          <p:nvPr/>
        </p:nvPicPr>
        <p:blipFill>
          <a:blip xmlns:r="http://schemas.openxmlformats.org/officeDocument/2006/relationships" xmlns:a="http://schemas.openxmlformats.org/drawingml/2006/main" r:embed="Rc39c0439e67b4f42"/>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7047387-F6A6-4A4B-B4DB-13E42B98087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494" name=""/>
          <p:cNvPicPr>
            <a:picLocks xmlns:a="http://schemas.openxmlformats.org/drawingml/2006/main" noChangeAspect="1"/>
          </p:cNvPicPr>
          <p:nvPr/>
        </p:nvPicPr>
        <p:blipFill>
          <a:blip xmlns:r="http://schemas.openxmlformats.org/officeDocument/2006/relationships" xmlns:a="http://schemas.openxmlformats.org/drawingml/2006/main" r:embed="R7aeff87288754554"/>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8928C4D-4716-4F52-B401-8186C3C45B76}"/>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7" name="">
            <a:extLst xmlns:a="http://schemas.openxmlformats.org/drawingml/2006/main">
              <a:ext uri="{FF2B5EF4-FFF2-40B4-BE49-F238E27FC236}">
                <a16:creationId xmlns:a16="http://schemas.microsoft.com/office/drawing/2014/main" id="{8D2F5E33-7A47-4541-AD35-9EC5661690A1}"/>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06</a:t>
            </a:r>
          </a:p>
        </p:txBody>
      </p:sp>
      <p:sp>
        <p:nvSpPr>
          <p:cNvPr id="18" name="">
            <a:extLst xmlns:a="http://schemas.openxmlformats.org/drawingml/2006/main">
              <a:ext uri="{FF2B5EF4-FFF2-40B4-BE49-F238E27FC236}">
                <a16:creationId xmlns:a16="http://schemas.microsoft.com/office/drawing/2014/main" id="{8A0EA7F3-17A7-4000-9F40-10A32970587D}"/>
              </a:ext>
            </a:extLst>
          </p:cNvPr>
          <p:cNvSpPr>
            <a:spLocks xmlns:a="http://schemas.openxmlformats.org/drawingml/2006/main" noGrp="1"/>
          </p:cNvSpPr>
          <p:nvPr/>
        </p:nvSpPr>
        <p:spPr>
          <a:xfrm xmlns:a="http://schemas.openxmlformats.org/drawingml/2006/main">
            <a:off x="609600" y="19240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D86464"/>
                </a:solidFill>
              </a:defRPr>
            </a:pPr>
            <a:r>
              <a:rPr sz="1388" b="1" i="0">
                <a:solidFill>
                  <a:srgbClr val="D86464"/>
                </a:solidFill>
              </a:rPr>
              <a:t>원본 이미지 경로</a:t>
            </a:r>
          </a:p>
        </p:txBody>
      </p:sp>
      <p:sp>
        <p:nvSpPr>
          <p:cNvPr id="19" name="">
            <a:extLst xmlns:a="http://schemas.openxmlformats.org/drawingml/2006/main">
              <a:ext uri="{FF2B5EF4-FFF2-40B4-BE49-F238E27FC236}">
                <a16:creationId xmlns:a16="http://schemas.microsoft.com/office/drawing/2014/main" id="{10065338-A514-4C2E-87AD-A9B0604875D9}"/>
              </a:ext>
            </a:extLst>
          </p:cNvPr>
          <p:cNvSpPr>
            <a:spLocks xmlns:a="http://schemas.openxmlformats.org/drawingml/2006/main" noGrp="1"/>
          </p:cNvSpPr>
          <p:nvPr/>
        </p:nvSpPr>
        <p:spPr>
          <a:xfrm xmlns:a="http://schemas.openxmlformats.org/drawingml/2006/main">
            <a:off x="609600" y="2266950"/>
            <a:ext cx="2095500" cy="628650"/>
          </a:xfrm>
          <a:prstGeom xmlns:a="http://schemas.openxmlformats.org/drawingml/2006/main" prst="roundRect">
            <a:avLst>
              <a:gd name="adj" fmla="val 12121"/>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EF8A95E-7F79-4026-95A8-5B8ADA44B6BF}"/>
              </a:ext>
            </a:extLst>
          </p:cNvPr>
          <p:cNvSpPr>
            <a:spLocks xmlns:a="http://schemas.openxmlformats.org/drawingml/2006/main" noGrp="1"/>
          </p:cNvSpPr>
          <p:nvPr/>
        </p:nvSpPr>
        <p:spPr>
          <a:xfrm xmlns:a="http://schemas.openxmlformats.org/drawingml/2006/main">
            <a:off x="609600" y="3124200"/>
            <a:ext cx="2095500" cy="781050"/>
          </a:xfrm>
          <a:prstGeom xmlns:a="http://schemas.openxmlformats.org/drawingml/2006/main" prst="roundRect">
            <a:avLst>
              <a:gd name="adj" fmla="val 9756"/>
            </a:avLst>
          </a:prstGeom>
          <a:noFill xmlns:a="http://schemas.openxmlformats.org/drawingml/2006/main"/>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5655577-B1FD-438C-9219-CE8C48A5E4B8}"/>
              </a:ext>
            </a:extLst>
          </p:cNvPr>
          <p:cNvSpPr>
            <a:spLocks xmlns:a="http://schemas.openxmlformats.org/drawingml/2006/main" noGrp="1"/>
          </p:cNvSpPr>
          <p:nvPr/>
        </p:nvSpPr>
        <p:spPr>
          <a:xfrm xmlns:a="http://schemas.openxmlformats.org/drawingml/2006/main">
            <a:off x="609600" y="4133850"/>
            <a:ext cx="2095500" cy="685800"/>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sp>
      <p:cxnSp>
        <p:nvCxnSpPr>
          <p:cNvPr id="501" name=""/>
          <p:cNvCxnSpPr>
            <a:stCxn xmlns:a="http://schemas.openxmlformats.org/drawingml/2006/main" id="19" idx="2"/>
            <a:endCxn xmlns:a="http://schemas.openxmlformats.org/drawingml/2006/main" id="20" idx="0"/>
          </p:cNvCxnSpPr>
          <p:nvPr/>
        </p:nvCxnSpPr>
        <p:spPr>
          <a:xfrm xmlns:a="http://schemas.openxmlformats.org/drawingml/2006/main">
            <a:off x="1657350" y="2895600"/>
            <a:ext cx="0" cy="228600"/>
          </a:xfrm>
          <a:prstGeom xmlns:a="http://schemas.openxmlformats.org/drawingml/2006/main" prst="straightConnector1">
            <a:avLst/>
          </a:prstGeom>
          <a:ln xmlns:a="http://schemas.openxmlformats.org/drawingml/2006/main" w="14288">
            <a:solidFill>
              <a:srgbClr val="D86464"/>
            </a:solidFill>
            <a:prstDash val="solid"/>
            <a:headEnd type="none" w="med" len="med"/>
            <a:tailEnd type="arrow" w="med" len="med"/>
          </a:ln>
        </p:spPr>
      </p:cxnSp>
      <p:cxnSp>
        <p:nvCxnSpPr>
          <p:cNvPr id="502" name=""/>
          <p:cNvCxnSpPr>
            <a:stCxn xmlns:a="http://schemas.openxmlformats.org/drawingml/2006/main" id="20" idx="2"/>
            <a:endCxn xmlns:a="http://schemas.openxmlformats.org/drawingml/2006/main" id="21" idx="0"/>
          </p:cNvCxnSpPr>
          <p:nvPr/>
        </p:nvCxnSpPr>
        <p:spPr>
          <a:xfrm xmlns:a="http://schemas.openxmlformats.org/drawingml/2006/main">
            <a:off x="1657350" y="3905250"/>
            <a:ext cx="0" cy="228600"/>
          </a:xfrm>
          <a:prstGeom xmlns:a="http://schemas.openxmlformats.org/drawingml/2006/main" prst="straightConnector1">
            <a:avLst/>
          </a:prstGeom>
          <a:ln xmlns:a="http://schemas.openxmlformats.org/drawingml/2006/main" w="14288">
            <a:solidFill>
              <a:srgbClr val="D86464"/>
            </a:solidFill>
            <a:prstDash val="solid"/>
            <a:headEnd type="none" w="med" len="med"/>
            <a:tailEnd type="arrow" w="med" len="med"/>
          </a:ln>
        </p:spPr>
      </p:cxnSp>
      <p:sp>
        <p:nvSpPr>
          <p:cNvPr id="24" name="">
            <a:extLst xmlns:a="http://schemas.openxmlformats.org/drawingml/2006/main">
              <a:ext uri="{FF2B5EF4-FFF2-40B4-BE49-F238E27FC236}">
                <a16:creationId xmlns:a16="http://schemas.microsoft.com/office/drawing/2014/main" id="{7B03DB28-4173-4CEF-9C10-7484C9DF97A7}"/>
              </a:ext>
            </a:extLst>
          </p:cNvPr>
          <p:cNvSpPr>
            <a:spLocks xmlns:a="http://schemas.openxmlformats.org/drawingml/2006/main" noGrp="1"/>
          </p:cNvSpPr>
          <p:nvPr/>
        </p:nvSpPr>
        <p:spPr>
          <a:xfrm xmlns:a="http://schemas.openxmlformats.org/drawingml/2006/main">
            <a:off x="781050" y="24765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i="0">
                <a:solidFill>
                  <a:srgbClr val="1B2A4A"/>
                </a:solidFill>
              </a:defRPr>
            </a:pPr>
            <a:r>
              <a:rPr sz="1275" b="1" i="0">
                <a:solidFill>
                  <a:srgbClr val="1B2A4A"/>
                </a:solidFill>
              </a:rPr>
              <a:t>원본 구강 이미지</a:t>
            </a:r>
          </a:p>
        </p:txBody>
      </p:sp>
      <p:sp>
        <p:nvSpPr>
          <p:cNvPr id="25" name="">
            <a:extLst xmlns:a="http://schemas.openxmlformats.org/drawingml/2006/main">
              <a:ext uri="{FF2B5EF4-FFF2-40B4-BE49-F238E27FC236}">
                <a16:creationId xmlns:a16="http://schemas.microsoft.com/office/drawing/2014/main" id="{872F0D41-692C-4C27-A214-15934453B80F}"/>
              </a:ext>
            </a:extLst>
          </p:cNvPr>
          <p:cNvSpPr>
            <a:spLocks xmlns:a="http://schemas.openxmlformats.org/drawingml/2006/main" noGrp="1"/>
          </p:cNvSpPr>
          <p:nvPr/>
        </p:nvSpPr>
        <p:spPr>
          <a:xfrm xmlns:a="http://schemas.openxmlformats.org/drawingml/2006/main">
            <a:off x="781050" y="333375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63" b="1" i="0">
                <a:solidFill>
                  <a:srgbClr val="1B2A4A"/>
                </a:solidFill>
              </a:defRPr>
            </a:pPr>
            <a:r>
              <a:rPr sz="1163" b="1" i="0">
                <a:solidFill>
                  <a:srgbClr val="1B2A4A"/>
                </a:solidFill>
              </a:rPr>
              <a:t>통제된 미국 저장소 / 개인건강정보 보관영역</a:t>
            </a:r>
          </a:p>
        </p:txBody>
      </p:sp>
      <p:sp>
        <p:nvSpPr>
          <p:cNvPr id="26" name="">
            <a:extLst xmlns:a="http://schemas.openxmlformats.org/drawingml/2006/main">
              <a:ext uri="{FF2B5EF4-FFF2-40B4-BE49-F238E27FC236}">
                <a16:creationId xmlns:a16="http://schemas.microsoft.com/office/drawing/2014/main" id="{ECF76D92-456B-4685-9BEB-631805C84C30}"/>
              </a:ext>
            </a:extLst>
          </p:cNvPr>
          <p:cNvSpPr>
            <a:spLocks xmlns:a="http://schemas.openxmlformats.org/drawingml/2006/main" noGrp="1"/>
          </p:cNvSpPr>
          <p:nvPr/>
        </p:nvSpPr>
        <p:spPr>
          <a:xfrm xmlns:a="http://schemas.openxmlformats.org/drawingml/2006/main">
            <a:off x="781050" y="43624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88" b="1" i="0">
                <a:solidFill>
                  <a:srgbClr val="D86464"/>
                </a:solidFill>
              </a:defRPr>
            </a:pPr>
            <a:r>
              <a:rPr sz="1388" b="1" i="0">
                <a:solidFill>
                  <a:srgbClr val="D86464"/>
                </a:solidFill>
              </a:rPr>
              <a:t>그림자 모드 분석</a:t>
            </a:r>
          </a:p>
        </p:txBody>
      </p:sp>
      <p:sp>
        <p:nvSpPr>
          <p:cNvPr id="27" name="">
            <a:extLst xmlns:a="http://schemas.openxmlformats.org/drawingml/2006/main">
              <a:ext uri="{FF2B5EF4-FFF2-40B4-BE49-F238E27FC236}">
                <a16:creationId xmlns:a16="http://schemas.microsoft.com/office/drawing/2014/main" id="{7CA393C3-6AD3-41CD-B109-514F7DA7BC0B}"/>
              </a:ext>
            </a:extLst>
          </p:cNvPr>
          <p:cNvSpPr>
            <a:spLocks xmlns:a="http://schemas.openxmlformats.org/drawingml/2006/main" noGrp="1"/>
          </p:cNvSpPr>
          <p:nvPr/>
        </p:nvSpPr>
        <p:spPr>
          <a:xfrm xmlns:a="http://schemas.openxmlformats.org/drawingml/2006/main">
            <a:off x="3086100" y="1924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구조화된 근거 데이터 경로</a:t>
            </a:r>
          </a:p>
        </p:txBody>
      </p:sp>
      <p:sp>
        <p:nvSpPr>
          <p:cNvPr id="28" name="">
            <a:extLst xmlns:a="http://schemas.openxmlformats.org/drawingml/2006/main">
              <a:ext uri="{FF2B5EF4-FFF2-40B4-BE49-F238E27FC236}">
                <a16:creationId xmlns:a16="http://schemas.microsoft.com/office/drawing/2014/main" id="{EC620CEB-59F2-4FE5-8706-39D792516B6B}"/>
              </a:ext>
            </a:extLst>
          </p:cNvPr>
          <p:cNvSpPr>
            <a:spLocks xmlns:a="http://schemas.openxmlformats.org/drawingml/2006/main" noGrp="1"/>
          </p:cNvSpPr>
          <p:nvPr/>
        </p:nvSpPr>
        <p:spPr>
          <a:xfrm xmlns:a="http://schemas.openxmlformats.org/drawingml/2006/main">
            <a:off x="308610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5B473AC-14A9-49C2-82DF-343B16745880}"/>
              </a:ext>
            </a:extLst>
          </p:cNvPr>
          <p:cNvSpPr>
            <a:spLocks xmlns:a="http://schemas.openxmlformats.org/drawingml/2006/main" noGrp="1"/>
          </p:cNvSpPr>
          <p:nvPr/>
        </p:nvSpPr>
        <p:spPr>
          <a:xfrm xmlns:a="http://schemas.openxmlformats.org/drawingml/2006/main">
            <a:off x="520065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871750D-57FE-4415-9CD5-E05C3643738C}"/>
              </a:ext>
            </a:extLst>
          </p:cNvPr>
          <p:cNvSpPr>
            <a:spLocks xmlns:a="http://schemas.openxmlformats.org/drawingml/2006/main" noGrp="1"/>
          </p:cNvSpPr>
          <p:nvPr/>
        </p:nvSpPr>
        <p:spPr>
          <a:xfrm xmlns:a="http://schemas.openxmlformats.org/drawingml/2006/main">
            <a:off x="731520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5AF408A-6E67-4D31-BA94-2CF698932B81}"/>
              </a:ext>
            </a:extLst>
          </p:cNvPr>
          <p:cNvSpPr>
            <a:spLocks xmlns:a="http://schemas.openxmlformats.org/drawingml/2006/main" noGrp="1"/>
          </p:cNvSpPr>
          <p:nvPr/>
        </p:nvSpPr>
        <p:spPr>
          <a:xfrm xmlns:a="http://schemas.openxmlformats.org/drawingml/2006/main">
            <a:off x="9429750" y="2209800"/>
            <a:ext cx="1885950" cy="628650"/>
          </a:xfrm>
          <a:prstGeom xmlns:a="http://schemas.openxmlformats.org/drawingml/2006/main" prst="roundRect">
            <a:avLst>
              <a:gd name="adj" fmla="val 12121"/>
            </a:avLst>
          </a:prstGeom>
          <a:noFill xmlns:a="http://schemas.openxmlformats.org/drawingml/2006/main"/>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B158E11-55E4-46DF-BC2D-EE27F1C0B581}"/>
              </a:ext>
            </a:extLst>
          </p:cNvPr>
          <p:cNvSpPr>
            <a:spLocks xmlns:a="http://schemas.openxmlformats.org/drawingml/2006/main" noGrp="1"/>
          </p:cNvSpPr>
          <p:nvPr/>
        </p:nvSpPr>
        <p:spPr>
          <a:xfrm xmlns:a="http://schemas.openxmlformats.org/drawingml/2006/main">
            <a:off x="32004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앱 이용 기록</a:t>
            </a:r>
          </a:p>
        </p:txBody>
      </p:sp>
      <p:sp>
        <p:nvSpPr>
          <p:cNvPr id="33" name="">
            <a:extLst xmlns:a="http://schemas.openxmlformats.org/drawingml/2006/main">
              <a:ext uri="{FF2B5EF4-FFF2-40B4-BE49-F238E27FC236}">
                <a16:creationId xmlns:a16="http://schemas.microsoft.com/office/drawing/2014/main" id="{8AE101E1-4F84-4584-B942-35E6C5F22317}"/>
              </a:ext>
            </a:extLst>
          </p:cNvPr>
          <p:cNvSpPr>
            <a:spLocks xmlns:a="http://schemas.openxmlformats.org/drawingml/2006/main" noGrp="1"/>
          </p:cNvSpPr>
          <p:nvPr/>
        </p:nvSpPr>
        <p:spPr>
          <a:xfrm xmlns:a="http://schemas.openxmlformats.org/drawingml/2006/main">
            <a:off x="53149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인사시스템 가입 자격</a:t>
            </a:r>
          </a:p>
        </p:txBody>
      </p:sp>
      <p:sp>
        <p:nvSpPr>
          <p:cNvPr id="34" name="">
            <a:extLst xmlns:a="http://schemas.openxmlformats.org/drawingml/2006/main">
              <a:ext uri="{FF2B5EF4-FFF2-40B4-BE49-F238E27FC236}">
                <a16:creationId xmlns:a16="http://schemas.microsoft.com/office/drawing/2014/main" id="{8EF04802-F1FA-4246-9105-DBED8221EE1E}"/>
              </a:ext>
            </a:extLst>
          </p:cNvPr>
          <p:cNvSpPr>
            <a:spLocks xmlns:a="http://schemas.openxmlformats.org/drawingml/2006/main" noGrp="1"/>
          </p:cNvSpPr>
          <p:nvPr/>
        </p:nvSpPr>
        <p:spPr>
          <a:xfrm xmlns:a="http://schemas.openxmlformats.org/drawingml/2006/main">
            <a:off x="74295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플랜 + 치과 정보</a:t>
            </a:r>
          </a:p>
        </p:txBody>
      </p:sp>
      <p:sp>
        <p:nvSpPr>
          <p:cNvPr id="35" name="">
            <a:extLst xmlns:a="http://schemas.openxmlformats.org/drawingml/2006/main">
              <a:ext uri="{FF2B5EF4-FFF2-40B4-BE49-F238E27FC236}">
                <a16:creationId xmlns:a16="http://schemas.microsoft.com/office/drawing/2014/main" id="{E975898B-8324-42BF-8F56-B7E8705253D5}"/>
              </a:ext>
            </a:extLst>
          </p:cNvPr>
          <p:cNvSpPr>
            <a:spLocks xmlns:a="http://schemas.openxmlformats.org/drawingml/2006/main" noGrp="1"/>
          </p:cNvSpPr>
          <p:nvPr/>
        </p:nvSpPr>
        <p:spPr>
          <a:xfrm xmlns:a="http://schemas.openxmlformats.org/drawingml/2006/main">
            <a:off x="95440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B2A4A"/>
                </a:solidFill>
              </a:defRPr>
            </a:pPr>
            <a:r>
              <a:rPr sz="1125" b="1" i="0">
                <a:solidFill>
                  <a:srgbClr val="1B2A4A"/>
                </a:solidFill>
              </a:rPr>
              <a:t>TPA / 보험사 청구</a:t>
            </a:r>
          </a:p>
        </p:txBody>
      </p:sp>
      <p:sp>
        <p:nvSpPr>
          <p:cNvPr id="36" name="">
            <a:extLst xmlns:a="http://schemas.openxmlformats.org/drawingml/2006/main">
              <a:ext uri="{FF2B5EF4-FFF2-40B4-BE49-F238E27FC236}">
                <a16:creationId xmlns:a16="http://schemas.microsoft.com/office/drawing/2014/main" id="{D6E2778A-1DAF-411C-8BB8-F387EFFE67F4}"/>
              </a:ext>
            </a:extLst>
          </p:cNvPr>
          <p:cNvSpPr>
            <a:spLocks xmlns:a="http://schemas.openxmlformats.org/drawingml/2006/main" noGrp="1"/>
          </p:cNvSpPr>
          <p:nvPr/>
        </p:nvSpPr>
        <p:spPr>
          <a:xfrm xmlns:a="http://schemas.openxmlformats.org/drawingml/2006/main">
            <a:off x="3086100" y="3257550"/>
            <a:ext cx="8229600" cy="1657350"/>
          </a:xfrm>
          <a:prstGeom xmlns:a="http://schemas.openxmlformats.org/drawingml/2006/main" prst="roundRect">
            <a:avLst>
              <a:gd name="adj" fmla="val 4598"/>
            </a:avLst>
          </a:prstGeom>
          <a:solidFill xmlns:a="http://schemas.openxmlformats.org/drawingml/2006/main">
            <a:srgbClr val="1B2A4A"/>
          </a:solidFill>
          <a:ln xmlns:a="http://schemas.openxmlformats.org/drawingml/2006/main" w="0">
            <a:solidFill>
              <a:srgbClr val="1B2A4A"/>
            </a:solidFill>
            <a:prstDash val="solid"/>
          </a:ln>
        </p:spPr>
      </p:sp>
      <p:cxnSp>
        <p:nvCxnSpPr>
          <p:cNvPr id="516" name=""/>
          <p:cNvCxnSpPr>
            <a:stCxn xmlns:a="http://schemas.openxmlformats.org/drawingml/2006/main" id="28" idx="2"/>
            <a:endCxn xmlns:a="http://schemas.openxmlformats.org/drawingml/2006/main" id="36" idx="0"/>
          </p:cNvCxnSpPr>
          <p:nvPr/>
        </p:nvCxnSpPr>
        <p:spPr>
          <a:xfrm xmlns:a="http://schemas.openxmlformats.org/drawingml/2006/main">
            <a:off x="4029075" y="2838450"/>
            <a:ext cx="3171825" cy="419100"/>
          </a:xfrm>
          <a:prstGeom xmlns:a="http://schemas.openxmlformats.org/drawingml/2006/main" prst="bentConnector4">
            <a:avLst>
              <a:gd name="adj1" fmla="val 0"/>
              <a:gd name="adj2" fmla="val 50000"/>
            </a:avLst>
          </a:prstGeom>
          <a:ln xmlns:a="http://schemas.openxmlformats.org/drawingml/2006/main" w="0">
            <a:noFill/>
            <a:prstDash val="solid"/>
            <a:headEnd type="none" w="med" len="med"/>
            <a:tailEnd type="arrow" w="med" len="med"/>
          </a:ln>
        </p:spPr>
      </p:cxnSp>
      <p:cxnSp>
        <p:nvCxnSpPr>
          <p:cNvPr id="517" name=""/>
          <p:cNvCxnSpPr>
            <a:stCxn xmlns:a="http://schemas.openxmlformats.org/drawingml/2006/main" id="29" idx="2"/>
            <a:endCxn xmlns:a="http://schemas.openxmlformats.org/drawingml/2006/main" id="36" idx="0"/>
          </p:cNvCxnSpPr>
          <p:nvPr/>
        </p:nvCxnSpPr>
        <p:spPr>
          <a:xfrm xmlns:a="http://schemas.openxmlformats.org/drawingml/2006/main">
            <a:off x="6143625" y="2838450"/>
            <a:ext cx="1057275" cy="419100"/>
          </a:xfrm>
          <a:prstGeom xmlns:a="http://schemas.openxmlformats.org/drawingml/2006/main" prst="bentConnector4">
            <a:avLst>
              <a:gd name="adj1" fmla="val 0"/>
              <a:gd name="adj2" fmla="val 50000"/>
            </a:avLst>
          </a:prstGeom>
          <a:ln xmlns:a="http://schemas.openxmlformats.org/drawingml/2006/main" w="0">
            <a:noFill/>
            <a:prstDash val="solid"/>
            <a:headEnd type="none" w="med" len="med"/>
            <a:tailEnd type="arrow" w="med" len="med"/>
          </a:ln>
        </p:spPr>
      </p:cxnSp>
      <p:cxnSp>
        <p:nvCxnSpPr>
          <p:cNvPr id="518" name=""/>
          <p:cNvCxnSpPr>
            <a:stCxn xmlns:a="http://schemas.openxmlformats.org/drawingml/2006/main" id="30" idx="2"/>
            <a:endCxn xmlns:a="http://schemas.openxmlformats.org/drawingml/2006/main" id="36" idx="0"/>
          </p:cNvCxnSpPr>
          <p:nvPr/>
        </p:nvCxnSpPr>
        <p:spPr>
          <a:xfrm xmlns:a="http://schemas.openxmlformats.org/drawingml/2006/main" flipH="1">
            <a:off x="7200900" y="2838450"/>
            <a:ext cx="1057275" cy="419100"/>
          </a:xfrm>
          <a:prstGeom xmlns:a="http://schemas.openxmlformats.org/drawingml/2006/main" prst="bentConnector4">
            <a:avLst>
              <a:gd name="adj1" fmla="val 0"/>
              <a:gd name="adj2" fmla="val 50000"/>
            </a:avLst>
          </a:prstGeom>
          <a:ln xmlns:a="http://schemas.openxmlformats.org/drawingml/2006/main" w="0">
            <a:noFill/>
            <a:prstDash val="solid"/>
            <a:headEnd type="none" w="med" len="med"/>
            <a:tailEnd type="arrow" w="med" len="med"/>
          </a:ln>
        </p:spPr>
      </p:cxnSp>
      <p:cxnSp>
        <p:nvCxnSpPr>
          <p:cNvPr id="519" name=""/>
          <p:cNvCxnSpPr>
            <a:stCxn xmlns:a="http://schemas.openxmlformats.org/drawingml/2006/main" id="31" idx="2"/>
            <a:endCxn xmlns:a="http://schemas.openxmlformats.org/drawingml/2006/main" id="36" idx="0"/>
          </p:cNvCxnSpPr>
          <p:nvPr/>
        </p:nvCxnSpPr>
        <p:spPr>
          <a:xfrm xmlns:a="http://schemas.openxmlformats.org/drawingml/2006/main" flipH="1">
            <a:off x="7200900" y="2838450"/>
            <a:ext cx="3171825" cy="419100"/>
          </a:xfrm>
          <a:prstGeom xmlns:a="http://schemas.openxmlformats.org/drawingml/2006/main" prst="bentConnector4">
            <a:avLst>
              <a:gd name="adj1" fmla="val 0"/>
              <a:gd name="adj2" fmla="val 50000"/>
            </a:avLst>
          </a:prstGeom>
          <a:ln xmlns:a="http://schemas.openxmlformats.org/drawingml/2006/main" w="0">
            <a:noFill/>
            <a:prstDash val="solid"/>
            <a:headEnd type="none" w="med" len="med"/>
            <a:tailEnd type="arrow" w="med" len="med"/>
          </a:ln>
        </p:spPr>
      </p:cxnSp>
      <p:cxnSp>
        <p:nvCxnSpPr>
          <p:cNvPr id="520" name=""/>
          <p:cNvCxnSpPr>
            <a:stCxn xmlns:a="http://schemas.openxmlformats.org/drawingml/2006/main" id="21" idx="3"/>
            <a:endCxn xmlns:a="http://schemas.openxmlformats.org/drawingml/2006/main" id="36" idx="1"/>
          </p:cNvCxnSpPr>
          <p:nvPr/>
        </p:nvCxnSpPr>
        <p:spPr>
          <a:xfrm xmlns:a="http://schemas.openxmlformats.org/drawingml/2006/main" flipV="1">
            <a:off x="2705100" y="4086225"/>
            <a:ext cx="381000" cy="390525"/>
          </a:xfrm>
          <a:prstGeom xmlns:a="http://schemas.openxmlformats.org/drawingml/2006/main" prst="bentConnector3">
            <a:avLst>
              <a:gd name="adj1" fmla="val 50000"/>
            </a:avLst>
          </a:prstGeom>
          <a:ln xmlns:a="http://schemas.openxmlformats.org/drawingml/2006/main" w="0">
            <a:noFill/>
            <a:prstDash val="solid"/>
            <a:headEnd type="none" w="med" len="med"/>
            <a:tailEnd type="arrow" w="med" len="med"/>
          </a:ln>
        </p:spPr>
      </p:cxnSp>
      <p:sp>
        <p:nvSpPr>
          <p:cNvPr id="42" name="">
            <a:extLst xmlns:a="http://schemas.openxmlformats.org/drawingml/2006/main">
              <a:ext uri="{FF2B5EF4-FFF2-40B4-BE49-F238E27FC236}">
                <a16:creationId xmlns:a16="http://schemas.microsoft.com/office/drawing/2014/main" id="{1F8564F5-D4EF-466C-B75A-28FA93CEE825}"/>
              </a:ext>
            </a:extLst>
          </p:cNvPr>
          <p:cNvSpPr>
            <a:spLocks xmlns:a="http://schemas.openxmlformats.org/drawingml/2006/main" noGrp="1"/>
          </p:cNvSpPr>
          <p:nvPr/>
        </p:nvSpPr>
        <p:spPr>
          <a:xfrm xmlns:a="http://schemas.openxmlformats.org/drawingml/2006/main">
            <a:off x="3333750" y="34480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FFFFFF"/>
                </a:solidFill>
              </a:defRPr>
            </a:pPr>
            <a:r>
              <a:rPr sz="1650" b="1" i="0">
                <a:solidFill>
                  <a:srgbClr val="FFFFFF"/>
                </a:solidFill>
              </a:rPr>
              <a:t>Snowflake 미국 근거 레이어</a:t>
            </a:r>
          </a:p>
        </p:txBody>
      </p:sp>
      <p:sp>
        <p:nvSpPr>
          <p:cNvPr id="43" name="">
            <a:extLst xmlns:a="http://schemas.openxmlformats.org/drawingml/2006/main">
              <a:ext uri="{FF2B5EF4-FFF2-40B4-BE49-F238E27FC236}">
                <a16:creationId xmlns:a16="http://schemas.microsoft.com/office/drawing/2014/main" id="{38DAA77B-F7E8-45C0-95E0-4F61A3C8EFD6}"/>
              </a:ext>
            </a:extLst>
          </p:cNvPr>
          <p:cNvSpPr>
            <a:spLocks xmlns:a="http://schemas.openxmlformats.org/drawingml/2006/main" noGrp="1"/>
          </p:cNvSpPr>
          <p:nvPr/>
        </p:nvSpPr>
        <p:spPr>
          <a:xfrm xmlns:a="http://schemas.openxmlformats.org/drawingml/2006/main">
            <a:off x="33337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공통 데이터 모델</a:t>
            </a:r>
          </a:p>
        </p:txBody>
      </p:sp>
      <p:sp>
        <p:nvSpPr>
          <p:cNvPr id="44" name="">
            <a:extLst xmlns:a="http://schemas.openxmlformats.org/drawingml/2006/main">
              <a:ext uri="{FF2B5EF4-FFF2-40B4-BE49-F238E27FC236}">
                <a16:creationId xmlns:a16="http://schemas.microsoft.com/office/drawing/2014/main" id="{9D37BAF7-2889-4248-970D-BDB2CCF03718}"/>
              </a:ext>
            </a:extLst>
          </p:cNvPr>
          <p:cNvSpPr>
            <a:spLocks xmlns:a="http://schemas.openxmlformats.org/drawingml/2006/main" noGrp="1"/>
          </p:cNvSpPr>
          <p:nvPr/>
        </p:nvSpPr>
        <p:spPr>
          <a:xfrm xmlns:a="http://schemas.openxmlformats.org/drawingml/2006/main">
            <a:off x="3333750" y="42195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D9E2F0"/>
                </a:solidFill>
              </a:defRPr>
            </a:pPr>
            <a:r>
              <a:rPr sz="1088" b="0" i="0">
                <a:solidFill>
                  <a:srgbClr val="D9E2F0"/>
                </a:solidFill>
              </a:rPr>
              <a:t>가입자 월 + 플랜 + 이용 기록 + 청구</a:t>
            </a:r>
          </a:p>
        </p:txBody>
      </p:sp>
      <p:sp>
        <p:nvSpPr>
          <p:cNvPr id="45" name="">
            <a:extLst xmlns:a="http://schemas.openxmlformats.org/drawingml/2006/main">
              <a:ext uri="{FF2B5EF4-FFF2-40B4-BE49-F238E27FC236}">
                <a16:creationId xmlns:a16="http://schemas.microsoft.com/office/drawing/2014/main" id="{52673420-E381-4E51-9ADD-66360EB5262B}"/>
              </a:ext>
            </a:extLst>
          </p:cNvPr>
          <p:cNvSpPr>
            <a:spLocks xmlns:a="http://schemas.openxmlformats.org/drawingml/2006/main" noGrp="1"/>
          </p:cNvSpPr>
          <p:nvPr/>
        </p:nvSpPr>
        <p:spPr>
          <a:xfrm xmlns:a="http://schemas.openxmlformats.org/drawingml/2006/main">
            <a:off x="58102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품질 + 통제</a:t>
            </a:r>
          </a:p>
        </p:txBody>
      </p:sp>
      <p:sp>
        <p:nvSpPr>
          <p:cNvPr id="46" name="">
            <a:extLst xmlns:a="http://schemas.openxmlformats.org/drawingml/2006/main">
              <a:ext uri="{FF2B5EF4-FFF2-40B4-BE49-F238E27FC236}">
                <a16:creationId xmlns:a16="http://schemas.microsoft.com/office/drawing/2014/main" id="{7989B2BE-E37A-4F13-819B-8A61E2DDB54F}"/>
              </a:ext>
            </a:extLst>
          </p:cNvPr>
          <p:cNvSpPr>
            <a:spLocks xmlns:a="http://schemas.openxmlformats.org/drawingml/2006/main" noGrp="1"/>
          </p:cNvSpPr>
          <p:nvPr/>
        </p:nvSpPr>
        <p:spPr>
          <a:xfrm xmlns:a="http://schemas.openxmlformats.org/drawingml/2006/main">
            <a:off x="5810250" y="4219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D9E2F0"/>
                </a:solidFill>
              </a:defRPr>
            </a:pPr>
            <a:r>
              <a:rPr sz="1088" b="0" i="0">
                <a:solidFill>
                  <a:srgbClr val="D9E2F0"/>
                </a:solidFill>
              </a:rPr>
              <a:t>대조 + 목적별 접근 + 데이터 계보</a:t>
            </a:r>
          </a:p>
        </p:txBody>
      </p:sp>
      <p:sp>
        <p:nvSpPr>
          <p:cNvPr id="47" name="">
            <a:extLst xmlns:a="http://schemas.openxmlformats.org/drawingml/2006/main">
              <a:ext uri="{FF2B5EF4-FFF2-40B4-BE49-F238E27FC236}">
                <a16:creationId xmlns:a16="http://schemas.microsoft.com/office/drawing/2014/main" id="{8B2DF981-30CA-4951-AB19-F2D5DCC186BB}"/>
              </a:ext>
            </a:extLst>
          </p:cNvPr>
          <p:cNvSpPr>
            <a:spLocks xmlns:a="http://schemas.openxmlformats.org/drawingml/2006/main" noGrp="1"/>
          </p:cNvSpPr>
          <p:nvPr/>
        </p:nvSpPr>
        <p:spPr>
          <a:xfrm xmlns:a="http://schemas.openxmlformats.org/drawingml/2006/main">
            <a:off x="83629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성과 계산 레이어</a:t>
            </a:r>
          </a:p>
        </p:txBody>
      </p:sp>
      <p:sp>
        <p:nvSpPr>
          <p:cNvPr id="48" name="">
            <a:extLst xmlns:a="http://schemas.openxmlformats.org/drawingml/2006/main">
              <a:ext uri="{FF2B5EF4-FFF2-40B4-BE49-F238E27FC236}">
                <a16:creationId xmlns:a16="http://schemas.microsoft.com/office/drawing/2014/main" id="{33A3E90F-A726-4E76-92A0-F31D7A6A66B8}"/>
              </a:ext>
            </a:extLst>
          </p:cNvPr>
          <p:cNvSpPr>
            <a:spLocks xmlns:a="http://schemas.openxmlformats.org/drawingml/2006/main" noGrp="1"/>
          </p:cNvSpPr>
          <p:nvPr/>
        </p:nvSpPr>
        <p:spPr>
          <a:xfrm xmlns:a="http://schemas.openxmlformats.org/drawingml/2006/main">
            <a:off x="8362950" y="42195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D9E2F0"/>
                </a:solidFill>
              </a:defRPr>
            </a:pPr>
            <a:r>
              <a:rPr sz="1088" b="0" i="0">
                <a:solidFill>
                  <a:srgbClr val="D9E2F0"/>
                </a:solidFill>
              </a:rPr>
              <a:t>청구로 확인한 결과 (실험군 배정은 법무·프로토콜 승인 후)</a:t>
            </a:r>
          </a:p>
        </p:txBody>
      </p:sp>
      <p:sp>
        <p:nvSpPr>
          <p:cNvPr id="49" name="">
            <a:extLst xmlns:a="http://schemas.openxmlformats.org/drawingml/2006/main">
              <a:ext uri="{FF2B5EF4-FFF2-40B4-BE49-F238E27FC236}">
                <a16:creationId xmlns:a16="http://schemas.microsoft.com/office/drawing/2014/main" id="{484F342B-3F61-44EB-8E24-49033E18B91F}"/>
              </a:ext>
            </a:extLst>
          </p:cNvPr>
          <p:cNvSpPr>
            <a:spLocks xmlns:a="http://schemas.openxmlformats.org/drawingml/2006/main" noGrp="1"/>
          </p:cNvSpPr>
          <p:nvPr/>
        </p:nvSpPr>
        <p:spPr>
          <a:xfrm xmlns:a="http://schemas.openxmlformats.org/drawingml/2006/main">
            <a:off x="723900" y="49911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D86464"/>
                </a:solidFill>
              </a:defRPr>
            </a:pPr>
            <a:r>
              <a:rPr sz="1350" b="1" i="0">
                <a:solidFill>
                  <a:srgbClr val="D86464"/>
                </a:solidFill>
              </a:rPr>
              <a:t>사진 바이너리는 안 들어감. 사람·기업에 연결된 참조와 신호는 들어감</a:t>
            </a:r>
          </a:p>
        </p:txBody>
      </p:sp>
      <p:sp>
        <p:nvSpPr>
          <p:cNvPr id="50" name="">
            <a:extLst xmlns:a="http://schemas.openxmlformats.org/drawingml/2006/main">
              <a:ext uri="{FF2B5EF4-FFF2-40B4-BE49-F238E27FC236}">
                <a16:creationId xmlns:a16="http://schemas.microsoft.com/office/drawing/2014/main" id="{D2F7A318-3829-4430-A654-2062F4F14A24}"/>
              </a:ext>
            </a:extLst>
          </p:cNvPr>
          <p:cNvSpPr>
            <a:spLocks xmlns:a="http://schemas.openxmlformats.org/drawingml/2006/main" noGrp="1"/>
          </p:cNvSpPr>
          <p:nvPr/>
        </p:nvSpPr>
        <p:spPr>
          <a:xfrm xmlns:a="http://schemas.openxmlformats.org/drawingml/2006/main">
            <a:off x="7010400" y="5257800"/>
            <a:ext cx="4305300" cy="685800"/>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sp>
      <p:cxnSp>
        <p:nvCxnSpPr>
          <p:cNvPr id="530" name=""/>
          <p:cNvCxnSpPr>
            <a:stCxn xmlns:a="http://schemas.openxmlformats.org/drawingml/2006/main" id="36" idx="2"/>
            <a:endCxn xmlns:a="http://schemas.openxmlformats.org/drawingml/2006/main" id="50" idx="0"/>
          </p:cNvCxnSpPr>
          <p:nvPr/>
        </p:nvCxnSpPr>
        <p:spPr>
          <a:xfrm xmlns:a="http://schemas.openxmlformats.org/drawingml/2006/main">
            <a:off x="7200900" y="4914900"/>
            <a:ext cx="1962150" cy="342900"/>
          </a:xfrm>
          <a:prstGeom xmlns:a="http://schemas.openxmlformats.org/drawingml/2006/main" prst="straightConnector1">
            <a:avLst/>
          </a:prstGeom>
          <a:ln xmlns:a="http://schemas.openxmlformats.org/drawingml/2006/main" w="19050">
            <a:solidFill>
              <a:srgbClr val="007A87"/>
            </a:solidFill>
            <a:prstDash val="solid"/>
            <a:headEnd type="none" w="med" len="med"/>
            <a:tailEnd type="arrow" w="med" len="med"/>
          </a:ln>
        </p:spPr>
      </p:cxnSp>
      <p:sp>
        <p:nvSpPr>
          <p:cNvPr id="52" name="">
            <a:extLst xmlns:a="http://schemas.openxmlformats.org/drawingml/2006/main">
              <a:ext uri="{FF2B5EF4-FFF2-40B4-BE49-F238E27FC236}">
                <a16:creationId xmlns:a16="http://schemas.microsoft.com/office/drawing/2014/main" id="{92B42551-4DAB-4DB7-8E68-2E10F04DDE16}"/>
              </a:ext>
            </a:extLst>
          </p:cNvPr>
          <p:cNvSpPr>
            <a:spLocks xmlns:a="http://schemas.openxmlformats.org/drawingml/2006/main" noGrp="1"/>
          </p:cNvSpPr>
          <p:nvPr/>
        </p:nvSpPr>
        <p:spPr>
          <a:xfrm xmlns:a="http://schemas.openxmlformats.org/drawingml/2006/main">
            <a:off x="7200900" y="5438775"/>
            <a:ext cx="3924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7A87"/>
                </a:solidFill>
              </a:defRPr>
            </a:pPr>
            <a:r>
              <a:rPr sz="1350" b="1" i="0">
                <a:solidFill>
                  <a:srgbClr val="007A87"/>
                </a:solidFill>
              </a:rPr>
              <a:t>기업용 집계 대시보드</a:t>
            </a:r>
          </a:p>
        </p:txBody>
      </p:sp>
      <p:sp>
        <p:nvSpPr>
          <p:cNvPr id="53" name="">
            <a:extLst xmlns:a="http://schemas.openxmlformats.org/drawingml/2006/main">
              <a:ext uri="{FF2B5EF4-FFF2-40B4-BE49-F238E27FC236}">
                <a16:creationId xmlns:a16="http://schemas.microsoft.com/office/drawing/2014/main" id="{FFB52863-3F33-4B04-9EAB-BF7F5698508F}"/>
              </a:ext>
            </a:extLst>
          </p:cNvPr>
          <p:cNvSpPr>
            <a:spLocks xmlns:a="http://schemas.openxmlformats.org/drawingml/2006/main" noGrp="1"/>
          </p:cNvSpPr>
          <p:nvPr/>
        </p:nvSpPr>
        <p:spPr>
          <a:xfrm xmlns:a="http://schemas.openxmlformats.org/drawingml/2006/main">
            <a:off x="7200900" y="5695950"/>
            <a:ext cx="392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b="0" i="0">
                <a:solidFill>
                  <a:srgbClr val="5B6B82"/>
                </a:solidFill>
              </a:defRPr>
            </a:pPr>
            <a:r>
              <a:rPr sz="1013" b="0" i="0">
                <a:solidFill>
                  <a:srgbClr val="5B6B82"/>
                </a:solidFill>
              </a:rPr>
              <a:t>직원별 건강 신호·진료 경로 없음</a:t>
            </a:r>
          </a:p>
        </p:txBody>
      </p:sp>
      <p:sp>
        <p:nvSpPr>
          <p:cNvPr id="54" name="">
            <a:extLst xmlns:a="http://schemas.openxmlformats.org/drawingml/2006/main">
              <a:ext uri="{FF2B5EF4-FFF2-40B4-BE49-F238E27FC236}">
                <a16:creationId xmlns:a16="http://schemas.microsoft.com/office/drawing/2014/main" id="{6045B50E-53AC-4EBA-961C-EA01CD0D7F73}"/>
              </a:ext>
            </a:extLst>
          </p:cNvPr>
          <p:cNvSpPr>
            <a:spLocks xmlns:a="http://schemas.openxmlformats.org/drawingml/2006/main" noGrp="1"/>
          </p:cNvSpPr>
          <p:nvPr/>
        </p:nvSpPr>
        <p:spPr>
          <a:xfrm xmlns:a="http://schemas.openxmlformats.org/drawingml/2006/main">
            <a:off x="3086100" y="6057900"/>
            <a:ext cx="8229600" cy="285750"/>
          </a:xfrm>
          <a:prstGeom xmlns:a="http://schemas.openxmlformats.org/drawingml/2006/main" prst="roundRect">
            <a:avLst>
              <a:gd name="adj" fmla="val 26667"/>
            </a:avLst>
          </a:prstGeom>
          <a:noFill xmlns:a="http://schemas.openxmlformats.org/drawingml/2006/main"/>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352E8C9F-F863-46D0-91DE-92A985A17613}"/>
              </a:ext>
            </a:extLst>
          </p:cNvPr>
          <p:cNvSpPr>
            <a:spLocks xmlns:a="http://schemas.openxmlformats.org/drawingml/2006/main" noGrp="1"/>
          </p:cNvSpPr>
          <p:nvPr/>
        </p:nvSpPr>
        <p:spPr>
          <a:xfrm xmlns:a="http://schemas.openxmlformats.org/drawingml/2006/main">
            <a:off x="609600" y="60579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D86464"/>
                </a:solidFill>
              </a:defRPr>
            </a:pPr>
            <a:r>
              <a:rPr sz="1275" b="0" i="0">
                <a:solidFill>
                  <a:srgbClr val="D86464"/>
                </a:solidFill>
              </a:rPr>
              <a:t>Snowflake에서 개인건강정보를 처리하려면 Business Critical과 적절한 BAA가 필요합니다. 이것만으로 ICLO 전체가 HIPAA 준수 상태가 되는 것은 아닙니다.</a:t>
            </a:r>
          </a:p>
        </p:txBody>
      </p:sp>
    </p:spTree>
    <p:extLst>
      <p:ext uri="{BB962C8B-B14F-4D97-AF65-F5344CB8AC3E}">
        <p14:creationId xmlns:p14="http://schemas.microsoft.com/office/powerpoint/2010/main" val="13074395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A80BB2E7-8FCF-412F-A4E6-0A2EDCE61379}"/>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D36DC5DA-5F31-4F1E-84D8-D7A695F75E6B}"/>
              </a:ext>
            </a:extLst>
          </p:cNvPr>
          <p:cNvSpPr>
            <a:spLocks xmlns:a="http://schemas.openxmlformats.org/drawingml/2006/main" noGrp="1"/>
          </p:cNvSpPr>
          <p:nvPr/>
        </p:nvSpPr>
        <p:spPr>
          <a:xfrm xmlns:a="http://schemas.openxmlformats.org/drawingml/2006/main">
            <a:off x="7086600" y="209550"/>
            <a:ext cx="2057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7D60F5-64FB-48B3-89DF-3480B812CC0C}"/>
              </a:ext>
            </a:extLst>
          </p:cNvPr>
          <p:cNvSpPr>
            <a:spLocks xmlns:a="http://schemas.openxmlformats.org/drawingml/2006/main" noGrp="1"/>
          </p:cNvSpPr>
          <p:nvPr/>
        </p:nvSpPr>
        <p:spPr>
          <a:xfrm xmlns:a="http://schemas.openxmlformats.org/drawingml/2006/main">
            <a:off x="70866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0C8995-BBCF-4AD8-B2D7-BFA01D357071}"/>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D86464"/>
                </a:solidFill>
              </a:defRPr>
            </a:pPr>
            <a:r>
              <a:rPr sz="975" b="1" i="0">
                <a:solidFill>
                  <a:srgbClr val="D86464"/>
                </a:solidFill>
              </a:rPr>
              <a:t>확정된 ICLO 방향 / 검증할 가설</a:t>
            </a:r>
          </a:p>
        </p:txBody>
      </p:sp>
      <p:sp>
        <p:nvSpPr>
          <p:cNvPr id="5" name="">
            <a:extLst xmlns:a="http://schemas.openxmlformats.org/drawingml/2006/main">
              <a:ext uri="{FF2B5EF4-FFF2-40B4-BE49-F238E27FC236}">
                <a16:creationId xmlns:a16="http://schemas.microsoft.com/office/drawing/2014/main" id="{BD4453F1-A330-4FF7-B2E8-A15BEB6DCB0A}"/>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ECF822-81F9-4462-A6D5-D1669116CB7A}"/>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7F0697-801A-4F21-AF04-1484526975D1}"/>
              </a:ext>
            </a:extLst>
          </p:cNvPr>
          <p:cNvSpPr>
            <a:spLocks xmlns:a="http://schemas.openxmlformats.org/drawingml/2006/main" noGrp="1"/>
          </p:cNvSpPr>
          <p:nvPr/>
        </p:nvSpPr>
        <p:spPr>
          <a:xfrm xmlns:a="http://schemas.openxmlformats.org/drawingml/2006/main">
            <a:off x="93345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13" b="1" i="0">
                <a:solidFill>
                  <a:srgbClr val="D99A24"/>
                </a:solidFill>
              </a:defRPr>
            </a:pPr>
            <a:r>
              <a:rPr sz="713" b="1" i="0">
                <a:solidFill>
                  <a:srgbClr val="D99A24"/>
                </a:solidFill>
              </a:rPr>
              <a:t/>
            </a:r>
          </a:p>
        </p:txBody>
      </p:sp>
      <p:sp>
        <p:nvSpPr>
          <p:cNvPr id="8" name="">
            <a:extLst xmlns:a="http://schemas.openxmlformats.org/drawingml/2006/main">
              <a:ext uri="{FF2B5EF4-FFF2-40B4-BE49-F238E27FC236}">
                <a16:creationId xmlns:a16="http://schemas.microsoft.com/office/drawing/2014/main" id="{9EFD3DB2-94C8-4996-9737-E24855B8C1C1}"/>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B2A4A"/>
                </a:solidFill>
              </a:defRPr>
            </a:pPr>
            <a:r>
              <a:rPr sz="2100" b="1" i="0">
                <a:solidFill>
                  <a:srgbClr val="1B2A4A"/>
                </a:solidFill>
              </a:rPr>
              <a:t>1년차 비용은 오를 수 있습니다</a:t>
            </a:r>
          </a:p>
        </p:txBody>
      </p:sp>
      <p:sp>
        <p:nvSpPr>
          <p:cNvPr id="9" name="">
            <a:extLst xmlns:a="http://schemas.openxmlformats.org/drawingml/2006/main">
              <a:ext uri="{FF2B5EF4-FFF2-40B4-BE49-F238E27FC236}">
                <a16:creationId xmlns:a16="http://schemas.microsoft.com/office/drawing/2014/main" id="{AEC52710-4DB3-45A2-9926-53861CAA10E0}"/>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예방진료와 미치료 상태 발견이 늘면 첫해 치아보험 지급액이 먼저 증가할 수 있습니다.</a:t>
            </a:r>
          </a:p>
        </p:txBody>
      </p:sp>
      <p:sp>
        <p:nvSpPr>
          <p:cNvPr id="10" name="">
            <a:extLst xmlns:a="http://schemas.openxmlformats.org/drawingml/2006/main">
              <a:ext uri="{FF2B5EF4-FFF2-40B4-BE49-F238E27FC236}">
                <a16:creationId xmlns:a16="http://schemas.microsoft.com/office/drawing/2014/main" id="{90B5A0F0-2610-4DF2-A619-5DF5FD139441}"/>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662DFC58-EDF0-448C-A186-338B6D301BB2}"/>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9CA2DA94-5ACD-4F8D-9CE0-14E8D578F98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284" name=""/>
          <p:cNvPicPr>
            <a:picLocks xmlns:a="http://schemas.openxmlformats.org/drawingml/2006/main" noChangeAspect="1"/>
          </p:cNvPicPr>
          <p:nvPr/>
        </p:nvPicPr>
        <p:blipFill>
          <a:blip xmlns:r="http://schemas.openxmlformats.org/officeDocument/2006/relationships" xmlns:a="http://schemas.openxmlformats.org/drawingml/2006/main" r:embed="R69253dcbc37e454e"/>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65BDE81-B501-48D3-9EC2-6EB7C86E632F}"/>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286" name=""/>
          <p:cNvPicPr>
            <a:picLocks xmlns:a="http://schemas.openxmlformats.org/drawingml/2006/main" noChangeAspect="1"/>
          </p:cNvPicPr>
          <p:nvPr/>
        </p:nvPicPr>
        <p:blipFill>
          <a:blip xmlns:r="http://schemas.openxmlformats.org/officeDocument/2006/relationships" xmlns:a="http://schemas.openxmlformats.org/drawingml/2006/main" r:embed="R3f3b39801752409c"/>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7C3244D-E274-4789-9588-9933E887B6C0}"/>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7" name="">
            <a:extLst xmlns:a="http://schemas.openxmlformats.org/drawingml/2006/main">
              <a:ext uri="{FF2B5EF4-FFF2-40B4-BE49-F238E27FC236}">
                <a16:creationId xmlns:a16="http://schemas.microsoft.com/office/drawing/2014/main" id="{00C97F63-510D-4B77-92DD-DF00167B973B}"/>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07</a:t>
            </a:r>
          </a:p>
        </p:txBody>
      </p:sp>
      <p:sp>
        <p:nvSpPr>
          <p:cNvPr id="18" name="">
            <a:extLst xmlns:a="http://schemas.openxmlformats.org/drawingml/2006/main">
              <a:ext uri="{FF2B5EF4-FFF2-40B4-BE49-F238E27FC236}">
                <a16:creationId xmlns:a16="http://schemas.microsoft.com/office/drawing/2014/main" id="{7E49C0CF-EE0A-4E1A-938B-3C48CD0F4265}"/>
              </a:ext>
            </a:extLst>
          </p:cNvPr>
          <p:cNvSpPr>
            <a:spLocks xmlns:a="http://schemas.openxmlformats.org/drawingml/2006/main" noGrp="1"/>
          </p:cNvSpPr>
          <p:nvPr/>
        </p:nvSpPr>
        <p:spPr>
          <a:xfrm xmlns:a="http://schemas.openxmlformats.org/drawingml/2006/main">
            <a:off x="609600" y="19050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D86464"/>
                </a:solidFill>
              </a:defRPr>
            </a:pPr>
            <a:r>
              <a:rPr sz="1350" b="1" i="0">
                <a:solidFill>
                  <a:srgbClr val="D86464"/>
                </a:solidFill>
              </a:rPr>
              <a:t>예시 가설 - 실제 ICLO 성과가 아님</a:t>
            </a:r>
          </a:p>
        </p:txBody>
      </p:sp>
      <p:sp>
        <p:nvSpPr>
          <p:cNvPr id="19" name="">
            <a:extLst xmlns:a="http://schemas.openxmlformats.org/drawingml/2006/main">
              <a:ext uri="{FF2B5EF4-FFF2-40B4-BE49-F238E27FC236}">
                <a16:creationId xmlns:a16="http://schemas.microsoft.com/office/drawing/2014/main" id="{447A79FC-98C8-4992-A8C4-8536DC8D0B2B}"/>
              </a:ext>
            </a:extLst>
          </p:cNvPr>
          <p:cNvSpPr>
            <a:spLocks xmlns:a="http://schemas.openxmlformats.org/drawingml/2006/main" noGrp="1"/>
          </p:cNvSpPr>
          <p:nvPr/>
        </p:nvSpPr>
        <p:spPr>
          <a:xfrm xmlns:a="http://schemas.openxmlformats.org/drawingml/2006/main">
            <a:off x="609600" y="3257550"/>
            <a:ext cx="171450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348F7C-5418-41AE-A362-1F943D0A5D52}"/>
              </a:ext>
            </a:extLst>
          </p:cNvPr>
          <p:cNvSpPr>
            <a:spLocks xmlns:a="http://schemas.openxmlformats.org/drawingml/2006/main" noGrp="1"/>
          </p:cNvSpPr>
          <p:nvPr/>
        </p:nvSpPr>
        <p:spPr>
          <a:xfrm xmlns:a="http://schemas.openxmlformats.org/drawingml/2006/main">
            <a:off x="2762250" y="2333625"/>
            <a:ext cx="2362200" cy="1181100"/>
          </a:xfrm>
          <a:prstGeom xmlns:a="http://schemas.openxmlformats.org/drawingml/2006/main" prst="roundRect">
            <a:avLst>
              <a:gd name="adj" fmla="val 6452"/>
            </a:avLst>
          </a:prstGeom>
          <a:noFill xmlns:a="http://schemas.openxmlformats.org/drawingml/2006/main"/>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D2168F-3C5B-48B4-A56B-84C4088C119B}"/>
              </a:ext>
            </a:extLst>
          </p:cNvPr>
          <p:cNvSpPr>
            <a:spLocks xmlns:a="http://schemas.openxmlformats.org/drawingml/2006/main" noGrp="1"/>
          </p:cNvSpPr>
          <p:nvPr/>
        </p:nvSpPr>
        <p:spPr>
          <a:xfrm xmlns:a="http://schemas.openxmlformats.org/drawingml/2006/main">
            <a:off x="5562600" y="2762250"/>
            <a:ext cx="2343150" cy="1066800"/>
          </a:xfrm>
          <a:prstGeom xmlns:a="http://schemas.openxmlformats.org/drawingml/2006/main" prst="roundRect">
            <a:avLst>
              <a:gd name="adj" fmla="val 7143"/>
            </a:avLst>
          </a:prstGeom>
          <a:noFill xmlns:a="http://schemas.openxmlformats.org/drawingml/2006/main"/>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DF982D1-B75B-40A1-B3AD-52B685D94F35}"/>
              </a:ext>
            </a:extLst>
          </p:cNvPr>
          <p:cNvSpPr>
            <a:spLocks xmlns:a="http://schemas.openxmlformats.org/drawingml/2006/main" noGrp="1"/>
          </p:cNvSpPr>
          <p:nvPr/>
        </p:nvSpPr>
        <p:spPr>
          <a:xfrm xmlns:a="http://schemas.openxmlformats.org/drawingml/2006/main">
            <a:off x="8343900" y="3086100"/>
            <a:ext cx="1752600" cy="895350"/>
          </a:xfrm>
          <a:prstGeom xmlns:a="http://schemas.openxmlformats.org/drawingml/2006/main" prst="roundRect">
            <a:avLst>
              <a:gd name="adj" fmla="val 8511"/>
            </a:avLst>
          </a:prstGeom>
          <a:noFill xmlns:a="http://schemas.openxmlformats.org/drawingml/2006/main"/>
          <a:ln xmlns:a="http://schemas.openxmlformats.org/drawingml/2006/main" w="0">
            <a:noFill/>
            <a:prstDash val="solid"/>
          </a:ln>
        </p:spPr>
      </p:sp>
      <p:cxnSp>
        <p:nvCxnSpPr>
          <p:cNvPr id="294" name=""/>
          <p:cNvCxnSpPr>
            <a:stCxn xmlns:a="http://schemas.openxmlformats.org/drawingml/2006/main" id="19" idx="3"/>
            <a:endCxn xmlns:a="http://schemas.openxmlformats.org/drawingml/2006/main" id="20" idx="1"/>
          </p:cNvCxnSpPr>
          <p:nvPr/>
        </p:nvCxnSpPr>
        <p:spPr>
          <a:xfrm xmlns:a="http://schemas.openxmlformats.org/drawingml/2006/main" flipV="1">
            <a:off x="2324100" y="2924175"/>
            <a:ext cx="438150" cy="704850"/>
          </a:xfrm>
          <a:prstGeom xmlns:a="http://schemas.openxmlformats.org/drawingml/2006/main" prst="straightConnector1">
            <a:avLst/>
          </a:prstGeom>
          <a:ln xmlns:a="http://schemas.openxmlformats.org/drawingml/2006/main" w="0">
            <a:noFill/>
            <a:prstDash val="solid"/>
            <a:headEnd type="none" w="med" len="med"/>
            <a:tailEnd type="arrow" w="med" len="med"/>
          </a:ln>
        </p:spPr>
      </p:cxnSp>
      <p:cxnSp>
        <p:nvCxnSpPr>
          <p:cNvPr id="295" name=""/>
          <p:cNvCxnSpPr>
            <a:stCxn xmlns:a="http://schemas.openxmlformats.org/drawingml/2006/main" id="20" idx="3"/>
            <a:endCxn xmlns:a="http://schemas.openxmlformats.org/drawingml/2006/main" id="21" idx="1"/>
          </p:cNvCxnSpPr>
          <p:nvPr/>
        </p:nvCxnSpPr>
        <p:spPr>
          <a:xfrm xmlns:a="http://schemas.openxmlformats.org/drawingml/2006/main">
            <a:off x="5124450" y="2924175"/>
            <a:ext cx="438150" cy="371475"/>
          </a:xfrm>
          <a:prstGeom xmlns:a="http://schemas.openxmlformats.org/drawingml/2006/main" prst="straightConnector1">
            <a:avLst/>
          </a:prstGeom>
          <a:ln xmlns:a="http://schemas.openxmlformats.org/drawingml/2006/main" w="0">
            <a:noFill/>
            <a:prstDash val="solid"/>
            <a:headEnd type="none" w="med" len="med"/>
            <a:tailEnd type="arrow" w="med" len="med"/>
          </a:ln>
        </p:spPr>
      </p:cxnSp>
      <p:cxnSp>
        <p:nvCxnSpPr>
          <p:cNvPr id="296" name=""/>
          <p:cNvCxnSpPr>
            <a:stCxn xmlns:a="http://schemas.openxmlformats.org/drawingml/2006/main" id="21" idx="3"/>
            <a:endCxn xmlns:a="http://schemas.openxmlformats.org/drawingml/2006/main" id="22" idx="1"/>
          </p:cNvCxnSpPr>
          <p:nvPr/>
        </p:nvCxnSpPr>
        <p:spPr>
          <a:xfrm xmlns:a="http://schemas.openxmlformats.org/drawingml/2006/main">
            <a:off x="7905750" y="3295650"/>
            <a:ext cx="438150" cy="238125"/>
          </a:xfrm>
          <a:prstGeom xmlns:a="http://schemas.openxmlformats.org/drawingml/2006/main" prst="straightConnector1">
            <a:avLst/>
          </a:prstGeom>
          <a:ln xmlns:a="http://schemas.openxmlformats.org/drawingml/2006/main" w="0">
            <a:noFill/>
            <a:prstDash val="solid"/>
            <a:headEnd type="none" w="med" len="med"/>
            <a:tailEnd type="arrow" w="med" len="med"/>
          </a:ln>
        </p:spPr>
      </p:cxnSp>
      <p:sp>
        <p:nvSpPr>
          <p:cNvPr id="26" name="">
            <a:extLst xmlns:a="http://schemas.openxmlformats.org/drawingml/2006/main">
              <a:ext uri="{FF2B5EF4-FFF2-40B4-BE49-F238E27FC236}">
                <a16:creationId xmlns:a16="http://schemas.microsoft.com/office/drawing/2014/main" id="{EFDA0625-D2FD-467E-B605-014DEAFF3C37}"/>
              </a:ext>
            </a:extLst>
          </p:cNvPr>
          <p:cNvSpPr>
            <a:spLocks xmlns:a="http://schemas.openxmlformats.org/drawingml/2006/main" noGrp="1"/>
          </p:cNvSpPr>
          <p:nvPr/>
        </p:nvSpPr>
        <p:spPr>
          <a:xfrm xmlns:a="http://schemas.openxmlformats.org/drawingml/2006/main">
            <a:off x="742950" y="3105150"/>
            <a:ext cx="144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B2A4A"/>
                </a:solidFill>
              </a:defRPr>
            </a:pPr>
            <a:r>
              <a:rPr sz="1350" b="1" i="0">
                <a:solidFill>
                  <a:srgbClr val="1B2A4A"/>
                </a:solidFill>
              </a:rPr>
              <a:t>기준</a:t>
            </a:r>
          </a:p>
        </p:txBody>
      </p:sp>
      <p:sp>
        <p:nvSpPr>
          <p:cNvPr id="27" name="">
            <a:extLst xmlns:a="http://schemas.openxmlformats.org/drawingml/2006/main">
              <a:ext uri="{FF2B5EF4-FFF2-40B4-BE49-F238E27FC236}">
                <a16:creationId xmlns:a16="http://schemas.microsoft.com/office/drawing/2014/main" id="{938B1F5A-FD72-40FF-986D-457847E2B9C8}"/>
              </a:ext>
            </a:extLst>
          </p:cNvPr>
          <p:cNvSpPr>
            <a:spLocks xmlns:a="http://schemas.openxmlformats.org/drawingml/2006/main" noGrp="1"/>
          </p:cNvSpPr>
          <p:nvPr/>
        </p:nvSpPr>
        <p:spPr>
          <a:xfrm xmlns:a="http://schemas.openxmlformats.org/drawingml/2006/main">
            <a:off x="742950" y="36385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88" b="0" i="0">
                <a:solidFill>
                  <a:srgbClr val="5B6B82"/>
                </a:solidFill>
              </a:defRPr>
            </a:pPr>
            <a:r>
              <a:rPr sz="1088" b="0" i="0">
                <a:solidFill>
                  <a:srgbClr val="5B6B82"/>
                </a:solidFill>
              </a:rPr>
              <a:t>플랜 연도 시작</a:t>
            </a:r>
          </a:p>
        </p:txBody>
      </p:sp>
      <p:sp>
        <p:nvSpPr>
          <p:cNvPr id="28" name="">
            <a:extLst xmlns:a="http://schemas.openxmlformats.org/drawingml/2006/main">
              <a:ext uri="{FF2B5EF4-FFF2-40B4-BE49-F238E27FC236}">
                <a16:creationId xmlns:a16="http://schemas.microsoft.com/office/drawing/2014/main" id="{8B76707A-A0E7-4F4F-AF6E-B9F9C9D30A5F}"/>
              </a:ext>
            </a:extLst>
          </p:cNvPr>
          <p:cNvSpPr>
            <a:spLocks xmlns:a="http://schemas.openxmlformats.org/drawingml/2006/main" noGrp="1"/>
          </p:cNvSpPr>
          <p:nvPr/>
        </p:nvSpPr>
        <p:spPr>
          <a:xfrm xmlns:a="http://schemas.openxmlformats.org/drawingml/2006/main">
            <a:off x="2895600" y="24003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B2A4A"/>
                </a:solidFill>
              </a:defRPr>
            </a:pPr>
            <a:r>
              <a:rPr sz="1350" b="1" i="0">
                <a:solidFill>
                  <a:srgbClr val="1B2A4A"/>
                </a:solidFill>
              </a:rPr>
              <a:t>1년차</a:t>
            </a:r>
          </a:p>
        </p:txBody>
      </p:sp>
      <p:sp>
        <p:nvSpPr>
          <p:cNvPr id="29" name="">
            <a:extLst xmlns:a="http://schemas.openxmlformats.org/drawingml/2006/main">
              <a:ext uri="{FF2B5EF4-FFF2-40B4-BE49-F238E27FC236}">
                <a16:creationId xmlns:a16="http://schemas.microsoft.com/office/drawing/2014/main" id="{92FF8D53-8E9F-4DF0-B90B-015943D4474B}"/>
              </a:ext>
            </a:extLst>
          </p:cNvPr>
          <p:cNvSpPr>
            <a:spLocks xmlns:a="http://schemas.openxmlformats.org/drawingml/2006/main" noGrp="1"/>
          </p:cNvSpPr>
          <p:nvPr/>
        </p:nvSpPr>
        <p:spPr>
          <a:xfrm xmlns:a="http://schemas.openxmlformats.org/drawingml/2006/main">
            <a:off x="2895600" y="3009900"/>
            <a:ext cx="209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88" b="0" i="0">
                <a:solidFill>
                  <a:srgbClr val="5B6B82"/>
                </a:solidFill>
              </a:defRPr>
            </a:pPr>
            <a:r>
              <a:rPr sz="1088" b="0" i="0">
                <a:solidFill>
                  <a:srgbClr val="5B6B82"/>
                </a:solidFill>
              </a:rPr>
              <a:t>예방 이용 증가</a:t>
            </a:r>
          </a:p>
          <a:p xmlns:a="http://schemas.openxmlformats.org/drawingml/2006/main">
            <a:pPr algn="ctr">
              <a:buNone/>
              <a:defRPr sz="1088" b="0" i="0">
                <a:solidFill>
                  <a:srgbClr val="5B6B82"/>
                </a:solidFill>
              </a:defRPr>
            </a:pPr>
            <a:r>
              <a:rPr sz="1088" b="0" i="0">
                <a:solidFill>
                  <a:srgbClr val="5B6B82"/>
                </a:solidFill>
              </a:rPr>
              <a:t>미치료 상태 발견</a:t>
            </a:r>
          </a:p>
        </p:txBody>
      </p:sp>
      <p:sp>
        <p:nvSpPr>
          <p:cNvPr id="30" name="">
            <a:extLst xmlns:a="http://schemas.openxmlformats.org/drawingml/2006/main">
              <a:ext uri="{FF2B5EF4-FFF2-40B4-BE49-F238E27FC236}">
                <a16:creationId xmlns:a16="http://schemas.microsoft.com/office/drawing/2014/main" id="{7098BD7E-58FA-496F-BF48-C77D2DA221E0}"/>
              </a:ext>
            </a:extLst>
          </p:cNvPr>
          <p:cNvSpPr>
            <a:spLocks xmlns:a="http://schemas.openxmlformats.org/drawingml/2006/main" noGrp="1"/>
          </p:cNvSpPr>
          <p:nvPr/>
        </p:nvSpPr>
        <p:spPr>
          <a:xfrm xmlns:a="http://schemas.openxmlformats.org/drawingml/2006/main">
            <a:off x="5695950" y="2400300"/>
            <a:ext cx="207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B2A4A"/>
                </a:solidFill>
              </a:defRPr>
            </a:pPr>
            <a:r>
              <a:rPr sz="1350" b="1" i="0">
                <a:solidFill>
                  <a:srgbClr val="1B2A4A"/>
                </a:solidFill>
              </a:rPr>
              <a:t>2-3년차</a:t>
            </a:r>
          </a:p>
        </p:txBody>
      </p:sp>
      <p:sp>
        <p:nvSpPr>
          <p:cNvPr id="31" name="">
            <a:extLst xmlns:a="http://schemas.openxmlformats.org/drawingml/2006/main">
              <a:ext uri="{FF2B5EF4-FFF2-40B4-BE49-F238E27FC236}">
                <a16:creationId xmlns:a16="http://schemas.microsoft.com/office/drawing/2014/main" id="{B64610C4-5FA4-4F14-9A01-4D03EA5FA5A7}"/>
              </a:ext>
            </a:extLst>
          </p:cNvPr>
          <p:cNvSpPr>
            <a:spLocks xmlns:a="http://schemas.openxmlformats.org/drawingml/2006/main" noGrp="1"/>
          </p:cNvSpPr>
          <p:nvPr/>
        </p:nvSpPr>
        <p:spPr>
          <a:xfrm xmlns:a="http://schemas.openxmlformats.org/drawingml/2006/main">
            <a:off x="5695950" y="3009900"/>
            <a:ext cx="2076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88" b="0" i="0">
                <a:solidFill>
                  <a:srgbClr val="5B6B82"/>
                </a:solidFill>
              </a:defRPr>
            </a:pPr>
            <a:r>
              <a:rPr sz="1088" b="0" i="0">
                <a:solidFill>
                  <a:srgbClr val="5B6B82"/>
                </a:solidFill>
              </a:rPr>
              <a:t>치료 구성 + 청구 지연</a:t>
            </a:r>
          </a:p>
          <a:p xmlns:a="http://schemas.openxmlformats.org/drawingml/2006/main">
            <a:pPr algn="ctr">
              <a:buNone/>
              <a:defRPr sz="1088" b="0" i="0">
                <a:solidFill>
                  <a:srgbClr val="5B6B82"/>
                </a:solidFill>
              </a:defRPr>
            </a:pPr>
            <a:r>
              <a:rPr sz="1088" b="0" i="0">
                <a:solidFill>
                  <a:srgbClr val="5B6B82"/>
                </a:solidFill>
              </a:rPr>
              <a:t>측정 가능</a:t>
            </a:r>
          </a:p>
        </p:txBody>
      </p:sp>
      <p:sp>
        <p:nvSpPr>
          <p:cNvPr id="32" name="">
            <a:extLst xmlns:a="http://schemas.openxmlformats.org/drawingml/2006/main">
              <a:ext uri="{FF2B5EF4-FFF2-40B4-BE49-F238E27FC236}">
                <a16:creationId xmlns:a16="http://schemas.microsoft.com/office/drawing/2014/main" id="{D64E71EA-791B-4F3E-A617-D10998DF2A4D}"/>
              </a:ext>
            </a:extLst>
          </p:cNvPr>
          <p:cNvSpPr>
            <a:spLocks xmlns:a="http://schemas.openxmlformats.org/drawingml/2006/main" noGrp="1"/>
          </p:cNvSpPr>
          <p:nvPr/>
        </p:nvSpPr>
        <p:spPr>
          <a:xfrm xmlns:a="http://schemas.openxmlformats.org/drawingml/2006/main">
            <a:off x="8477250" y="2400300"/>
            <a:ext cx="1485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B2A4A"/>
                </a:solidFill>
              </a:defRPr>
            </a:pPr>
            <a:r>
              <a:rPr sz="1350" b="1" i="0">
                <a:solidFill>
                  <a:srgbClr val="1B2A4A"/>
                </a:solidFill>
              </a:rPr>
              <a:t>검증</a:t>
            </a:r>
          </a:p>
        </p:txBody>
      </p:sp>
      <p:sp>
        <p:nvSpPr>
          <p:cNvPr id="33" name="">
            <a:extLst xmlns:a="http://schemas.openxmlformats.org/drawingml/2006/main">
              <a:ext uri="{FF2B5EF4-FFF2-40B4-BE49-F238E27FC236}">
                <a16:creationId xmlns:a16="http://schemas.microsoft.com/office/drawing/2014/main" id="{1778F50C-BA9A-4D83-9519-40A9DDD62C7E}"/>
              </a:ext>
            </a:extLst>
          </p:cNvPr>
          <p:cNvSpPr>
            <a:spLocks xmlns:a="http://schemas.openxmlformats.org/drawingml/2006/main" noGrp="1"/>
          </p:cNvSpPr>
          <p:nvPr/>
        </p:nvSpPr>
        <p:spPr>
          <a:xfrm xmlns:a="http://schemas.openxmlformats.org/drawingml/2006/main">
            <a:off x="8477250" y="3009900"/>
            <a:ext cx="148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88" b="0" i="0">
                <a:solidFill>
                  <a:srgbClr val="5B6B82"/>
                </a:solidFill>
              </a:defRPr>
            </a:pPr>
            <a:r>
              <a:rPr sz="1088" b="0" i="0">
                <a:solidFill>
                  <a:srgbClr val="5B6B82"/>
                </a:solidFill>
              </a:rPr>
              <a:t>방향 미확정</a:t>
            </a:r>
          </a:p>
        </p:txBody>
      </p:sp>
      <p:sp>
        <p:nvSpPr>
          <p:cNvPr id="34" name="">
            <a:extLst xmlns:a="http://schemas.openxmlformats.org/drawingml/2006/main">
              <a:ext uri="{FF2B5EF4-FFF2-40B4-BE49-F238E27FC236}">
                <a16:creationId xmlns:a16="http://schemas.microsoft.com/office/drawing/2014/main" id="{6BA91FF4-D709-4ACF-A97F-41D73D6B0444}"/>
              </a:ext>
            </a:extLst>
          </p:cNvPr>
          <p:cNvSpPr>
            <a:spLocks xmlns:a="http://schemas.openxmlformats.org/drawingml/2006/main" noGrp="1"/>
          </p:cNvSpPr>
          <p:nvPr/>
        </p:nvSpPr>
        <p:spPr>
          <a:xfrm xmlns:a="http://schemas.openxmlformats.org/drawingml/2006/main">
            <a:off x="10210800" y="2190750"/>
            <a:ext cx="1371600" cy="971550"/>
          </a:xfrm>
          <a:prstGeom xmlns:a="http://schemas.openxmlformats.org/drawingml/2006/main" prst="roundRect">
            <a:avLst>
              <a:gd name="adj" fmla="val 7843"/>
            </a:avLst>
          </a:prstGeom>
          <a:noFill xmlns:a="http://schemas.openxmlformats.org/drawingml/2006/main"/>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97ED0B0-C470-477B-9DAD-7969BFD85F22}"/>
              </a:ext>
            </a:extLst>
          </p:cNvPr>
          <p:cNvSpPr>
            <a:spLocks xmlns:a="http://schemas.openxmlformats.org/drawingml/2006/main" noGrp="1"/>
          </p:cNvSpPr>
          <p:nvPr/>
        </p:nvSpPr>
        <p:spPr>
          <a:xfrm xmlns:a="http://schemas.openxmlformats.org/drawingml/2006/main">
            <a:off x="9963150" y="2247900"/>
            <a:ext cx="161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낮은 이직률</a:t>
            </a:r>
          </a:p>
          <a:p xmlns:a="http://schemas.openxmlformats.org/drawingml/2006/main">
            <a:pPr algn="ctr">
              <a:buNone/>
              <a:defRPr sz="1350" b="1" i="0">
                <a:solidFill>
                  <a:srgbClr val="008A94"/>
                </a:solidFill>
              </a:defRPr>
            </a:pPr>
            <a:r>
              <a:rPr sz="1350" b="1" i="0">
                <a:solidFill>
                  <a:srgbClr val="008A94"/>
                </a:solidFill>
              </a:rPr>
              <a:t>여러 해 가치 관점</a:t>
            </a:r>
          </a:p>
        </p:txBody>
      </p:sp>
      <p:sp>
        <p:nvSpPr>
          <p:cNvPr id="36" name="">
            <a:extLst xmlns:a="http://schemas.openxmlformats.org/drawingml/2006/main">
              <a:ext uri="{FF2B5EF4-FFF2-40B4-BE49-F238E27FC236}">
                <a16:creationId xmlns:a16="http://schemas.microsoft.com/office/drawing/2014/main" id="{C3E2FFA9-9F8A-4ABD-ABAA-29994980726B}"/>
              </a:ext>
            </a:extLst>
          </p:cNvPr>
          <p:cNvSpPr>
            <a:spLocks xmlns:a="http://schemas.openxmlformats.org/drawingml/2006/main" noGrp="1"/>
          </p:cNvSpPr>
          <p:nvPr/>
        </p:nvSpPr>
        <p:spPr>
          <a:xfrm xmlns:a="http://schemas.openxmlformats.org/drawingml/2006/main">
            <a:off x="10210800" y="3390900"/>
            <a:ext cx="1371600" cy="971550"/>
          </a:xfrm>
          <a:prstGeom xmlns:a="http://schemas.openxmlformats.org/drawingml/2006/main" prst="roundRect">
            <a:avLst>
              <a:gd name="adj" fmla="val 7843"/>
            </a:avLst>
          </a:prstGeom>
          <a:noFill xmlns:a="http://schemas.openxmlformats.org/drawingml/2006/main"/>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97100BC-31F3-4D5F-B146-07A2BE2373F3}"/>
              </a:ext>
            </a:extLst>
          </p:cNvPr>
          <p:cNvSpPr>
            <a:spLocks xmlns:a="http://schemas.openxmlformats.org/drawingml/2006/main" noGrp="1"/>
          </p:cNvSpPr>
          <p:nvPr/>
        </p:nvSpPr>
        <p:spPr>
          <a:xfrm xmlns:a="http://schemas.openxmlformats.org/drawingml/2006/main">
            <a:off x="9963150" y="3276600"/>
            <a:ext cx="161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D86464"/>
                </a:solidFill>
              </a:defRPr>
            </a:pPr>
            <a:r>
              <a:rPr sz="1350" b="1" i="0">
                <a:solidFill>
                  <a:srgbClr val="D86464"/>
                </a:solidFill>
              </a:rPr>
              <a:t>높은 이직률</a:t>
            </a:r>
          </a:p>
          <a:p xmlns:a="http://schemas.openxmlformats.org/drawingml/2006/main">
            <a:pPr algn="ctr">
              <a:buNone/>
              <a:defRPr sz="1350" b="1" i="0">
                <a:solidFill>
                  <a:srgbClr val="D86464"/>
                </a:solidFill>
              </a:defRPr>
            </a:pPr>
            <a:r>
              <a:rPr sz="1350" b="1" i="0">
                <a:solidFill>
                  <a:srgbClr val="D86464"/>
                </a:solidFill>
              </a:rPr>
              <a:t>직원 경험 관점</a:t>
            </a:r>
          </a:p>
        </p:txBody>
      </p:sp>
      <p:sp>
        <p:nvSpPr>
          <p:cNvPr id="38" name="">
            <a:extLst xmlns:a="http://schemas.openxmlformats.org/drawingml/2006/main">
              <a:ext uri="{FF2B5EF4-FFF2-40B4-BE49-F238E27FC236}">
                <a16:creationId xmlns:a16="http://schemas.microsoft.com/office/drawing/2014/main" id="{05D49970-B9A2-49E1-B517-CAB2EE82B771}"/>
              </a:ext>
            </a:extLst>
          </p:cNvPr>
          <p:cNvSpPr>
            <a:spLocks xmlns:a="http://schemas.openxmlformats.org/drawingml/2006/main" noGrp="1"/>
          </p:cNvSpPr>
          <p:nvPr/>
        </p:nvSpPr>
        <p:spPr>
          <a:xfrm xmlns:a="http://schemas.openxmlformats.org/drawingml/2006/main">
            <a:off x="101346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i="0">
                <a:solidFill>
                  <a:srgbClr val="008A94"/>
                </a:solidFill>
              </a:defRPr>
            </a:pPr>
            <a:r>
              <a:rPr sz="1350" b="0" i="0">
                <a:solidFill>
                  <a:srgbClr val="008A94"/>
                </a:solidFill>
              </a:rPr>
              <a:t/>
            </a:r>
          </a:p>
        </p:txBody>
      </p:sp>
      <p:sp>
        <p:nvSpPr>
          <p:cNvPr id="39" name="">
            <a:extLst xmlns:a="http://schemas.openxmlformats.org/drawingml/2006/main">
              <a:ext uri="{FF2B5EF4-FFF2-40B4-BE49-F238E27FC236}">
                <a16:creationId xmlns:a16="http://schemas.microsoft.com/office/drawing/2014/main" id="{5B2606F9-BD9A-4DED-89F7-7FFEAD4737C0}"/>
              </a:ext>
            </a:extLst>
          </p:cNvPr>
          <p:cNvSpPr>
            <a:spLocks xmlns:a="http://schemas.openxmlformats.org/drawingml/2006/main" noGrp="1"/>
          </p:cNvSpPr>
          <p:nvPr/>
        </p:nvSpPr>
        <p:spPr>
          <a:xfrm xmlns:a="http://schemas.openxmlformats.org/drawingml/2006/main">
            <a:off x="10134600" y="47339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i="0">
                <a:solidFill>
                  <a:srgbClr val="D86464"/>
                </a:solidFill>
              </a:defRPr>
            </a:pPr>
            <a:r>
              <a:rPr sz="1350" b="0" i="0">
                <a:solidFill>
                  <a:srgbClr val="D86464"/>
                </a:solidFill>
              </a:rPr>
              <a:t/>
            </a:r>
          </a:p>
        </p:txBody>
      </p:sp>
      <p:sp>
        <p:nvSpPr>
          <p:cNvPr id="40" name="">
            <a:extLst xmlns:a="http://schemas.openxmlformats.org/drawingml/2006/main">
              <a:ext uri="{FF2B5EF4-FFF2-40B4-BE49-F238E27FC236}">
                <a16:creationId xmlns:a16="http://schemas.microsoft.com/office/drawing/2014/main" id="{1A1AC42C-D747-42A1-9BB5-9069190A3E8C}"/>
              </a:ext>
            </a:extLst>
          </p:cNvPr>
          <p:cNvSpPr>
            <a:spLocks xmlns:a="http://schemas.openxmlformats.org/drawingml/2006/main" noGrp="1"/>
          </p:cNvSpPr>
          <p:nvPr/>
        </p:nvSpPr>
        <p:spPr>
          <a:xfrm xmlns:a="http://schemas.openxmlformats.org/drawingml/2006/main">
            <a:off x="609600" y="4781550"/>
            <a:ext cx="38100" cy="87630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C26ABCE-0523-4F97-A41E-4FD2E36C2958}"/>
              </a:ext>
            </a:extLst>
          </p:cNvPr>
          <p:cNvSpPr>
            <a:spLocks xmlns:a="http://schemas.openxmlformats.org/drawingml/2006/main" noGrp="1"/>
          </p:cNvSpPr>
          <p:nvPr/>
        </p:nvSpPr>
        <p:spPr>
          <a:xfrm xmlns:a="http://schemas.openxmlformats.org/drawingml/2006/main">
            <a:off x="742950" y="48006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52238"/>
                </a:solidFill>
              </a:defRPr>
            </a:pPr>
            <a:r>
              <a:rPr sz="1200" b="1" i="0">
                <a:solidFill>
                  <a:srgbClr val="152238"/>
                </a:solidFill>
              </a:rPr>
              <a:t>이용량</a:t>
            </a:r>
          </a:p>
        </p:txBody>
      </p:sp>
      <p:sp>
        <p:nvSpPr>
          <p:cNvPr id="42" name="">
            <a:extLst xmlns:a="http://schemas.openxmlformats.org/drawingml/2006/main">
              <a:ext uri="{FF2B5EF4-FFF2-40B4-BE49-F238E27FC236}">
                <a16:creationId xmlns:a16="http://schemas.microsoft.com/office/drawing/2014/main" id="{3C6DFAF9-83A1-47F5-9080-FF969FCC2C39}"/>
              </a:ext>
            </a:extLst>
          </p:cNvPr>
          <p:cNvSpPr>
            <a:spLocks xmlns:a="http://schemas.openxmlformats.org/drawingml/2006/main" noGrp="1"/>
          </p:cNvSpPr>
          <p:nvPr/>
        </p:nvSpPr>
        <p:spPr>
          <a:xfrm xmlns:a="http://schemas.openxmlformats.org/drawingml/2006/main">
            <a:off x="742950" y="50577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예방진료 이용은 플랜 지급액을 늘릴 수 있습니다.</a:t>
            </a:r>
          </a:p>
        </p:txBody>
      </p:sp>
      <p:sp>
        <p:nvSpPr>
          <p:cNvPr id="43" name="">
            <a:extLst xmlns:a="http://schemas.openxmlformats.org/drawingml/2006/main">
              <a:ext uri="{FF2B5EF4-FFF2-40B4-BE49-F238E27FC236}">
                <a16:creationId xmlns:a16="http://schemas.microsoft.com/office/drawing/2014/main" id="{7F1E8DE7-EBCD-40DE-83DA-D7C6E6AAF63D}"/>
              </a:ext>
            </a:extLst>
          </p:cNvPr>
          <p:cNvSpPr>
            <a:spLocks xmlns:a="http://schemas.openxmlformats.org/drawingml/2006/main" noGrp="1"/>
          </p:cNvSpPr>
          <p:nvPr/>
        </p:nvSpPr>
        <p:spPr>
          <a:xfrm xmlns:a="http://schemas.openxmlformats.org/drawingml/2006/main">
            <a:off x="4343400" y="4781550"/>
            <a:ext cx="38100" cy="87630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2C52BD8-47F0-4932-8C62-6D2402937320}"/>
              </a:ext>
            </a:extLst>
          </p:cNvPr>
          <p:cNvSpPr>
            <a:spLocks xmlns:a="http://schemas.openxmlformats.org/drawingml/2006/main" noGrp="1"/>
          </p:cNvSpPr>
          <p:nvPr/>
        </p:nvSpPr>
        <p:spPr>
          <a:xfrm xmlns:a="http://schemas.openxmlformats.org/drawingml/2006/main">
            <a:off x="4476750" y="48006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52238"/>
                </a:solidFill>
              </a:defRPr>
            </a:pPr>
            <a:r>
              <a:rPr sz="1200" b="1" i="0">
                <a:solidFill>
                  <a:srgbClr val="152238"/>
                </a:solidFill>
              </a:rPr>
              <a:t>비용 구분</a:t>
            </a:r>
          </a:p>
        </p:txBody>
      </p:sp>
      <p:sp>
        <p:nvSpPr>
          <p:cNvPr id="45" name="">
            <a:extLst xmlns:a="http://schemas.openxmlformats.org/drawingml/2006/main">
              <a:ext uri="{FF2B5EF4-FFF2-40B4-BE49-F238E27FC236}">
                <a16:creationId xmlns:a16="http://schemas.microsoft.com/office/drawing/2014/main" id="{8FB6CEE3-9AFF-4B9E-98C5-6DC5D35AF335}"/>
              </a:ext>
            </a:extLst>
          </p:cNvPr>
          <p:cNvSpPr>
            <a:spLocks xmlns:a="http://schemas.openxmlformats.org/drawingml/2006/main" noGrp="1"/>
          </p:cNvSpPr>
          <p:nvPr/>
        </p:nvSpPr>
        <p:spPr>
          <a:xfrm xmlns:a="http://schemas.openxmlformats.org/drawingml/2006/main">
            <a:off x="4476750" y="50577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허용액, 플랜 지급액, 직원 본인부담금은 다르게 움직일 수 있습니다.</a:t>
            </a:r>
          </a:p>
        </p:txBody>
      </p:sp>
      <p:sp>
        <p:nvSpPr>
          <p:cNvPr id="46" name="">
            <a:extLst xmlns:a="http://schemas.openxmlformats.org/drawingml/2006/main">
              <a:ext uri="{FF2B5EF4-FFF2-40B4-BE49-F238E27FC236}">
                <a16:creationId xmlns:a16="http://schemas.microsoft.com/office/drawing/2014/main" id="{C29E9ABD-319C-4492-95B1-ED651133DEBC}"/>
              </a:ext>
            </a:extLst>
          </p:cNvPr>
          <p:cNvSpPr>
            <a:spLocks xmlns:a="http://schemas.openxmlformats.org/drawingml/2006/main" noGrp="1"/>
          </p:cNvSpPr>
          <p:nvPr/>
        </p:nvSpPr>
        <p:spPr>
          <a:xfrm xmlns:a="http://schemas.openxmlformats.org/drawingml/2006/main">
            <a:off x="8077200" y="4781550"/>
            <a:ext cx="38100" cy="87630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87C333F-8940-4F20-812E-0B290ADB4645}"/>
              </a:ext>
            </a:extLst>
          </p:cNvPr>
          <p:cNvSpPr>
            <a:spLocks xmlns:a="http://schemas.openxmlformats.org/drawingml/2006/main" noGrp="1"/>
          </p:cNvSpPr>
          <p:nvPr/>
        </p:nvSpPr>
        <p:spPr>
          <a:xfrm xmlns:a="http://schemas.openxmlformats.org/drawingml/2006/main">
            <a:off x="8210550" y="48006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52238"/>
                </a:solidFill>
              </a:defRPr>
            </a:pPr>
            <a:r>
              <a:rPr sz="1200" b="1" i="0">
                <a:solidFill>
                  <a:srgbClr val="152238"/>
                </a:solidFill>
              </a:rPr>
              <a:t>계약 원칙</a:t>
            </a:r>
          </a:p>
        </p:txBody>
      </p:sp>
      <p:sp>
        <p:nvSpPr>
          <p:cNvPr id="48" name="">
            <a:extLst xmlns:a="http://schemas.openxmlformats.org/drawingml/2006/main">
              <a:ext uri="{FF2B5EF4-FFF2-40B4-BE49-F238E27FC236}">
                <a16:creationId xmlns:a16="http://schemas.microsoft.com/office/drawing/2014/main" id="{D923F76C-6314-4921-93D7-626D5BE0BFD4}"/>
              </a:ext>
            </a:extLst>
          </p:cNvPr>
          <p:cNvSpPr>
            <a:spLocks xmlns:a="http://schemas.openxmlformats.org/drawingml/2006/main" noGrp="1"/>
          </p:cNvSpPr>
          <p:nvPr/>
        </p:nvSpPr>
        <p:spPr>
          <a:xfrm xmlns:a="http://schemas.openxmlformats.org/drawingml/2006/main">
            <a:off x="8210550" y="50577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5B6B82"/>
                </a:solidFill>
              </a:defRPr>
            </a:pPr>
            <a:r>
              <a:rPr sz="1163" b="0" i="0">
                <a:solidFill>
                  <a:srgbClr val="5B6B82"/>
                </a:solidFill>
              </a:rPr>
              <a:t>ICLO는 첫해 절감을 보장하는 계약을 제안하지 않습니다.</a:t>
            </a:r>
          </a:p>
        </p:txBody>
      </p:sp>
      <p:sp>
        <p:nvSpPr>
          <p:cNvPr id="265" name="">
            <a:extLst xmlns:a="http://schemas.openxmlformats.org/drawingml/2006/main">
              <a:ext uri="{FF2B5EF4-FFF2-40B4-BE49-F238E27FC236}">
                <a16:creationId xmlns:a16="http://schemas.microsoft.com/office/drawing/2014/main" id="{D9C125D6-E9B3-4E4B-93DB-9FFD80C72FF0}"/>
              </a:ext>
            </a:extLst>
          </p:cNvPr>
          <p:cNvSpPr>
            <a:spLocks xmlns:a="http://schemas.openxmlformats.org/drawingml/2006/main" noGrp="1"/>
          </p:cNvSpPr>
          <p:nvPr/>
        </p:nvSpPr>
        <p:spPr>
          <a:xfrm xmlns:a="http://schemas.openxmlformats.org/drawingml/2006/main">
            <a:off x="1619250" y="3486150"/>
            <a:ext cx="762000" cy="0"/>
          </a:xfrm>
          <a:prstGeom xmlns:a="http://schemas.openxmlformats.org/drawingml/2006/main" prst="line">
            <a:avLst/>
          </a:prstGeom>
          <a:ln xmlns:a="http://schemas.openxmlformats.org/drawingml/2006/main" w="14288">
            <a:solidFill>
              <a:srgbClr val="008A94"/>
            </a:solidFill>
            <a:prstDash val="solid"/>
          </a:ln>
        </p:spPr>
      </p:sp>
      <p:sp>
        <p:nvSpPr>
          <p:cNvPr id="266" name="">
            <a:extLst xmlns:a="http://schemas.openxmlformats.org/drawingml/2006/main">
              <a:ext uri="{FF2B5EF4-FFF2-40B4-BE49-F238E27FC236}">
                <a16:creationId xmlns:a16="http://schemas.microsoft.com/office/drawing/2014/main" id="{E1AC25C1-F934-466B-B428-2777AEB2EC7C}"/>
              </a:ext>
            </a:extLst>
          </p:cNvPr>
          <p:cNvSpPr>
            <a:spLocks xmlns:a="http://schemas.openxmlformats.org/drawingml/2006/main" noGrp="1"/>
          </p:cNvSpPr>
          <p:nvPr/>
        </p:nvSpPr>
        <p:spPr>
          <a:xfrm xmlns:a="http://schemas.openxmlformats.org/drawingml/2006/main">
            <a:off x="2381250" y="2857500"/>
            <a:ext cx="0" cy="628650"/>
          </a:xfrm>
          <a:prstGeom xmlns:a="http://schemas.openxmlformats.org/drawingml/2006/main" prst="line">
            <a:avLst/>
          </a:prstGeom>
          <a:ln xmlns:a="http://schemas.openxmlformats.org/drawingml/2006/main" w="14288">
            <a:solidFill>
              <a:srgbClr val="008A94"/>
            </a:solidFill>
            <a:prstDash val="solid"/>
          </a:ln>
        </p:spPr>
      </p:sp>
      <p:sp>
        <p:nvSpPr>
          <p:cNvPr id="267" name="">
            <a:extLst xmlns:a="http://schemas.openxmlformats.org/drawingml/2006/main">
              <a:ext uri="{FF2B5EF4-FFF2-40B4-BE49-F238E27FC236}">
                <a16:creationId xmlns:a16="http://schemas.microsoft.com/office/drawing/2014/main" id="{DC6A9F39-A4A7-4164-82D3-BF80B2CBEFC2}"/>
              </a:ext>
            </a:extLst>
          </p:cNvPr>
          <p:cNvSpPr>
            <a:spLocks xmlns:a="http://schemas.openxmlformats.org/drawingml/2006/main" noGrp="1"/>
          </p:cNvSpPr>
          <p:nvPr/>
        </p:nvSpPr>
        <p:spPr>
          <a:xfrm xmlns:a="http://schemas.openxmlformats.org/drawingml/2006/main">
            <a:off x="2381250" y="2857500"/>
            <a:ext cx="7581900" cy="0"/>
          </a:xfrm>
          <a:prstGeom xmlns:a="http://schemas.openxmlformats.org/drawingml/2006/main" prst="line">
            <a:avLst/>
          </a:prstGeom>
          <a:ln xmlns:a="http://schemas.openxmlformats.org/drawingml/2006/main" w="14288">
            <a:solidFill>
              <a:srgbClr val="008A94"/>
            </a:solidFill>
            <a:prstDash val="solid"/>
          </a:ln>
        </p:spPr>
      </p:sp>
      <p:sp>
        <p:nvSpPr>
          <p:cNvPr id="268" name="">
            <a:extLst xmlns:a="http://schemas.openxmlformats.org/drawingml/2006/main">
              <a:ext uri="{FF2B5EF4-FFF2-40B4-BE49-F238E27FC236}">
                <a16:creationId xmlns:a16="http://schemas.microsoft.com/office/drawing/2014/main" id="{23598F6A-CF7D-4B3B-B763-C1A605A1BD7E}"/>
              </a:ext>
            </a:extLst>
          </p:cNvPr>
          <p:cNvSpPr>
            <a:spLocks xmlns:a="http://schemas.openxmlformats.org/drawingml/2006/main" noGrp="1"/>
          </p:cNvSpPr>
          <p:nvPr/>
        </p:nvSpPr>
        <p:spPr>
          <a:xfrm xmlns:a="http://schemas.openxmlformats.org/drawingml/2006/main">
            <a:off x="1571625" y="3438525"/>
            <a:ext cx="95250" cy="9525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269" name="">
            <a:extLst xmlns:a="http://schemas.openxmlformats.org/drawingml/2006/main">
              <a:ext uri="{FF2B5EF4-FFF2-40B4-BE49-F238E27FC236}">
                <a16:creationId xmlns:a16="http://schemas.microsoft.com/office/drawing/2014/main" id="{76426A38-DDB1-45B8-8512-33A461171073}"/>
              </a:ext>
            </a:extLst>
          </p:cNvPr>
          <p:cNvSpPr>
            <a:spLocks xmlns:a="http://schemas.openxmlformats.org/drawingml/2006/main" noGrp="1"/>
          </p:cNvSpPr>
          <p:nvPr/>
        </p:nvSpPr>
        <p:spPr>
          <a:xfrm xmlns:a="http://schemas.openxmlformats.org/drawingml/2006/main">
            <a:off x="3895725" y="2809875"/>
            <a:ext cx="95250" cy="9525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270" name="">
            <a:extLst xmlns:a="http://schemas.openxmlformats.org/drawingml/2006/main">
              <a:ext uri="{FF2B5EF4-FFF2-40B4-BE49-F238E27FC236}">
                <a16:creationId xmlns:a16="http://schemas.microsoft.com/office/drawing/2014/main" id="{BA6403BF-2F70-4488-ACDC-3F526DCF6CAF}"/>
              </a:ext>
            </a:extLst>
          </p:cNvPr>
          <p:cNvSpPr>
            <a:spLocks xmlns:a="http://schemas.openxmlformats.org/drawingml/2006/main" noGrp="1"/>
          </p:cNvSpPr>
          <p:nvPr/>
        </p:nvSpPr>
        <p:spPr>
          <a:xfrm xmlns:a="http://schemas.openxmlformats.org/drawingml/2006/main">
            <a:off x="6686550" y="2809875"/>
            <a:ext cx="95250" cy="9525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
        <p:nvSpPr>
          <p:cNvPr id="271" name="">
            <a:extLst xmlns:a="http://schemas.openxmlformats.org/drawingml/2006/main">
              <a:ext uri="{FF2B5EF4-FFF2-40B4-BE49-F238E27FC236}">
                <a16:creationId xmlns:a16="http://schemas.microsoft.com/office/drawing/2014/main" id="{9657FD7E-CBD8-40E3-A859-669C54587EDE}"/>
              </a:ext>
            </a:extLst>
          </p:cNvPr>
          <p:cNvSpPr>
            <a:spLocks xmlns:a="http://schemas.openxmlformats.org/drawingml/2006/main" noGrp="1"/>
          </p:cNvSpPr>
          <p:nvPr/>
        </p:nvSpPr>
        <p:spPr>
          <a:xfrm xmlns:a="http://schemas.openxmlformats.org/drawingml/2006/main">
            <a:off x="9172575" y="2809875"/>
            <a:ext cx="95250" cy="95250"/>
          </a:xfrm>
          <a:prstGeom xmlns:a="http://schemas.openxmlformats.org/drawingml/2006/main" prst="ellipse">
            <a:avLst/>
          </a:prstGeom>
          <a:solidFill xmlns:a="http://schemas.openxmlformats.org/drawingml/2006/main">
            <a:srgbClr val="008A94"/>
          </a:solidFill>
          <a:ln xmlns:a="http://schemas.openxmlformats.org/drawingml/2006/main" w="0">
            <a:noFill/>
            <a:prstDash val="solid"/>
          </a:ln>
        </p:spPr>
      </p:sp>
    </p:spTree>
    <p:extLst>
      <p:ext uri="{BB962C8B-B14F-4D97-AF65-F5344CB8AC3E}">
        <p14:creationId xmlns:p14="http://schemas.microsoft.com/office/powerpoint/2010/main" val="15705669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686F58E-63A5-4A62-BEEC-D46FD279A1E8}"/>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B55C551E-4BAA-4ED9-B1C6-2516B963DA3C}"/>
              </a:ext>
            </a:extLst>
          </p:cNvPr>
          <p:cNvSpPr>
            <a:spLocks xmlns:a="http://schemas.openxmlformats.org/drawingml/2006/main" noGrp="1"/>
          </p:cNvSpPr>
          <p:nvPr/>
        </p:nvSpPr>
        <p:spPr>
          <a:xfrm xmlns:a="http://schemas.openxmlformats.org/drawingml/2006/main">
            <a:off x="9144000" y="209550"/>
            <a:ext cx="2438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ECBEB0-025B-4CF1-A773-4AD9CAF2BA22}"/>
              </a:ext>
            </a:extLst>
          </p:cNvPr>
          <p:cNvSpPr>
            <a:spLocks xmlns:a="http://schemas.openxmlformats.org/drawingml/2006/main" noGrp="1"/>
          </p:cNvSpPr>
          <p:nvPr/>
        </p:nvSpPr>
        <p:spPr>
          <a:xfrm xmlns:a="http://schemas.openxmlformats.org/drawingml/2006/main">
            <a:off x="91440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F45675-40CB-4F8E-93CC-2AA1C9A561AA}"/>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ICLO 제품 설계 원칙</a:t>
            </a:r>
          </a:p>
        </p:txBody>
      </p:sp>
      <p:sp>
        <p:nvSpPr>
          <p:cNvPr id="5" name="">
            <a:extLst xmlns:a="http://schemas.openxmlformats.org/drawingml/2006/main">
              <a:ext uri="{FF2B5EF4-FFF2-40B4-BE49-F238E27FC236}">
                <a16:creationId xmlns:a16="http://schemas.microsoft.com/office/drawing/2014/main" id="{6BE1A311-A5D1-45AB-AE8A-BA3B4BFD359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기업이 확인해야 할 데이터 기준</a:t>
            </a:r>
          </a:p>
        </p:txBody>
      </p:sp>
      <p:sp>
        <p:nvSpPr>
          <p:cNvPr id="6" name="">
            <a:extLst xmlns:a="http://schemas.openxmlformats.org/drawingml/2006/main">
              <a:ext uri="{FF2B5EF4-FFF2-40B4-BE49-F238E27FC236}">
                <a16:creationId xmlns:a16="http://schemas.microsoft.com/office/drawing/2014/main" id="{C1D111BD-5DA6-4B27-ACEB-A9F52C798C9E}"/>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합성 데이터 예시이며, 분모·기준일·청구 지연·완결성·소규모 집계 억제를 구매자에게 보이는 설계입니다.</a:t>
            </a:r>
          </a:p>
        </p:txBody>
      </p:sp>
      <p:sp>
        <p:nvSpPr>
          <p:cNvPr id="7" name="">
            <a:extLst xmlns:a="http://schemas.openxmlformats.org/drawingml/2006/main">
              <a:ext uri="{FF2B5EF4-FFF2-40B4-BE49-F238E27FC236}">
                <a16:creationId xmlns:a16="http://schemas.microsoft.com/office/drawing/2014/main" id="{B2FA4A41-39E8-40FE-A44E-BFC705BE593B}"/>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6BED935D-5551-4786-AEA9-F9E496343FCE}"/>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D745167D-E3AA-4B69-870D-BC9ED652A98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ee1eca81ea04498"/>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AAD0A5A-8C1E-4910-8386-6F61E6A98301}"/>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fff167e9eb7b4dfd"/>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D970E98-E810-4F81-8D48-937434032B70}"/>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1733FF1F-58F2-4A69-95FC-A014D5E68BFA}"/>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08</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1019b1c249104ac2"/>
          <a:stretch xmlns:a="http://schemas.openxmlformats.org/drawingml/2006/main"/>
        </p:blipFill>
        <p:spPr>
          <a:xfrm xmlns:a="http://schemas.openxmlformats.org/drawingml/2006/main">
            <a:off x="1143000" y="1952625"/>
            <a:ext cx="9906000" cy="3438525"/>
          </a:xfrm>
          <a:prstGeom xmlns:a="http://schemas.openxmlformats.org/drawingml/2006/main" prst="roundRect">
            <a:avLst>
              <a:gd name="adj" fmla="val 2174"/>
            </a:avLst>
          </a:prstGeom>
        </p:spPr>
      </p:pic>
      <p:sp>
        <p:nvSpPr>
          <p:cNvPr id="16" name="">
            <a:extLst xmlns:a="http://schemas.openxmlformats.org/drawingml/2006/main">
              <a:ext uri="{FF2B5EF4-FFF2-40B4-BE49-F238E27FC236}">
                <a16:creationId xmlns:a16="http://schemas.microsoft.com/office/drawing/2014/main" id="{B7EB3741-99F7-4698-B8F0-7AA756201E08}"/>
              </a:ext>
            </a:extLst>
          </p:cNvPr>
          <p:cNvSpPr>
            <a:spLocks xmlns:a="http://schemas.openxmlformats.org/drawingml/2006/main" noGrp="1"/>
          </p:cNvSpPr>
          <p:nvPr/>
        </p:nvSpPr>
        <p:spPr>
          <a:xfrm xmlns:a="http://schemas.openxmlformats.org/drawingml/2006/main">
            <a:off x="609600" y="1952625"/>
            <a:ext cx="10972800" cy="3505200"/>
          </a:xfrm>
          <a:prstGeom xmlns:a="http://schemas.openxmlformats.org/drawingml/2006/main" prst="roundRect">
            <a:avLst>
              <a:gd name="adj" fmla="val 2174"/>
            </a:avLst>
          </a:prstGeom>
          <a:noFill xmlns:a="http://schemas.openxmlformats.org/drawingml/2006/main"/>
          <a:ln xmlns:a="http://schemas.openxmlformats.org/drawingml/2006/main" w="14288">
            <a:solidFill>
              <a:srgbClr val="DCE3EC"/>
            </a:solidFill>
            <a:prstDash val="solid"/>
          </a:ln>
        </p:spPr>
      </p:sp>
      <p:sp>
        <p:nvSpPr>
          <p:cNvPr id="17" name="">
            <a:extLst xmlns:a="http://schemas.openxmlformats.org/drawingml/2006/main">
              <a:ext uri="{FF2B5EF4-FFF2-40B4-BE49-F238E27FC236}">
                <a16:creationId xmlns:a16="http://schemas.microsoft.com/office/drawing/2014/main" id="{CAB708C8-CED3-4916-BA07-0EB740AD432C}"/>
              </a:ext>
            </a:extLst>
          </p:cNvPr>
          <p:cNvSpPr>
            <a:spLocks xmlns:a="http://schemas.openxmlformats.org/drawingml/2006/main" noGrp="1"/>
          </p:cNvSpPr>
          <p:nvPr/>
        </p:nvSpPr>
        <p:spPr>
          <a:xfrm xmlns:a="http://schemas.openxmlformats.org/drawingml/2006/main">
            <a:off x="609600" y="5657850"/>
            <a:ext cx="38100" cy="5143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ECD7E1E-B4FB-406E-9F78-ADB1080BDA73}"/>
              </a:ext>
            </a:extLst>
          </p:cNvPr>
          <p:cNvSpPr>
            <a:spLocks xmlns:a="http://schemas.openxmlformats.org/drawingml/2006/main" noGrp="1"/>
          </p:cNvSpPr>
          <p:nvPr/>
        </p:nvSpPr>
        <p:spPr>
          <a:xfrm xmlns:a="http://schemas.openxmlformats.org/drawingml/2006/main">
            <a:off x="7429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3294B"/>
                </a:solidFill>
              </a:defRPr>
            </a:pPr>
            <a:r>
              <a:rPr sz="1350" b="1" i="0">
                <a:solidFill>
                  <a:srgbClr val="13294B"/>
                </a:solidFill>
              </a:rPr>
              <a:t>합성 데이터</a:t>
            </a:r>
          </a:p>
        </p:txBody>
      </p:sp>
      <p:sp>
        <p:nvSpPr>
          <p:cNvPr id="19" name="">
            <a:extLst xmlns:a="http://schemas.openxmlformats.org/drawingml/2006/main">
              <a:ext uri="{FF2B5EF4-FFF2-40B4-BE49-F238E27FC236}">
                <a16:creationId xmlns:a16="http://schemas.microsoft.com/office/drawing/2014/main" id="{FE931C40-E96B-4F38-A96E-82858B764C4B}"/>
              </a:ext>
            </a:extLst>
          </p:cNvPr>
          <p:cNvSpPr>
            <a:spLocks xmlns:a="http://schemas.openxmlformats.org/drawingml/2006/main" noGrp="1"/>
          </p:cNvSpPr>
          <p:nvPr/>
        </p:nvSpPr>
        <p:spPr>
          <a:xfrm xmlns:a="http://schemas.openxmlformats.org/drawingml/2006/main">
            <a:off x="7429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152238"/>
                </a:solidFill>
              </a:defRPr>
            </a:pPr>
            <a:r>
              <a:rPr sz="1050" b="0" i="0">
                <a:solidFill>
                  <a:srgbClr val="152238"/>
                </a:solidFill>
              </a:rPr>
              <a:t>설명용 예시</a:t>
            </a:r>
          </a:p>
        </p:txBody>
      </p:sp>
      <p:sp>
        <p:nvSpPr>
          <p:cNvPr id="20" name="">
            <a:extLst xmlns:a="http://schemas.openxmlformats.org/drawingml/2006/main">
              <a:ext uri="{FF2B5EF4-FFF2-40B4-BE49-F238E27FC236}">
                <a16:creationId xmlns:a16="http://schemas.microsoft.com/office/drawing/2014/main" id="{15FA9A6F-EA63-4E85-8DAE-9E19AC280D13}"/>
              </a:ext>
            </a:extLst>
          </p:cNvPr>
          <p:cNvSpPr>
            <a:spLocks xmlns:a="http://schemas.openxmlformats.org/drawingml/2006/main" noGrp="1"/>
          </p:cNvSpPr>
          <p:nvPr/>
        </p:nvSpPr>
        <p:spPr>
          <a:xfrm xmlns:a="http://schemas.openxmlformats.org/drawingml/2006/main">
            <a:off x="2819400" y="5657850"/>
            <a:ext cx="38100" cy="5143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85708E2-EBC1-4828-9A59-44B15A516D7F}"/>
              </a:ext>
            </a:extLst>
          </p:cNvPr>
          <p:cNvSpPr>
            <a:spLocks xmlns:a="http://schemas.openxmlformats.org/drawingml/2006/main" noGrp="1"/>
          </p:cNvSpPr>
          <p:nvPr/>
        </p:nvSpPr>
        <p:spPr>
          <a:xfrm xmlns:a="http://schemas.openxmlformats.org/drawingml/2006/main">
            <a:off x="29527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3294B"/>
                </a:solidFill>
              </a:defRPr>
            </a:pPr>
            <a:r>
              <a:rPr sz="1350" b="1" i="0">
                <a:solidFill>
                  <a:srgbClr val="13294B"/>
                </a:solidFill>
              </a:rPr>
              <a:t>기준 집단</a:t>
            </a:r>
          </a:p>
        </p:txBody>
      </p:sp>
      <p:sp>
        <p:nvSpPr>
          <p:cNvPr id="22" name="">
            <a:extLst xmlns:a="http://schemas.openxmlformats.org/drawingml/2006/main">
              <a:ext uri="{FF2B5EF4-FFF2-40B4-BE49-F238E27FC236}">
                <a16:creationId xmlns:a16="http://schemas.microsoft.com/office/drawing/2014/main" id="{660A97AB-2957-4AB6-8E73-8307B2B9317B}"/>
              </a:ext>
            </a:extLst>
          </p:cNvPr>
          <p:cNvSpPr>
            <a:spLocks xmlns:a="http://schemas.openxmlformats.org/drawingml/2006/main" noGrp="1"/>
          </p:cNvSpPr>
          <p:nvPr/>
        </p:nvSpPr>
        <p:spPr>
          <a:xfrm xmlns:a="http://schemas.openxmlformats.org/drawingml/2006/main">
            <a:off x="29527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152238"/>
                </a:solidFill>
              </a:defRPr>
            </a:pPr>
            <a:r>
              <a:rPr sz="1050" b="0" i="0">
                <a:solidFill>
                  <a:srgbClr val="152238"/>
                </a:solidFill>
              </a:rPr>
              <a:t>직원 / 가입자</a:t>
            </a:r>
          </a:p>
        </p:txBody>
      </p:sp>
      <p:sp>
        <p:nvSpPr>
          <p:cNvPr id="23" name="">
            <a:extLst xmlns:a="http://schemas.openxmlformats.org/drawingml/2006/main">
              <a:ext uri="{FF2B5EF4-FFF2-40B4-BE49-F238E27FC236}">
                <a16:creationId xmlns:a16="http://schemas.microsoft.com/office/drawing/2014/main" id="{73AACE43-00F5-477D-A3B3-71B5417A29A0}"/>
              </a:ext>
            </a:extLst>
          </p:cNvPr>
          <p:cNvSpPr>
            <a:spLocks xmlns:a="http://schemas.openxmlformats.org/drawingml/2006/main" noGrp="1"/>
          </p:cNvSpPr>
          <p:nvPr/>
        </p:nvSpPr>
        <p:spPr>
          <a:xfrm xmlns:a="http://schemas.openxmlformats.org/drawingml/2006/main">
            <a:off x="5029200" y="5657850"/>
            <a:ext cx="38100" cy="5143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D3F71D5-055F-44F3-BF82-79F0C095A655}"/>
              </a:ext>
            </a:extLst>
          </p:cNvPr>
          <p:cNvSpPr>
            <a:spLocks xmlns:a="http://schemas.openxmlformats.org/drawingml/2006/main" noGrp="1"/>
          </p:cNvSpPr>
          <p:nvPr/>
        </p:nvSpPr>
        <p:spPr>
          <a:xfrm xmlns:a="http://schemas.openxmlformats.org/drawingml/2006/main">
            <a:off x="51625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3294B"/>
                </a:solidFill>
              </a:defRPr>
            </a:pPr>
            <a:r>
              <a:rPr sz="1350" b="1" i="0">
                <a:solidFill>
                  <a:srgbClr val="13294B"/>
                </a:solidFill>
              </a:rPr>
              <a:t>최신성</a:t>
            </a:r>
          </a:p>
        </p:txBody>
      </p:sp>
      <p:sp>
        <p:nvSpPr>
          <p:cNvPr id="25" name="">
            <a:extLst xmlns:a="http://schemas.openxmlformats.org/drawingml/2006/main">
              <a:ext uri="{FF2B5EF4-FFF2-40B4-BE49-F238E27FC236}">
                <a16:creationId xmlns:a16="http://schemas.microsoft.com/office/drawing/2014/main" id="{42285C86-08B8-40F4-9B75-C6C478650A71}"/>
              </a:ext>
            </a:extLst>
          </p:cNvPr>
          <p:cNvSpPr>
            <a:spLocks xmlns:a="http://schemas.openxmlformats.org/drawingml/2006/main" noGrp="1"/>
          </p:cNvSpPr>
          <p:nvPr/>
        </p:nvSpPr>
        <p:spPr>
          <a:xfrm xmlns:a="http://schemas.openxmlformats.org/drawingml/2006/main">
            <a:off x="51625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152238"/>
                </a:solidFill>
              </a:defRPr>
            </a:pPr>
            <a:r>
              <a:rPr sz="1050" b="0" i="0">
                <a:solidFill>
                  <a:srgbClr val="152238"/>
                </a:solidFill>
              </a:rPr>
              <a:t>기준일 + 청구 지연</a:t>
            </a:r>
          </a:p>
        </p:txBody>
      </p:sp>
      <p:sp>
        <p:nvSpPr>
          <p:cNvPr id="26" name="">
            <a:extLst xmlns:a="http://schemas.openxmlformats.org/drawingml/2006/main">
              <a:ext uri="{FF2B5EF4-FFF2-40B4-BE49-F238E27FC236}">
                <a16:creationId xmlns:a16="http://schemas.microsoft.com/office/drawing/2014/main" id="{9B9D5D62-6240-4F77-AF6A-3E7693A3B4E2}"/>
              </a:ext>
            </a:extLst>
          </p:cNvPr>
          <p:cNvSpPr>
            <a:spLocks xmlns:a="http://schemas.openxmlformats.org/drawingml/2006/main" noGrp="1"/>
          </p:cNvSpPr>
          <p:nvPr/>
        </p:nvSpPr>
        <p:spPr>
          <a:xfrm xmlns:a="http://schemas.openxmlformats.org/drawingml/2006/main">
            <a:off x="7239000" y="5657850"/>
            <a:ext cx="38100" cy="5143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7A673FE-9C95-4154-9284-1DC3A7D9AB41}"/>
              </a:ext>
            </a:extLst>
          </p:cNvPr>
          <p:cNvSpPr>
            <a:spLocks xmlns:a="http://schemas.openxmlformats.org/drawingml/2006/main" noGrp="1"/>
          </p:cNvSpPr>
          <p:nvPr/>
        </p:nvSpPr>
        <p:spPr>
          <a:xfrm xmlns:a="http://schemas.openxmlformats.org/drawingml/2006/main">
            <a:off x="73723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3294B"/>
                </a:solidFill>
              </a:defRPr>
            </a:pPr>
            <a:r>
              <a:rPr sz="1350" b="1" i="0">
                <a:solidFill>
                  <a:srgbClr val="13294B"/>
                </a:solidFill>
              </a:rPr>
              <a:t>프라이버시</a:t>
            </a:r>
          </a:p>
        </p:txBody>
      </p:sp>
      <p:sp>
        <p:nvSpPr>
          <p:cNvPr id="28" name="">
            <a:extLst xmlns:a="http://schemas.openxmlformats.org/drawingml/2006/main">
              <a:ext uri="{FF2B5EF4-FFF2-40B4-BE49-F238E27FC236}">
                <a16:creationId xmlns:a16="http://schemas.microsoft.com/office/drawing/2014/main" id="{07FF0931-82AC-420C-A213-4F0349FB45D5}"/>
              </a:ext>
            </a:extLst>
          </p:cNvPr>
          <p:cNvSpPr>
            <a:spLocks xmlns:a="http://schemas.openxmlformats.org/drawingml/2006/main" noGrp="1"/>
          </p:cNvSpPr>
          <p:nvPr/>
        </p:nvSpPr>
        <p:spPr>
          <a:xfrm xmlns:a="http://schemas.openxmlformats.org/drawingml/2006/main">
            <a:off x="73723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152238"/>
                </a:solidFill>
              </a:defRPr>
            </a:pPr>
            <a:r>
              <a:rPr sz="1050" b="0" i="0">
                <a:solidFill>
                  <a:srgbClr val="152238"/>
                </a:solidFill>
              </a:rPr>
              <a:t>집계 전용 · 최소 셀은 고유 인물 기준 · 기업 격리</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7ab1e2d67a43d9"/>
          <a:stretch xmlns:a="http://schemas.openxmlformats.org/drawingml/2006/main"/>
        </p:blipFill>
        <p:spPr>
          <a:xfrm xmlns:a="http://schemas.openxmlformats.org/drawingml/2006/main">
            <a:off x="9715500" y="5543550"/>
            <a:ext cx="685800" cy="6858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EDD184D9-5890-4D90-AFA8-6F1E2C901D0A}"/>
              </a:ext>
            </a:extLst>
          </p:cNvPr>
          <p:cNvSpPr>
            <a:spLocks xmlns:a="http://schemas.openxmlformats.org/drawingml/2006/main" noGrp="1"/>
          </p:cNvSpPr>
          <p:nvPr/>
        </p:nvSpPr>
        <p:spPr>
          <a:xfrm xmlns:a="http://schemas.openxmlformats.org/drawingml/2006/main">
            <a:off x="10477500" y="562927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3294B"/>
                </a:solidFill>
              </a:defRPr>
            </a:pPr>
            <a:r>
              <a:rPr sz="1350" b="1" i="0">
                <a:solidFill>
                  <a:srgbClr val="13294B"/>
                </a:solidFill>
              </a:rPr>
              <a:t>데모</a:t>
            </a:r>
          </a:p>
        </p:txBody>
      </p:sp>
      <p:sp>
        <p:nvSpPr>
          <p:cNvPr id="31" name="">
            <a:extLst xmlns:a="http://schemas.openxmlformats.org/drawingml/2006/main">
              <a:ext uri="{FF2B5EF4-FFF2-40B4-BE49-F238E27FC236}">
                <a16:creationId xmlns:a16="http://schemas.microsoft.com/office/drawing/2014/main" id="{A5FF74B0-711A-4F9E-9313-F479EFF151A4}"/>
              </a:ext>
            </a:extLst>
          </p:cNvPr>
          <p:cNvSpPr>
            <a:spLocks xmlns:a="http://schemas.openxmlformats.org/drawingml/2006/main" noGrp="1"/>
          </p:cNvSpPr>
          <p:nvPr/>
        </p:nvSpPr>
        <p:spPr>
          <a:xfrm xmlns:a="http://schemas.openxmlformats.org/drawingml/2006/main">
            <a:off x="5905500" y="6229350"/>
            <a:ext cx="567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i="0">
                <a:solidFill>
                  <a:srgbClr val="66768A"/>
                </a:solidFill>
              </a:defRPr>
            </a:pPr>
            <a:r>
              <a:rPr sz="900" b="0" i="0">
                <a:solidFill>
                  <a:srgbClr val="66768A"/>
                </a:solidFill>
              </a:rPr>
              <a:t>합성 데이터 대시보드 · jangwookimbusiness-dev.github.io/iclo-us-employee-dashboard</a:t>
            </a:r>
          </a:p>
        </p:txBody>
      </p:sp>
    </p:spTree>
    <p:extLst>
      <p:ext uri="{BB962C8B-B14F-4D97-AF65-F5344CB8AC3E}">
        <p14:creationId xmlns:p14="http://schemas.microsoft.com/office/powerpoint/2010/main" val="11308724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DF6987F-604E-455D-B138-304BD79A6844}"/>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7719E825-D8B0-4D06-B66F-78AE5E4D547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7132EB-86D3-4097-9251-7AF8275877E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FF6359-FE2B-4A47-8215-CE652F1B901C}"/>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Snowflake 요청</a:t>
            </a:r>
          </a:p>
        </p:txBody>
      </p:sp>
      <p:sp>
        <p:nvSpPr>
          <p:cNvPr id="5" name="">
            <a:extLst xmlns:a="http://schemas.openxmlformats.org/drawingml/2006/main">
              <a:ext uri="{FF2B5EF4-FFF2-40B4-BE49-F238E27FC236}">
                <a16:creationId xmlns:a16="http://schemas.microsoft.com/office/drawing/2014/main" id="{4C8124E9-9F74-4F8B-8573-C7C2201264AB}"/>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기존 지원 관계를 미국 HLS 검증으로 연결합니다</a:t>
            </a:r>
          </a:p>
        </p:txBody>
      </p:sp>
      <p:sp>
        <p:nvSpPr>
          <p:cNvPr id="6" name="">
            <a:extLst xmlns:a="http://schemas.openxmlformats.org/drawingml/2006/main">
              <a:ext uri="{FF2B5EF4-FFF2-40B4-BE49-F238E27FC236}">
                <a16:creationId xmlns:a16="http://schemas.microsoft.com/office/drawing/2014/main" id="{1159739B-B051-4796-AB3E-1A14C4617D95}"/>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Step 0에서 현재 한국 스타트업 담당이 미국 HLS GTM·아키텍처 담당자를 지정·연결한 뒤 기술 검증을 시작합니다.</a:t>
            </a:r>
          </a:p>
        </p:txBody>
      </p:sp>
      <p:sp>
        <p:nvSpPr>
          <p:cNvPr id="7" name="">
            <a:extLst xmlns:a="http://schemas.openxmlformats.org/drawingml/2006/main">
              <a:ext uri="{FF2B5EF4-FFF2-40B4-BE49-F238E27FC236}">
                <a16:creationId xmlns:a16="http://schemas.microsoft.com/office/drawing/2014/main" id="{53EE2654-AEE6-4A80-900C-4E860E54923C}"/>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1ABCE0D6-1FC9-45C9-8A55-2A9A93398A63}"/>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FBEF9EAD-DAA4-4D30-9021-2400E507DA2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024545d1f4b4a05"/>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C95F6FD-4EF8-4704-8BD3-00738331D5ED}"/>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d346d9e4e51d434b"/>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2C4922F-4844-4E2E-98D5-5B2C8B0AF354}"/>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75AC5B0B-5FA3-4BA8-9AE6-CE4C9A6BD6F9}"/>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09</a:t>
            </a:r>
          </a:p>
        </p:txBody>
      </p:sp>
      <p:sp>
        <p:nvSpPr>
          <p:cNvPr id="15" name="">
            <a:extLst xmlns:a="http://schemas.openxmlformats.org/drawingml/2006/main">
              <a:ext uri="{FF2B5EF4-FFF2-40B4-BE49-F238E27FC236}">
                <a16:creationId xmlns:a16="http://schemas.microsoft.com/office/drawing/2014/main" id="{6E88E753-CF64-445F-988C-1603ACF35173}"/>
              </a:ext>
            </a:extLst>
          </p:cNvPr>
          <p:cNvSpPr>
            <a:spLocks xmlns:a="http://schemas.openxmlformats.org/drawingml/2006/main" noGrp="1"/>
          </p:cNvSpPr>
          <p:nvPr/>
        </p:nvSpPr>
        <p:spPr>
          <a:xfrm xmlns:a="http://schemas.openxmlformats.org/drawingml/2006/main">
            <a:off x="609600" y="2095500"/>
            <a:ext cx="10972800" cy="685800"/>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C54DDB7-6130-44FA-866B-1DB949AE61E2}"/>
              </a:ext>
            </a:extLst>
          </p:cNvPr>
          <p:cNvSpPr>
            <a:spLocks xmlns:a="http://schemas.openxmlformats.org/drawingml/2006/main" noGrp="1"/>
          </p:cNvSpPr>
          <p:nvPr/>
        </p:nvSpPr>
        <p:spPr>
          <a:xfrm xmlns:a="http://schemas.openxmlformats.org/drawingml/2006/main">
            <a:off x="609600" y="209550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17" name="">
            <a:extLst xmlns:a="http://schemas.openxmlformats.org/drawingml/2006/main">
              <a:ext uri="{FF2B5EF4-FFF2-40B4-BE49-F238E27FC236}">
                <a16:creationId xmlns:a16="http://schemas.microsoft.com/office/drawing/2014/main" id="{167F8E07-A7DA-434C-AFEC-A9D297C65A66}"/>
              </a:ext>
            </a:extLst>
          </p:cNvPr>
          <p:cNvSpPr>
            <a:spLocks xmlns:a="http://schemas.openxmlformats.org/drawingml/2006/main" noGrp="1"/>
          </p:cNvSpPr>
          <p:nvPr/>
        </p:nvSpPr>
        <p:spPr>
          <a:xfrm xmlns:a="http://schemas.openxmlformats.org/drawingml/2006/main">
            <a:off x="876300" y="2257425"/>
            <a:ext cx="87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008A94"/>
                </a:solidFill>
              </a:defRPr>
            </a:pPr>
            <a:r>
              <a:rPr sz="1275" b="1" i="0">
                <a:solidFill>
                  <a:srgbClr val="008A94"/>
                </a:solidFill>
              </a:rPr>
              <a:t>STEP 0</a:t>
            </a:r>
          </a:p>
        </p:txBody>
      </p:sp>
      <p:sp>
        <p:nvSpPr>
          <p:cNvPr id="18" name="">
            <a:extLst xmlns:a="http://schemas.openxmlformats.org/drawingml/2006/main">
              <a:ext uri="{FF2B5EF4-FFF2-40B4-BE49-F238E27FC236}">
                <a16:creationId xmlns:a16="http://schemas.microsoft.com/office/drawing/2014/main" id="{FE158F54-E882-4BBA-89DB-C08774AABA5C}"/>
              </a:ext>
            </a:extLst>
          </p:cNvPr>
          <p:cNvSpPr>
            <a:spLocks xmlns:a="http://schemas.openxmlformats.org/drawingml/2006/main" noGrp="1"/>
          </p:cNvSpPr>
          <p:nvPr/>
        </p:nvSpPr>
        <p:spPr>
          <a:xfrm xmlns:a="http://schemas.openxmlformats.org/drawingml/2006/main">
            <a:off x="1524000" y="227647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162742"/>
                </a:solidFill>
              </a:defRPr>
            </a:pPr>
            <a:r>
              <a:rPr sz="1388" b="1" i="0">
                <a:solidFill>
                  <a:srgbClr val="162742"/>
                </a:solidFill>
              </a:rPr>
              <a:t>라우팅</a:t>
            </a:r>
          </a:p>
        </p:txBody>
      </p:sp>
      <p:sp>
        <p:nvSpPr>
          <p:cNvPr id="19" name="">
            <a:extLst xmlns:a="http://schemas.openxmlformats.org/drawingml/2006/main">
              <a:ext uri="{FF2B5EF4-FFF2-40B4-BE49-F238E27FC236}">
                <a16:creationId xmlns:a16="http://schemas.microsoft.com/office/drawing/2014/main" id="{6A023E60-267D-4ACC-B864-66AAB80C8F08}"/>
              </a:ext>
            </a:extLst>
          </p:cNvPr>
          <p:cNvSpPr>
            <a:spLocks xmlns:a="http://schemas.openxmlformats.org/drawingml/2006/main" noGrp="1"/>
          </p:cNvSpPr>
          <p:nvPr/>
        </p:nvSpPr>
        <p:spPr>
          <a:xfrm xmlns:a="http://schemas.openxmlformats.org/drawingml/2006/main">
            <a:off x="2933700" y="224790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0" i="0">
                <a:solidFill>
                  <a:srgbClr val="152238"/>
                </a:solidFill>
              </a:defRPr>
            </a:pPr>
            <a:r>
              <a:rPr sz="1238" b="0" i="0">
                <a:solidFill>
                  <a:srgbClr val="152238"/>
                </a:solidFill>
              </a:rPr>
              <a:t>공식 지원 프로그램명·현재 스폰서를 확인하고, 미국 HLS GTM·아키텍처 담당자로 연결합니다.</a:t>
            </a:r>
          </a:p>
        </p:txBody>
      </p:sp>
      <p:sp>
        <p:nvSpPr>
          <p:cNvPr id="20" name="">
            <a:extLst xmlns:a="http://schemas.openxmlformats.org/drawingml/2006/main">
              <a:ext uri="{FF2B5EF4-FFF2-40B4-BE49-F238E27FC236}">
                <a16:creationId xmlns:a16="http://schemas.microsoft.com/office/drawing/2014/main" id="{E2684447-A75F-416D-88AA-4D3A9BC16618}"/>
              </a:ext>
            </a:extLst>
          </p:cNvPr>
          <p:cNvSpPr>
            <a:spLocks xmlns:a="http://schemas.openxmlformats.org/drawingml/2006/main" noGrp="1"/>
          </p:cNvSpPr>
          <p:nvPr/>
        </p:nvSpPr>
        <p:spPr>
          <a:xfrm xmlns:a="http://schemas.openxmlformats.org/drawingml/2006/main">
            <a:off x="609600" y="2990850"/>
            <a:ext cx="10972800" cy="685800"/>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16408CC-50C4-4128-B2D2-4C705D835891}"/>
              </a:ext>
            </a:extLst>
          </p:cNvPr>
          <p:cNvSpPr>
            <a:spLocks xmlns:a="http://schemas.openxmlformats.org/drawingml/2006/main" noGrp="1"/>
          </p:cNvSpPr>
          <p:nvPr/>
        </p:nvSpPr>
        <p:spPr>
          <a:xfrm xmlns:a="http://schemas.openxmlformats.org/drawingml/2006/main">
            <a:off x="609600" y="299085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2" name="">
            <a:extLst xmlns:a="http://schemas.openxmlformats.org/drawingml/2006/main">
              <a:ext uri="{FF2B5EF4-FFF2-40B4-BE49-F238E27FC236}">
                <a16:creationId xmlns:a16="http://schemas.microsoft.com/office/drawing/2014/main" id="{C13222C7-4AC0-45F3-A261-491FAE805D79}"/>
              </a:ext>
            </a:extLst>
          </p:cNvPr>
          <p:cNvSpPr>
            <a:spLocks xmlns:a="http://schemas.openxmlformats.org/drawingml/2006/main" noGrp="1"/>
          </p:cNvSpPr>
          <p:nvPr/>
        </p:nvSpPr>
        <p:spPr>
          <a:xfrm xmlns:a="http://schemas.openxmlformats.org/drawingml/2006/main">
            <a:off x="876300" y="31527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29B5E8"/>
                </a:solidFill>
              </a:defRPr>
            </a:pPr>
            <a:r>
              <a:rPr sz="1650" b="1" i="0">
                <a:solidFill>
                  <a:srgbClr val="29B5E8"/>
                </a:solidFill>
              </a:rPr>
              <a:t/>
            </a:r>
          </a:p>
        </p:txBody>
      </p:sp>
      <p:sp>
        <p:nvSpPr>
          <p:cNvPr id="23" name="">
            <a:extLst xmlns:a="http://schemas.openxmlformats.org/drawingml/2006/main">
              <a:ext uri="{FF2B5EF4-FFF2-40B4-BE49-F238E27FC236}">
                <a16:creationId xmlns:a16="http://schemas.microsoft.com/office/drawing/2014/main" id="{BCDF6B21-EB41-430B-AE24-651542E1D54A}"/>
              </a:ext>
            </a:extLst>
          </p:cNvPr>
          <p:cNvSpPr>
            <a:spLocks xmlns:a="http://schemas.openxmlformats.org/drawingml/2006/main" noGrp="1"/>
          </p:cNvSpPr>
          <p:nvPr/>
        </p:nvSpPr>
        <p:spPr>
          <a:xfrm xmlns:a="http://schemas.openxmlformats.org/drawingml/2006/main">
            <a:off x="1524000" y="31718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B2A4A"/>
                </a:solidFill>
              </a:defRPr>
            </a:pPr>
            <a:r>
              <a:rPr sz="1350" b="1" i="0">
                <a:solidFill>
                  <a:srgbClr val="1B2A4A"/>
                </a:solidFill>
              </a:rPr>
              <a:t>적합성 + 담당</a:t>
            </a:r>
          </a:p>
        </p:txBody>
      </p:sp>
      <p:sp>
        <p:nvSpPr>
          <p:cNvPr id="24" name="">
            <a:extLst xmlns:a="http://schemas.openxmlformats.org/drawingml/2006/main">
              <a:ext uri="{FF2B5EF4-FFF2-40B4-BE49-F238E27FC236}">
                <a16:creationId xmlns:a16="http://schemas.microsoft.com/office/drawing/2014/main" id="{24CA1E18-59D8-40F6-A54F-04544B32C8BF}"/>
              </a:ext>
            </a:extLst>
          </p:cNvPr>
          <p:cNvSpPr>
            <a:spLocks xmlns:a="http://schemas.openxmlformats.org/drawingml/2006/main" noGrp="1"/>
          </p:cNvSpPr>
          <p:nvPr/>
        </p:nvSpPr>
        <p:spPr>
          <a:xfrm xmlns:a="http://schemas.openxmlformats.org/drawingml/2006/main">
            <a:off x="2933700" y="314325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0" i="0">
                <a:solidFill>
                  <a:srgbClr val="152238"/>
                </a:solidFill>
              </a:defRPr>
            </a:pPr>
            <a:r>
              <a:rPr sz="1238" b="0" i="0">
                <a:solidFill>
                  <a:srgbClr val="152238"/>
                </a:solidFill>
              </a:rPr>
              <a:t>주요 영업 유형과 HLS 아키텍트·SE·보안·스타트업/파트너 담당자를 문서로 확정합니다.</a:t>
            </a:r>
          </a:p>
        </p:txBody>
      </p:sp>
      <p:sp>
        <p:nvSpPr>
          <p:cNvPr id="25" name="">
            <a:extLst xmlns:a="http://schemas.openxmlformats.org/drawingml/2006/main">
              <a:ext uri="{FF2B5EF4-FFF2-40B4-BE49-F238E27FC236}">
                <a16:creationId xmlns:a16="http://schemas.microsoft.com/office/drawing/2014/main" id="{6998096E-3187-445E-A969-B7EB9D7AB170}"/>
              </a:ext>
            </a:extLst>
          </p:cNvPr>
          <p:cNvSpPr>
            <a:spLocks xmlns:a="http://schemas.openxmlformats.org/drawingml/2006/main" noGrp="1"/>
          </p:cNvSpPr>
          <p:nvPr/>
        </p:nvSpPr>
        <p:spPr>
          <a:xfrm xmlns:a="http://schemas.openxmlformats.org/drawingml/2006/main">
            <a:off x="609600" y="3886200"/>
            <a:ext cx="10972800" cy="685800"/>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41C6D9-C409-4EBF-B0C5-CC918A417FCA}"/>
              </a:ext>
            </a:extLst>
          </p:cNvPr>
          <p:cNvSpPr>
            <a:spLocks xmlns:a="http://schemas.openxmlformats.org/drawingml/2006/main" noGrp="1"/>
          </p:cNvSpPr>
          <p:nvPr/>
        </p:nvSpPr>
        <p:spPr>
          <a:xfrm xmlns:a="http://schemas.openxmlformats.org/drawingml/2006/main">
            <a:off x="609600" y="388620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7" name="">
            <a:extLst xmlns:a="http://schemas.openxmlformats.org/drawingml/2006/main">
              <a:ext uri="{FF2B5EF4-FFF2-40B4-BE49-F238E27FC236}">
                <a16:creationId xmlns:a16="http://schemas.microsoft.com/office/drawing/2014/main" id="{7B71AFDB-4CD5-4CFB-B0E5-2BB9B9D83DAB}"/>
              </a:ext>
            </a:extLst>
          </p:cNvPr>
          <p:cNvSpPr>
            <a:spLocks xmlns:a="http://schemas.openxmlformats.org/drawingml/2006/main" noGrp="1"/>
          </p:cNvSpPr>
          <p:nvPr/>
        </p:nvSpPr>
        <p:spPr>
          <a:xfrm xmlns:a="http://schemas.openxmlformats.org/drawingml/2006/main">
            <a:off x="876300" y="4048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29B5E8"/>
                </a:solidFill>
              </a:defRPr>
            </a:pPr>
            <a:r>
              <a:rPr sz="1650" b="1" i="0">
                <a:solidFill>
                  <a:srgbClr val="29B5E8"/>
                </a:solidFill>
              </a:rPr>
              <a:t/>
            </a:r>
          </a:p>
        </p:txBody>
      </p:sp>
      <p:sp>
        <p:nvSpPr>
          <p:cNvPr id="28" name="">
            <a:extLst xmlns:a="http://schemas.openxmlformats.org/drawingml/2006/main">
              <a:ext uri="{FF2B5EF4-FFF2-40B4-BE49-F238E27FC236}">
                <a16:creationId xmlns:a16="http://schemas.microsoft.com/office/drawing/2014/main" id="{526552BC-641A-4F99-B1FE-B996772F38D4}"/>
              </a:ext>
            </a:extLst>
          </p:cNvPr>
          <p:cNvSpPr>
            <a:spLocks xmlns:a="http://schemas.openxmlformats.org/drawingml/2006/main" noGrp="1"/>
          </p:cNvSpPr>
          <p:nvPr/>
        </p:nvSpPr>
        <p:spPr>
          <a:xfrm xmlns:a="http://schemas.openxmlformats.org/drawingml/2006/main">
            <a:off x="876300" y="4067175"/>
            <a:ext cx="1885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162742"/>
                </a:solidFill>
              </a:defRPr>
            </a:pPr>
            <a:r>
              <a:rPr sz="1388" b="1" i="0">
                <a:solidFill>
                  <a:srgbClr val="162742"/>
                </a:solidFill>
              </a:rPr>
              <a:t>계정</a:t>
            </a:r>
          </a:p>
        </p:txBody>
      </p:sp>
      <p:sp>
        <p:nvSpPr>
          <p:cNvPr id="29" name="">
            <a:extLst xmlns:a="http://schemas.openxmlformats.org/drawingml/2006/main">
              <a:ext uri="{FF2B5EF4-FFF2-40B4-BE49-F238E27FC236}">
                <a16:creationId xmlns:a16="http://schemas.microsoft.com/office/drawing/2014/main" id="{2395D098-8FB3-49F6-980F-113B072E2C0F}"/>
              </a:ext>
            </a:extLst>
          </p:cNvPr>
          <p:cNvSpPr>
            <a:spLocks xmlns:a="http://schemas.openxmlformats.org/drawingml/2006/main" noGrp="1"/>
          </p:cNvSpPr>
          <p:nvPr/>
        </p:nvSpPr>
        <p:spPr>
          <a:xfrm xmlns:a="http://schemas.openxmlformats.org/drawingml/2006/main">
            <a:off x="2933700" y="403860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0" i="0">
                <a:solidFill>
                  <a:srgbClr val="152238"/>
                </a:solidFill>
              </a:defRPr>
            </a:pPr>
            <a:r>
              <a:rPr sz="1238" b="0" i="0">
                <a:solidFill>
                  <a:srgbClr val="152238"/>
                </a:solidFill>
              </a:rPr>
              <a:t>Day 30까지 계정 검증 행 1건을 작성하고, Day 75에 계정팀 사용사례 검토를 별도로 진행합니다.</a:t>
            </a:r>
          </a:p>
        </p:txBody>
      </p:sp>
      <p:sp>
        <p:nvSpPr>
          <p:cNvPr id="30" name="">
            <a:extLst xmlns:a="http://schemas.openxmlformats.org/drawingml/2006/main">
              <a:ext uri="{FF2B5EF4-FFF2-40B4-BE49-F238E27FC236}">
                <a16:creationId xmlns:a16="http://schemas.microsoft.com/office/drawing/2014/main" id="{ED7A55EB-76C2-4CD0-8782-8573356551F3}"/>
              </a:ext>
            </a:extLst>
          </p:cNvPr>
          <p:cNvSpPr>
            <a:spLocks xmlns:a="http://schemas.openxmlformats.org/drawingml/2006/main" noGrp="1"/>
          </p:cNvSpPr>
          <p:nvPr/>
        </p:nvSpPr>
        <p:spPr>
          <a:xfrm xmlns:a="http://schemas.openxmlformats.org/drawingml/2006/main">
            <a:off x="609600" y="4781550"/>
            <a:ext cx="10972800" cy="685800"/>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B1C01D5-8F5C-47F1-822D-7154211B3DBD}"/>
              </a:ext>
            </a:extLst>
          </p:cNvPr>
          <p:cNvSpPr>
            <a:spLocks xmlns:a="http://schemas.openxmlformats.org/drawingml/2006/main" noGrp="1"/>
          </p:cNvSpPr>
          <p:nvPr/>
        </p:nvSpPr>
        <p:spPr>
          <a:xfrm xmlns:a="http://schemas.openxmlformats.org/drawingml/2006/main">
            <a:off x="609600" y="478155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32" name="">
            <a:extLst xmlns:a="http://schemas.openxmlformats.org/drawingml/2006/main">
              <a:ext uri="{FF2B5EF4-FFF2-40B4-BE49-F238E27FC236}">
                <a16:creationId xmlns:a16="http://schemas.microsoft.com/office/drawing/2014/main" id="{20821F09-4953-46AF-925B-365418C8BB64}"/>
              </a:ext>
            </a:extLst>
          </p:cNvPr>
          <p:cNvSpPr>
            <a:spLocks xmlns:a="http://schemas.openxmlformats.org/drawingml/2006/main" noGrp="1"/>
          </p:cNvSpPr>
          <p:nvPr/>
        </p:nvSpPr>
        <p:spPr>
          <a:xfrm xmlns:a="http://schemas.openxmlformats.org/drawingml/2006/main">
            <a:off x="876300" y="49434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29B5E8"/>
                </a:solidFill>
              </a:defRPr>
            </a:pPr>
            <a:r>
              <a:rPr sz="1650" b="1" i="0">
                <a:solidFill>
                  <a:srgbClr val="29B5E8"/>
                </a:solidFill>
              </a:rPr>
              <a:t/>
            </a:r>
          </a:p>
        </p:txBody>
      </p:sp>
      <p:sp>
        <p:nvSpPr>
          <p:cNvPr id="33" name="">
            <a:extLst xmlns:a="http://schemas.openxmlformats.org/drawingml/2006/main">
              <a:ext uri="{FF2B5EF4-FFF2-40B4-BE49-F238E27FC236}">
                <a16:creationId xmlns:a16="http://schemas.microsoft.com/office/drawing/2014/main" id="{126074E1-2E14-48AB-97F3-F8BC89569FB3}"/>
              </a:ext>
            </a:extLst>
          </p:cNvPr>
          <p:cNvSpPr>
            <a:spLocks xmlns:a="http://schemas.openxmlformats.org/drawingml/2006/main" noGrp="1"/>
          </p:cNvSpPr>
          <p:nvPr/>
        </p:nvSpPr>
        <p:spPr>
          <a:xfrm xmlns:a="http://schemas.openxmlformats.org/drawingml/2006/main">
            <a:off x="1524000" y="49625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B2A4A"/>
                </a:solidFill>
              </a:defRPr>
            </a:pPr>
            <a:r>
              <a:rPr sz="1350" b="1" i="0">
                <a:solidFill>
                  <a:srgbClr val="1B2A4A"/>
                </a:solidFill>
              </a:rPr>
              <a:t>진행 경로</a:t>
            </a:r>
          </a:p>
        </p:txBody>
      </p:sp>
      <p:sp>
        <p:nvSpPr>
          <p:cNvPr id="34" name="">
            <a:extLst xmlns:a="http://schemas.openxmlformats.org/drawingml/2006/main">
              <a:ext uri="{FF2B5EF4-FFF2-40B4-BE49-F238E27FC236}">
                <a16:creationId xmlns:a16="http://schemas.microsoft.com/office/drawing/2014/main" id="{97BC0DBD-2B6F-4AC4-9768-8F76EEFF58ED}"/>
              </a:ext>
            </a:extLst>
          </p:cNvPr>
          <p:cNvSpPr>
            <a:spLocks xmlns:a="http://schemas.openxmlformats.org/drawingml/2006/main" noGrp="1"/>
          </p:cNvSpPr>
          <p:nvPr/>
        </p:nvSpPr>
        <p:spPr>
          <a:xfrm xmlns:a="http://schemas.openxmlformats.org/drawingml/2006/main">
            <a:off x="2933700" y="493395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0" i="0">
                <a:solidFill>
                  <a:srgbClr val="152238"/>
                </a:solidFill>
              </a:defRPr>
            </a:pPr>
            <a:r>
              <a:rPr sz="1238" b="0" i="0">
                <a:solidFill>
                  <a:srgbClr val="152238"/>
                </a:solidFill>
              </a:rPr>
              <a:t>계정·리전·BAA, 크레딧·지원 범위, 파트너·공동판매 준비 기준을 문서화합니다.</a:t>
            </a:r>
          </a:p>
        </p:txBody>
      </p:sp>
      <p:sp>
        <p:nvSpPr>
          <p:cNvPr id="35" name="">
            <a:extLst xmlns:a="http://schemas.openxmlformats.org/drawingml/2006/main">
              <a:ext uri="{FF2B5EF4-FFF2-40B4-BE49-F238E27FC236}">
                <a16:creationId xmlns:a16="http://schemas.microsoft.com/office/drawing/2014/main" id="{746C783E-3594-42D7-A4A1-DD437702B4D9}"/>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oundRect">
            <a:avLst>
              <a:gd name="adj" fmla="val 19048"/>
            </a:avLst>
          </a:prstGeom>
          <a:noFill xmlns:a="http://schemas.openxmlformats.org/drawingml/2006/main"/>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A35B07F-057D-4024-95FF-1604A16A53A9}"/>
              </a:ext>
            </a:extLst>
          </p:cNvPr>
          <p:cNvSpPr>
            <a:spLocks xmlns:a="http://schemas.openxmlformats.org/drawingml/2006/main" noGrp="1"/>
          </p:cNvSpPr>
          <p:nvPr/>
        </p:nvSpPr>
        <p:spPr>
          <a:xfrm xmlns:a="http://schemas.openxmlformats.org/drawingml/2006/main">
            <a:off x="609600" y="5876925"/>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008A94"/>
                </a:solidFill>
              </a:defRPr>
            </a:pPr>
            <a:r>
              <a:rPr sz="1275" b="0" i="0">
                <a:solidFill>
                  <a:srgbClr val="008A94"/>
                </a:solidFill>
              </a:rPr>
              <a:t>Snowflake에 법률 판단, 준수 인증, 막연한 고객 소개, 비용 절감 보장을 요청하지 않습니다.</a:t>
            </a:r>
          </a:p>
        </p:txBody>
      </p:sp>
    </p:spTree>
    <p:extLst>
      <p:ext uri="{BB962C8B-B14F-4D97-AF65-F5344CB8AC3E}">
        <p14:creationId xmlns:p14="http://schemas.microsoft.com/office/powerpoint/2010/main" val="20426052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2913014-D770-4404-9692-1914F480B748}"/>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8392DA44-CEEA-44AB-BDA0-A2AFFB5862D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43F707-DC58-40E2-94E7-70B1FF006A9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D39469-DAEA-4C8F-B588-938A75798811}"/>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Snowflake 요청</a:t>
            </a:r>
          </a:p>
        </p:txBody>
      </p:sp>
      <p:sp>
        <p:nvSpPr>
          <p:cNvPr id="5" name="">
            <a:extLst xmlns:a="http://schemas.openxmlformats.org/drawingml/2006/main">
              <a:ext uri="{FF2B5EF4-FFF2-40B4-BE49-F238E27FC236}">
                <a16:creationId xmlns:a16="http://schemas.microsoft.com/office/drawing/2014/main" id="{96DF90EA-4FFA-4B92-A3A2-00063EB52707}"/>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90일 공동 검증 계획 · 라우팅과 설계</a:t>
            </a:r>
          </a:p>
        </p:txBody>
      </p:sp>
      <p:sp>
        <p:nvSpPr>
          <p:cNvPr id="6" name="">
            <a:extLst xmlns:a="http://schemas.openxmlformats.org/drawingml/2006/main">
              <a:ext uri="{FF2B5EF4-FFF2-40B4-BE49-F238E27FC236}">
                <a16:creationId xmlns:a16="http://schemas.microsoft.com/office/drawing/2014/main" id="{B0D0E0F6-BDDB-4CC6-85EB-0F8BDA3E192F}"/>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Step 0부터 60일까지: 담당을 확정하고 아키텍처를 설계합니다.</a:t>
            </a:r>
          </a:p>
        </p:txBody>
      </p:sp>
      <p:sp>
        <p:nvSpPr>
          <p:cNvPr id="7" name="">
            <a:extLst xmlns:a="http://schemas.openxmlformats.org/drawingml/2006/main">
              <a:ext uri="{FF2B5EF4-FFF2-40B4-BE49-F238E27FC236}">
                <a16:creationId xmlns:a16="http://schemas.microsoft.com/office/drawing/2014/main" id="{47493EAB-5ABA-4AD0-96C2-708BE405C428}"/>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38BA8C69-3BB3-4E98-B2AC-9277D77C3D6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39222DCC-2E46-4338-B341-13A70E2B5E0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252" name=""/>
          <p:cNvPicPr>
            <a:picLocks xmlns:a="http://schemas.openxmlformats.org/drawingml/2006/main" noChangeAspect="1"/>
          </p:cNvPicPr>
          <p:nvPr/>
        </p:nvPicPr>
        <p:blipFill>
          <a:blip xmlns:r="http://schemas.openxmlformats.org/officeDocument/2006/relationships" xmlns:a="http://schemas.openxmlformats.org/drawingml/2006/main" r:embed="R6403870d21824cb1"/>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7F474CA-8B80-4E9E-BC88-F9EAA77F46F3}"/>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541224adb98e4072"/>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5B49389-BC5A-4198-9884-D9EAE9587E77}"/>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092C7224-8B12-457C-BB42-63E0DEB82321}"/>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10</a:t>
            </a:r>
          </a:p>
        </p:txBody>
      </p:sp>
      <p:sp>
        <p:nvSpPr>
          <p:cNvPr id="15" name="">
            <a:extLst xmlns:a="http://schemas.openxmlformats.org/drawingml/2006/main">
              <a:ext uri="{FF2B5EF4-FFF2-40B4-BE49-F238E27FC236}">
                <a16:creationId xmlns:a16="http://schemas.microsoft.com/office/drawing/2014/main" id="{CB29672D-59A2-46C8-B354-33A976B0C1D9}"/>
              </a:ext>
            </a:extLst>
          </p:cNvPr>
          <p:cNvSpPr>
            <a:spLocks xmlns:a="http://schemas.openxmlformats.org/drawingml/2006/main" noGrp="1"/>
          </p:cNvSpPr>
          <p:nvPr/>
        </p:nvSpPr>
        <p:spPr>
          <a:xfrm xmlns:a="http://schemas.openxmlformats.org/drawingml/2006/main">
            <a:off x="609600" y="2076450"/>
            <a:ext cx="4667250" cy="2286000"/>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B9834E8-2EC3-472C-8DC6-F0ABD5D1AFEA}"/>
              </a:ext>
            </a:extLst>
          </p:cNvPr>
          <p:cNvSpPr>
            <a:spLocks xmlns:a="http://schemas.openxmlformats.org/drawingml/2006/main" noGrp="1"/>
          </p:cNvSpPr>
          <p:nvPr/>
        </p:nvSpPr>
        <p:spPr>
          <a:xfrm xmlns:a="http://schemas.openxmlformats.org/drawingml/2006/main">
            <a:off x="6153150" y="2076450"/>
            <a:ext cx="4667250" cy="2286000"/>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B01FD01-D2BF-4268-91C1-AC9B5D622456}"/>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5A82B0B-5A4C-4678-850D-3B122A41B142}"/>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cxnSp>
        <p:nvCxnSpPr>
          <p:cNvPr id="261" name=""/>
          <p:cNvCxnSpPr>
            <a:stCxn xmlns:a="http://schemas.openxmlformats.org/drawingml/2006/main" id="15" idx="3"/>
            <a:endCxn xmlns:a="http://schemas.openxmlformats.org/drawingml/2006/main" id="16" idx="1"/>
          </p:cNvCxnSpPr>
          <p:nvPr/>
        </p:nvCxnSpPr>
        <p:spPr>
          <a:xfrm xmlns:a="http://schemas.openxmlformats.org/drawingml/2006/main">
            <a:off x="5276850" y="3219450"/>
            <a:ext cx="876300" cy="0"/>
          </a:xfrm>
          <a:prstGeom xmlns:a="http://schemas.openxmlformats.org/drawingml/2006/main" prst="straightConnector1">
            <a:avLst/>
          </a:prstGeom>
          <a:ln xmlns:a="http://schemas.openxmlformats.org/drawingml/2006/main" w="0">
            <a:noFill/>
            <a:prstDash val="solid"/>
            <a:headEnd type="none" w="med" len="med"/>
            <a:tailEnd type="arrow" w="med" len="med"/>
          </a:ln>
        </p:spPr>
      </p:cxnSp>
      <p:cxnSp>
        <p:nvCxnSpPr>
          <p:cNvPr id="262" name=""/>
          <p:cNvCxnSpPr>
            <a:stCxn xmlns:a="http://schemas.openxmlformats.org/drawingml/2006/main" id="16" idx="3"/>
            <a:endCxn xmlns:a="http://schemas.openxmlformats.org/drawingml/2006/main" id="17" idx="1"/>
          </p:cNvCxnSpPr>
          <p:nvPr/>
        </p:nvCxnSpPr>
        <p:spPr>
          <a:xfrm xmlns:a="http://schemas.openxmlformats.org/drawingml/2006/main" flipH="1">
            <a:off x="-1905000" y="3219450"/>
            <a:ext cx="12725400" cy="5357813"/>
          </a:xfrm>
          <a:prstGeom xmlns:a="http://schemas.openxmlformats.org/drawingml/2006/main" prst="straightConnector1">
            <a:avLst/>
          </a:prstGeom>
          <a:ln xmlns:a="http://schemas.openxmlformats.org/drawingml/2006/main" w="0">
            <a:noFill/>
            <a:prstDash val="solid"/>
            <a:headEnd type="none" w="med" len="med"/>
            <a:tailEnd type="arrow" w="med" len="med"/>
          </a:ln>
        </p:spPr>
      </p:cxnSp>
      <p:cxnSp>
        <p:nvCxnSpPr>
          <p:cNvPr id="263" name=""/>
          <p:cNvCxnSpPr>
            <a:stCxn xmlns:a="http://schemas.openxmlformats.org/drawingml/2006/main" id="17" idx="3"/>
            <a:endCxn xmlns:a="http://schemas.openxmlformats.org/drawingml/2006/main" id="18" idx="1"/>
          </p:cNvCxnSpPr>
          <p:nvPr/>
        </p:nvCxnSpPr>
        <p:spPr>
          <a:xfrm xmlns:a="http://schemas.openxmlformats.org/drawingml/2006/main" flipH="1">
            <a:off x="-1905000" y="8577263"/>
            <a:ext cx="9525" cy="0"/>
          </a:xfrm>
          <a:prstGeom xmlns:a="http://schemas.openxmlformats.org/drawingml/2006/main" prst="straightConnector1">
            <a:avLst/>
          </a:prstGeom>
          <a:ln xmlns:a="http://schemas.openxmlformats.org/drawingml/2006/main" w="0">
            <a:noFill/>
            <a:prstDash val="solid"/>
            <a:headEnd type="none" w="med" len="med"/>
            <a:tailEnd type="arrow" w="med" len="med"/>
          </a:ln>
        </p:spPr>
      </p:cxnSp>
      <p:sp>
        <p:nvSpPr>
          <p:cNvPr id="22" name="">
            <a:extLst xmlns:a="http://schemas.openxmlformats.org/drawingml/2006/main">
              <a:ext uri="{FF2B5EF4-FFF2-40B4-BE49-F238E27FC236}">
                <a16:creationId xmlns:a16="http://schemas.microsoft.com/office/drawing/2014/main" id="{6A3E4154-4A2B-46E7-857F-A02ECEE0832F}"/>
              </a:ext>
            </a:extLst>
          </p:cNvPr>
          <p:cNvSpPr>
            <a:spLocks xmlns:a="http://schemas.openxmlformats.org/drawingml/2006/main" noGrp="1"/>
          </p:cNvSpPr>
          <p:nvPr/>
        </p:nvSpPr>
        <p:spPr>
          <a:xfrm xmlns:a="http://schemas.openxmlformats.org/drawingml/2006/main">
            <a:off x="781050" y="20955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008A94"/>
                </a:solidFill>
              </a:defRPr>
            </a:pPr>
            <a:r>
              <a:rPr sz="1275" b="1" i="0">
                <a:solidFill>
                  <a:srgbClr val="008A94"/>
                </a:solidFill>
              </a:rPr>
              <a:t>STEP 0 + 0-30일</a:t>
            </a:r>
          </a:p>
        </p:txBody>
      </p:sp>
      <p:sp>
        <p:nvSpPr>
          <p:cNvPr id="23" name="">
            <a:extLst xmlns:a="http://schemas.openxmlformats.org/drawingml/2006/main">
              <a:ext uri="{FF2B5EF4-FFF2-40B4-BE49-F238E27FC236}">
                <a16:creationId xmlns:a16="http://schemas.microsoft.com/office/drawing/2014/main" id="{CC933FAD-4BC8-4AB7-B287-62B0E46CCFBF}"/>
              </a:ext>
            </a:extLst>
          </p:cNvPr>
          <p:cNvSpPr>
            <a:spLocks xmlns:a="http://schemas.openxmlformats.org/drawingml/2006/main" noGrp="1"/>
          </p:cNvSpPr>
          <p:nvPr/>
        </p:nvSpPr>
        <p:spPr>
          <a:xfrm xmlns:a="http://schemas.openxmlformats.org/drawingml/2006/main">
            <a:off x="781050" y="2286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라우팅 + 정렬</a:t>
            </a:r>
          </a:p>
        </p:txBody>
      </p:sp>
      <p:sp>
        <p:nvSpPr>
          <p:cNvPr id="24" name="">
            <a:extLst xmlns:a="http://schemas.openxmlformats.org/drawingml/2006/main">
              <a:ext uri="{FF2B5EF4-FFF2-40B4-BE49-F238E27FC236}">
                <a16:creationId xmlns:a16="http://schemas.microsoft.com/office/drawing/2014/main" id="{4F4177BE-809C-4146-ACA4-69B77D186A8E}"/>
              </a:ext>
            </a:extLst>
          </p:cNvPr>
          <p:cNvSpPr>
            <a:spLocks xmlns:a="http://schemas.openxmlformats.org/drawingml/2006/main" noGrp="1"/>
          </p:cNvSpPr>
          <p:nvPr/>
        </p:nvSpPr>
        <p:spPr>
          <a:xfrm xmlns:a="http://schemas.openxmlformats.org/drawingml/2006/main">
            <a:off x="781050" y="2800350"/>
            <a:ext cx="4495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HLS로 연결하고 영업 유형·담당·미국 계정/BAA 경로를 확정합니다.</a:t>
            </a:r>
          </a:p>
        </p:txBody>
      </p:sp>
      <p:sp>
        <p:nvSpPr>
          <p:cNvPr id="25" name="">
            <a:extLst xmlns:a="http://schemas.openxmlformats.org/drawingml/2006/main">
              <a:ext uri="{FF2B5EF4-FFF2-40B4-BE49-F238E27FC236}">
                <a16:creationId xmlns:a16="http://schemas.microsoft.com/office/drawing/2014/main" id="{B3D31801-5B3F-4EC8-98D1-7C498E5477F1}"/>
              </a:ext>
            </a:extLst>
          </p:cNvPr>
          <p:cNvSpPr>
            <a:spLocks xmlns:a="http://schemas.openxmlformats.org/drawingml/2006/main" noGrp="1"/>
          </p:cNvSpPr>
          <p:nvPr/>
        </p:nvSpPr>
        <p:spPr>
          <a:xfrm xmlns:a="http://schemas.openxmlformats.org/drawingml/2006/main">
            <a:off x="6324600" y="20955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008A94"/>
                </a:solidFill>
              </a:defRPr>
            </a:pPr>
            <a:r>
              <a:rPr sz="1275" b="1" i="0">
                <a:solidFill>
                  <a:srgbClr val="008A94"/>
                </a:solidFill>
              </a:rPr>
              <a:t>31-60일</a:t>
            </a:r>
          </a:p>
        </p:txBody>
      </p:sp>
      <p:sp>
        <p:nvSpPr>
          <p:cNvPr id="26" name="">
            <a:extLst xmlns:a="http://schemas.openxmlformats.org/drawingml/2006/main">
              <a:ext uri="{FF2B5EF4-FFF2-40B4-BE49-F238E27FC236}">
                <a16:creationId xmlns:a16="http://schemas.microsoft.com/office/drawing/2014/main" id="{E23CE2BF-F9D9-48C0-8CD3-AB341ADE1481}"/>
              </a:ext>
            </a:extLst>
          </p:cNvPr>
          <p:cNvSpPr>
            <a:spLocks xmlns:a="http://schemas.openxmlformats.org/drawingml/2006/main" noGrp="1"/>
          </p:cNvSpPr>
          <p:nvPr/>
        </p:nvSpPr>
        <p:spPr>
          <a:xfrm xmlns:a="http://schemas.openxmlformats.org/drawingml/2006/main">
            <a:off x="6324600" y="2286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설계</a:t>
            </a:r>
          </a:p>
        </p:txBody>
      </p:sp>
      <p:sp>
        <p:nvSpPr>
          <p:cNvPr id="27" name="">
            <a:extLst xmlns:a="http://schemas.openxmlformats.org/drawingml/2006/main">
              <a:ext uri="{FF2B5EF4-FFF2-40B4-BE49-F238E27FC236}">
                <a16:creationId xmlns:a16="http://schemas.microsoft.com/office/drawing/2014/main" id="{E1891067-BE41-46FF-95A1-288A68623FF9}"/>
              </a:ext>
            </a:extLst>
          </p:cNvPr>
          <p:cNvSpPr>
            <a:spLocks xmlns:a="http://schemas.openxmlformats.org/drawingml/2006/main" noGrp="1"/>
          </p:cNvSpPr>
          <p:nvPr/>
        </p:nvSpPr>
        <p:spPr>
          <a:xfrm xmlns:a="http://schemas.openxmlformats.org/drawingml/2006/main">
            <a:off x="6324600" y="2800350"/>
            <a:ext cx="4495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사용량을 산정하고 보안 기준 구조·계정 매트릭스를 공동 작성합니다.</a:t>
            </a:r>
          </a:p>
        </p:txBody>
      </p:sp>
      <p:sp>
        <p:nvSpPr>
          <p:cNvPr id="28" name="">
            <a:extLst xmlns:a="http://schemas.openxmlformats.org/drawingml/2006/main">
              <a:ext uri="{FF2B5EF4-FFF2-40B4-BE49-F238E27FC236}">
                <a16:creationId xmlns:a16="http://schemas.microsoft.com/office/drawing/2014/main" id="{06C50810-765E-425F-A2A0-C78F2C3DCCE0}"/>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008A94"/>
                </a:solidFill>
              </a:defRPr>
            </a:pPr>
            <a:r>
              <a:rPr sz="1275" b="1" i="0">
                <a:solidFill>
                  <a:srgbClr val="008A94"/>
                </a:solidFill>
              </a:rPr>
              <a:t/>
            </a:r>
          </a:p>
        </p:txBody>
      </p:sp>
      <p:sp>
        <p:nvSpPr>
          <p:cNvPr id="29" name="">
            <a:extLst xmlns:a="http://schemas.openxmlformats.org/drawingml/2006/main">
              <a:ext uri="{FF2B5EF4-FFF2-40B4-BE49-F238E27FC236}">
                <a16:creationId xmlns:a16="http://schemas.microsoft.com/office/drawing/2014/main" id="{6C973971-C939-4A1D-B49F-AB64A8D700B1}"/>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
            </a:r>
          </a:p>
        </p:txBody>
      </p:sp>
      <p:sp>
        <p:nvSpPr>
          <p:cNvPr id="30" name="">
            <a:extLst xmlns:a="http://schemas.openxmlformats.org/drawingml/2006/main">
              <a:ext uri="{FF2B5EF4-FFF2-40B4-BE49-F238E27FC236}">
                <a16:creationId xmlns:a16="http://schemas.microsoft.com/office/drawing/2014/main" id="{24353B11-A0EF-474D-9DE0-8ADA9A8A5E0C}"/>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
            </a:r>
          </a:p>
        </p:txBody>
      </p:sp>
      <p:sp>
        <p:nvSpPr>
          <p:cNvPr id="31" name="">
            <a:extLst xmlns:a="http://schemas.openxmlformats.org/drawingml/2006/main">
              <a:ext uri="{FF2B5EF4-FFF2-40B4-BE49-F238E27FC236}">
                <a16:creationId xmlns:a16="http://schemas.microsoft.com/office/drawing/2014/main" id="{86D9B445-78FF-44C2-8963-849C68B2E456}"/>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66768A"/>
                </a:solidFill>
              </a:defRPr>
            </a:pPr>
            <a:r>
              <a:rPr sz="1275" b="1" i="0">
                <a:solidFill>
                  <a:srgbClr val="66768A"/>
                </a:solidFill>
              </a:rPr>
              <a:t/>
            </a:r>
          </a:p>
        </p:txBody>
      </p:sp>
      <p:sp>
        <p:nvSpPr>
          <p:cNvPr id="32" name="">
            <a:extLst xmlns:a="http://schemas.openxmlformats.org/drawingml/2006/main">
              <a:ext uri="{FF2B5EF4-FFF2-40B4-BE49-F238E27FC236}">
                <a16:creationId xmlns:a16="http://schemas.microsoft.com/office/drawing/2014/main" id="{F0764589-9CA4-4814-9D97-D1D35158A2BA}"/>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
            </a:r>
          </a:p>
        </p:txBody>
      </p:sp>
      <p:sp>
        <p:nvSpPr>
          <p:cNvPr id="33" name="">
            <a:extLst xmlns:a="http://schemas.openxmlformats.org/drawingml/2006/main">
              <a:ext uri="{FF2B5EF4-FFF2-40B4-BE49-F238E27FC236}">
                <a16:creationId xmlns:a16="http://schemas.microsoft.com/office/drawing/2014/main" id="{3242C509-6CFD-4AF1-9AF4-450C91816FA9}"/>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
            </a:r>
          </a:p>
        </p:txBody>
      </p:sp>
      <p:sp>
        <p:nvSpPr>
          <p:cNvPr id="34" name="">
            <a:extLst xmlns:a="http://schemas.openxmlformats.org/drawingml/2006/main">
              <a:ext uri="{FF2B5EF4-FFF2-40B4-BE49-F238E27FC236}">
                <a16:creationId xmlns:a16="http://schemas.microsoft.com/office/drawing/2014/main" id="{1DF490B7-A433-4F17-8DFC-0B30ABB98F00}"/>
              </a:ext>
            </a:extLst>
          </p:cNvPr>
          <p:cNvSpPr>
            <a:spLocks xmlns:a="http://schemas.openxmlformats.org/drawingml/2006/main" noGrp="1"/>
          </p:cNvSpPr>
          <p:nvPr/>
        </p:nvSpPr>
        <p:spPr>
          <a:xfrm xmlns:a="http://schemas.openxmlformats.org/drawingml/2006/main">
            <a:off x="609600" y="4591050"/>
            <a:ext cx="10972800" cy="1504950"/>
          </a:xfrm>
          <a:prstGeom xmlns:a="http://schemas.openxmlformats.org/drawingml/2006/main" prst="roundRect">
            <a:avLst>
              <a:gd name="adj" fmla="val 5063"/>
            </a:avLst>
          </a:prstGeom>
          <a:noFill xmlns:a="http://schemas.openxmlformats.org/drawingml/2006/main"/>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E7AE27C-D95E-4D09-A691-6D9DB8499320}"/>
              </a:ext>
            </a:extLst>
          </p:cNvPr>
          <p:cNvSpPr>
            <a:spLocks xmlns:a="http://schemas.openxmlformats.org/drawingml/2006/main" noGrp="1"/>
          </p:cNvSpPr>
          <p:nvPr/>
        </p:nvSpPr>
        <p:spPr>
          <a:xfrm xmlns:a="http://schemas.openxmlformats.org/drawingml/2006/main">
            <a:off x="609600" y="49149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66768A"/>
                </a:solidFill>
              </a:defRPr>
            </a:pPr>
            <a:r>
              <a:rPr sz="1350" b="1" i="0">
                <a:solidFill>
                  <a:srgbClr val="66768A"/>
                </a:solidFill>
              </a:rPr>
              <a:t/>
            </a:r>
          </a:p>
        </p:txBody>
      </p:sp>
      <p:sp>
        <p:nvSpPr>
          <p:cNvPr id="128" name="swimlane-snowflake-1">
            <a:extLst xmlns:a="http://schemas.openxmlformats.org/drawingml/2006/main">
              <a:ext uri="{FF2B5EF4-FFF2-40B4-BE49-F238E27FC236}">
                <a16:creationId xmlns:a16="http://schemas.microsoft.com/office/drawing/2014/main" id="{6C94235D-48A9-4FF9-8B6B-15545B417E38}"/>
              </a:ext>
            </a:extLst>
          </p:cNvPr>
          <p:cNvSpPr>
            <a:spLocks xmlns:a="http://schemas.openxmlformats.org/drawingml/2006/main" noGrp="1"/>
          </p:cNvSpPr>
          <p:nvPr/>
        </p:nvSpPr>
        <p:spPr>
          <a:xfrm xmlns:a="http://schemas.openxmlformats.org/drawingml/2006/main">
            <a:off x="781050" y="260985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SNOWFLAKE</a:t>
            </a:r>
          </a:p>
        </p:txBody>
      </p:sp>
      <p:sp>
        <p:nvSpPr>
          <p:cNvPr id="129" name="swimlane-rule-1">
            <a:extLst xmlns:a="http://schemas.openxmlformats.org/drawingml/2006/main">
              <a:ext uri="{FF2B5EF4-FFF2-40B4-BE49-F238E27FC236}">
                <a16:creationId xmlns:a16="http://schemas.microsoft.com/office/drawing/2014/main" id="{CEDAB036-438E-47CE-9202-C138E4B7E3F9}"/>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30" name="swimlane-iclo-label-1">
            <a:extLst xmlns:a="http://schemas.openxmlformats.org/drawingml/2006/main">
              <a:ext uri="{FF2B5EF4-FFF2-40B4-BE49-F238E27FC236}">
                <a16:creationId xmlns:a16="http://schemas.microsoft.com/office/drawing/2014/main" id="{A23BDE48-E37F-4C4A-AF9E-F98E073C02A8}"/>
              </a:ext>
            </a:extLst>
          </p:cNvPr>
          <p:cNvSpPr>
            <a:spLocks xmlns:a="http://schemas.openxmlformats.org/drawingml/2006/main" noGrp="1"/>
          </p:cNvSpPr>
          <p:nvPr/>
        </p:nvSpPr>
        <p:spPr>
          <a:xfrm xmlns:a="http://schemas.openxmlformats.org/drawingml/2006/main">
            <a:off x="781050" y="35814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ICLO</a:t>
            </a:r>
          </a:p>
        </p:txBody>
      </p:sp>
      <p:sp>
        <p:nvSpPr>
          <p:cNvPr id="131" name="swimlane-iclo-1">
            <a:extLst xmlns:a="http://schemas.openxmlformats.org/drawingml/2006/main">
              <a:ext uri="{FF2B5EF4-FFF2-40B4-BE49-F238E27FC236}">
                <a16:creationId xmlns:a16="http://schemas.microsoft.com/office/drawing/2014/main" id="{A36A8CC4-14B2-4323-AF25-954C232A1ED1}"/>
              </a:ext>
            </a:extLst>
          </p:cNvPr>
          <p:cNvSpPr>
            <a:spLocks xmlns:a="http://schemas.openxmlformats.org/drawingml/2006/main" noGrp="1"/>
          </p:cNvSpPr>
          <p:nvPr/>
        </p:nvSpPr>
        <p:spPr>
          <a:xfrm xmlns:a="http://schemas.openxmlformats.org/drawingml/2006/main">
            <a:off x="781050" y="3771900"/>
            <a:ext cx="4495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현황 자료를 제공하고 워크숍·주간 운영을 맡습니다.</a:t>
            </a:r>
          </a:p>
        </p:txBody>
      </p:sp>
      <p:sp>
        <p:nvSpPr>
          <p:cNvPr id="132" name="swimlane-gate-1">
            <a:extLst xmlns:a="http://schemas.openxmlformats.org/drawingml/2006/main">
              <a:ext uri="{FF2B5EF4-FFF2-40B4-BE49-F238E27FC236}">
                <a16:creationId xmlns:a16="http://schemas.microsoft.com/office/drawing/2014/main" id="{83D7F123-9D0F-4048-AB56-B4124325A11E}"/>
              </a:ext>
            </a:extLst>
          </p:cNvPr>
          <p:cNvSpPr>
            <a:spLocks xmlns:a="http://schemas.openxmlformats.org/drawingml/2006/main" noGrp="1"/>
          </p:cNvSpPr>
          <p:nvPr/>
        </p:nvSpPr>
        <p:spPr>
          <a:xfrm xmlns:a="http://schemas.openxmlformats.org/drawingml/2006/main">
            <a:off x="781050" y="424815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13294B"/>
                </a:solidFill>
              </a:defRPr>
            </a:pPr>
            <a:r>
              <a:rPr sz="1050" b="1">
                <a:solidFill>
                  <a:srgbClr val="13294B"/>
                </a:solidFill>
              </a:rPr>
              <a:t>게이트 · 스폰서·담당·경로 서면 확정</a:t>
            </a:r>
          </a:p>
        </p:txBody>
      </p:sp>
      <p:sp>
        <p:nvSpPr>
          <p:cNvPr id="133" name="swimlane-snowflake-2">
            <a:extLst xmlns:a="http://schemas.openxmlformats.org/drawingml/2006/main">
              <a:ext uri="{FF2B5EF4-FFF2-40B4-BE49-F238E27FC236}">
                <a16:creationId xmlns:a16="http://schemas.microsoft.com/office/drawing/2014/main" id="{C7CB3135-543B-4189-9AF4-4C06236B3951}"/>
              </a:ext>
            </a:extLst>
          </p:cNvPr>
          <p:cNvSpPr>
            <a:spLocks xmlns:a="http://schemas.openxmlformats.org/drawingml/2006/main" noGrp="1"/>
          </p:cNvSpPr>
          <p:nvPr/>
        </p:nvSpPr>
        <p:spPr>
          <a:xfrm xmlns:a="http://schemas.openxmlformats.org/drawingml/2006/main">
            <a:off x="6324600" y="260985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SNOWFLAKE</a:t>
            </a:r>
          </a:p>
        </p:txBody>
      </p:sp>
      <p:sp>
        <p:nvSpPr>
          <p:cNvPr id="134" name="swimlane-rule-2">
            <a:extLst xmlns:a="http://schemas.openxmlformats.org/drawingml/2006/main">
              <a:ext uri="{FF2B5EF4-FFF2-40B4-BE49-F238E27FC236}">
                <a16:creationId xmlns:a16="http://schemas.microsoft.com/office/drawing/2014/main" id="{732214C6-C3E2-42E6-8CFA-547505202D63}"/>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35" name="swimlane-iclo-label-2">
            <a:extLst xmlns:a="http://schemas.openxmlformats.org/drawingml/2006/main">
              <a:ext uri="{FF2B5EF4-FFF2-40B4-BE49-F238E27FC236}">
                <a16:creationId xmlns:a16="http://schemas.microsoft.com/office/drawing/2014/main" id="{4D5E2D99-E6C0-40BC-9E04-B27E2F78EF99}"/>
              </a:ext>
            </a:extLst>
          </p:cNvPr>
          <p:cNvSpPr>
            <a:spLocks xmlns:a="http://schemas.openxmlformats.org/drawingml/2006/main" noGrp="1"/>
          </p:cNvSpPr>
          <p:nvPr/>
        </p:nvSpPr>
        <p:spPr>
          <a:xfrm xmlns:a="http://schemas.openxmlformats.org/drawingml/2006/main">
            <a:off x="6324600" y="35814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ICLO</a:t>
            </a:r>
          </a:p>
        </p:txBody>
      </p:sp>
      <p:sp>
        <p:nvSpPr>
          <p:cNvPr id="136" name="swimlane-iclo-2">
            <a:extLst xmlns:a="http://schemas.openxmlformats.org/drawingml/2006/main">
              <a:ext uri="{FF2B5EF4-FFF2-40B4-BE49-F238E27FC236}">
                <a16:creationId xmlns:a16="http://schemas.microsoft.com/office/drawing/2014/main" id="{74D85944-304A-4235-9C5F-81AF848DA2D3}"/>
              </a:ext>
            </a:extLst>
          </p:cNvPr>
          <p:cNvSpPr>
            <a:spLocks xmlns:a="http://schemas.openxmlformats.org/drawingml/2006/main" noGrp="1"/>
          </p:cNvSpPr>
          <p:nvPr/>
        </p:nvSpPr>
        <p:spPr>
          <a:xfrm xmlns:a="http://schemas.openxmlformats.org/drawingml/2006/main">
            <a:off x="6324600" y="3771900"/>
            <a:ext cx="4495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원천 데이터 매핑·수집 시험·사이징 입력값을 제공합니다.</a:t>
            </a:r>
          </a:p>
        </p:txBody>
      </p:sp>
      <p:sp>
        <p:nvSpPr>
          <p:cNvPr id="137" name="swimlane-gate-2">
            <a:extLst xmlns:a="http://schemas.openxmlformats.org/drawingml/2006/main">
              <a:ext uri="{FF2B5EF4-FFF2-40B4-BE49-F238E27FC236}">
                <a16:creationId xmlns:a16="http://schemas.microsoft.com/office/drawing/2014/main" id="{4B8C2EC3-59E1-47F9-A6CA-DDABD33005E8}"/>
              </a:ext>
            </a:extLst>
          </p:cNvPr>
          <p:cNvSpPr>
            <a:spLocks xmlns:a="http://schemas.openxmlformats.org/drawingml/2006/main" noGrp="1"/>
          </p:cNvSpPr>
          <p:nvPr/>
        </p:nvSpPr>
        <p:spPr>
          <a:xfrm xmlns:a="http://schemas.openxmlformats.org/drawingml/2006/main">
            <a:off x="6324600" y="424815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13294B"/>
                </a:solidFill>
              </a:defRPr>
            </a:pPr>
            <a:r>
              <a:rPr sz="1050" b="1">
                <a:solidFill>
                  <a:srgbClr val="13294B"/>
                </a:solidFill>
              </a:rPr>
              <a:t>게이트 · 아키텍처와 매트릭스 1차본 승인</a:t>
            </a:r>
          </a:p>
        </p:txBody>
      </p:sp>
      <p:sp>
        <p:nvSpPr>
          <p:cNvPr id="138" name="swimlane-snowflake-3">
            <a:extLst xmlns:a="http://schemas.openxmlformats.org/drawingml/2006/main">
              <a:ext uri="{FF2B5EF4-FFF2-40B4-BE49-F238E27FC236}">
                <a16:creationId xmlns:a16="http://schemas.microsoft.com/office/drawing/2014/main" id="{54977054-9305-4A3B-A053-C0D9C3650E51}"/>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
            </a:r>
          </a:p>
        </p:txBody>
      </p:sp>
      <p:sp>
        <p:nvSpPr>
          <p:cNvPr id="139" name="swimlane-rule-3">
            <a:extLst xmlns:a="http://schemas.openxmlformats.org/drawingml/2006/main">
              <a:ext uri="{FF2B5EF4-FFF2-40B4-BE49-F238E27FC236}">
                <a16:creationId xmlns:a16="http://schemas.microsoft.com/office/drawing/2014/main" id="{9C912049-CA38-4CDA-AEB7-C0B44B4D6908}"/>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40" name="swimlane-iclo-label-3">
            <a:extLst xmlns:a="http://schemas.openxmlformats.org/drawingml/2006/main">
              <a:ext uri="{FF2B5EF4-FFF2-40B4-BE49-F238E27FC236}">
                <a16:creationId xmlns:a16="http://schemas.microsoft.com/office/drawing/2014/main" id="{BDC1C666-E39E-4023-B622-A9A8F5D18CF3}"/>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
            </a:r>
          </a:p>
        </p:txBody>
      </p:sp>
      <p:sp>
        <p:nvSpPr>
          <p:cNvPr id="141" name="swimlane-iclo-3">
            <a:extLst xmlns:a="http://schemas.openxmlformats.org/drawingml/2006/main">
              <a:ext uri="{FF2B5EF4-FFF2-40B4-BE49-F238E27FC236}">
                <a16:creationId xmlns:a16="http://schemas.microsoft.com/office/drawing/2014/main" id="{31A88162-9868-454F-8756-5D228F57EC4E}"/>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
            </a:r>
          </a:p>
        </p:txBody>
      </p:sp>
      <p:sp>
        <p:nvSpPr>
          <p:cNvPr id="142" name="swimlane-gate-3">
            <a:extLst xmlns:a="http://schemas.openxmlformats.org/drawingml/2006/main">
              <a:ext uri="{FF2B5EF4-FFF2-40B4-BE49-F238E27FC236}">
                <a16:creationId xmlns:a16="http://schemas.microsoft.com/office/drawing/2014/main" id="{1F6434B7-50B8-4743-8750-EA3AEE193AB5}"/>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13294B"/>
                </a:solidFill>
              </a:defRPr>
            </a:pPr>
            <a:r>
              <a:rPr sz="1050" b="1">
                <a:solidFill>
                  <a:srgbClr val="13294B"/>
                </a:solidFill>
              </a:rPr>
              <a:t/>
            </a:r>
          </a:p>
        </p:txBody>
      </p:sp>
      <p:sp>
        <p:nvSpPr>
          <p:cNvPr id="143" name="swimlane-snowflake-4">
            <a:extLst xmlns:a="http://schemas.openxmlformats.org/drawingml/2006/main">
              <a:ext uri="{FF2B5EF4-FFF2-40B4-BE49-F238E27FC236}">
                <a16:creationId xmlns:a16="http://schemas.microsoft.com/office/drawing/2014/main" id="{81B81486-AC1F-4F74-AE4A-E867840D7C9C}"/>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
            </a:r>
          </a:p>
        </p:txBody>
      </p:sp>
      <p:sp>
        <p:nvSpPr>
          <p:cNvPr id="144" name="swimlane-rule-4">
            <a:extLst xmlns:a="http://schemas.openxmlformats.org/drawingml/2006/main">
              <a:ext uri="{FF2B5EF4-FFF2-40B4-BE49-F238E27FC236}">
                <a16:creationId xmlns:a16="http://schemas.microsoft.com/office/drawing/2014/main" id="{9B0E8B94-2B66-48EE-A3AF-3DE3F422F52E}"/>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45" name="swimlane-iclo-label-4">
            <a:extLst xmlns:a="http://schemas.openxmlformats.org/drawingml/2006/main">
              <a:ext uri="{FF2B5EF4-FFF2-40B4-BE49-F238E27FC236}">
                <a16:creationId xmlns:a16="http://schemas.microsoft.com/office/drawing/2014/main" id="{9AB8FE67-2957-4BF8-8BA7-0B22B38FB801}"/>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
            </a:r>
          </a:p>
        </p:txBody>
      </p:sp>
      <p:sp>
        <p:nvSpPr>
          <p:cNvPr id="146" name="swimlane-iclo-4">
            <a:extLst xmlns:a="http://schemas.openxmlformats.org/drawingml/2006/main">
              <a:ext uri="{FF2B5EF4-FFF2-40B4-BE49-F238E27FC236}">
                <a16:creationId xmlns:a16="http://schemas.microsoft.com/office/drawing/2014/main" id="{E8117BDF-6CFB-4517-8E9E-90DCEFEAE32F}"/>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
            </a:r>
          </a:p>
        </p:txBody>
      </p:sp>
      <p:sp>
        <p:nvSpPr>
          <p:cNvPr id="147" name="swimlane-gate-4">
            <a:extLst xmlns:a="http://schemas.openxmlformats.org/drawingml/2006/main">
              <a:ext uri="{FF2B5EF4-FFF2-40B4-BE49-F238E27FC236}">
                <a16:creationId xmlns:a16="http://schemas.microsoft.com/office/drawing/2014/main" id="{03A8721B-D882-4D58-9288-E710E51A4235}"/>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D86464"/>
                </a:solidFill>
              </a:defRPr>
            </a:pPr>
            <a:r>
              <a:rPr sz="1050" b="1">
                <a:solidFill>
                  <a:srgbClr val="D86464"/>
                </a:solidFill>
              </a:rPr>
              <a:t/>
            </a:r>
          </a:p>
        </p:txBody>
      </p:sp>
      <p:sp>
        <p:nvSpPr>
          <p:cNvPr id="240" name="">
            <a:extLst xmlns:a="http://schemas.openxmlformats.org/drawingml/2006/main">
              <a:ext uri="{FF2B5EF4-FFF2-40B4-BE49-F238E27FC236}">
                <a16:creationId xmlns:a16="http://schemas.microsoft.com/office/drawing/2014/main" id="{555AF731-A0AC-4FE8-9B24-C79E6C736832}"/>
              </a:ext>
            </a:extLst>
          </p:cNvPr>
          <p:cNvSpPr>
            <a:spLocks xmlns:a="http://schemas.openxmlformats.org/drawingml/2006/main" noGrp="1"/>
          </p:cNvSpPr>
          <p:nvPr/>
        </p:nvSpPr>
        <p:spPr>
          <a:xfrm xmlns:a="http://schemas.openxmlformats.org/drawingml/2006/main">
            <a:off x="609600" y="3524250"/>
            <a:ext cx="4495800" cy="0"/>
          </a:xfrm>
          <a:prstGeom xmlns:a="http://schemas.openxmlformats.org/drawingml/2006/main" prst="line">
            <a:avLst/>
          </a:prstGeom>
          <a:ln xmlns:a="http://schemas.openxmlformats.org/drawingml/2006/main" w="9525">
            <a:solidFill>
              <a:srgbClr val="D8E2E8"/>
            </a:solidFill>
            <a:prstDash val="solid"/>
          </a:ln>
        </p:spPr>
      </p:sp>
      <p:sp>
        <p:nvSpPr>
          <p:cNvPr id="241" name="">
            <a:extLst xmlns:a="http://schemas.openxmlformats.org/drawingml/2006/main">
              <a:ext uri="{FF2B5EF4-FFF2-40B4-BE49-F238E27FC236}">
                <a16:creationId xmlns:a16="http://schemas.microsoft.com/office/drawing/2014/main" id="{F20C422D-284F-4654-9C19-C6EA9733B29E}"/>
              </a:ext>
            </a:extLst>
          </p:cNvPr>
          <p:cNvSpPr>
            <a:spLocks xmlns:a="http://schemas.openxmlformats.org/drawingml/2006/main" noGrp="1"/>
          </p:cNvSpPr>
          <p:nvPr/>
        </p:nvSpPr>
        <p:spPr>
          <a:xfrm xmlns:a="http://schemas.openxmlformats.org/drawingml/2006/main">
            <a:off x="6153150" y="3524250"/>
            <a:ext cx="4495800" cy="0"/>
          </a:xfrm>
          <a:prstGeom xmlns:a="http://schemas.openxmlformats.org/drawingml/2006/main" prst="line">
            <a:avLst/>
          </a:prstGeom>
          <a:ln xmlns:a="http://schemas.openxmlformats.org/drawingml/2006/main" w="9525">
            <a:solidFill>
              <a:srgbClr val="D8E2E8"/>
            </a:solidFill>
            <a:prstDash val="solid"/>
          </a:ln>
        </p:spPr>
      </p:sp>
      <p:sp>
        <p:nvSpPr>
          <p:cNvPr id="242" name="">
            <a:extLst xmlns:a="http://schemas.openxmlformats.org/drawingml/2006/main">
              <a:ext uri="{FF2B5EF4-FFF2-40B4-BE49-F238E27FC236}">
                <a16:creationId xmlns:a16="http://schemas.microsoft.com/office/drawing/2014/main" id="{31A66A7C-3191-4CBA-91B6-5616460AD85B}"/>
              </a:ext>
            </a:extLst>
          </p:cNvPr>
          <p:cNvSpPr>
            <a:spLocks xmlns:a="http://schemas.openxmlformats.org/drawingml/2006/main" noGrp="1"/>
          </p:cNvSpPr>
          <p:nvPr/>
        </p:nvSpPr>
        <p:spPr>
          <a:xfrm xmlns:a="http://schemas.openxmlformats.org/drawingml/2006/main">
            <a:off x="5391150" y="3219450"/>
            <a:ext cx="533400" cy="0"/>
          </a:xfrm>
          <a:prstGeom xmlns:a="http://schemas.openxmlformats.org/drawingml/2006/main" prst="line">
            <a:avLst/>
          </a:prstGeom>
          <a:ln xmlns:a="http://schemas.openxmlformats.org/drawingml/2006/main" w="14288">
            <a:solidFill>
              <a:srgbClr val="008A94"/>
            </a:solidFill>
            <a:prstDash val="solid"/>
          </a:ln>
        </p:spPr>
      </p:sp>
    </p:spTree>
    <p:extLst>
      <p:ext uri="{BB962C8B-B14F-4D97-AF65-F5344CB8AC3E}">
        <p14:creationId xmlns:p14="http://schemas.microsoft.com/office/powerpoint/2010/main" val="17499215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2913014-D770-4404-9692-1914F480B748}"/>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i="0">
                <a:solidFill>
                  <a:srgbClr val="007A87"/>
                </a:solidFill>
              </a:defRPr>
            </a:pPr>
            <a:r>
              <a:rPr sz="825" b="1" i="0">
                <a:solidFill>
                  <a:srgbClr val="007A87"/>
                </a:solidFill>
              </a:rPr>
              <a:t/>
            </a:r>
          </a:p>
        </p:txBody>
      </p:sp>
      <p:sp>
        <p:nvSpPr>
          <p:cNvPr id="2" name="">
            <a:extLst xmlns:a="http://schemas.openxmlformats.org/drawingml/2006/main">
              <a:ext uri="{FF2B5EF4-FFF2-40B4-BE49-F238E27FC236}">
                <a16:creationId xmlns:a16="http://schemas.microsoft.com/office/drawing/2014/main" id="{8392DA44-CEEA-44AB-BDA0-A2AFFB5862D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43F707-DC58-40E2-94E7-70B1FF006A9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D39469-DAEA-4C8F-B588-938A75798811}"/>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Snowflake 요청</a:t>
            </a:r>
          </a:p>
        </p:txBody>
      </p:sp>
      <p:sp>
        <p:nvSpPr>
          <p:cNvPr id="5" name="">
            <a:extLst xmlns:a="http://schemas.openxmlformats.org/drawingml/2006/main">
              <a:ext uri="{FF2B5EF4-FFF2-40B4-BE49-F238E27FC236}">
                <a16:creationId xmlns:a16="http://schemas.microsoft.com/office/drawing/2014/main" id="{96DF90EA-4FFA-4B92-A3A2-00063EB52707}"/>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90일 공동 검증 계획 · 검증과 확장</a:t>
            </a:r>
          </a:p>
        </p:txBody>
      </p:sp>
      <p:sp>
        <p:nvSpPr>
          <p:cNvPr id="6" name="">
            <a:extLst xmlns:a="http://schemas.openxmlformats.org/drawingml/2006/main">
              <a:ext uri="{FF2B5EF4-FFF2-40B4-BE49-F238E27FC236}">
                <a16:creationId xmlns:a16="http://schemas.microsoft.com/office/drawing/2014/main" id="{B0D0E0F6-BDDB-4CC6-85EB-0F8BDA3E192F}"/>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61일부터 90일까지, 그리고 조건부 확장입니다. ICLO가 케이던스와 의사결정 기록을 맡습니다.</a:t>
            </a:r>
          </a:p>
        </p:txBody>
      </p:sp>
      <p:sp>
        <p:nvSpPr>
          <p:cNvPr id="7" name="">
            <a:extLst xmlns:a="http://schemas.openxmlformats.org/drawingml/2006/main">
              <a:ext uri="{FF2B5EF4-FFF2-40B4-BE49-F238E27FC236}">
                <a16:creationId xmlns:a16="http://schemas.microsoft.com/office/drawing/2014/main" id="{47493EAB-5ABA-4AD0-96C2-708BE405C428}"/>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38BA8C69-3BB3-4E98-B2AC-9277D77C3D6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39222DCC-2E46-4338-B341-13A70E2B5E0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252" name=""/>
          <p:cNvPicPr>
            <a:picLocks xmlns:a="http://schemas.openxmlformats.org/drawingml/2006/main" noChangeAspect="1"/>
          </p:cNvPicPr>
          <p:nvPr/>
        </p:nvPicPr>
        <p:blipFill>
          <a:blip xmlns:r="http://schemas.openxmlformats.org/officeDocument/2006/relationships" xmlns:a="http://schemas.openxmlformats.org/drawingml/2006/main" r:embed="Rbeb6aa65b0f548c4"/>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7F474CA-8B80-4E9E-BC88-F9EAA77F46F3}"/>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3d910d98f8e449f2"/>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5B49389-BC5A-4198-9884-D9EAE9587E77}"/>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092C7224-8B12-457C-BB42-63E0DEB82321}"/>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11</a:t>
            </a:r>
          </a:p>
        </p:txBody>
      </p:sp>
      <p:sp>
        <p:nvSpPr>
          <p:cNvPr id="15" name="">
            <a:extLst xmlns:a="http://schemas.openxmlformats.org/drawingml/2006/main">
              <a:ext uri="{FF2B5EF4-FFF2-40B4-BE49-F238E27FC236}">
                <a16:creationId xmlns:a16="http://schemas.microsoft.com/office/drawing/2014/main" id="{CB29672D-59A2-46C8-B354-33A976B0C1D9}"/>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B9834E8-2EC3-472C-8DC6-F0ABD5D1AFEA}"/>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B01FD01-D2BF-4268-91C1-AC9B5D622456}"/>
              </a:ext>
            </a:extLst>
          </p:cNvPr>
          <p:cNvSpPr>
            <a:spLocks xmlns:a="http://schemas.openxmlformats.org/drawingml/2006/main" noGrp="1"/>
          </p:cNvSpPr>
          <p:nvPr/>
        </p:nvSpPr>
        <p:spPr>
          <a:xfrm xmlns:a="http://schemas.openxmlformats.org/drawingml/2006/main">
            <a:off x="609600" y="2076450"/>
            <a:ext cx="4667250" cy="2286000"/>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5A82B0B-5A4C-4678-850D-3B122A41B142}"/>
              </a:ext>
            </a:extLst>
          </p:cNvPr>
          <p:cNvSpPr>
            <a:spLocks xmlns:a="http://schemas.openxmlformats.org/drawingml/2006/main" noGrp="1"/>
          </p:cNvSpPr>
          <p:nvPr/>
        </p:nvSpPr>
        <p:spPr>
          <a:xfrm xmlns:a="http://schemas.openxmlformats.org/drawingml/2006/main">
            <a:off x="6153150" y="2076450"/>
            <a:ext cx="4667250" cy="2286000"/>
          </a:xfrm>
          <a:prstGeom xmlns:a="http://schemas.openxmlformats.org/drawingml/2006/main" prst="roundRect">
            <a:avLst>
              <a:gd name="adj" fmla="val 3540"/>
            </a:avLst>
          </a:prstGeom>
          <a:noFill xmlns:a="http://schemas.openxmlformats.org/drawingml/2006/main"/>
          <a:ln xmlns:a="http://schemas.openxmlformats.org/drawingml/2006/main" w="0">
            <a:noFill/>
            <a:prstDash val="solid"/>
          </a:ln>
        </p:spPr>
      </p:sp>
      <p:cxnSp>
        <p:nvCxnSpPr>
          <p:cNvPr id="261" name=""/>
          <p:cNvCxnSpPr>
            <a:stCxn xmlns:a="http://schemas.openxmlformats.org/drawingml/2006/main" id="15" idx="3"/>
            <a:endCxn xmlns:a="http://schemas.openxmlformats.org/drawingml/2006/main" id="16" idx="1"/>
          </p:cNvCxnSpPr>
          <p:nvPr/>
        </p:nvCxnSpPr>
        <p:spPr>
          <a:xfrm xmlns:a="http://schemas.openxmlformats.org/drawingml/2006/main" flipH="1">
            <a:off x="-1905000" y="8577263"/>
            <a:ext cx="9525" cy="0"/>
          </a:xfrm>
          <a:prstGeom xmlns:a="http://schemas.openxmlformats.org/drawingml/2006/main" prst="straightConnector1">
            <a:avLst/>
          </a:prstGeom>
          <a:ln xmlns:a="http://schemas.openxmlformats.org/drawingml/2006/main" w="0">
            <a:noFill/>
            <a:prstDash val="solid"/>
            <a:headEnd type="none" w="med" len="med"/>
            <a:tailEnd type="arrow" w="med" len="med"/>
          </a:ln>
        </p:spPr>
      </p:cxnSp>
      <p:cxnSp>
        <p:nvCxnSpPr>
          <p:cNvPr id="262" name=""/>
          <p:cNvCxnSpPr>
            <a:stCxn xmlns:a="http://schemas.openxmlformats.org/drawingml/2006/main" id="16" idx="3"/>
            <a:endCxn xmlns:a="http://schemas.openxmlformats.org/drawingml/2006/main" id="17" idx="1"/>
          </p:cNvCxnSpPr>
          <p:nvPr/>
        </p:nvCxnSpPr>
        <p:spPr>
          <a:xfrm xmlns:a="http://schemas.openxmlformats.org/drawingml/2006/main" flipV="1">
            <a:off x="-1895475" y="3219450"/>
            <a:ext cx="2505075" cy="5357813"/>
          </a:xfrm>
          <a:prstGeom xmlns:a="http://schemas.openxmlformats.org/drawingml/2006/main" prst="straightConnector1">
            <a:avLst/>
          </a:prstGeom>
          <a:ln xmlns:a="http://schemas.openxmlformats.org/drawingml/2006/main" w="0">
            <a:noFill/>
            <a:prstDash val="solid"/>
            <a:headEnd type="none" w="med" len="med"/>
            <a:tailEnd type="arrow" w="med" len="med"/>
          </a:ln>
        </p:spPr>
      </p:cxnSp>
      <p:cxnSp>
        <p:nvCxnSpPr>
          <p:cNvPr id="263" name=""/>
          <p:cNvCxnSpPr>
            <a:stCxn xmlns:a="http://schemas.openxmlformats.org/drawingml/2006/main" id="17" idx="3"/>
            <a:endCxn xmlns:a="http://schemas.openxmlformats.org/drawingml/2006/main" id="18" idx="1"/>
          </p:cNvCxnSpPr>
          <p:nvPr/>
        </p:nvCxnSpPr>
        <p:spPr>
          <a:xfrm xmlns:a="http://schemas.openxmlformats.org/drawingml/2006/main">
            <a:off x="5276850" y="3219450"/>
            <a:ext cx="876300" cy="0"/>
          </a:xfrm>
          <a:prstGeom xmlns:a="http://schemas.openxmlformats.org/drawingml/2006/main" prst="straightConnector1">
            <a:avLst/>
          </a:prstGeom>
          <a:ln xmlns:a="http://schemas.openxmlformats.org/drawingml/2006/main" w="0">
            <a:noFill/>
            <a:prstDash val="solid"/>
            <a:headEnd type="none" w="med" len="med"/>
            <a:tailEnd type="arrow" w="med" len="med"/>
          </a:ln>
        </p:spPr>
      </p:cxnSp>
      <p:sp>
        <p:nvSpPr>
          <p:cNvPr id="22" name="">
            <a:extLst xmlns:a="http://schemas.openxmlformats.org/drawingml/2006/main">
              <a:ext uri="{FF2B5EF4-FFF2-40B4-BE49-F238E27FC236}">
                <a16:creationId xmlns:a16="http://schemas.microsoft.com/office/drawing/2014/main" id="{6A3E4154-4A2B-46E7-857F-A02ECEE0832F}"/>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008A94"/>
                </a:solidFill>
              </a:defRPr>
            </a:pPr>
            <a:r>
              <a:rPr sz="1275" b="1" i="0">
                <a:solidFill>
                  <a:srgbClr val="008A94"/>
                </a:solidFill>
              </a:rPr>
              <a:t/>
            </a:r>
          </a:p>
        </p:txBody>
      </p:sp>
      <p:sp>
        <p:nvSpPr>
          <p:cNvPr id="23" name="">
            <a:extLst xmlns:a="http://schemas.openxmlformats.org/drawingml/2006/main">
              <a:ext uri="{FF2B5EF4-FFF2-40B4-BE49-F238E27FC236}">
                <a16:creationId xmlns:a16="http://schemas.microsoft.com/office/drawing/2014/main" id="{CC933FAD-4BC8-4AB7-B287-62B0E46CCFBF}"/>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
            </a:r>
          </a:p>
        </p:txBody>
      </p:sp>
      <p:sp>
        <p:nvSpPr>
          <p:cNvPr id="24" name="">
            <a:extLst xmlns:a="http://schemas.openxmlformats.org/drawingml/2006/main">
              <a:ext uri="{FF2B5EF4-FFF2-40B4-BE49-F238E27FC236}">
                <a16:creationId xmlns:a16="http://schemas.microsoft.com/office/drawing/2014/main" id="{4F4177BE-809C-4146-ACA4-69B77D186A8E}"/>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
            </a:r>
          </a:p>
        </p:txBody>
      </p:sp>
      <p:sp>
        <p:nvSpPr>
          <p:cNvPr id="25" name="">
            <a:extLst xmlns:a="http://schemas.openxmlformats.org/drawingml/2006/main">
              <a:ext uri="{FF2B5EF4-FFF2-40B4-BE49-F238E27FC236}">
                <a16:creationId xmlns:a16="http://schemas.microsoft.com/office/drawing/2014/main" id="{B3D31801-5B3F-4EC8-98D1-7C498E5477F1}"/>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008A94"/>
                </a:solidFill>
              </a:defRPr>
            </a:pPr>
            <a:r>
              <a:rPr sz="1275" b="1" i="0">
                <a:solidFill>
                  <a:srgbClr val="008A94"/>
                </a:solidFill>
              </a:rPr>
              <a:t/>
            </a:r>
          </a:p>
        </p:txBody>
      </p:sp>
      <p:sp>
        <p:nvSpPr>
          <p:cNvPr id="26" name="">
            <a:extLst xmlns:a="http://schemas.openxmlformats.org/drawingml/2006/main">
              <a:ext uri="{FF2B5EF4-FFF2-40B4-BE49-F238E27FC236}">
                <a16:creationId xmlns:a16="http://schemas.microsoft.com/office/drawing/2014/main" id="{E23CE2BF-F9D9-48C0-8CD3-AB341ADE1481}"/>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
            </a:r>
          </a:p>
        </p:txBody>
      </p:sp>
      <p:sp>
        <p:nvSpPr>
          <p:cNvPr id="27" name="">
            <a:extLst xmlns:a="http://schemas.openxmlformats.org/drawingml/2006/main">
              <a:ext uri="{FF2B5EF4-FFF2-40B4-BE49-F238E27FC236}">
                <a16:creationId xmlns:a16="http://schemas.microsoft.com/office/drawing/2014/main" id="{E1891067-BE41-46FF-95A1-288A68623FF9}"/>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
            </a:r>
          </a:p>
        </p:txBody>
      </p:sp>
      <p:sp>
        <p:nvSpPr>
          <p:cNvPr id="28" name="">
            <a:extLst xmlns:a="http://schemas.openxmlformats.org/drawingml/2006/main">
              <a:ext uri="{FF2B5EF4-FFF2-40B4-BE49-F238E27FC236}">
                <a16:creationId xmlns:a16="http://schemas.microsoft.com/office/drawing/2014/main" id="{06C50810-765E-425F-A2A0-C78F2C3DCCE0}"/>
              </a:ext>
            </a:extLst>
          </p:cNvPr>
          <p:cNvSpPr>
            <a:spLocks xmlns:a="http://schemas.openxmlformats.org/drawingml/2006/main" noGrp="1"/>
          </p:cNvSpPr>
          <p:nvPr/>
        </p:nvSpPr>
        <p:spPr>
          <a:xfrm xmlns:a="http://schemas.openxmlformats.org/drawingml/2006/main">
            <a:off x="781050" y="20955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008A94"/>
                </a:solidFill>
              </a:defRPr>
            </a:pPr>
            <a:r>
              <a:rPr sz="1275" b="1" i="0">
                <a:solidFill>
                  <a:srgbClr val="008A94"/>
                </a:solidFill>
              </a:rPr>
              <a:t>61-90일</a:t>
            </a:r>
          </a:p>
        </p:txBody>
      </p:sp>
      <p:sp>
        <p:nvSpPr>
          <p:cNvPr id="29" name="">
            <a:extLst xmlns:a="http://schemas.openxmlformats.org/drawingml/2006/main">
              <a:ext uri="{FF2B5EF4-FFF2-40B4-BE49-F238E27FC236}">
                <a16:creationId xmlns:a16="http://schemas.microsoft.com/office/drawing/2014/main" id="{6C973971-C939-4A1D-B49F-AB64A8D700B1}"/>
              </a:ext>
            </a:extLst>
          </p:cNvPr>
          <p:cNvSpPr>
            <a:spLocks xmlns:a="http://schemas.openxmlformats.org/drawingml/2006/main" noGrp="1"/>
          </p:cNvSpPr>
          <p:nvPr/>
        </p:nvSpPr>
        <p:spPr>
          <a:xfrm xmlns:a="http://schemas.openxmlformats.org/drawingml/2006/main">
            <a:off x="781050" y="2286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검증</a:t>
            </a:r>
          </a:p>
        </p:txBody>
      </p:sp>
      <p:sp>
        <p:nvSpPr>
          <p:cNvPr id="30" name="">
            <a:extLst xmlns:a="http://schemas.openxmlformats.org/drawingml/2006/main">
              <a:ext uri="{FF2B5EF4-FFF2-40B4-BE49-F238E27FC236}">
                <a16:creationId xmlns:a16="http://schemas.microsoft.com/office/drawing/2014/main" id="{24353B11-A0EF-474D-9DE0-8ADA9A8A5E0C}"/>
              </a:ext>
            </a:extLst>
          </p:cNvPr>
          <p:cNvSpPr>
            <a:spLocks xmlns:a="http://schemas.openxmlformats.org/drawingml/2006/main" noGrp="1"/>
          </p:cNvSpPr>
          <p:nvPr/>
        </p:nvSpPr>
        <p:spPr>
          <a:xfrm xmlns:a="http://schemas.openxmlformats.org/drawingml/2006/main">
            <a:off x="781050" y="2800350"/>
            <a:ext cx="4495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계정팀 검토 1건을 후원하고 파트너 준비 체크리스트를 제공합니다.</a:t>
            </a:r>
          </a:p>
        </p:txBody>
      </p:sp>
      <p:sp>
        <p:nvSpPr>
          <p:cNvPr id="31" name="">
            <a:extLst xmlns:a="http://schemas.openxmlformats.org/drawingml/2006/main">
              <a:ext uri="{FF2B5EF4-FFF2-40B4-BE49-F238E27FC236}">
                <a16:creationId xmlns:a16="http://schemas.microsoft.com/office/drawing/2014/main" id="{86D9B445-78FF-44C2-8963-849C68B2E456}"/>
              </a:ext>
            </a:extLst>
          </p:cNvPr>
          <p:cNvSpPr>
            <a:spLocks xmlns:a="http://schemas.openxmlformats.org/drawingml/2006/main" noGrp="1"/>
          </p:cNvSpPr>
          <p:nvPr/>
        </p:nvSpPr>
        <p:spPr>
          <a:xfrm xmlns:a="http://schemas.openxmlformats.org/drawingml/2006/main">
            <a:off x="6324600" y="20955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66768A"/>
                </a:solidFill>
              </a:defRPr>
            </a:pPr>
            <a:r>
              <a:rPr sz="1275" b="1" i="0">
                <a:solidFill>
                  <a:srgbClr val="66768A"/>
                </a:solidFill>
              </a:rPr>
              <a:t>조건부</a:t>
            </a:r>
          </a:p>
        </p:txBody>
      </p:sp>
      <p:sp>
        <p:nvSpPr>
          <p:cNvPr id="32" name="">
            <a:extLst xmlns:a="http://schemas.openxmlformats.org/drawingml/2006/main">
              <a:ext uri="{FF2B5EF4-FFF2-40B4-BE49-F238E27FC236}">
                <a16:creationId xmlns:a16="http://schemas.microsoft.com/office/drawing/2014/main" id="{F0764589-9CA4-4814-9D97-D1D35158A2BA}"/>
              </a:ext>
            </a:extLst>
          </p:cNvPr>
          <p:cNvSpPr>
            <a:spLocks xmlns:a="http://schemas.openxmlformats.org/drawingml/2006/main" noGrp="1"/>
          </p:cNvSpPr>
          <p:nvPr/>
        </p:nvSpPr>
        <p:spPr>
          <a:xfrm xmlns:a="http://schemas.openxmlformats.org/drawingml/2006/main">
            <a:off x="6324600" y="2286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3294B"/>
                </a:solidFill>
              </a:defRPr>
            </a:pPr>
            <a:r>
              <a:rPr sz="1650" b="1" i="0">
                <a:solidFill>
                  <a:srgbClr val="13294B"/>
                </a:solidFill>
              </a:rPr>
              <a:t>확장</a:t>
            </a:r>
          </a:p>
        </p:txBody>
      </p:sp>
      <p:sp>
        <p:nvSpPr>
          <p:cNvPr id="33" name="">
            <a:extLst xmlns:a="http://schemas.openxmlformats.org/drawingml/2006/main">
              <a:ext uri="{FF2B5EF4-FFF2-40B4-BE49-F238E27FC236}">
                <a16:creationId xmlns:a16="http://schemas.microsoft.com/office/drawing/2014/main" id="{3242C509-6CFD-4AF1-9AF4-450C91816FA9}"/>
              </a:ext>
            </a:extLst>
          </p:cNvPr>
          <p:cNvSpPr>
            <a:spLocks xmlns:a="http://schemas.openxmlformats.org/drawingml/2006/main" noGrp="1"/>
          </p:cNvSpPr>
          <p:nvPr/>
        </p:nvSpPr>
        <p:spPr>
          <a:xfrm xmlns:a="http://schemas.openxmlformats.org/drawingml/2006/main">
            <a:off x="6324600" y="2800350"/>
            <a:ext cx="4495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66768A"/>
                </a:solidFill>
              </a:defRPr>
            </a:pPr>
            <a:r>
              <a:rPr sz="1125" b="0" i="0">
                <a:solidFill>
                  <a:srgbClr val="66768A"/>
                </a:solidFill>
              </a:rPr>
              <a:t>필요성이 확인된 경우에만 Native App·Clean Room·연합학습을 검토합니다.</a:t>
            </a:r>
          </a:p>
        </p:txBody>
      </p:sp>
      <p:sp>
        <p:nvSpPr>
          <p:cNvPr id="34" name="">
            <a:extLst xmlns:a="http://schemas.openxmlformats.org/drawingml/2006/main">
              <a:ext uri="{FF2B5EF4-FFF2-40B4-BE49-F238E27FC236}">
                <a16:creationId xmlns:a16="http://schemas.microsoft.com/office/drawing/2014/main" id="{1DF490B7-A433-4F17-8DFC-0B30ABB98F00}"/>
              </a:ext>
            </a:extLst>
          </p:cNvPr>
          <p:cNvSpPr>
            <a:spLocks xmlns:a="http://schemas.openxmlformats.org/drawingml/2006/main" noGrp="1"/>
          </p:cNvSpPr>
          <p:nvPr/>
        </p:nvSpPr>
        <p:spPr>
          <a:xfrm xmlns:a="http://schemas.openxmlformats.org/drawingml/2006/main">
            <a:off x="609600" y="4591050"/>
            <a:ext cx="10972800" cy="1504950"/>
          </a:xfrm>
          <a:prstGeom xmlns:a="http://schemas.openxmlformats.org/drawingml/2006/main" prst="roundRect">
            <a:avLst>
              <a:gd name="adj" fmla="val 5063"/>
            </a:avLst>
          </a:prstGeom>
          <a:noFill xmlns:a="http://schemas.openxmlformats.org/drawingml/2006/main"/>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E7AE27C-D95E-4D09-A691-6D9DB8499320}"/>
              </a:ext>
            </a:extLst>
          </p:cNvPr>
          <p:cNvSpPr>
            <a:spLocks xmlns:a="http://schemas.openxmlformats.org/drawingml/2006/main" noGrp="1"/>
          </p:cNvSpPr>
          <p:nvPr/>
        </p:nvSpPr>
        <p:spPr>
          <a:xfrm xmlns:a="http://schemas.openxmlformats.org/drawingml/2006/main">
            <a:off x="609600" y="49149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66768A"/>
                </a:solidFill>
              </a:defRPr>
            </a:pPr>
            <a:r>
              <a:rPr sz="1350" b="1" i="0">
                <a:solidFill>
                  <a:srgbClr val="66768A"/>
                </a:solidFill>
              </a:rPr>
              <a:t>운영 방식 · ICLO가 주간 서면 현황과 단일 의사결정 기록을 관리합니다.</a:t>
            </a:r>
          </a:p>
          <a:p xmlns:a="http://schemas.openxmlformats.org/drawingml/2006/main">
            <a:pPr algn="l">
              <a:buNone/>
              <a:defRPr sz="1350" b="1" i="0">
                <a:solidFill>
                  <a:srgbClr val="66768A"/>
                </a:solidFill>
              </a:defRPr>
            </a:pPr>
            <a:r>
              <a:rPr sz="1350" b="1" i="0">
                <a:solidFill>
                  <a:srgbClr val="66768A"/>
                </a:solidFill>
              </a:rPr>
              <a:t>사용량 산정 · 기업 수, 가입자-월, 수집·변환·결과 갱신 빈도, 데이터 규모, 웨어하우스 크기와 실행 시간을 입력값으로 제공하고, Snowflake SE가 Day 30 사이징 세션에서 연간 크레딧을 산정합니다.</a:t>
            </a:r>
          </a:p>
        </p:txBody>
      </p:sp>
      <p:sp>
        <p:nvSpPr>
          <p:cNvPr id="128" name="swimlane-snowflake-1">
            <a:extLst xmlns:a="http://schemas.openxmlformats.org/drawingml/2006/main">
              <a:ext uri="{FF2B5EF4-FFF2-40B4-BE49-F238E27FC236}">
                <a16:creationId xmlns:a16="http://schemas.microsoft.com/office/drawing/2014/main" id="{6C94235D-48A9-4FF9-8B6B-15545B417E38}"/>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
            </a:r>
          </a:p>
        </p:txBody>
      </p:sp>
      <p:sp>
        <p:nvSpPr>
          <p:cNvPr id="129" name="swimlane-rule-1">
            <a:extLst xmlns:a="http://schemas.openxmlformats.org/drawingml/2006/main">
              <a:ext uri="{FF2B5EF4-FFF2-40B4-BE49-F238E27FC236}">
                <a16:creationId xmlns:a16="http://schemas.microsoft.com/office/drawing/2014/main" id="{CEDAB036-438E-47CE-9202-C138E4B7E3F9}"/>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30" name="swimlane-iclo-label-1">
            <a:extLst xmlns:a="http://schemas.openxmlformats.org/drawingml/2006/main">
              <a:ext uri="{FF2B5EF4-FFF2-40B4-BE49-F238E27FC236}">
                <a16:creationId xmlns:a16="http://schemas.microsoft.com/office/drawing/2014/main" id="{A23BDE48-E37F-4C4A-AF9E-F98E073C02A8}"/>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
            </a:r>
          </a:p>
        </p:txBody>
      </p:sp>
      <p:sp>
        <p:nvSpPr>
          <p:cNvPr id="131" name="swimlane-iclo-1">
            <a:extLst xmlns:a="http://schemas.openxmlformats.org/drawingml/2006/main">
              <a:ext uri="{FF2B5EF4-FFF2-40B4-BE49-F238E27FC236}">
                <a16:creationId xmlns:a16="http://schemas.microsoft.com/office/drawing/2014/main" id="{A36A8CC4-14B2-4323-AF25-954C232A1ED1}"/>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
            </a:r>
          </a:p>
        </p:txBody>
      </p:sp>
      <p:sp>
        <p:nvSpPr>
          <p:cNvPr id="132" name="swimlane-gate-1">
            <a:extLst xmlns:a="http://schemas.openxmlformats.org/drawingml/2006/main">
              <a:ext uri="{FF2B5EF4-FFF2-40B4-BE49-F238E27FC236}">
                <a16:creationId xmlns:a16="http://schemas.microsoft.com/office/drawing/2014/main" id="{83D7F123-9D0F-4048-AB56-B4124325A11E}"/>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13294B"/>
                </a:solidFill>
              </a:defRPr>
            </a:pPr>
            <a:r>
              <a:rPr sz="1050" b="1">
                <a:solidFill>
                  <a:srgbClr val="13294B"/>
                </a:solidFill>
              </a:rPr>
              <a:t/>
            </a:r>
          </a:p>
        </p:txBody>
      </p:sp>
      <p:sp>
        <p:nvSpPr>
          <p:cNvPr id="133" name="swimlane-snowflake-2">
            <a:extLst xmlns:a="http://schemas.openxmlformats.org/drawingml/2006/main">
              <a:ext uri="{FF2B5EF4-FFF2-40B4-BE49-F238E27FC236}">
                <a16:creationId xmlns:a16="http://schemas.microsoft.com/office/drawing/2014/main" id="{C7CB3135-543B-4189-9AF4-4C06236B3951}"/>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
            </a:r>
          </a:p>
        </p:txBody>
      </p:sp>
      <p:sp>
        <p:nvSpPr>
          <p:cNvPr id="134" name="swimlane-rule-2">
            <a:extLst xmlns:a="http://schemas.openxmlformats.org/drawingml/2006/main">
              <a:ext uri="{FF2B5EF4-FFF2-40B4-BE49-F238E27FC236}">
                <a16:creationId xmlns:a16="http://schemas.microsoft.com/office/drawing/2014/main" id="{732214C6-C3E2-42E6-8CFA-547505202D63}"/>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35" name="swimlane-iclo-label-2">
            <a:extLst xmlns:a="http://schemas.openxmlformats.org/drawingml/2006/main">
              <a:ext uri="{FF2B5EF4-FFF2-40B4-BE49-F238E27FC236}">
                <a16:creationId xmlns:a16="http://schemas.microsoft.com/office/drawing/2014/main" id="{4D5E2D99-E6C0-40BC-9E04-B27E2F78EF99}"/>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
            </a:r>
          </a:p>
        </p:txBody>
      </p:sp>
      <p:sp>
        <p:nvSpPr>
          <p:cNvPr id="136" name="swimlane-iclo-2">
            <a:extLst xmlns:a="http://schemas.openxmlformats.org/drawingml/2006/main">
              <a:ext uri="{FF2B5EF4-FFF2-40B4-BE49-F238E27FC236}">
                <a16:creationId xmlns:a16="http://schemas.microsoft.com/office/drawing/2014/main" id="{74D85944-304A-4235-9C5F-81AF848DA2D3}"/>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
            </a:r>
          </a:p>
        </p:txBody>
      </p:sp>
      <p:sp>
        <p:nvSpPr>
          <p:cNvPr id="137" name="swimlane-gate-2">
            <a:extLst xmlns:a="http://schemas.openxmlformats.org/drawingml/2006/main">
              <a:ext uri="{FF2B5EF4-FFF2-40B4-BE49-F238E27FC236}">
                <a16:creationId xmlns:a16="http://schemas.microsoft.com/office/drawing/2014/main" id="{4B8C2EC3-59E1-47F9-A6CA-DDABD33005E8}"/>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13294B"/>
                </a:solidFill>
              </a:defRPr>
            </a:pPr>
            <a:r>
              <a:rPr sz="1050" b="1">
                <a:solidFill>
                  <a:srgbClr val="13294B"/>
                </a:solidFill>
              </a:rPr>
              <a:t/>
            </a:r>
          </a:p>
        </p:txBody>
      </p:sp>
      <p:sp>
        <p:nvSpPr>
          <p:cNvPr id="138" name="swimlane-snowflake-3">
            <a:extLst xmlns:a="http://schemas.openxmlformats.org/drawingml/2006/main">
              <a:ext uri="{FF2B5EF4-FFF2-40B4-BE49-F238E27FC236}">
                <a16:creationId xmlns:a16="http://schemas.microsoft.com/office/drawing/2014/main" id="{54977054-9305-4A3B-A053-C0D9C3650E51}"/>
              </a:ext>
            </a:extLst>
          </p:cNvPr>
          <p:cNvSpPr>
            <a:spLocks xmlns:a="http://schemas.openxmlformats.org/drawingml/2006/main" noGrp="1"/>
          </p:cNvSpPr>
          <p:nvPr/>
        </p:nvSpPr>
        <p:spPr>
          <a:xfrm xmlns:a="http://schemas.openxmlformats.org/drawingml/2006/main">
            <a:off x="781050" y="260985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SNOWFLAKE</a:t>
            </a:r>
          </a:p>
        </p:txBody>
      </p:sp>
      <p:sp>
        <p:nvSpPr>
          <p:cNvPr id="139" name="swimlane-rule-3">
            <a:extLst xmlns:a="http://schemas.openxmlformats.org/drawingml/2006/main">
              <a:ext uri="{FF2B5EF4-FFF2-40B4-BE49-F238E27FC236}">
                <a16:creationId xmlns:a16="http://schemas.microsoft.com/office/drawing/2014/main" id="{9C912049-CA38-4CDA-AEB7-C0B44B4D6908}"/>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40" name="swimlane-iclo-label-3">
            <a:extLst xmlns:a="http://schemas.openxmlformats.org/drawingml/2006/main">
              <a:ext uri="{FF2B5EF4-FFF2-40B4-BE49-F238E27FC236}">
                <a16:creationId xmlns:a16="http://schemas.microsoft.com/office/drawing/2014/main" id="{BDC1C666-E39E-4023-B622-A9A8F5D18CF3}"/>
              </a:ext>
            </a:extLst>
          </p:cNvPr>
          <p:cNvSpPr>
            <a:spLocks xmlns:a="http://schemas.openxmlformats.org/drawingml/2006/main" noGrp="1"/>
          </p:cNvSpPr>
          <p:nvPr/>
        </p:nvSpPr>
        <p:spPr>
          <a:xfrm xmlns:a="http://schemas.openxmlformats.org/drawingml/2006/main">
            <a:off x="781050" y="35814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ICLO</a:t>
            </a:r>
          </a:p>
        </p:txBody>
      </p:sp>
      <p:sp>
        <p:nvSpPr>
          <p:cNvPr id="141" name="swimlane-iclo-3">
            <a:extLst xmlns:a="http://schemas.openxmlformats.org/drawingml/2006/main">
              <a:ext uri="{FF2B5EF4-FFF2-40B4-BE49-F238E27FC236}">
                <a16:creationId xmlns:a16="http://schemas.microsoft.com/office/drawing/2014/main" id="{31A88162-9868-454F-8756-5D228F57EC4E}"/>
              </a:ext>
            </a:extLst>
          </p:cNvPr>
          <p:cNvSpPr>
            <a:spLocks xmlns:a="http://schemas.openxmlformats.org/drawingml/2006/main" noGrp="1"/>
          </p:cNvSpPr>
          <p:nvPr/>
        </p:nvSpPr>
        <p:spPr>
          <a:xfrm xmlns:a="http://schemas.openxmlformats.org/drawingml/2006/main">
            <a:off x="781050" y="3771900"/>
            <a:ext cx="4495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검토를 운영하고 진행/보류안을 제시합니다.</a:t>
            </a:r>
          </a:p>
        </p:txBody>
      </p:sp>
      <p:sp>
        <p:nvSpPr>
          <p:cNvPr id="142" name="swimlane-gate-3">
            <a:extLst xmlns:a="http://schemas.openxmlformats.org/drawingml/2006/main">
              <a:ext uri="{FF2B5EF4-FFF2-40B4-BE49-F238E27FC236}">
                <a16:creationId xmlns:a16="http://schemas.microsoft.com/office/drawing/2014/main" id="{1F6434B7-50B8-4743-8750-EA3AEE193AB5}"/>
              </a:ext>
            </a:extLst>
          </p:cNvPr>
          <p:cNvSpPr>
            <a:spLocks xmlns:a="http://schemas.openxmlformats.org/drawingml/2006/main" noGrp="1"/>
          </p:cNvSpPr>
          <p:nvPr/>
        </p:nvSpPr>
        <p:spPr>
          <a:xfrm xmlns:a="http://schemas.openxmlformats.org/drawingml/2006/main">
            <a:off x="781050" y="424815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13294B"/>
                </a:solidFill>
              </a:defRPr>
            </a:pPr>
            <a:r>
              <a:rPr sz="1050" b="1">
                <a:solidFill>
                  <a:srgbClr val="13294B"/>
                </a:solidFill>
              </a:rPr>
              <a:t>게이트 · 사용사례와 최소 근거 합의</a:t>
            </a:r>
          </a:p>
        </p:txBody>
      </p:sp>
      <p:sp>
        <p:nvSpPr>
          <p:cNvPr id="143" name="swimlane-snowflake-4">
            <a:extLst xmlns:a="http://schemas.openxmlformats.org/drawingml/2006/main">
              <a:ext uri="{FF2B5EF4-FFF2-40B4-BE49-F238E27FC236}">
                <a16:creationId xmlns:a16="http://schemas.microsoft.com/office/drawing/2014/main" id="{81B81486-AC1F-4F74-AE4A-E867840D7C9C}"/>
              </a:ext>
            </a:extLst>
          </p:cNvPr>
          <p:cNvSpPr>
            <a:spLocks xmlns:a="http://schemas.openxmlformats.org/drawingml/2006/main" noGrp="1"/>
          </p:cNvSpPr>
          <p:nvPr/>
        </p:nvSpPr>
        <p:spPr>
          <a:xfrm xmlns:a="http://schemas.openxmlformats.org/drawingml/2006/main">
            <a:off x="6324600" y="260985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008A94"/>
                </a:solidFill>
              </a:defRPr>
            </a:pPr>
            <a:r>
              <a:rPr sz="1238" b="1">
                <a:solidFill>
                  <a:srgbClr val="008A94"/>
                </a:solidFill>
              </a:rPr>
              <a:t>SNOWFLAKE</a:t>
            </a:r>
          </a:p>
        </p:txBody>
      </p:sp>
      <p:sp>
        <p:nvSpPr>
          <p:cNvPr id="144" name="swimlane-rule-4">
            <a:extLst xmlns:a="http://schemas.openxmlformats.org/drawingml/2006/main">
              <a:ext uri="{FF2B5EF4-FFF2-40B4-BE49-F238E27FC236}">
                <a16:creationId xmlns:a16="http://schemas.microsoft.com/office/drawing/2014/main" id="{9B0E8B94-2B66-48EE-A3AF-3DE3F422F52E}"/>
              </a:ext>
            </a:extLst>
          </p:cNvPr>
          <p:cNvSpPr>
            <a:spLocks xmlns:a="http://schemas.openxmlformats.org/drawingml/2006/main" noGrp="1"/>
          </p:cNvSpPr>
          <p:nvPr/>
        </p:nvSpPr>
        <p:spPr>
          <a:xfrm xmlns:a="http://schemas.openxmlformats.org/drawingml/2006/main">
            <a:off x="-1905000" y="8572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45" name="swimlane-iclo-label-4">
            <a:extLst xmlns:a="http://schemas.openxmlformats.org/drawingml/2006/main">
              <a:ext uri="{FF2B5EF4-FFF2-40B4-BE49-F238E27FC236}">
                <a16:creationId xmlns:a16="http://schemas.microsoft.com/office/drawing/2014/main" id="{9AB8FE67-2957-4BF8-8BA7-0B22B38FB801}"/>
              </a:ext>
            </a:extLst>
          </p:cNvPr>
          <p:cNvSpPr>
            <a:spLocks xmlns:a="http://schemas.openxmlformats.org/drawingml/2006/main" noGrp="1"/>
          </p:cNvSpPr>
          <p:nvPr/>
        </p:nvSpPr>
        <p:spPr>
          <a:xfrm xmlns:a="http://schemas.openxmlformats.org/drawingml/2006/main">
            <a:off x="6324600" y="35814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3294B"/>
                </a:solidFill>
              </a:defRPr>
            </a:pPr>
            <a:r>
              <a:rPr sz="1238" b="1">
                <a:solidFill>
                  <a:srgbClr val="13294B"/>
                </a:solidFill>
              </a:rPr>
              <a:t>ICLO</a:t>
            </a:r>
          </a:p>
        </p:txBody>
      </p:sp>
      <p:sp>
        <p:nvSpPr>
          <p:cNvPr id="146" name="swimlane-iclo-4">
            <a:extLst xmlns:a="http://schemas.openxmlformats.org/drawingml/2006/main">
              <a:ext uri="{FF2B5EF4-FFF2-40B4-BE49-F238E27FC236}">
                <a16:creationId xmlns:a16="http://schemas.microsoft.com/office/drawing/2014/main" id="{E8117BDF-6CFB-4517-8E9E-90DCEFEAE32F}"/>
              </a:ext>
            </a:extLst>
          </p:cNvPr>
          <p:cNvSpPr>
            <a:spLocks xmlns:a="http://schemas.openxmlformats.org/drawingml/2006/main" noGrp="1"/>
          </p:cNvSpPr>
          <p:nvPr/>
        </p:nvSpPr>
        <p:spPr>
          <a:xfrm xmlns:a="http://schemas.openxmlformats.org/drawingml/2006/main">
            <a:off x="6324600" y="3771900"/>
            <a:ext cx="4495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66768A"/>
                </a:solidFill>
              </a:defRPr>
            </a:pPr>
            <a:r>
              <a:rPr sz="1125">
                <a:solidFill>
                  <a:srgbClr val="66768A"/>
                </a:solidFill>
              </a:rPr>
              <a:t>다자간 수요가 확인된 뒤에만 확장 기능을 구축합니다.</a:t>
            </a:r>
          </a:p>
        </p:txBody>
      </p:sp>
      <p:sp>
        <p:nvSpPr>
          <p:cNvPr id="147" name="swimlane-gate-4">
            <a:extLst xmlns:a="http://schemas.openxmlformats.org/drawingml/2006/main">
              <a:ext uri="{FF2B5EF4-FFF2-40B4-BE49-F238E27FC236}">
                <a16:creationId xmlns:a16="http://schemas.microsoft.com/office/drawing/2014/main" id="{03A8721B-D882-4D58-9288-E710E51A4235}"/>
              </a:ext>
            </a:extLst>
          </p:cNvPr>
          <p:cNvSpPr>
            <a:spLocks xmlns:a="http://schemas.openxmlformats.org/drawingml/2006/main" noGrp="1"/>
          </p:cNvSpPr>
          <p:nvPr/>
        </p:nvSpPr>
        <p:spPr>
          <a:xfrm xmlns:a="http://schemas.openxmlformats.org/drawingml/2006/main">
            <a:off x="6324600" y="424815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D86464"/>
                </a:solidFill>
              </a:defRPr>
            </a:pPr>
            <a:r>
              <a:rPr sz="1050" b="1">
                <a:solidFill>
                  <a:srgbClr val="D86464"/>
                </a:solidFill>
              </a:rPr>
              <a:t>발동 조건 · 계정 검토에서 다자간 수요 확인</a:t>
            </a:r>
          </a:p>
        </p:txBody>
      </p:sp>
      <p:sp>
        <p:nvSpPr>
          <p:cNvPr id="240" name="">
            <a:extLst xmlns:a="http://schemas.openxmlformats.org/drawingml/2006/main">
              <a:ext uri="{FF2B5EF4-FFF2-40B4-BE49-F238E27FC236}">
                <a16:creationId xmlns:a16="http://schemas.microsoft.com/office/drawing/2014/main" id="{60921B7C-7536-4E5F-A340-A106A4A5F18C}"/>
              </a:ext>
            </a:extLst>
          </p:cNvPr>
          <p:cNvSpPr>
            <a:spLocks xmlns:a="http://schemas.openxmlformats.org/drawingml/2006/main" noGrp="1"/>
          </p:cNvSpPr>
          <p:nvPr/>
        </p:nvSpPr>
        <p:spPr>
          <a:xfrm xmlns:a="http://schemas.openxmlformats.org/drawingml/2006/main">
            <a:off x="609600" y="3524250"/>
            <a:ext cx="4495800" cy="0"/>
          </a:xfrm>
          <a:prstGeom xmlns:a="http://schemas.openxmlformats.org/drawingml/2006/main" prst="line">
            <a:avLst/>
          </a:prstGeom>
          <a:ln xmlns:a="http://schemas.openxmlformats.org/drawingml/2006/main" w="9525">
            <a:solidFill>
              <a:srgbClr val="D8E2E8"/>
            </a:solidFill>
            <a:prstDash val="solid"/>
          </a:ln>
        </p:spPr>
      </p:sp>
      <p:sp>
        <p:nvSpPr>
          <p:cNvPr id="241" name="">
            <a:extLst xmlns:a="http://schemas.openxmlformats.org/drawingml/2006/main">
              <a:ext uri="{FF2B5EF4-FFF2-40B4-BE49-F238E27FC236}">
                <a16:creationId xmlns:a16="http://schemas.microsoft.com/office/drawing/2014/main" id="{1288588C-D058-4E2B-BC6C-38E82E18355F}"/>
              </a:ext>
            </a:extLst>
          </p:cNvPr>
          <p:cNvSpPr>
            <a:spLocks xmlns:a="http://schemas.openxmlformats.org/drawingml/2006/main" noGrp="1"/>
          </p:cNvSpPr>
          <p:nvPr/>
        </p:nvSpPr>
        <p:spPr>
          <a:xfrm xmlns:a="http://schemas.openxmlformats.org/drawingml/2006/main">
            <a:off x="6153150" y="3524250"/>
            <a:ext cx="4495800" cy="0"/>
          </a:xfrm>
          <a:prstGeom xmlns:a="http://schemas.openxmlformats.org/drawingml/2006/main" prst="line">
            <a:avLst/>
          </a:prstGeom>
          <a:ln xmlns:a="http://schemas.openxmlformats.org/drawingml/2006/main" w="9525">
            <a:solidFill>
              <a:srgbClr val="D8E2E8"/>
            </a:solidFill>
            <a:prstDash val="solid"/>
          </a:ln>
        </p:spPr>
      </p:sp>
      <p:sp>
        <p:nvSpPr>
          <p:cNvPr id="242" name="">
            <a:extLst xmlns:a="http://schemas.openxmlformats.org/drawingml/2006/main">
              <a:ext uri="{FF2B5EF4-FFF2-40B4-BE49-F238E27FC236}">
                <a16:creationId xmlns:a16="http://schemas.microsoft.com/office/drawing/2014/main" id="{96DF0099-0F7E-4F4D-935E-F80481CE0E70}"/>
              </a:ext>
            </a:extLst>
          </p:cNvPr>
          <p:cNvSpPr>
            <a:spLocks xmlns:a="http://schemas.openxmlformats.org/drawingml/2006/main" noGrp="1"/>
          </p:cNvSpPr>
          <p:nvPr/>
        </p:nvSpPr>
        <p:spPr>
          <a:xfrm xmlns:a="http://schemas.openxmlformats.org/drawingml/2006/main">
            <a:off x="5391150" y="3219450"/>
            <a:ext cx="533400" cy="0"/>
          </a:xfrm>
          <a:prstGeom xmlns:a="http://schemas.openxmlformats.org/drawingml/2006/main" prst="line">
            <a:avLst/>
          </a:prstGeom>
          <a:ln xmlns:a="http://schemas.openxmlformats.org/drawingml/2006/main" w="14288">
            <a:solidFill>
              <a:srgbClr val="008A94"/>
            </a:solidFill>
            <a:prstDash val="solid"/>
          </a:ln>
        </p:spPr>
      </p:sp>
    </p:spTree>
    <p:extLst>
      <p:ext uri="{BB962C8B-B14F-4D97-AF65-F5344CB8AC3E}">
        <p14:creationId xmlns:p14="http://schemas.microsoft.com/office/powerpoint/2010/main" val="17499215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3B94BD-B994-4660-909B-38F4E86CF484}"/>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66768A"/>
                </a:solidFill>
              </a:defRPr>
            </a:pPr>
            <a:r>
              <a:rPr sz="1275" b="1" i="0">
                <a:solidFill>
                  <a:srgbClr val="66768A"/>
                </a:solidFill>
              </a:rPr>
              <a:t>부록</a:t>
            </a:r>
          </a:p>
        </p:txBody>
      </p:sp>
      <p:sp>
        <p:nvSpPr>
          <p:cNvPr id="2" name="">
            <a:extLst xmlns:a="http://schemas.openxmlformats.org/drawingml/2006/main">
              <a:ext uri="{FF2B5EF4-FFF2-40B4-BE49-F238E27FC236}">
                <a16:creationId xmlns:a16="http://schemas.microsoft.com/office/drawing/2014/main" id="{F0A352F0-BFE2-448B-8126-1F799CD6C70C}"/>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5928B0-3EDD-4F90-8B43-5D894F6C71E3}"/>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BF0C54-3449-45FA-9284-EA30A4D5BED6}"/>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ICLO 제품 설계 원칙 / Snowflake 요청</a:t>
            </a:r>
          </a:p>
        </p:txBody>
      </p:sp>
      <p:sp>
        <p:nvSpPr>
          <p:cNvPr id="5" name="">
            <a:extLst xmlns:a="http://schemas.openxmlformats.org/drawingml/2006/main">
              <a:ext uri="{FF2B5EF4-FFF2-40B4-BE49-F238E27FC236}">
                <a16:creationId xmlns:a16="http://schemas.microsoft.com/office/drawing/2014/main" id="{B8D81299-4F55-4A9B-8466-D5F933A37BE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DED2C9-C111-42C7-AF11-7B211534995A}"/>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C15329C-ADF5-40F9-B307-92ECDC96F87D}"/>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13" b="1" i="0">
                <a:solidFill>
                  <a:srgbClr val="29B5E8"/>
                </a:solidFill>
              </a:defRPr>
            </a:pPr>
            <a:r>
              <a:rPr sz="713" b="1" i="0">
                <a:solidFill>
                  <a:srgbClr val="29B5E8"/>
                </a:solidFill>
              </a:rPr>
              <a:t/>
            </a:r>
          </a:p>
        </p:txBody>
      </p:sp>
      <p:sp>
        <p:nvSpPr>
          <p:cNvPr id="8" name="">
            <a:extLst xmlns:a="http://schemas.openxmlformats.org/drawingml/2006/main">
              <a:ext uri="{FF2B5EF4-FFF2-40B4-BE49-F238E27FC236}">
                <a16:creationId xmlns:a16="http://schemas.microsoft.com/office/drawing/2014/main" id="{97D86BA9-8C7E-4BCE-A04A-1B8765E2C11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데이터와 책임의 경계</a:t>
            </a:r>
          </a:p>
        </p:txBody>
      </p:sp>
      <p:sp>
        <p:nvSpPr>
          <p:cNvPr id="9" name="">
            <a:extLst xmlns:a="http://schemas.openxmlformats.org/drawingml/2006/main">
              <a:ext uri="{FF2B5EF4-FFF2-40B4-BE49-F238E27FC236}">
                <a16:creationId xmlns:a16="http://schemas.microsoft.com/office/drawing/2014/main" id="{93A0C3A1-CBB5-4F40-8208-A0399275EC16}"/>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플랫폼 기능, 실제 운영, 데이터 제공, 법률 판단의 책임을 구분합니다.</a:t>
            </a:r>
          </a:p>
        </p:txBody>
      </p:sp>
      <p:sp>
        <p:nvSpPr>
          <p:cNvPr id="10" name="">
            <a:extLst xmlns:a="http://schemas.openxmlformats.org/drawingml/2006/main">
              <a:ext uri="{FF2B5EF4-FFF2-40B4-BE49-F238E27FC236}">
                <a16:creationId xmlns:a16="http://schemas.microsoft.com/office/drawing/2014/main" id="{218CFACC-36FC-49C4-9E7D-70E03EC72E2E}"/>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8735FFD4-FF2E-4327-B9E2-F9FCAF49AE4D}"/>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12" name="">
            <a:extLst xmlns:a="http://schemas.openxmlformats.org/drawingml/2006/main">
              <a:ext uri="{FF2B5EF4-FFF2-40B4-BE49-F238E27FC236}">
                <a16:creationId xmlns:a16="http://schemas.microsoft.com/office/drawing/2014/main" id="{77A375EB-EBD2-4D52-8C40-8FC162570BF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2e82eea3453463c"/>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9688917-E837-405C-9786-9EABFE3A3BE3}"/>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bed57956b504f06"/>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6F71BC3-AC5B-4679-B84A-5CABC34A98AB}"/>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7" name="">
            <a:extLst xmlns:a="http://schemas.openxmlformats.org/drawingml/2006/main">
              <a:ext uri="{FF2B5EF4-FFF2-40B4-BE49-F238E27FC236}">
                <a16:creationId xmlns:a16="http://schemas.microsoft.com/office/drawing/2014/main" id="{7F260614-0FFF-4E3A-8A07-E4B126C509CB}"/>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12</a:t>
            </a:r>
          </a:p>
        </p:txBody>
      </p:sp>
      <p:graphicFrame>
        <p:nvGraphicFramePr>
          <p:cNvPr id="40" name=""/>
          <p:cNvGraphicFramePr/>
          <p:nvPr/>
        </p:nvGraphicFramePr>
        <p:xfrm>
          <a:off xmlns:a="http://schemas.openxmlformats.org/drawingml/2006/main" x="609600" y="1952625"/>
          <a:ext xmlns:a="http://schemas.openxmlformats.org/drawingml/2006/main" cx="10972800" cy="4095750"/>
        </p:xfrm>
        <a:graphic xmlns:a="http://schemas.openxmlformats.org/drawingml/2006/main">
          <a:graphicData uri="http://schemas.openxmlformats.org/drawingml/2006/table">
            <a:tbl>
              <a:tblPr/>
              <a:tblGrid>
                <a:gridCol w="1600200"/>
                <a:gridCol w="2038350"/>
                <a:gridCol w="2381250"/>
                <a:gridCol w="2400300"/>
                <a:gridCol w="2552700"/>
              </a:tblGrid>
              <a:tr h="682625">
                <a:tc>
                  <a:txBody>
                    <a:bodyPr/>
                    <a:lstStyle/>
                    <a:p>
                      <a:r>
                        <a:rPr sz="1313" b="1">
                          <a:solidFill>
                            <a:srgbClr val="FFFFFF"/>
                          </a:solidFill>
                        </a:rPr>
                        <a:t>영역</a:t>
                      </a:r>
                    </a:p>
                  </a:txBody>
                  <a:tcPr marL="76200" marR="76200" marT="19050" marB="19050" anchor="ctr">
                    <a:solidFill>
                      <a:srgbClr val="007A87"/>
                    </a:solidFill>
                  </a:tcPr>
                </a:tc>
                <a:tc>
                  <a:txBody>
                    <a:bodyPr/>
                    <a:lstStyle/>
                    <a:p>
                      <a:r>
                        <a:rPr sz="1313" b="1">
                          <a:solidFill>
                            <a:srgbClr val="FFFFFF"/>
                          </a:solidFill>
                        </a:rPr>
                        <a:t>ICLO</a:t>
                      </a:r>
                    </a:p>
                  </a:txBody>
                  <a:tcPr marL="76200" marR="76200" marT="19050" marB="19050" anchor="ctr">
                    <a:solidFill>
                      <a:srgbClr val="007A87"/>
                    </a:solidFill>
                  </a:tcPr>
                </a:tc>
                <a:tc>
                  <a:txBody>
                    <a:bodyPr/>
                    <a:lstStyle/>
                    <a:p>
                      <a:r>
                        <a:rPr sz="1313" b="1">
                          <a:solidFill>
                            <a:srgbClr val="FFFFFF"/>
                          </a:solidFill>
                        </a:rPr>
                        <a:t>기업 / TPA / 협력사</a:t>
                      </a:r>
                    </a:p>
                  </a:txBody>
                  <a:tcPr marL="76200" marR="76200" marT="19050" marB="19050" anchor="ctr">
                    <a:solidFill>
                      <a:srgbClr val="007A87"/>
                    </a:solidFill>
                  </a:tcPr>
                </a:tc>
                <a:tc>
                  <a:txBody>
                    <a:bodyPr/>
                    <a:lstStyle/>
                    <a:p>
                      <a:r>
                        <a:rPr sz="1313" b="1">
                          <a:solidFill>
                            <a:srgbClr val="FFFFFF"/>
                          </a:solidFill>
                        </a:rPr>
                        <a:t>Snowflake</a:t>
                      </a:r>
                    </a:p>
                  </a:txBody>
                  <a:tcPr marL="76200" marR="76200" marT="19050" marB="19050" anchor="ctr">
                    <a:solidFill>
                      <a:srgbClr val="007A87"/>
                    </a:solidFill>
                  </a:tcPr>
                </a:tc>
                <a:tc>
                  <a:txBody>
                    <a:bodyPr/>
                    <a:lstStyle/>
                    <a:p>
                      <a:r>
                        <a:rPr sz="1313" b="1">
                          <a:solidFill>
                            <a:srgbClr val="FFFFFF"/>
                          </a:solidFill>
                        </a:rPr>
                        <a:t>Snowflake 범위 밖</a:t>
                      </a:r>
                    </a:p>
                  </a:txBody>
                  <a:tcPr marL="76200" marR="76200" marT="19050" marB="19050" anchor="ctr">
                    <a:solidFill>
                      <a:srgbClr val="007A87"/>
                    </a:solidFill>
                  </a:tcPr>
                </a:tc>
              </a:tr>
              <a:tr h="682625">
                <a:tc>
                  <a:txBody>
                    <a:bodyPr/>
                    <a:lstStyle/>
                    <a:p>
                      <a:r>
                        <a:rPr sz="1350">
                          <a:solidFill>
                            <a:srgbClr val="152238"/>
                          </a:solidFill>
                        </a:rPr>
                        <a:t>직원 이용 지원</a:t>
                      </a:r>
                    </a:p>
                  </a:txBody>
                  <a:tcPr marL="76200" marR="76200" marT="19050" marB="19050" anchor="ctr">
                    <a:solidFill>
                      <a:srgbClr val="FFFFFF"/>
                    </a:solidFill>
                  </a:tcPr>
                </a:tc>
                <a:tc>
                  <a:txBody>
                    <a:bodyPr/>
                    <a:lstStyle/>
                    <a:p>
                      <a:r>
                        <a:rPr sz="1350">
                          <a:solidFill>
                            <a:srgbClr val="152238"/>
                          </a:solidFill>
                        </a:rPr>
                        <a:t>제품·이용 기록·동의 화면</a:t>
                      </a:r>
                    </a:p>
                  </a:txBody>
                  <a:tcPr marL="76200" marR="76200" marT="19050" marB="19050" anchor="ctr">
                    <a:solidFill>
                      <a:srgbClr val="FFFFFF"/>
                    </a:solidFill>
                  </a:tcPr>
                </a:tc>
                <a:tc>
                  <a:txBody>
                    <a:bodyPr/>
                    <a:lstStyle/>
                    <a:p>
                      <a:r>
                        <a:rPr sz="1350">
                          <a:solidFill>
                            <a:srgbClr val="152238"/>
                          </a:solidFill>
                        </a:rPr>
                        <a:t>직원 행동·운영 지원</a:t>
                      </a:r>
                    </a:p>
                  </a:txBody>
                  <a:tcPr marL="76200" marR="76200" marT="19050" marB="19050" anchor="ctr">
                    <a:solidFill>
                      <a:srgbClr val="FFFFFF"/>
                    </a:solidFill>
                  </a:tcPr>
                </a:tc>
                <a:tc>
                  <a:txBody>
                    <a:bodyPr/>
                    <a:lstStyle/>
                    <a:p>
                      <a:r>
                        <a:rPr sz="1350">
                          <a:solidFill>
                            <a:srgbClr val="152238"/>
                          </a:solidFill>
                        </a:rPr>
                        <a:t>이용 기록에 목적별 접근 통제 적용</a:t>
                      </a:r>
                    </a:p>
                  </a:txBody>
                  <a:tcPr marL="76200" marR="76200" marT="19050" marB="19050" anchor="ctr">
                    <a:solidFill>
                      <a:srgbClr val="FFFFFF"/>
                    </a:solidFill>
                  </a:tcPr>
                </a:tc>
                <a:tc>
                  <a:txBody>
                    <a:bodyPr/>
                    <a:lstStyle/>
                    <a:p>
                      <a:r>
                        <a:rPr sz="1350" b="1">
                          <a:solidFill>
                            <a:srgbClr val="FF7A79"/>
                          </a:solidFill>
                        </a:rPr>
                        <a:t>면허·환자연계 법률 검토</a:t>
                      </a:r>
                    </a:p>
                  </a:txBody>
                  <a:tcPr marL="76200" marR="76200" marT="19050" marB="19050" anchor="ctr">
                    <a:solidFill>
                      <a:srgbClr val="FFF0F0"/>
                    </a:solidFill>
                  </a:tcPr>
                </a:tc>
              </a:tr>
              <a:tr h="682625">
                <a:tc>
                  <a:txBody>
                    <a:bodyPr/>
                    <a:lstStyle/>
                    <a:p>
                      <a:r>
                        <a:rPr sz="1350">
                          <a:solidFill>
                            <a:srgbClr val="152238"/>
                          </a:solidFill>
                        </a:rPr>
                        <a:t>가입 자격·플랜·네트워크</a:t>
                      </a:r>
                    </a:p>
                  </a:txBody>
                  <a:tcPr marL="76200" marR="76200" marT="19050" marB="19050" anchor="ctr">
                    <a:solidFill>
                      <a:srgbClr val="FFFFFF"/>
                    </a:solidFill>
                  </a:tcPr>
                </a:tc>
                <a:tc>
                  <a:txBody>
                    <a:bodyPr/>
                    <a:lstStyle/>
                    <a:p>
                      <a:r>
                        <a:rPr sz="1350">
                          <a:solidFill>
                            <a:srgbClr val="152238"/>
                          </a:solidFill>
                        </a:rPr>
                        <a:t>정보 연결·사용</a:t>
                      </a:r>
                    </a:p>
                  </a:txBody>
                  <a:tcPr marL="76200" marR="76200" marT="19050" marB="19050" anchor="ctr">
                    <a:solidFill>
                      <a:srgbClr val="FFFFFF"/>
                    </a:solidFill>
                  </a:tcPr>
                </a:tc>
                <a:tc>
                  <a:txBody>
                    <a:bodyPr/>
                    <a:lstStyle/>
                    <a:p>
                      <a:r>
                        <a:rPr sz="1350">
                          <a:solidFill>
                            <a:srgbClr val="152238"/>
                          </a:solidFill>
                        </a:rPr>
                        <a:t>계약에 따라 데이터 제공</a:t>
                      </a:r>
                    </a:p>
                  </a:txBody>
                  <a:tcPr marL="76200" marR="76200" marT="19050" marB="19050" anchor="ctr">
                    <a:solidFill>
                      <a:srgbClr val="FFFFFF"/>
                    </a:solidFill>
                  </a:tcPr>
                </a:tc>
                <a:tc>
                  <a:txBody>
                    <a:bodyPr/>
                    <a:lstStyle/>
                    <a:p>
                      <a:r>
                        <a:rPr sz="1350">
                          <a:solidFill>
                            <a:srgbClr val="152238"/>
                          </a:solidFill>
                        </a:rPr>
                        <a:t>공통 모델·대조</a:t>
                      </a:r>
                    </a:p>
                  </a:txBody>
                  <a:tcPr marL="76200" marR="76200" marT="19050" marB="19050" anchor="ctr">
                    <a:solidFill>
                      <a:srgbClr val="FFFFFF"/>
                    </a:solidFill>
                  </a:tcPr>
                </a:tc>
                <a:tc>
                  <a:txBody>
                    <a:bodyPr/>
                    <a:lstStyle/>
                    <a:p>
                      <a:r>
                        <a:rPr sz="1350" b="1">
                          <a:solidFill>
                            <a:srgbClr val="FF7A79"/>
                          </a:solidFill>
                        </a:rPr>
                        <a:t>데이터 권리 판단</a:t>
                      </a:r>
                    </a:p>
                  </a:txBody>
                  <a:tcPr marL="76200" marR="76200" marT="19050" marB="19050" anchor="ctr">
                    <a:solidFill>
                      <a:srgbClr val="FFF0F0"/>
                    </a:solidFill>
                  </a:tcPr>
                </a:tc>
              </a:tr>
              <a:tr h="682625">
                <a:tc>
                  <a:txBody>
                    <a:bodyPr/>
                    <a:lstStyle/>
                    <a:p>
                      <a:r>
                        <a:rPr sz="1350">
                          <a:solidFill>
                            <a:srgbClr val="152238"/>
                          </a:solidFill>
                        </a:rPr>
                        <a:t>청구·성과</a:t>
                      </a:r>
                    </a:p>
                  </a:txBody>
                  <a:tcPr marL="76200" marR="76200" marT="19050" marB="19050" anchor="ctr">
                    <a:solidFill>
                      <a:srgbClr val="FFFFFF"/>
                    </a:solidFill>
                  </a:tcPr>
                </a:tc>
                <a:tc>
                  <a:txBody>
                    <a:bodyPr/>
                    <a:lstStyle/>
                    <a:p>
                      <a:r>
                        <a:rPr sz="1350">
                          <a:solidFill>
                            <a:srgbClr val="152238"/>
                          </a:solidFill>
                        </a:rPr>
                        <a:t>프로그램 귀속 로직</a:t>
                      </a:r>
                    </a:p>
                  </a:txBody>
                  <a:tcPr marL="76200" marR="76200" marT="19050" marB="19050" anchor="ctr">
                    <a:solidFill>
                      <a:srgbClr val="FFFFFF"/>
                    </a:solidFill>
                  </a:tcPr>
                </a:tc>
                <a:tc>
                  <a:txBody>
                    <a:bodyPr/>
                    <a:lstStyle/>
                    <a:p>
                      <a:r>
                        <a:rPr sz="1350">
                          <a:solidFill>
                            <a:srgbClr val="152238"/>
                          </a:solidFill>
                        </a:rPr>
                        <a:t>청구·지연·방문완료</a:t>
                      </a:r>
                    </a:p>
                  </a:txBody>
                  <a:tcPr marL="76200" marR="76200" marT="19050" marB="19050" anchor="ctr">
                    <a:solidFill>
                      <a:srgbClr val="FFFFFF"/>
                    </a:solidFill>
                  </a:tcPr>
                </a:tc>
                <a:tc>
                  <a:txBody>
                    <a:bodyPr/>
                    <a:lstStyle/>
                    <a:p>
                      <a:r>
                        <a:rPr sz="1350">
                          <a:solidFill>
                            <a:srgbClr val="152238"/>
                          </a:solidFill>
                        </a:rPr>
                        <a:t>집계 계산·접근 통제</a:t>
                      </a:r>
                    </a:p>
                  </a:txBody>
                  <a:tcPr marL="76200" marR="76200" marT="19050" marB="19050" anchor="ctr">
                    <a:solidFill>
                      <a:srgbClr val="FFFFFF"/>
                    </a:solidFill>
                  </a:tcPr>
                </a:tc>
                <a:tc>
                  <a:txBody>
                    <a:bodyPr/>
                    <a:lstStyle/>
                    <a:p>
                      <a:r>
                        <a:rPr sz="1350" b="1">
                          <a:solidFill>
                            <a:srgbClr val="FF7A79"/>
                          </a:solidFill>
                        </a:rPr>
                        <a:t>절감 효과 검증</a:t>
                      </a:r>
                    </a:p>
                  </a:txBody>
                  <a:tcPr marL="76200" marR="76200" marT="19050" marB="19050" anchor="ctr">
                    <a:solidFill>
                      <a:srgbClr val="FFF0F0"/>
                    </a:solidFill>
                  </a:tcPr>
                </a:tc>
              </a:tr>
              <a:tr h="682625">
                <a:tc>
                  <a:txBody>
                    <a:bodyPr/>
                    <a:lstStyle/>
                    <a:p>
                      <a:r>
                        <a:rPr sz="1350">
                          <a:solidFill>
                            <a:srgbClr val="152238"/>
                          </a:solidFill>
                        </a:rPr>
                        <a:t>원본 이미지·모델</a:t>
                      </a:r>
                    </a:p>
                  </a:txBody>
                  <a:tcPr marL="76200" marR="76200" marT="19050" marB="19050" anchor="ctr">
                    <a:solidFill>
                      <a:srgbClr val="FFFFFF"/>
                    </a:solidFill>
                  </a:tcPr>
                </a:tc>
                <a:tc>
                  <a:txBody>
                    <a:bodyPr/>
                    <a:lstStyle/>
                    <a:p>
                      <a:r>
                        <a:rPr sz="1350">
                          <a:solidFill>
                            <a:srgbClr val="152238"/>
                          </a:solidFill>
                        </a:rPr>
                        <a:t>보관·분석·검증</a:t>
                      </a:r>
                    </a:p>
                  </a:txBody>
                  <a:tcPr marL="76200" marR="76200" marT="19050" marB="19050" anchor="ctr">
                    <a:solidFill>
                      <a:srgbClr val="FFFFFF"/>
                    </a:solidFill>
                  </a:tcPr>
                </a:tc>
                <a:tc>
                  <a:txBody>
                    <a:bodyPr/>
                    <a:lstStyle/>
                    <a:p>
                      <a:r>
                        <a:rPr sz="1350">
                          <a:solidFill>
                            <a:srgbClr val="152238"/>
                          </a:solidFill>
                        </a:rPr>
                        <a:t>필요 시 임상 역할</a:t>
                      </a:r>
                    </a:p>
                  </a:txBody>
                  <a:tcPr marL="76200" marR="76200" marT="19050" marB="19050" anchor="ctr">
                    <a:solidFill>
                      <a:srgbClr val="FFFFFF"/>
                    </a:solidFill>
                  </a:tcPr>
                </a:tc>
                <a:tc>
                  <a:txBody>
                    <a:bodyPr/>
                    <a:lstStyle/>
                    <a:p>
                      <a:r>
                        <a:rPr sz="1350">
                          <a:solidFill>
                            <a:srgbClr val="152238"/>
                          </a:solidFill>
                        </a:rPr>
                        <a:t>URI·메타데이터·승인 신호</a:t>
                      </a:r>
                    </a:p>
                  </a:txBody>
                  <a:tcPr marL="76200" marR="76200" marT="19050" marB="19050" anchor="ctr">
                    <a:solidFill>
                      <a:srgbClr val="FFFFFF"/>
                    </a:solidFill>
                  </a:tcPr>
                </a:tc>
                <a:tc>
                  <a:txBody>
                    <a:bodyPr/>
                    <a:lstStyle/>
                    <a:p>
                      <a:r>
                        <a:rPr sz="1350" b="1">
                          <a:solidFill>
                            <a:srgbClr val="FF7A79"/>
                          </a:solidFill>
                        </a:rPr>
                        <a:t>모델 엔드포인트 검증</a:t>
                      </a:r>
                    </a:p>
                  </a:txBody>
                  <a:tcPr marL="76200" marR="76200" marT="19050" marB="19050" anchor="ctr">
                    <a:solidFill>
                      <a:srgbClr val="FFF0F0"/>
                    </a:solidFill>
                  </a:tcPr>
                </a:tc>
              </a:tr>
              <a:tr h="682625">
                <a:tc>
                  <a:txBody>
                    <a:bodyPr/>
                    <a:lstStyle/>
                    <a:p>
                      <a:r>
                        <a:rPr sz="1350">
                          <a:solidFill>
                            <a:srgbClr val="152238"/>
                          </a:solidFill>
                        </a:rPr>
                        <a:t>거버넌스·준수</a:t>
                      </a:r>
                    </a:p>
                  </a:txBody>
                  <a:tcPr marL="76200" marR="76200" marT="19050" marB="19050" anchor="ctr">
                    <a:solidFill>
                      <a:srgbClr val="FFFFFF"/>
                    </a:solidFill>
                  </a:tcPr>
                </a:tc>
                <a:tc>
                  <a:txBody>
                    <a:bodyPr/>
                    <a:lstStyle/>
                    <a:p>
                      <a:r>
                        <a:rPr sz="1350">
                          <a:solidFill>
                            <a:srgbClr val="152238"/>
                          </a:solidFill>
                        </a:rPr>
                        <a:t>앱 통제·사고 대응</a:t>
                      </a:r>
                    </a:p>
                  </a:txBody>
                  <a:tcPr marL="76200" marR="76200" marT="19050" marB="19050" anchor="ctr">
                    <a:solidFill>
                      <a:srgbClr val="FFFFFF"/>
                    </a:solidFill>
                  </a:tcPr>
                </a:tc>
                <a:tc>
                  <a:txBody>
                    <a:bodyPr/>
                    <a:lstStyle/>
                    <a:p>
                      <a:r>
                        <a:rPr sz="1350">
                          <a:solidFill>
                            <a:srgbClr val="152238"/>
                          </a:solidFill>
                        </a:rPr>
                        <a:t>원천 시스템 통제</a:t>
                      </a:r>
                    </a:p>
                  </a:txBody>
                  <a:tcPr marL="76200" marR="76200" marT="19050" marB="19050" anchor="ctr">
                    <a:solidFill>
                      <a:srgbClr val="FFFFFF"/>
                    </a:solidFill>
                  </a:tcPr>
                </a:tc>
                <a:tc>
                  <a:txBody>
                    <a:bodyPr/>
                    <a:lstStyle/>
                    <a:p>
                      <a:r>
                        <a:rPr sz="1350">
                          <a:solidFill>
                            <a:srgbClr val="152238"/>
                          </a:solidFill>
                        </a:rPr>
                        <a:t>권한·마스킹·행 정책·이력</a:t>
                      </a:r>
                    </a:p>
                  </a:txBody>
                  <a:tcPr marL="76200" marR="76200" marT="19050" marB="19050" anchor="ctr">
                    <a:solidFill>
                      <a:srgbClr val="FFFFFF"/>
                    </a:solidFill>
                  </a:tcPr>
                </a:tc>
                <a:tc>
                  <a:txBody>
                    <a:bodyPr/>
                    <a:lstStyle/>
                    <a:p>
                      <a:r>
                        <a:rPr sz="1350" b="1">
                          <a:solidFill>
                            <a:srgbClr val="FF7A79"/>
                          </a:solidFill>
                        </a:rPr>
                        <a:t>ICLO 전체 준수 결론</a:t>
                      </a:r>
                    </a:p>
                  </a:txBody>
                  <a:tcPr marL="76200" marR="76200" marT="19050" marB="19050" anchor="ctr">
                    <a:solidFill>
                      <a:srgbClr val="FFF0F0"/>
                    </a:solidFill>
                  </a:tcPr>
                </a:tc>
              </a:tr>
            </a:tbl>
          </a:graphicData>
        </a:graphic>
      </p:graphicFrame>
    </p:spTree>
    <p:extLst>
      <p:ext uri="{BB962C8B-B14F-4D97-AF65-F5344CB8AC3E}">
        <p14:creationId xmlns:p14="http://schemas.microsoft.com/office/powerpoint/2010/main" val="21234324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A56177F-AFB1-41AA-A271-161DF6833087}"/>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66768A"/>
                </a:solidFill>
              </a:defRPr>
            </a:pPr>
            <a:r>
              <a:rPr sz="1275" b="1" i="0">
                <a:solidFill>
                  <a:srgbClr val="66768A"/>
                </a:solidFill>
              </a:rPr>
              <a:t>부록</a:t>
            </a:r>
          </a:p>
        </p:txBody>
      </p:sp>
      <p:sp>
        <p:nvSpPr>
          <p:cNvPr id="2" name="">
            <a:extLst xmlns:a="http://schemas.openxmlformats.org/drawingml/2006/main">
              <a:ext uri="{FF2B5EF4-FFF2-40B4-BE49-F238E27FC236}">
                <a16:creationId xmlns:a16="http://schemas.microsoft.com/office/drawing/2014/main" id="{C2791EFA-F310-42AB-B74C-76B69114F9C7}"/>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556E10-AD9D-4DF9-8A9B-1CB5C700168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C0FE70-442F-4396-BE5E-E2626B603155}"/>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Snowflake 요청</a:t>
            </a:r>
          </a:p>
        </p:txBody>
      </p:sp>
      <p:sp>
        <p:nvSpPr>
          <p:cNvPr id="5" name="">
            <a:extLst xmlns:a="http://schemas.openxmlformats.org/drawingml/2006/main">
              <a:ext uri="{FF2B5EF4-FFF2-40B4-BE49-F238E27FC236}">
                <a16:creationId xmlns:a16="http://schemas.microsoft.com/office/drawing/2014/main" id="{C2D50D41-1643-4A2E-AC09-78F14ACF6C86}"/>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파일럿 전에 결정할 기술 사항</a:t>
            </a:r>
          </a:p>
        </p:txBody>
      </p:sp>
      <p:sp>
        <p:nvSpPr>
          <p:cNvPr id="6" name="">
            <a:extLst xmlns:a="http://schemas.openxmlformats.org/drawingml/2006/main">
              <a:ext uri="{FF2B5EF4-FFF2-40B4-BE49-F238E27FC236}">
                <a16:creationId xmlns:a16="http://schemas.microsoft.com/office/drawing/2014/main" id="{D47F81AF-BA8B-4528-A978-B9883B842237}"/>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첫 파일럿의 데이터 연결 방식을 먼저 정하고, 앱 패키징과 다자간 ML은 후순위로 둡니다.</a:t>
            </a:r>
          </a:p>
        </p:txBody>
      </p:sp>
      <p:sp>
        <p:nvSpPr>
          <p:cNvPr id="7" name="">
            <a:extLst xmlns:a="http://schemas.openxmlformats.org/drawingml/2006/main">
              <a:ext uri="{FF2B5EF4-FFF2-40B4-BE49-F238E27FC236}">
                <a16:creationId xmlns:a16="http://schemas.microsoft.com/office/drawing/2014/main" id="{187FA335-5CFE-4C13-BE96-62E81233F00D}"/>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F2E977D7-44A8-4E83-9EAC-47F0D455F18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13DA659A-85F5-44CE-912D-89D05AFC60A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92d9ddbc7b0145cb"/>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322B111-9A98-4875-B081-16B56B0351D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f86793c700004d4f"/>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94F03A2-FD49-4A27-A82F-8D8BA8353D83}"/>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8E2571BD-B994-4BC9-BA3E-D44109BA82BC}"/>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13</a:t>
            </a:r>
          </a:p>
        </p:txBody>
      </p:sp>
      <p:sp>
        <p:nvSpPr>
          <p:cNvPr id="15" name="">
            <a:extLst xmlns:a="http://schemas.openxmlformats.org/drawingml/2006/main">
              <a:ext uri="{FF2B5EF4-FFF2-40B4-BE49-F238E27FC236}">
                <a16:creationId xmlns:a16="http://schemas.microsoft.com/office/drawing/2014/main" id="{7732A9A6-96B1-4568-B3D3-5A991AB21D92}"/>
              </a:ext>
            </a:extLst>
          </p:cNvPr>
          <p:cNvSpPr>
            <a:spLocks xmlns:a="http://schemas.openxmlformats.org/drawingml/2006/main" noGrp="1"/>
          </p:cNvSpPr>
          <p:nvPr/>
        </p:nvSpPr>
        <p:spPr>
          <a:xfrm xmlns:a="http://schemas.openxmlformats.org/drawingml/2006/main">
            <a:off x="609600" y="19907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07A87"/>
                </a:solidFill>
              </a:defRPr>
            </a:pPr>
            <a:r>
              <a:rPr sz="1200" b="1" i="0">
                <a:solidFill>
                  <a:srgbClr val="007A87"/>
                </a:solidFill>
              </a:rPr>
              <a:t>지금 결정할 항목</a:t>
            </a:r>
          </a:p>
        </p:txBody>
      </p:sp>
      <p:sp>
        <p:nvSpPr>
          <p:cNvPr id="16" name="">
            <a:extLst xmlns:a="http://schemas.openxmlformats.org/drawingml/2006/main">
              <a:ext uri="{FF2B5EF4-FFF2-40B4-BE49-F238E27FC236}">
                <a16:creationId xmlns:a16="http://schemas.microsoft.com/office/drawing/2014/main" id="{6328A8B7-9FF0-489B-8D1F-85C3543DC8DB}"/>
              </a:ext>
            </a:extLst>
          </p:cNvPr>
          <p:cNvSpPr>
            <a:spLocks xmlns:a="http://schemas.openxmlformats.org/drawingml/2006/main" noGrp="1"/>
          </p:cNvSpPr>
          <p:nvPr/>
        </p:nvSpPr>
        <p:spPr>
          <a:xfrm xmlns:a="http://schemas.openxmlformats.org/drawingml/2006/main">
            <a:off x="609600" y="238125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ABAA59-EC9F-4C1C-A44F-4E29E33FAF95}"/>
              </a:ext>
            </a:extLst>
          </p:cNvPr>
          <p:cNvSpPr>
            <a:spLocks xmlns:a="http://schemas.openxmlformats.org/drawingml/2006/main" noGrp="1"/>
          </p:cNvSpPr>
          <p:nvPr/>
        </p:nvSpPr>
        <p:spPr>
          <a:xfrm xmlns:a="http://schemas.openxmlformats.org/drawingml/2006/main">
            <a:off x="609600" y="2409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1</a:t>
            </a:r>
          </a:p>
        </p:txBody>
      </p:sp>
      <p:sp>
        <p:nvSpPr>
          <p:cNvPr id="18" name="">
            <a:extLst xmlns:a="http://schemas.openxmlformats.org/drawingml/2006/main">
              <a:ext uri="{FF2B5EF4-FFF2-40B4-BE49-F238E27FC236}">
                <a16:creationId xmlns:a16="http://schemas.microsoft.com/office/drawing/2014/main" id="{C7DFD1A7-0D6F-45FD-9892-8D6F233420E3}"/>
              </a:ext>
            </a:extLst>
          </p:cNvPr>
          <p:cNvSpPr>
            <a:spLocks xmlns:a="http://schemas.openxmlformats.org/drawingml/2006/main" noGrp="1"/>
          </p:cNvSpPr>
          <p:nvPr/>
        </p:nvSpPr>
        <p:spPr>
          <a:xfrm xmlns:a="http://schemas.openxmlformats.org/drawingml/2006/main">
            <a:off x="1028700" y="2381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ICLO의 현재 Snowflake 상태[계정·클라우드·리전·크레딧 확인 필요]를 기준으로 미국 Business Critical·BAA 경로를 어떻게 정할 것인가?</a:t>
            </a:r>
          </a:p>
        </p:txBody>
      </p:sp>
      <p:sp>
        <p:nvSpPr>
          <p:cNvPr id="19" name="">
            <a:extLst xmlns:a="http://schemas.openxmlformats.org/drawingml/2006/main">
              <a:ext uri="{FF2B5EF4-FFF2-40B4-BE49-F238E27FC236}">
                <a16:creationId xmlns:a16="http://schemas.microsoft.com/office/drawing/2014/main" id="{CD37B683-1A89-4BB9-ADD5-03BD6DAACA0A}"/>
              </a:ext>
            </a:extLst>
          </p:cNvPr>
          <p:cNvSpPr>
            <a:spLocks xmlns:a="http://schemas.openxmlformats.org/drawingml/2006/main" noGrp="1"/>
          </p:cNvSpPr>
          <p:nvPr/>
        </p:nvSpPr>
        <p:spPr>
          <a:xfrm xmlns:a="http://schemas.openxmlformats.org/drawingml/2006/main">
            <a:off x="609600" y="304800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330CFE8-84DA-4BF6-A63B-7975B82A8012}"/>
              </a:ext>
            </a:extLst>
          </p:cNvPr>
          <p:cNvSpPr>
            <a:spLocks xmlns:a="http://schemas.openxmlformats.org/drawingml/2006/main" noGrp="1"/>
          </p:cNvSpPr>
          <p:nvPr/>
        </p:nvSpPr>
        <p:spPr>
          <a:xfrm xmlns:a="http://schemas.openxmlformats.org/drawingml/2006/main">
            <a:off x="609600" y="30765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2</a:t>
            </a:r>
          </a:p>
        </p:txBody>
      </p:sp>
      <p:sp>
        <p:nvSpPr>
          <p:cNvPr id="21" name="">
            <a:extLst xmlns:a="http://schemas.openxmlformats.org/drawingml/2006/main">
              <a:ext uri="{FF2B5EF4-FFF2-40B4-BE49-F238E27FC236}">
                <a16:creationId xmlns:a16="http://schemas.microsoft.com/office/drawing/2014/main" id="{B56B080F-6F2E-4184-8DDC-66A2024674AA}"/>
              </a:ext>
            </a:extLst>
          </p:cNvPr>
          <p:cNvSpPr>
            <a:spLocks xmlns:a="http://schemas.openxmlformats.org/drawingml/2006/main" noGrp="1"/>
          </p:cNvSpPr>
          <p:nvPr/>
        </p:nvSpPr>
        <p:spPr>
          <a:xfrm xmlns:a="http://schemas.openxmlformats.org/drawingml/2006/main">
            <a:off x="1028700" y="30480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같은 리전의 Direct Share와 통제된 SFTP/API 수집은 언제 각각 쓰는가?</a:t>
            </a:r>
          </a:p>
        </p:txBody>
      </p:sp>
      <p:sp>
        <p:nvSpPr>
          <p:cNvPr id="22" name="">
            <a:extLst xmlns:a="http://schemas.openxmlformats.org/drawingml/2006/main">
              <a:ext uri="{FF2B5EF4-FFF2-40B4-BE49-F238E27FC236}">
                <a16:creationId xmlns:a16="http://schemas.microsoft.com/office/drawing/2014/main" id="{1B2F570B-4755-48D8-83A1-178EE64F2D31}"/>
              </a:ext>
            </a:extLst>
          </p:cNvPr>
          <p:cNvSpPr>
            <a:spLocks xmlns:a="http://schemas.openxmlformats.org/drawingml/2006/main" noGrp="1"/>
          </p:cNvSpPr>
          <p:nvPr/>
        </p:nvSpPr>
        <p:spPr>
          <a:xfrm xmlns:a="http://schemas.openxmlformats.org/drawingml/2006/main">
            <a:off x="609600" y="371475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C297286-EE39-44AE-ADA6-DAB33502D71C}"/>
              </a:ext>
            </a:extLst>
          </p:cNvPr>
          <p:cNvSpPr>
            <a:spLocks xmlns:a="http://schemas.openxmlformats.org/drawingml/2006/main" noGrp="1"/>
          </p:cNvSpPr>
          <p:nvPr/>
        </p:nvSpPr>
        <p:spPr>
          <a:xfrm xmlns:a="http://schemas.openxmlformats.org/drawingml/2006/main">
            <a:off x="609600" y="37433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3</a:t>
            </a:r>
          </a:p>
        </p:txBody>
      </p:sp>
      <p:sp>
        <p:nvSpPr>
          <p:cNvPr id="24" name="">
            <a:extLst xmlns:a="http://schemas.openxmlformats.org/drawingml/2006/main">
              <a:ext uri="{FF2B5EF4-FFF2-40B4-BE49-F238E27FC236}">
                <a16:creationId xmlns:a16="http://schemas.microsoft.com/office/drawing/2014/main" id="{5DA42092-9C2A-45F2-B11C-3F87948F5F54}"/>
              </a:ext>
            </a:extLst>
          </p:cNvPr>
          <p:cNvSpPr>
            <a:spLocks xmlns:a="http://schemas.openxmlformats.org/drawingml/2006/main" noGrp="1"/>
          </p:cNvSpPr>
          <p:nvPr/>
        </p:nvSpPr>
        <p:spPr>
          <a:xfrm xmlns:a="http://schemas.openxmlformats.org/drawingml/2006/main">
            <a:off x="1028700" y="3714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테넌시, 목적별 접근, 마스킹, 행 정책, 접근 기록을 어떻게 설계하는가?</a:t>
            </a:r>
          </a:p>
        </p:txBody>
      </p:sp>
      <p:sp>
        <p:nvSpPr>
          <p:cNvPr id="25" name="">
            <a:extLst xmlns:a="http://schemas.openxmlformats.org/drawingml/2006/main">
              <a:ext uri="{FF2B5EF4-FFF2-40B4-BE49-F238E27FC236}">
                <a16:creationId xmlns:a16="http://schemas.microsoft.com/office/drawing/2014/main" id="{7ED774C8-5D5C-4600-88D0-27D8E075D1B6}"/>
              </a:ext>
            </a:extLst>
          </p:cNvPr>
          <p:cNvSpPr>
            <a:spLocks xmlns:a="http://schemas.openxmlformats.org/drawingml/2006/main" noGrp="1"/>
          </p:cNvSpPr>
          <p:nvPr/>
        </p:nvSpPr>
        <p:spPr>
          <a:xfrm xmlns:a="http://schemas.openxmlformats.org/drawingml/2006/main">
            <a:off x="609600" y="438150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F1AA69E-7F25-43DD-933C-FDE98D2A4E24}"/>
              </a:ext>
            </a:extLst>
          </p:cNvPr>
          <p:cNvSpPr>
            <a:spLocks xmlns:a="http://schemas.openxmlformats.org/drawingml/2006/main" noGrp="1"/>
          </p:cNvSpPr>
          <p:nvPr/>
        </p:nvSpPr>
        <p:spPr>
          <a:xfrm xmlns:a="http://schemas.openxmlformats.org/drawingml/2006/main">
            <a:off x="609600" y="44100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4</a:t>
            </a:r>
          </a:p>
        </p:txBody>
      </p:sp>
      <p:sp>
        <p:nvSpPr>
          <p:cNvPr id="27" name="">
            <a:extLst xmlns:a="http://schemas.openxmlformats.org/drawingml/2006/main">
              <a:ext uri="{FF2B5EF4-FFF2-40B4-BE49-F238E27FC236}">
                <a16:creationId xmlns:a16="http://schemas.microsoft.com/office/drawing/2014/main" id="{562AB4BD-A366-4541-A937-4D7DB64FF480}"/>
              </a:ext>
            </a:extLst>
          </p:cNvPr>
          <p:cNvSpPr>
            <a:spLocks xmlns:a="http://schemas.openxmlformats.org/drawingml/2006/main" noGrp="1"/>
          </p:cNvSpPr>
          <p:nvPr/>
        </p:nvSpPr>
        <p:spPr>
          <a:xfrm xmlns:a="http://schemas.openxmlformats.org/drawingml/2006/main">
            <a:off x="1028700" y="43815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2,500 / 10,000 / 25,000명 규모의 비용과 크레딧 이후 단위 경제성을 어떻게 산정하는가?</a:t>
            </a:r>
          </a:p>
        </p:txBody>
      </p:sp>
      <p:sp>
        <p:nvSpPr>
          <p:cNvPr id="28" name="">
            <a:extLst xmlns:a="http://schemas.openxmlformats.org/drawingml/2006/main">
              <a:ext uri="{FF2B5EF4-FFF2-40B4-BE49-F238E27FC236}">
                <a16:creationId xmlns:a16="http://schemas.microsoft.com/office/drawing/2014/main" id="{9989CC95-3D8F-4CC4-994E-65E63BAE5F20}"/>
              </a:ext>
            </a:extLst>
          </p:cNvPr>
          <p:cNvSpPr>
            <a:spLocks xmlns:a="http://schemas.openxmlformats.org/drawingml/2006/main" noGrp="1"/>
          </p:cNvSpPr>
          <p:nvPr/>
        </p:nvSpPr>
        <p:spPr>
          <a:xfrm xmlns:a="http://schemas.openxmlformats.org/drawingml/2006/main">
            <a:off x="609600" y="504825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A0C903B-80E0-42F9-A333-6C4B65D21044}"/>
              </a:ext>
            </a:extLst>
          </p:cNvPr>
          <p:cNvSpPr>
            <a:spLocks xmlns:a="http://schemas.openxmlformats.org/drawingml/2006/main" noGrp="1"/>
          </p:cNvSpPr>
          <p:nvPr/>
        </p:nvSpPr>
        <p:spPr>
          <a:xfrm xmlns:a="http://schemas.openxmlformats.org/drawingml/2006/main">
            <a:off x="609600" y="5076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5</a:t>
            </a:r>
          </a:p>
        </p:txBody>
      </p:sp>
      <p:sp>
        <p:nvSpPr>
          <p:cNvPr id="30" name="">
            <a:extLst xmlns:a="http://schemas.openxmlformats.org/drawingml/2006/main">
              <a:ext uri="{FF2B5EF4-FFF2-40B4-BE49-F238E27FC236}">
                <a16:creationId xmlns:a16="http://schemas.microsoft.com/office/drawing/2014/main" id="{B0DB2893-8350-498E-A804-95D29397E5E1}"/>
              </a:ext>
            </a:extLst>
          </p:cNvPr>
          <p:cNvSpPr>
            <a:spLocks xmlns:a="http://schemas.openxmlformats.org/drawingml/2006/main" noGrp="1"/>
          </p:cNvSpPr>
          <p:nvPr/>
        </p:nvSpPr>
        <p:spPr>
          <a:xfrm xmlns:a="http://schemas.openxmlformats.org/drawingml/2006/main">
            <a:off x="1028700" y="5048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스타트업·파트너·Powered by Snowflake·공동판매 준비를 위해 무엇을 입증해야 하는가?</a:t>
            </a:r>
          </a:p>
        </p:txBody>
      </p:sp>
      <p:sp>
        <p:nvSpPr>
          <p:cNvPr id="31" name="">
            <a:extLst xmlns:a="http://schemas.openxmlformats.org/drawingml/2006/main">
              <a:ext uri="{FF2B5EF4-FFF2-40B4-BE49-F238E27FC236}">
                <a16:creationId xmlns:a16="http://schemas.microsoft.com/office/drawing/2014/main" id="{65461505-7886-438C-9076-436036BC5A2B}"/>
              </a:ext>
            </a:extLst>
          </p:cNvPr>
          <p:cNvSpPr>
            <a:spLocks xmlns:a="http://schemas.openxmlformats.org/drawingml/2006/main" noGrp="1"/>
          </p:cNvSpPr>
          <p:nvPr/>
        </p:nvSpPr>
        <p:spPr>
          <a:xfrm xmlns:a="http://schemas.openxmlformats.org/drawingml/2006/main">
            <a:off x="6286500" y="1924050"/>
            <a:ext cx="5295900" cy="4095750"/>
          </a:xfrm>
          <a:prstGeom xmlns:a="http://schemas.openxmlformats.org/drawingml/2006/main" prst="roundRect">
            <a:avLst>
              <a:gd name="adj" fmla="val 1860"/>
            </a:avLst>
          </a:prstGeom>
          <a:noFill xmlns:a="http://schemas.openxmlformats.org/drawingml/2006/main"/>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4201D38-56FE-49D0-B0BC-47818F0A0EF8}"/>
              </a:ext>
            </a:extLst>
          </p:cNvPr>
          <p:cNvSpPr>
            <a:spLocks xmlns:a="http://schemas.openxmlformats.org/drawingml/2006/main" noGrp="1"/>
          </p:cNvSpPr>
          <p:nvPr/>
        </p:nvSpPr>
        <p:spPr>
          <a:xfrm xmlns:a="http://schemas.openxmlformats.org/drawingml/2006/main">
            <a:off x="6534150" y="21145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D99A24"/>
                </a:solidFill>
              </a:defRPr>
            </a:pPr>
            <a:r>
              <a:rPr sz="1200" b="1" i="0">
                <a:solidFill>
                  <a:srgbClr val="D99A24"/>
                </a:solidFill>
              </a:rPr>
              <a:t>조건부 / 추후</a:t>
            </a:r>
          </a:p>
        </p:txBody>
      </p:sp>
      <p:sp>
        <p:nvSpPr>
          <p:cNvPr id="33" name="">
            <a:extLst xmlns:a="http://schemas.openxmlformats.org/drawingml/2006/main">
              <a:ext uri="{FF2B5EF4-FFF2-40B4-BE49-F238E27FC236}">
                <a16:creationId xmlns:a16="http://schemas.microsoft.com/office/drawing/2014/main" id="{30DC109F-718A-4F1B-BDF5-A1911F4CE64E}"/>
              </a:ext>
            </a:extLst>
          </p:cNvPr>
          <p:cNvSpPr>
            <a:spLocks xmlns:a="http://schemas.openxmlformats.org/drawingml/2006/main" noGrp="1"/>
          </p:cNvSpPr>
          <p:nvPr/>
        </p:nvSpPr>
        <p:spPr>
          <a:xfrm xmlns:a="http://schemas.openxmlformats.org/drawingml/2006/main">
            <a:off x="6534150" y="2571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B2A4A"/>
                </a:solidFill>
              </a:defRPr>
            </a:pPr>
            <a:r>
              <a:rPr sz="1275" b="1" i="0">
                <a:solidFill>
                  <a:srgbClr val="1B2A4A"/>
                </a:solidFill>
              </a:rPr>
              <a:t>Native App</a:t>
            </a:r>
          </a:p>
        </p:txBody>
      </p:sp>
      <p:sp>
        <p:nvSpPr>
          <p:cNvPr id="34" name="">
            <a:extLst xmlns:a="http://schemas.openxmlformats.org/drawingml/2006/main">
              <a:ext uri="{FF2B5EF4-FFF2-40B4-BE49-F238E27FC236}">
                <a16:creationId xmlns:a16="http://schemas.microsoft.com/office/drawing/2014/main" id="{C9E234A1-55DA-4BD5-B67A-FC884BC95743}"/>
              </a:ext>
            </a:extLst>
          </p:cNvPr>
          <p:cNvSpPr>
            <a:spLocks xmlns:a="http://schemas.openxmlformats.org/drawingml/2006/main" noGrp="1"/>
          </p:cNvSpPr>
          <p:nvPr/>
        </p:nvSpPr>
        <p:spPr>
          <a:xfrm xmlns:a="http://schemas.openxmlformats.org/drawingml/2006/main">
            <a:off x="6534150" y="28765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B82"/>
                </a:solidFill>
              </a:defRPr>
            </a:pPr>
            <a:r>
              <a:rPr sz="1125" b="0" i="0">
                <a:solidFill>
                  <a:srgbClr val="5B6B82"/>
                </a:solidFill>
              </a:rPr>
              <a:t>언제 단순 연결기를 넘어 반복 가능한 고객 계정 실행이 필요한가?</a:t>
            </a:r>
          </a:p>
        </p:txBody>
      </p:sp>
      <p:sp>
        <p:nvSpPr>
          <p:cNvPr id="35" name="">
            <a:extLst xmlns:a="http://schemas.openxmlformats.org/drawingml/2006/main">
              <a:ext uri="{FF2B5EF4-FFF2-40B4-BE49-F238E27FC236}">
                <a16:creationId xmlns:a16="http://schemas.microsoft.com/office/drawing/2014/main" id="{06DDE29B-CCEA-48CF-8FAC-CC5A9FA95C03}"/>
              </a:ext>
            </a:extLst>
          </p:cNvPr>
          <p:cNvSpPr>
            <a:spLocks xmlns:a="http://schemas.openxmlformats.org/drawingml/2006/main" noGrp="1"/>
          </p:cNvSpPr>
          <p:nvPr/>
        </p:nvSpPr>
        <p:spPr>
          <a:xfrm xmlns:a="http://schemas.openxmlformats.org/drawingml/2006/main">
            <a:off x="6534150" y="34766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B2A4A"/>
                </a:solidFill>
              </a:defRPr>
            </a:pPr>
            <a:r>
              <a:rPr sz="1275" b="1" i="0">
                <a:solidFill>
                  <a:srgbClr val="1B2A4A"/>
                </a:solidFill>
              </a:rPr>
              <a:t>Clean Room</a:t>
            </a:r>
          </a:p>
        </p:txBody>
      </p:sp>
      <p:sp>
        <p:nvSpPr>
          <p:cNvPr id="36" name="">
            <a:extLst xmlns:a="http://schemas.openxmlformats.org/drawingml/2006/main">
              <a:ext uri="{FF2B5EF4-FFF2-40B4-BE49-F238E27FC236}">
                <a16:creationId xmlns:a16="http://schemas.microsoft.com/office/drawing/2014/main" id="{520CDC96-95F6-4DB1-B272-BCAE3DEBEF07}"/>
              </a:ext>
            </a:extLst>
          </p:cNvPr>
          <p:cNvSpPr>
            <a:spLocks xmlns:a="http://schemas.openxmlformats.org/drawingml/2006/main" noGrp="1"/>
          </p:cNvSpPr>
          <p:nvPr/>
        </p:nvSpPr>
        <p:spPr>
          <a:xfrm xmlns:a="http://schemas.openxmlformats.org/drawingml/2006/main">
            <a:off x="6534150" y="378142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B82"/>
                </a:solidFill>
              </a:defRPr>
            </a:pPr>
            <a:r>
              <a:rPr sz="1125" b="0" i="0">
                <a:solidFill>
                  <a:srgbClr val="5B6B82"/>
                </a:solidFill>
              </a:rPr>
              <a:t>여러 payer·TPA·기업이 실제로 협업할 때 필요한가?</a:t>
            </a:r>
          </a:p>
        </p:txBody>
      </p:sp>
      <p:sp>
        <p:nvSpPr>
          <p:cNvPr id="37" name="">
            <a:extLst xmlns:a="http://schemas.openxmlformats.org/drawingml/2006/main">
              <a:ext uri="{FF2B5EF4-FFF2-40B4-BE49-F238E27FC236}">
                <a16:creationId xmlns:a16="http://schemas.microsoft.com/office/drawing/2014/main" id="{6F9916FA-12D0-45FE-8A14-1C1C57E083B8}"/>
              </a:ext>
            </a:extLst>
          </p:cNvPr>
          <p:cNvSpPr>
            <a:spLocks xmlns:a="http://schemas.openxmlformats.org/drawingml/2006/main" noGrp="1"/>
          </p:cNvSpPr>
          <p:nvPr/>
        </p:nvSpPr>
        <p:spPr>
          <a:xfrm xmlns:a="http://schemas.openxmlformats.org/drawingml/2006/main">
            <a:off x="6534150" y="4362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B2A4A"/>
                </a:solidFill>
              </a:defRPr>
            </a:pPr>
            <a:r>
              <a:rPr sz="1275" b="1" i="0">
                <a:solidFill>
                  <a:srgbClr val="1B2A4A"/>
                </a:solidFill>
              </a:rPr>
              <a:t>연합학습</a:t>
            </a:r>
          </a:p>
        </p:txBody>
      </p:sp>
      <p:sp>
        <p:nvSpPr>
          <p:cNvPr id="38" name="">
            <a:extLst xmlns:a="http://schemas.openxmlformats.org/drawingml/2006/main">
              <a:ext uri="{FF2B5EF4-FFF2-40B4-BE49-F238E27FC236}">
                <a16:creationId xmlns:a16="http://schemas.microsoft.com/office/drawing/2014/main" id="{C8B72BC5-7E1F-42A3-94E5-80B5B0062A3F}"/>
              </a:ext>
            </a:extLst>
          </p:cNvPr>
          <p:cNvSpPr>
            <a:spLocks xmlns:a="http://schemas.openxmlformats.org/drawingml/2006/main" noGrp="1"/>
          </p:cNvSpPr>
          <p:nvPr/>
        </p:nvSpPr>
        <p:spPr>
          <a:xfrm xmlns:a="http://schemas.openxmlformats.org/drawingml/2006/main">
            <a:off x="6534150" y="466725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B82"/>
                </a:solidFill>
              </a:defRPr>
            </a:pPr>
            <a:r>
              <a:rPr sz="1125" b="0" i="0">
                <a:solidFill>
                  <a:srgbClr val="5B6B82"/>
                </a:solidFill>
              </a:rPr>
              <a:t>기관별 로컬 학습인가, Snowflake 안의 협업형 ML인가?</a:t>
            </a:r>
          </a:p>
        </p:txBody>
      </p:sp>
      <p:sp>
        <p:nvSpPr>
          <p:cNvPr id="39" name="">
            <a:extLst xmlns:a="http://schemas.openxmlformats.org/drawingml/2006/main">
              <a:ext uri="{FF2B5EF4-FFF2-40B4-BE49-F238E27FC236}">
                <a16:creationId xmlns:a16="http://schemas.microsoft.com/office/drawing/2014/main" id="{216BE996-3BEF-4040-874E-03E826C2F696}"/>
              </a:ext>
            </a:extLst>
          </p:cNvPr>
          <p:cNvSpPr>
            <a:spLocks xmlns:a="http://schemas.openxmlformats.org/drawingml/2006/main" noGrp="1"/>
          </p:cNvSpPr>
          <p:nvPr/>
        </p:nvSpPr>
        <p:spPr>
          <a:xfrm xmlns:a="http://schemas.openxmlformats.org/drawingml/2006/main">
            <a:off x="6534150" y="5619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D99A24"/>
                </a:solidFill>
              </a:defRPr>
            </a:pPr>
            <a:r>
              <a:rPr sz="1050" b="1" i="0">
                <a:solidFill>
                  <a:srgbClr val="D99A24"/>
                </a:solidFill>
              </a:rPr>
              <a:t>첫 기업 파일럿의 필수 조건이 아닙니다.</a:t>
            </a:r>
          </a:p>
        </p:txBody>
      </p:sp>
    </p:spTree>
    <p:extLst>
      <p:ext uri="{BB962C8B-B14F-4D97-AF65-F5344CB8AC3E}">
        <p14:creationId xmlns:p14="http://schemas.microsoft.com/office/powerpoint/2010/main" val="10068169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9CE6896-357D-4887-8AD5-539EE92D2EF7}"/>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66768A"/>
                </a:solidFill>
              </a:defRPr>
            </a:pPr>
            <a:r>
              <a:rPr sz="1275" b="1" i="0">
                <a:solidFill>
                  <a:srgbClr val="66768A"/>
                </a:solidFill>
              </a:rPr>
              <a:t>부록</a:t>
            </a:r>
          </a:p>
        </p:txBody>
      </p:sp>
      <p:sp>
        <p:nvSpPr>
          <p:cNvPr id="2" name="">
            <a:extLst xmlns:a="http://schemas.openxmlformats.org/drawingml/2006/main">
              <a:ext uri="{FF2B5EF4-FFF2-40B4-BE49-F238E27FC236}">
                <a16:creationId xmlns:a16="http://schemas.microsoft.com/office/drawing/2014/main" id="{517EEE67-6F43-4558-A3B4-85BDA1AE3C74}"/>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E7B058-9485-431B-8039-131A790F87CB}"/>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0EE7BD-3659-4AAA-861F-4AB14A65BF43}"/>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D86464"/>
                </a:solidFill>
              </a:defRPr>
            </a:pPr>
            <a:r>
              <a:rPr sz="975" b="1" i="0">
                <a:solidFill>
                  <a:srgbClr val="D86464"/>
                </a:solidFill>
              </a:rPr>
              <a:t>검증할 가설</a:t>
            </a:r>
          </a:p>
        </p:txBody>
      </p:sp>
      <p:sp>
        <p:nvSpPr>
          <p:cNvPr id="5" name="">
            <a:extLst xmlns:a="http://schemas.openxmlformats.org/drawingml/2006/main">
              <a:ext uri="{FF2B5EF4-FFF2-40B4-BE49-F238E27FC236}">
                <a16:creationId xmlns:a16="http://schemas.microsoft.com/office/drawing/2014/main" id="{AAC4E150-78A0-49F2-8025-93AC78A3850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시나리오 모델의 입력과 출력</a:t>
            </a:r>
          </a:p>
        </p:txBody>
      </p:sp>
      <p:sp>
        <p:nvSpPr>
          <p:cNvPr id="6" name="">
            <a:extLst xmlns:a="http://schemas.openxmlformats.org/drawingml/2006/main">
              <a:ext uri="{FF2B5EF4-FFF2-40B4-BE49-F238E27FC236}">
                <a16:creationId xmlns:a16="http://schemas.microsoft.com/office/drawing/2014/main" id="{27704D2F-5B37-4914-BDDA-77C89071048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계획용 가설은 입력 가정, 시나리오 버전, 불확실성을 모두 보여줘야 합니다.</a:t>
            </a:r>
          </a:p>
        </p:txBody>
      </p:sp>
      <p:sp>
        <p:nvSpPr>
          <p:cNvPr id="7" name="">
            <a:extLst xmlns:a="http://schemas.openxmlformats.org/drawingml/2006/main">
              <a:ext uri="{FF2B5EF4-FFF2-40B4-BE49-F238E27FC236}">
                <a16:creationId xmlns:a16="http://schemas.microsoft.com/office/drawing/2014/main" id="{CBF60099-5853-4B6F-B473-A2A108DDF74E}"/>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0E8B17E3-D052-4238-BF4A-6FC8CA10B39D}"/>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1B0E0A6E-5A60-431A-AA9A-42519C7686A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351" name=""/>
          <p:cNvPicPr>
            <a:picLocks xmlns:a="http://schemas.openxmlformats.org/drawingml/2006/main" noChangeAspect="1"/>
          </p:cNvPicPr>
          <p:nvPr/>
        </p:nvPicPr>
        <p:blipFill>
          <a:blip xmlns:r="http://schemas.openxmlformats.org/officeDocument/2006/relationships" xmlns:a="http://schemas.openxmlformats.org/drawingml/2006/main" r:embed="R6d19381a3d7a4a05"/>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C52205A-1DBF-4840-996B-377291FB0AB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353" name=""/>
          <p:cNvPicPr>
            <a:picLocks xmlns:a="http://schemas.openxmlformats.org/drawingml/2006/main" noChangeAspect="1"/>
          </p:cNvPicPr>
          <p:nvPr/>
        </p:nvPicPr>
        <p:blipFill>
          <a:blip xmlns:r="http://schemas.openxmlformats.org/officeDocument/2006/relationships" xmlns:a="http://schemas.openxmlformats.org/drawingml/2006/main" r:embed="R1244f21619f74c2b"/>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186AB97-F871-483F-846D-D4AE629804D8}"/>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29C451F6-5517-456B-854A-FD793F6A2367}"/>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14</a:t>
            </a:r>
          </a:p>
        </p:txBody>
      </p:sp>
      <p:sp>
        <p:nvSpPr>
          <p:cNvPr id="15" name="">
            <a:extLst xmlns:a="http://schemas.openxmlformats.org/drawingml/2006/main">
              <a:ext uri="{FF2B5EF4-FFF2-40B4-BE49-F238E27FC236}">
                <a16:creationId xmlns:a16="http://schemas.microsoft.com/office/drawing/2014/main" id="{ECCB1D02-D831-47C8-8139-577E70E40746}"/>
              </a:ext>
            </a:extLst>
          </p:cNvPr>
          <p:cNvSpPr>
            <a:spLocks xmlns:a="http://schemas.openxmlformats.org/drawingml/2006/main" noGrp="1"/>
          </p:cNvSpPr>
          <p:nvPr/>
        </p:nvSpPr>
        <p:spPr>
          <a:xfrm xmlns:a="http://schemas.openxmlformats.org/drawingml/2006/main">
            <a:off x="609600" y="20574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7D4034D-CA18-408F-B05D-8642AF748D87}"/>
              </a:ext>
            </a:extLst>
          </p:cNvPr>
          <p:cNvSpPr>
            <a:spLocks xmlns:a="http://schemas.openxmlformats.org/drawingml/2006/main" noGrp="1"/>
          </p:cNvSpPr>
          <p:nvPr/>
        </p:nvSpPr>
        <p:spPr>
          <a:xfrm xmlns:a="http://schemas.openxmlformats.org/drawingml/2006/main">
            <a:off x="781050" y="21717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가입 인구</a:t>
            </a:r>
          </a:p>
        </p:txBody>
      </p:sp>
      <p:sp>
        <p:nvSpPr>
          <p:cNvPr id="17" name="">
            <a:extLst xmlns:a="http://schemas.openxmlformats.org/drawingml/2006/main">
              <a:ext uri="{FF2B5EF4-FFF2-40B4-BE49-F238E27FC236}">
                <a16:creationId xmlns:a16="http://schemas.microsoft.com/office/drawing/2014/main" id="{D3A3AF17-D7B9-4C40-8C3A-6961D11E1C7B}"/>
              </a:ext>
            </a:extLst>
          </p:cNvPr>
          <p:cNvSpPr>
            <a:spLocks xmlns:a="http://schemas.openxmlformats.org/drawingml/2006/main" noGrp="1"/>
          </p:cNvSpPr>
          <p:nvPr/>
        </p:nvSpPr>
        <p:spPr>
          <a:xfrm xmlns:a="http://schemas.openxmlformats.org/drawingml/2006/main">
            <a:off x="2286000" y="21526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152238"/>
                </a:solidFill>
              </a:defRPr>
            </a:pPr>
            <a:r>
              <a:rPr sz="1088" b="0" i="0">
                <a:solidFill>
                  <a:srgbClr val="152238"/>
                </a:solidFill>
              </a:rPr>
              <a:t>직원·가족 연령 분포</a:t>
            </a:r>
          </a:p>
          <a:p xmlns:a="http://schemas.openxmlformats.org/drawingml/2006/main">
            <a:pPr algn="l">
              <a:buNone/>
              <a:defRPr sz="1088" b="0" i="0">
                <a:solidFill>
                  <a:srgbClr val="152238"/>
                </a:solidFill>
              </a:defRPr>
            </a:pPr>
            <a:r>
              <a:rPr sz="1088" b="0" i="0">
                <a:solidFill>
                  <a:srgbClr val="152238"/>
                </a:solidFill>
              </a:rPr>
              <a:t>이직률 + 평균 근속기간</a:t>
            </a:r>
          </a:p>
        </p:txBody>
      </p:sp>
      <p:sp>
        <p:nvSpPr>
          <p:cNvPr id="18" name="">
            <a:extLst xmlns:a="http://schemas.openxmlformats.org/drawingml/2006/main">
              <a:ext uri="{FF2B5EF4-FFF2-40B4-BE49-F238E27FC236}">
                <a16:creationId xmlns:a16="http://schemas.microsoft.com/office/drawing/2014/main" id="{FA377EC6-63B1-4610-AA9E-5BD1CE5AAF63}"/>
              </a:ext>
            </a:extLst>
          </p:cNvPr>
          <p:cNvSpPr>
            <a:spLocks xmlns:a="http://schemas.openxmlformats.org/drawingml/2006/main" noGrp="1"/>
          </p:cNvSpPr>
          <p:nvPr/>
        </p:nvSpPr>
        <p:spPr>
          <a:xfrm xmlns:a="http://schemas.openxmlformats.org/drawingml/2006/main">
            <a:off x="609600" y="29718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D4549CA-3E53-4113-86BD-5305FB8B75A7}"/>
              </a:ext>
            </a:extLst>
          </p:cNvPr>
          <p:cNvSpPr>
            <a:spLocks xmlns:a="http://schemas.openxmlformats.org/drawingml/2006/main" noGrp="1"/>
          </p:cNvSpPr>
          <p:nvPr/>
        </p:nvSpPr>
        <p:spPr>
          <a:xfrm xmlns:a="http://schemas.openxmlformats.org/drawingml/2006/main">
            <a:off x="781050" y="30861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진료 접근성</a:t>
            </a:r>
          </a:p>
        </p:txBody>
      </p:sp>
      <p:sp>
        <p:nvSpPr>
          <p:cNvPr id="20" name="">
            <a:extLst xmlns:a="http://schemas.openxmlformats.org/drawingml/2006/main">
              <a:ext uri="{FF2B5EF4-FFF2-40B4-BE49-F238E27FC236}">
                <a16:creationId xmlns:a16="http://schemas.microsoft.com/office/drawing/2014/main" id="{8A0E112E-D502-428B-B97D-2C24133AC3D9}"/>
              </a:ext>
            </a:extLst>
          </p:cNvPr>
          <p:cNvSpPr>
            <a:spLocks xmlns:a="http://schemas.openxmlformats.org/drawingml/2006/main" noGrp="1"/>
          </p:cNvSpPr>
          <p:nvPr/>
        </p:nvSpPr>
        <p:spPr>
          <a:xfrm xmlns:a="http://schemas.openxmlformats.org/drawingml/2006/main">
            <a:off x="2286000" y="30670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152238"/>
                </a:solidFill>
              </a:defRPr>
            </a:pPr>
            <a:r>
              <a:rPr sz="1088" b="0" i="0">
                <a:solidFill>
                  <a:srgbClr val="152238"/>
                </a:solidFill>
              </a:rPr>
              <a:t>근무지 분포</a:t>
            </a:r>
          </a:p>
          <a:p xmlns:a="http://schemas.openxmlformats.org/drawingml/2006/main">
            <a:pPr algn="l">
              <a:buNone/>
              <a:defRPr sz="1088" b="0" i="0">
                <a:solidFill>
                  <a:srgbClr val="152238"/>
                </a:solidFill>
              </a:defRPr>
            </a:pPr>
            <a:r>
              <a:rPr sz="1088" b="0" i="0">
                <a:solidFill>
                  <a:srgbClr val="152238"/>
                </a:solidFill>
              </a:rPr>
              <a:t>네트워크 겹침 + 치과 예약 가능성</a:t>
            </a:r>
          </a:p>
        </p:txBody>
      </p:sp>
      <p:sp>
        <p:nvSpPr>
          <p:cNvPr id="21" name="">
            <a:extLst xmlns:a="http://schemas.openxmlformats.org/drawingml/2006/main">
              <a:ext uri="{FF2B5EF4-FFF2-40B4-BE49-F238E27FC236}">
                <a16:creationId xmlns:a16="http://schemas.microsoft.com/office/drawing/2014/main" id="{21A900EB-333C-4AF2-BA03-31DE04598579}"/>
              </a:ext>
            </a:extLst>
          </p:cNvPr>
          <p:cNvSpPr>
            <a:spLocks xmlns:a="http://schemas.openxmlformats.org/drawingml/2006/main" noGrp="1"/>
          </p:cNvSpPr>
          <p:nvPr/>
        </p:nvSpPr>
        <p:spPr>
          <a:xfrm xmlns:a="http://schemas.openxmlformats.org/drawingml/2006/main">
            <a:off x="609600" y="38862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62306C-8399-428E-BFC9-07AC5EB10C5C}"/>
              </a:ext>
            </a:extLst>
          </p:cNvPr>
          <p:cNvSpPr>
            <a:spLocks xmlns:a="http://schemas.openxmlformats.org/drawingml/2006/main" noGrp="1"/>
          </p:cNvSpPr>
          <p:nvPr/>
        </p:nvSpPr>
        <p:spPr>
          <a:xfrm xmlns:a="http://schemas.openxmlformats.org/drawingml/2006/main">
            <a:off x="781050" y="40005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치아보험 플랜</a:t>
            </a:r>
          </a:p>
        </p:txBody>
      </p:sp>
      <p:sp>
        <p:nvSpPr>
          <p:cNvPr id="23" name="">
            <a:extLst xmlns:a="http://schemas.openxmlformats.org/drawingml/2006/main">
              <a:ext uri="{FF2B5EF4-FFF2-40B4-BE49-F238E27FC236}">
                <a16:creationId xmlns:a16="http://schemas.microsoft.com/office/drawing/2014/main" id="{572E3EFD-2631-460B-B73C-2AE85EDE363D}"/>
              </a:ext>
            </a:extLst>
          </p:cNvPr>
          <p:cNvSpPr>
            <a:spLocks xmlns:a="http://schemas.openxmlformats.org/drawingml/2006/main" noGrp="1"/>
          </p:cNvSpPr>
          <p:nvPr/>
        </p:nvSpPr>
        <p:spPr>
          <a:xfrm xmlns:a="http://schemas.openxmlformats.org/drawingml/2006/main">
            <a:off x="2286000" y="39814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152238"/>
                </a:solidFill>
              </a:defRPr>
            </a:pPr>
            <a:r>
              <a:rPr sz="1088" b="0" i="0">
                <a:solidFill>
                  <a:srgbClr val="152238"/>
                </a:solidFill>
              </a:rPr>
              <a:t>플랜 구조 + 연간 한도</a:t>
            </a:r>
          </a:p>
          <a:p xmlns:a="http://schemas.openxmlformats.org/drawingml/2006/main">
            <a:pPr algn="l">
              <a:buNone/>
              <a:defRPr sz="1088" b="0" i="0">
                <a:solidFill>
                  <a:srgbClr val="152238"/>
                </a:solidFill>
              </a:defRPr>
            </a:pPr>
            <a:r>
              <a:rPr sz="1088" b="0" i="0">
                <a:solidFill>
                  <a:srgbClr val="152238"/>
                </a:solidFill>
              </a:rPr>
              <a:t>기업 부담 + 플랜 지급 / 본인부담 구분</a:t>
            </a:r>
          </a:p>
        </p:txBody>
      </p:sp>
      <p:sp>
        <p:nvSpPr>
          <p:cNvPr id="24" name="">
            <a:extLst xmlns:a="http://schemas.openxmlformats.org/drawingml/2006/main">
              <a:ext uri="{FF2B5EF4-FFF2-40B4-BE49-F238E27FC236}">
                <a16:creationId xmlns:a16="http://schemas.microsoft.com/office/drawing/2014/main" id="{B2A45101-FA48-4ABE-B8D8-70D55A8B264B}"/>
              </a:ext>
            </a:extLst>
          </p:cNvPr>
          <p:cNvSpPr>
            <a:spLocks xmlns:a="http://schemas.openxmlformats.org/drawingml/2006/main" noGrp="1"/>
          </p:cNvSpPr>
          <p:nvPr/>
        </p:nvSpPr>
        <p:spPr>
          <a:xfrm xmlns:a="http://schemas.openxmlformats.org/drawingml/2006/main">
            <a:off x="609600" y="4800600"/>
            <a:ext cx="4286250" cy="742950"/>
          </a:xfrm>
          <a:prstGeom xmlns:a="http://schemas.openxmlformats.org/drawingml/2006/main" prst="roundRect">
            <a:avLst>
              <a:gd name="adj" fmla="val 10256"/>
            </a:avLst>
          </a:prstGeom>
          <a:noFill xmlns:a="http://schemas.openxmlformats.org/drawingml/2006/main"/>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0E6DA10-DAA3-4F96-B7AB-D2DCAA26562F}"/>
              </a:ext>
            </a:extLst>
          </p:cNvPr>
          <p:cNvSpPr>
            <a:spLocks xmlns:a="http://schemas.openxmlformats.org/drawingml/2006/main" noGrp="1"/>
          </p:cNvSpPr>
          <p:nvPr/>
        </p:nvSpPr>
        <p:spPr>
          <a:xfrm xmlns:a="http://schemas.openxmlformats.org/drawingml/2006/main">
            <a:off x="781050" y="49149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88" b="1" i="0">
                <a:solidFill>
                  <a:srgbClr val="008A94"/>
                </a:solidFill>
              </a:defRPr>
            </a:pPr>
            <a:r>
              <a:rPr sz="1388" b="1" i="0">
                <a:solidFill>
                  <a:srgbClr val="008A94"/>
                </a:solidFill>
              </a:rPr>
              <a:t>기준값 + 시점</a:t>
            </a:r>
          </a:p>
        </p:txBody>
      </p:sp>
      <p:sp>
        <p:nvSpPr>
          <p:cNvPr id="26" name="">
            <a:extLst xmlns:a="http://schemas.openxmlformats.org/drawingml/2006/main">
              <a:ext uri="{FF2B5EF4-FFF2-40B4-BE49-F238E27FC236}">
                <a16:creationId xmlns:a16="http://schemas.microsoft.com/office/drawing/2014/main" id="{D1DE956D-8E8D-4DBD-9B37-C3AABBF226D5}"/>
              </a:ext>
            </a:extLst>
          </p:cNvPr>
          <p:cNvSpPr>
            <a:spLocks xmlns:a="http://schemas.openxmlformats.org/drawingml/2006/main" noGrp="1"/>
          </p:cNvSpPr>
          <p:nvPr/>
        </p:nvSpPr>
        <p:spPr>
          <a:xfrm xmlns:a="http://schemas.openxmlformats.org/drawingml/2006/main">
            <a:off x="2286000" y="48958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152238"/>
                </a:solidFill>
              </a:defRPr>
            </a:pPr>
            <a:r>
              <a:rPr sz="1088" b="0" i="0">
                <a:solidFill>
                  <a:srgbClr val="152238"/>
                </a:solidFill>
              </a:rPr>
              <a:t>기존 이용률 + 과거 청구</a:t>
            </a:r>
          </a:p>
          <a:p xmlns:a="http://schemas.openxmlformats.org/drawingml/2006/main">
            <a:pPr algn="l">
              <a:buNone/>
              <a:defRPr sz="1088" b="0" i="0">
                <a:solidFill>
                  <a:srgbClr val="152238"/>
                </a:solidFill>
              </a:defRPr>
            </a:pPr>
            <a:r>
              <a:rPr sz="1088" b="0" i="0">
                <a:solidFill>
                  <a:srgbClr val="152238"/>
                </a:solidFill>
              </a:rPr>
              <a:t>미치료 수요·발생률 + 청구 반영 지연</a:t>
            </a:r>
          </a:p>
        </p:txBody>
      </p:sp>
      <p:sp>
        <p:nvSpPr>
          <p:cNvPr id="27" name="">
            <a:extLst xmlns:a="http://schemas.openxmlformats.org/drawingml/2006/main">
              <a:ext uri="{FF2B5EF4-FFF2-40B4-BE49-F238E27FC236}">
                <a16:creationId xmlns:a16="http://schemas.microsoft.com/office/drawing/2014/main" id="{08699F23-B5A8-4BCF-86ED-9E4CD3A1CCF0}"/>
              </a:ext>
            </a:extLst>
          </p:cNvPr>
          <p:cNvSpPr>
            <a:spLocks xmlns:a="http://schemas.openxmlformats.org/drawingml/2006/main" noGrp="1"/>
          </p:cNvSpPr>
          <p:nvPr/>
        </p:nvSpPr>
        <p:spPr>
          <a:xfrm xmlns:a="http://schemas.openxmlformats.org/drawingml/2006/main">
            <a:off x="5314950" y="3105150"/>
            <a:ext cx="2038350" cy="1390650"/>
          </a:xfrm>
          <a:prstGeom xmlns:a="http://schemas.openxmlformats.org/drawingml/2006/main" prst="roundRect">
            <a:avLst>
              <a:gd name="adj" fmla="val 5479"/>
            </a:avLst>
          </a:prstGeom>
          <a:solidFill xmlns:a="http://schemas.openxmlformats.org/drawingml/2006/main">
            <a:srgbClr val="1B2A4A"/>
          </a:solidFill>
          <a:ln xmlns:a="http://schemas.openxmlformats.org/drawingml/2006/main" w="0">
            <a:solidFill>
              <a:srgbClr val="1B2A4A"/>
            </a:solidFill>
            <a:prstDash val="solid"/>
          </a:ln>
        </p:spPr>
      </p:sp>
      <p:sp>
        <p:nvSpPr>
          <p:cNvPr id="28" name="">
            <a:extLst xmlns:a="http://schemas.openxmlformats.org/drawingml/2006/main">
              <a:ext uri="{FF2B5EF4-FFF2-40B4-BE49-F238E27FC236}">
                <a16:creationId xmlns:a16="http://schemas.microsoft.com/office/drawing/2014/main" id="{AA01D02D-D5EF-4DC5-AB4D-AE8D6510D3E5}"/>
              </a:ext>
            </a:extLst>
          </p:cNvPr>
          <p:cNvSpPr>
            <a:spLocks xmlns:a="http://schemas.openxmlformats.org/drawingml/2006/main" noGrp="1"/>
          </p:cNvSpPr>
          <p:nvPr/>
        </p:nvSpPr>
        <p:spPr>
          <a:xfrm xmlns:a="http://schemas.openxmlformats.org/drawingml/2006/main">
            <a:off x="5429250" y="327660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FFFFFF"/>
                </a:solidFill>
              </a:defRPr>
            </a:pPr>
            <a:r>
              <a:rPr sz="1425" b="1" i="0">
                <a:solidFill>
                  <a:srgbClr val="FFFFFF"/>
                </a:solidFill>
              </a:rPr>
              <a:t>통제된</a:t>
            </a:r>
          </a:p>
          <a:p xmlns:a="http://schemas.openxmlformats.org/drawingml/2006/main">
            <a:pPr algn="ctr">
              <a:buNone/>
              <a:defRPr sz="1425" b="1" i="0">
                <a:solidFill>
                  <a:srgbClr val="FFFFFF"/>
                </a:solidFill>
              </a:defRPr>
            </a:pPr>
            <a:r>
              <a:rPr sz="1425" b="1" i="0">
                <a:solidFill>
                  <a:srgbClr val="FFFFFF"/>
                </a:solidFill>
              </a:rPr>
              <a:t>시나리오 모델</a:t>
            </a:r>
          </a:p>
        </p:txBody>
      </p:sp>
      <p:sp>
        <p:nvSpPr>
          <p:cNvPr id="29" name="">
            <a:extLst xmlns:a="http://schemas.openxmlformats.org/drawingml/2006/main">
              <a:ext uri="{FF2B5EF4-FFF2-40B4-BE49-F238E27FC236}">
                <a16:creationId xmlns:a16="http://schemas.microsoft.com/office/drawing/2014/main" id="{3F01B6EA-5B33-4F7E-B76A-7D6463E5B023}"/>
              </a:ext>
            </a:extLst>
          </p:cNvPr>
          <p:cNvSpPr>
            <a:spLocks xmlns:a="http://schemas.openxmlformats.org/drawingml/2006/main" noGrp="1"/>
          </p:cNvSpPr>
          <p:nvPr/>
        </p:nvSpPr>
        <p:spPr>
          <a:xfrm xmlns:a="http://schemas.openxmlformats.org/drawingml/2006/main">
            <a:off x="5429250" y="3943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i="0">
                <a:solidFill>
                  <a:srgbClr val="C8D6E1"/>
                </a:solidFill>
              </a:defRPr>
            </a:pPr>
            <a:r>
              <a:rPr sz="975" b="0" i="0">
                <a:solidFill>
                  <a:srgbClr val="C8D6E1"/>
                </a:solidFill>
              </a:rPr>
              <a:t>데이터 계보 + 버전 + 불확실성</a:t>
            </a:r>
          </a:p>
        </p:txBody>
      </p:sp>
      <p:sp>
        <p:nvSpPr>
          <p:cNvPr id="30" name="">
            <a:extLst xmlns:a="http://schemas.openxmlformats.org/drawingml/2006/main">
              <a:ext uri="{FF2B5EF4-FFF2-40B4-BE49-F238E27FC236}">
                <a16:creationId xmlns:a16="http://schemas.microsoft.com/office/drawing/2014/main" id="{47301A4F-1A70-4005-B5E5-4A687945B7FA}"/>
              </a:ext>
            </a:extLst>
          </p:cNvPr>
          <p:cNvSpPr>
            <a:spLocks xmlns:a="http://schemas.openxmlformats.org/drawingml/2006/main" noGrp="1"/>
          </p:cNvSpPr>
          <p:nvPr/>
        </p:nvSpPr>
        <p:spPr>
          <a:xfrm xmlns:a="http://schemas.openxmlformats.org/drawingml/2006/main">
            <a:off x="4991100" y="3581400"/>
            <a:ext cx="95250" cy="952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372" name=""/>
          <p:cNvCxnSpPr>
            <a:stCxn xmlns:a="http://schemas.openxmlformats.org/drawingml/2006/main" id="30" idx="6"/>
            <a:endCxn xmlns:a="http://schemas.openxmlformats.org/drawingml/2006/main" id="27" idx="1"/>
          </p:cNvCxnSpPr>
          <p:nvPr/>
        </p:nvCxnSpPr>
        <p:spPr>
          <a:xfrm xmlns:a="http://schemas.openxmlformats.org/drawingml/2006/main">
            <a:off x="5086350" y="3629025"/>
            <a:ext cx="228600" cy="171450"/>
          </a:xfrm>
          <a:prstGeom xmlns:a="http://schemas.openxmlformats.org/drawingml/2006/main" prst="straightConnector1">
            <a:avLst/>
          </a:prstGeom>
          <a:ln xmlns:a="http://schemas.openxmlformats.org/drawingml/2006/main" w="0">
            <a:noFill/>
            <a:prstDash val="solid"/>
            <a:headEnd type="none" w="med" len="med"/>
            <a:tailEnd type="arrow" w="med" len="med"/>
          </a:ln>
        </p:spPr>
      </p:cxnSp>
      <p:sp>
        <p:nvSpPr>
          <p:cNvPr id="32" name="">
            <a:extLst xmlns:a="http://schemas.openxmlformats.org/drawingml/2006/main">
              <a:ext uri="{FF2B5EF4-FFF2-40B4-BE49-F238E27FC236}">
                <a16:creationId xmlns:a16="http://schemas.microsoft.com/office/drawing/2014/main" id="{D8C1F529-AE7E-40CD-8A1B-C211EB11B980}"/>
              </a:ext>
            </a:extLst>
          </p:cNvPr>
          <p:cNvSpPr>
            <a:spLocks xmlns:a="http://schemas.openxmlformats.org/drawingml/2006/main" noGrp="1"/>
          </p:cNvSpPr>
          <p:nvPr/>
        </p:nvSpPr>
        <p:spPr>
          <a:xfrm xmlns:a="http://schemas.openxmlformats.org/drawingml/2006/main">
            <a:off x="7772400" y="2057400"/>
            <a:ext cx="3810000" cy="3790950"/>
          </a:xfrm>
          <a:prstGeom xmlns:a="http://schemas.openxmlformats.org/drawingml/2006/main" prst="roundRect">
            <a:avLst>
              <a:gd name="adj" fmla="val 2010"/>
            </a:avLst>
          </a:prstGeom>
          <a:noFill xmlns:a="http://schemas.openxmlformats.org/drawingml/2006/main"/>
          <a:ln xmlns:a="http://schemas.openxmlformats.org/drawingml/2006/main" w="0">
            <a:noFill/>
            <a:prstDash val="solid"/>
          </a:ln>
        </p:spPr>
      </p:sp>
      <p:cxnSp>
        <p:nvCxnSpPr>
          <p:cNvPr id="374" name=""/>
          <p:cNvCxnSpPr>
            <a:stCxn xmlns:a="http://schemas.openxmlformats.org/drawingml/2006/main" id="27" idx="3"/>
            <a:endCxn xmlns:a="http://schemas.openxmlformats.org/drawingml/2006/main" id="32" idx="1"/>
          </p:cNvCxnSpPr>
          <p:nvPr/>
        </p:nvCxnSpPr>
        <p:spPr>
          <a:xfrm xmlns:a="http://schemas.openxmlformats.org/drawingml/2006/main">
            <a:off x="7353300" y="3800475"/>
            <a:ext cx="419100" cy="152400"/>
          </a:xfrm>
          <a:prstGeom xmlns:a="http://schemas.openxmlformats.org/drawingml/2006/main" prst="straightConnector1">
            <a:avLst/>
          </a:prstGeom>
          <a:ln xmlns:a="http://schemas.openxmlformats.org/drawingml/2006/main" w="19050">
            <a:solidFill>
              <a:srgbClr val="007A87"/>
            </a:solidFill>
            <a:prstDash val="solid"/>
            <a:headEnd type="none" w="med" len="med"/>
            <a:tailEnd type="arrow" w="med" len="med"/>
          </a:ln>
        </p:spPr>
      </p:cxnSp>
      <p:sp>
        <p:nvSpPr>
          <p:cNvPr id="34" name="">
            <a:extLst xmlns:a="http://schemas.openxmlformats.org/drawingml/2006/main">
              <a:ext uri="{FF2B5EF4-FFF2-40B4-BE49-F238E27FC236}">
                <a16:creationId xmlns:a16="http://schemas.microsoft.com/office/drawing/2014/main" id="{7538565D-F5D3-40E2-8C99-BDC764B7BE3E}"/>
              </a:ext>
            </a:extLst>
          </p:cNvPr>
          <p:cNvSpPr>
            <a:spLocks xmlns:a="http://schemas.openxmlformats.org/drawingml/2006/main" noGrp="1"/>
          </p:cNvSpPr>
          <p:nvPr/>
        </p:nvSpPr>
        <p:spPr>
          <a:xfrm xmlns:a="http://schemas.openxmlformats.org/drawingml/2006/main">
            <a:off x="8020050" y="22764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07A87"/>
                </a:solidFill>
              </a:defRPr>
            </a:pPr>
            <a:r>
              <a:rPr sz="1200" b="1" i="0">
                <a:solidFill>
                  <a:srgbClr val="007A87"/>
                </a:solidFill>
              </a:rPr>
              <a:t>결과</a:t>
            </a:r>
          </a:p>
        </p:txBody>
      </p:sp>
      <p:sp>
        <p:nvSpPr>
          <p:cNvPr id="35" name="">
            <a:extLst xmlns:a="http://schemas.openxmlformats.org/drawingml/2006/main">
              <a:ext uri="{FF2B5EF4-FFF2-40B4-BE49-F238E27FC236}">
                <a16:creationId xmlns:a16="http://schemas.microsoft.com/office/drawing/2014/main" id="{AA59A18E-467B-4431-9D8D-D894BCA2F0BF}"/>
              </a:ext>
            </a:extLst>
          </p:cNvPr>
          <p:cNvSpPr>
            <a:spLocks xmlns:a="http://schemas.openxmlformats.org/drawingml/2006/main" noGrp="1"/>
          </p:cNvSpPr>
          <p:nvPr/>
        </p:nvSpPr>
        <p:spPr>
          <a:xfrm xmlns:a="http://schemas.openxmlformats.org/drawingml/2006/main">
            <a:off x="8020050" y="271462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6" name="">
            <a:extLst xmlns:a="http://schemas.openxmlformats.org/drawingml/2006/main">
              <a:ext uri="{FF2B5EF4-FFF2-40B4-BE49-F238E27FC236}">
                <a16:creationId xmlns:a16="http://schemas.microsoft.com/office/drawing/2014/main" id="{0766AF6C-03E1-447D-B5A6-00DE3634745A}"/>
              </a:ext>
            </a:extLst>
          </p:cNvPr>
          <p:cNvSpPr>
            <a:spLocks xmlns:a="http://schemas.openxmlformats.org/drawingml/2006/main" noGrp="1"/>
          </p:cNvSpPr>
          <p:nvPr/>
        </p:nvSpPr>
        <p:spPr>
          <a:xfrm xmlns:a="http://schemas.openxmlformats.org/drawingml/2006/main">
            <a:off x="8229600" y="26479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52238"/>
                </a:solidFill>
              </a:defRPr>
            </a:pPr>
            <a:r>
              <a:rPr sz="1125" b="0" i="0">
                <a:solidFill>
                  <a:srgbClr val="152238"/>
                </a:solidFill>
              </a:rPr>
              <a:t>예방진료 이용 증가</a:t>
            </a:r>
          </a:p>
        </p:txBody>
      </p:sp>
      <p:sp>
        <p:nvSpPr>
          <p:cNvPr id="37" name="">
            <a:extLst xmlns:a="http://schemas.openxmlformats.org/drawingml/2006/main">
              <a:ext uri="{FF2B5EF4-FFF2-40B4-BE49-F238E27FC236}">
                <a16:creationId xmlns:a16="http://schemas.microsoft.com/office/drawing/2014/main" id="{427894F4-E047-43BD-9970-D245B2B37C63}"/>
              </a:ext>
            </a:extLst>
          </p:cNvPr>
          <p:cNvSpPr>
            <a:spLocks xmlns:a="http://schemas.openxmlformats.org/drawingml/2006/main" noGrp="1"/>
          </p:cNvSpPr>
          <p:nvPr/>
        </p:nvSpPr>
        <p:spPr>
          <a:xfrm xmlns:a="http://schemas.openxmlformats.org/drawingml/2006/main">
            <a:off x="8020050" y="310515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8" name="">
            <a:extLst xmlns:a="http://schemas.openxmlformats.org/drawingml/2006/main">
              <a:ext uri="{FF2B5EF4-FFF2-40B4-BE49-F238E27FC236}">
                <a16:creationId xmlns:a16="http://schemas.microsoft.com/office/drawing/2014/main" id="{D6D5DE8F-A38B-4E57-9624-E487BE135EBE}"/>
              </a:ext>
            </a:extLst>
          </p:cNvPr>
          <p:cNvSpPr>
            <a:spLocks xmlns:a="http://schemas.openxmlformats.org/drawingml/2006/main" noGrp="1"/>
          </p:cNvSpPr>
          <p:nvPr/>
        </p:nvSpPr>
        <p:spPr>
          <a:xfrm xmlns:a="http://schemas.openxmlformats.org/drawingml/2006/main">
            <a:off x="8229600" y="30384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52238"/>
                </a:solidFill>
              </a:defRPr>
            </a:pPr>
            <a:r>
              <a:rPr sz="1125" b="0" i="0">
                <a:solidFill>
                  <a:srgbClr val="152238"/>
                </a:solidFill>
              </a:rPr>
              <a:t>새로 발견된 치료비</a:t>
            </a:r>
          </a:p>
        </p:txBody>
      </p:sp>
      <p:sp>
        <p:nvSpPr>
          <p:cNvPr id="39" name="">
            <a:extLst xmlns:a="http://schemas.openxmlformats.org/drawingml/2006/main">
              <a:ext uri="{FF2B5EF4-FFF2-40B4-BE49-F238E27FC236}">
                <a16:creationId xmlns:a16="http://schemas.microsoft.com/office/drawing/2014/main" id="{89AC0CDD-8671-4792-9BAA-8DEA867C3C86}"/>
              </a:ext>
            </a:extLst>
          </p:cNvPr>
          <p:cNvSpPr>
            <a:spLocks xmlns:a="http://schemas.openxmlformats.org/drawingml/2006/main" noGrp="1"/>
          </p:cNvSpPr>
          <p:nvPr/>
        </p:nvSpPr>
        <p:spPr>
          <a:xfrm xmlns:a="http://schemas.openxmlformats.org/drawingml/2006/main">
            <a:off x="8020050" y="349567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0" name="">
            <a:extLst xmlns:a="http://schemas.openxmlformats.org/drawingml/2006/main">
              <a:ext uri="{FF2B5EF4-FFF2-40B4-BE49-F238E27FC236}">
                <a16:creationId xmlns:a16="http://schemas.microsoft.com/office/drawing/2014/main" id="{D762979E-F173-4B8F-87FE-073F5242686B}"/>
              </a:ext>
            </a:extLst>
          </p:cNvPr>
          <p:cNvSpPr>
            <a:spLocks xmlns:a="http://schemas.openxmlformats.org/drawingml/2006/main" noGrp="1"/>
          </p:cNvSpPr>
          <p:nvPr/>
        </p:nvSpPr>
        <p:spPr>
          <a:xfrm xmlns:a="http://schemas.openxmlformats.org/drawingml/2006/main">
            <a:off x="8229600" y="3429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52238"/>
                </a:solidFill>
              </a:defRPr>
            </a:pPr>
            <a:r>
              <a:rPr sz="1125" b="0" i="0">
                <a:solidFill>
                  <a:srgbClr val="152238"/>
                </a:solidFill>
              </a:rPr>
              <a:t>허용액 / 플랜 지급 / 직원 본인부담 구분</a:t>
            </a:r>
          </a:p>
        </p:txBody>
      </p:sp>
      <p:sp>
        <p:nvSpPr>
          <p:cNvPr id="41" name="">
            <a:extLst xmlns:a="http://schemas.openxmlformats.org/drawingml/2006/main">
              <a:ext uri="{FF2B5EF4-FFF2-40B4-BE49-F238E27FC236}">
                <a16:creationId xmlns:a16="http://schemas.microsoft.com/office/drawing/2014/main" id="{116BAACB-507B-4413-BB47-FD2B7313E030}"/>
              </a:ext>
            </a:extLst>
          </p:cNvPr>
          <p:cNvSpPr>
            <a:spLocks xmlns:a="http://schemas.openxmlformats.org/drawingml/2006/main" noGrp="1"/>
          </p:cNvSpPr>
          <p:nvPr/>
        </p:nvSpPr>
        <p:spPr>
          <a:xfrm xmlns:a="http://schemas.openxmlformats.org/drawingml/2006/main">
            <a:off x="8020050" y="388620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2" name="">
            <a:extLst xmlns:a="http://schemas.openxmlformats.org/drawingml/2006/main">
              <a:ext uri="{FF2B5EF4-FFF2-40B4-BE49-F238E27FC236}">
                <a16:creationId xmlns:a16="http://schemas.microsoft.com/office/drawing/2014/main" id="{3CBB4913-BECF-4F7B-9DEC-64247E712E54}"/>
              </a:ext>
            </a:extLst>
          </p:cNvPr>
          <p:cNvSpPr>
            <a:spLocks xmlns:a="http://schemas.openxmlformats.org/drawingml/2006/main" noGrp="1"/>
          </p:cNvSpPr>
          <p:nvPr/>
        </p:nvSpPr>
        <p:spPr>
          <a:xfrm xmlns:a="http://schemas.openxmlformats.org/drawingml/2006/main">
            <a:off x="8229600" y="38195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52238"/>
                </a:solidFill>
              </a:defRPr>
            </a:pPr>
            <a:r>
              <a:rPr sz="1125" b="0" i="0">
                <a:solidFill>
                  <a:srgbClr val="152238"/>
                </a:solidFill>
              </a:rPr>
              <a:t>1년차 / 2년차 / 3년차 시나리오</a:t>
            </a:r>
          </a:p>
        </p:txBody>
      </p:sp>
      <p:sp>
        <p:nvSpPr>
          <p:cNvPr id="43" name="">
            <a:extLst xmlns:a="http://schemas.openxmlformats.org/drawingml/2006/main">
              <a:ext uri="{FF2B5EF4-FFF2-40B4-BE49-F238E27FC236}">
                <a16:creationId xmlns:a16="http://schemas.microsoft.com/office/drawing/2014/main" id="{EA57EE44-71E8-4DAD-9FF9-F285A3D746DE}"/>
              </a:ext>
            </a:extLst>
          </p:cNvPr>
          <p:cNvSpPr>
            <a:spLocks xmlns:a="http://schemas.openxmlformats.org/drawingml/2006/main" noGrp="1"/>
          </p:cNvSpPr>
          <p:nvPr/>
        </p:nvSpPr>
        <p:spPr>
          <a:xfrm xmlns:a="http://schemas.openxmlformats.org/drawingml/2006/main">
            <a:off x="8020050" y="427672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4" name="">
            <a:extLst xmlns:a="http://schemas.openxmlformats.org/drawingml/2006/main">
              <a:ext uri="{FF2B5EF4-FFF2-40B4-BE49-F238E27FC236}">
                <a16:creationId xmlns:a16="http://schemas.microsoft.com/office/drawing/2014/main" id="{4F7D9F5D-CD7E-44B2-AE63-76E9191F0702}"/>
              </a:ext>
            </a:extLst>
          </p:cNvPr>
          <p:cNvSpPr>
            <a:spLocks xmlns:a="http://schemas.openxmlformats.org/drawingml/2006/main" noGrp="1"/>
          </p:cNvSpPr>
          <p:nvPr/>
        </p:nvSpPr>
        <p:spPr>
          <a:xfrm xmlns:a="http://schemas.openxmlformats.org/drawingml/2006/main">
            <a:off x="8229600" y="42100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52238"/>
                </a:solidFill>
              </a:defRPr>
            </a:pPr>
            <a:r>
              <a:rPr sz="1125" b="0" i="0">
                <a:solidFill>
                  <a:srgbClr val="152238"/>
                </a:solidFill>
              </a:rPr>
              <a:t>이직률 민감도</a:t>
            </a:r>
          </a:p>
        </p:txBody>
      </p:sp>
      <p:sp>
        <p:nvSpPr>
          <p:cNvPr id="45" name="">
            <a:extLst xmlns:a="http://schemas.openxmlformats.org/drawingml/2006/main">
              <a:ext uri="{FF2B5EF4-FFF2-40B4-BE49-F238E27FC236}">
                <a16:creationId xmlns:a16="http://schemas.microsoft.com/office/drawing/2014/main" id="{982B2D3B-AD81-4432-BBB6-CEC98BB9A0D1}"/>
              </a:ext>
            </a:extLst>
          </p:cNvPr>
          <p:cNvSpPr>
            <a:spLocks xmlns:a="http://schemas.openxmlformats.org/drawingml/2006/main" noGrp="1"/>
          </p:cNvSpPr>
          <p:nvPr/>
        </p:nvSpPr>
        <p:spPr>
          <a:xfrm xmlns:a="http://schemas.openxmlformats.org/drawingml/2006/main">
            <a:off x="8020050" y="466725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6" name="">
            <a:extLst xmlns:a="http://schemas.openxmlformats.org/drawingml/2006/main">
              <a:ext uri="{FF2B5EF4-FFF2-40B4-BE49-F238E27FC236}">
                <a16:creationId xmlns:a16="http://schemas.microsoft.com/office/drawing/2014/main" id="{A4BC7C9C-6970-487C-AF69-513FA8AEC3CA}"/>
              </a:ext>
            </a:extLst>
          </p:cNvPr>
          <p:cNvSpPr>
            <a:spLocks xmlns:a="http://schemas.openxmlformats.org/drawingml/2006/main" noGrp="1"/>
          </p:cNvSpPr>
          <p:nvPr/>
        </p:nvSpPr>
        <p:spPr>
          <a:xfrm xmlns:a="http://schemas.openxmlformats.org/drawingml/2006/main">
            <a:off x="8229600" y="46005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52238"/>
                </a:solidFill>
              </a:defRPr>
            </a:pPr>
            <a:r>
              <a:rPr sz="1125" b="0" i="0">
                <a:solidFill>
                  <a:srgbClr val="152238"/>
                </a:solidFill>
              </a:rPr>
              <a:t>네트워크 접근성 민감도</a:t>
            </a:r>
          </a:p>
        </p:txBody>
      </p:sp>
      <p:sp>
        <p:nvSpPr>
          <p:cNvPr id="47" name="">
            <a:extLst xmlns:a="http://schemas.openxmlformats.org/drawingml/2006/main">
              <a:ext uri="{FF2B5EF4-FFF2-40B4-BE49-F238E27FC236}">
                <a16:creationId xmlns:a16="http://schemas.microsoft.com/office/drawing/2014/main" id="{81BAD1FD-2173-4F03-920D-0F55A2F604A3}"/>
              </a:ext>
            </a:extLst>
          </p:cNvPr>
          <p:cNvSpPr>
            <a:spLocks xmlns:a="http://schemas.openxmlformats.org/drawingml/2006/main" noGrp="1"/>
          </p:cNvSpPr>
          <p:nvPr/>
        </p:nvSpPr>
        <p:spPr>
          <a:xfrm xmlns:a="http://schemas.openxmlformats.org/drawingml/2006/main">
            <a:off x="8020050" y="505777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8" name="">
            <a:extLst xmlns:a="http://schemas.openxmlformats.org/drawingml/2006/main">
              <a:ext uri="{FF2B5EF4-FFF2-40B4-BE49-F238E27FC236}">
                <a16:creationId xmlns:a16="http://schemas.microsoft.com/office/drawing/2014/main" id="{7B89EC9A-AC37-42F2-B124-48FA08F1A253}"/>
              </a:ext>
            </a:extLst>
          </p:cNvPr>
          <p:cNvSpPr>
            <a:spLocks xmlns:a="http://schemas.openxmlformats.org/drawingml/2006/main" noGrp="1"/>
          </p:cNvSpPr>
          <p:nvPr/>
        </p:nvSpPr>
        <p:spPr>
          <a:xfrm xmlns:a="http://schemas.openxmlformats.org/drawingml/2006/main">
            <a:off x="8229600" y="4991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152238"/>
                </a:solidFill>
              </a:defRPr>
            </a:pPr>
            <a:r>
              <a:rPr sz="1125" b="0" i="0">
                <a:solidFill>
                  <a:srgbClr val="152238"/>
                </a:solidFill>
              </a:rPr>
              <a:t>예상 데이터 불확실성</a:t>
            </a:r>
          </a:p>
        </p:txBody>
      </p:sp>
      <p:sp>
        <p:nvSpPr>
          <p:cNvPr id="49" name="">
            <a:extLst xmlns:a="http://schemas.openxmlformats.org/drawingml/2006/main">
              <a:ext uri="{FF2B5EF4-FFF2-40B4-BE49-F238E27FC236}">
                <a16:creationId xmlns:a16="http://schemas.microsoft.com/office/drawing/2014/main" id="{9A10A239-1803-4358-8D81-DD444D1DF68C}"/>
              </a:ext>
            </a:extLst>
          </p:cNvPr>
          <p:cNvSpPr>
            <a:spLocks xmlns:a="http://schemas.openxmlformats.org/drawingml/2006/main" noGrp="1"/>
          </p:cNvSpPr>
          <p:nvPr/>
        </p:nvSpPr>
        <p:spPr>
          <a:xfrm xmlns:a="http://schemas.openxmlformats.org/drawingml/2006/main">
            <a:off x="609600" y="6019800"/>
            <a:ext cx="10972800" cy="304800"/>
          </a:xfrm>
          <a:prstGeom xmlns:a="http://schemas.openxmlformats.org/drawingml/2006/main" prst="roundRect">
            <a:avLst>
              <a:gd name="adj" fmla="val 25000"/>
            </a:avLst>
          </a:prstGeom>
          <a:noFill xmlns:a="http://schemas.openxmlformats.org/drawingml/2006/main"/>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882D28F-06CF-4E2C-A380-CC0ACB85DD89}"/>
              </a:ext>
            </a:extLst>
          </p:cNvPr>
          <p:cNvSpPr>
            <a:spLocks xmlns:a="http://schemas.openxmlformats.org/drawingml/2006/main" noGrp="1"/>
          </p:cNvSpPr>
          <p:nvPr/>
        </p:nvSpPr>
        <p:spPr>
          <a:xfrm xmlns:a="http://schemas.openxmlformats.org/drawingml/2006/main">
            <a:off x="609600" y="603885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D86464"/>
                </a:solidFill>
              </a:defRPr>
            </a:pPr>
            <a:r>
              <a:rPr sz="1275" b="0" i="0">
                <a:solidFill>
                  <a:srgbClr val="D86464"/>
                </a:solidFill>
              </a:rPr>
              <a:t>고객 데이터로 보정할 계획 가설이며 실제 ICLO 성과가 아닙니다.</a:t>
            </a:r>
          </a:p>
        </p:txBody>
      </p:sp>
      <p:sp>
        <p:nvSpPr>
          <p:cNvPr id="331" name="">
            <a:extLst xmlns:a="http://schemas.openxmlformats.org/drawingml/2006/main">
              <a:ext uri="{FF2B5EF4-FFF2-40B4-BE49-F238E27FC236}">
                <a16:creationId xmlns:a16="http://schemas.microsoft.com/office/drawing/2014/main" id="{B6378DD7-7417-40A2-9AFE-FD361F314E92}"/>
              </a:ext>
            </a:extLst>
          </p:cNvPr>
          <p:cNvSpPr>
            <a:spLocks xmlns:a="http://schemas.openxmlformats.org/drawingml/2006/main" noGrp="1"/>
          </p:cNvSpPr>
          <p:nvPr/>
        </p:nvSpPr>
        <p:spPr>
          <a:xfrm xmlns:a="http://schemas.openxmlformats.org/drawingml/2006/main">
            <a:off x="609600" y="21336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2" name="">
            <a:extLst xmlns:a="http://schemas.openxmlformats.org/drawingml/2006/main">
              <a:ext uri="{FF2B5EF4-FFF2-40B4-BE49-F238E27FC236}">
                <a16:creationId xmlns:a16="http://schemas.microsoft.com/office/drawing/2014/main" id="{AB370C9C-FAAC-44D9-B09F-0B1176BC77EA}"/>
              </a:ext>
            </a:extLst>
          </p:cNvPr>
          <p:cNvSpPr>
            <a:spLocks xmlns:a="http://schemas.openxmlformats.org/drawingml/2006/main" noGrp="1"/>
          </p:cNvSpPr>
          <p:nvPr/>
        </p:nvSpPr>
        <p:spPr>
          <a:xfrm xmlns:a="http://schemas.openxmlformats.org/drawingml/2006/main">
            <a:off x="4762500" y="2428875"/>
            <a:ext cx="228600" cy="0"/>
          </a:xfrm>
          <a:prstGeom xmlns:a="http://schemas.openxmlformats.org/drawingml/2006/main" prst="line">
            <a:avLst/>
          </a:prstGeom>
          <a:ln xmlns:a="http://schemas.openxmlformats.org/drawingml/2006/main" w="14288">
            <a:solidFill>
              <a:srgbClr val="008A94"/>
            </a:solidFill>
            <a:prstDash val="solid"/>
          </a:ln>
        </p:spPr>
      </p:sp>
      <p:sp>
        <p:nvSpPr>
          <p:cNvPr id="333" name="">
            <a:extLst xmlns:a="http://schemas.openxmlformats.org/drawingml/2006/main">
              <a:ext uri="{FF2B5EF4-FFF2-40B4-BE49-F238E27FC236}">
                <a16:creationId xmlns:a16="http://schemas.microsoft.com/office/drawing/2014/main" id="{4135D15C-71B8-45A3-A4E1-2240D4A3DA69}"/>
              </a:ext>
            </a:extLst>
          </p:cNvPr>
          <p:cNvSpPr>
            <a:spLocks xmlns:a="http://schemas.openxmlformats.org/drawingml/2006/main" noGrp="1"/>
          </p:cNvSpPr>
          <p:nvPr/>
        </p:nvSpPr>
        <p:spPr>
          <a:xfrm xmlns:a="http://schemas.openxmlformats.org/drawingml/2006/main">
            <a:off x="609600" y="30480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4" name="">
            <a:extLst xmlns:a="http://schemas.openxmlformats.org/drawingml/2006/main">
              <a:ext uri="{FF2B5EF4-FFF2-40B4-BE49-F238E27FC236}">
                <a16:creationId xmlns:a16="http://schemas.microsoft.com/office/drawing/2014/main" id="{A052F8F6-FBE1-4F18-A334-42EF77A2D97A}"/>
              </a:ext>
            </a:extLst>
          </p:cNvPr>
          <p:cNvSpPr>
            <a:spLocks xmlns:a="http://schemas.openxmlformats.org/drawingml/2006/main" noGrp="1"/>
          </p:cNvSpPr>
          <p:nvPr/>
        </p:nvSpPr>
        <p:spPr>
          <a:xfrm xmlns:a="http://schemas.openxmlformats.org/drawingml/2006/main">
            <a:off x="4762500" y="3343275"/>
            <a:ext cx="228600" cy="0"/>
          </a:xfrm>
          <a:prstGeom xmlns:a="http://schemas.openxmlformats.org/drawingml/2006/main" prst="line">
            <a:avLst/>
          </a:prstGeom>
          <a:ln xmlns:a="http://schemas.openxmlformats.org/drawingml/2006/main" w="14288">
            <a:solidFill>
              <a:srgbClr val="008A94"/>
            </a:solidFill>
            <a:prstDash val="solid"/>
          </a:ln>
        </p:spPr>
      </p:sp>
      <p:sp>
        <p:nvSpPr>
          <p:cNvPr id="335" name="">
            <a:extLst xmlns:a="http://schemas.openxmlformats.org/drawingml/2006/main">
              <a:ext uri="{FF2B5EF4-FFF2-40B4-BE49-F238E27FC236}">
                <a16:creationId xmlns:a16="http://schemas.microsoft.com/office/drawing/2014/main" id="{2063FC32-8251-4FF3-B9F2-6B86AA671CDB}"/>
              </a:ext>
            </a:extLst>
          </p:cNvPr>
          <p:cNvSpPr>
            <a:spLocks xmlns:a="http://schemas.openxmlformats.org/drawingml/2006/main" noGrp="1"/>
          </p:cNvSpPr>
          <p:nvPr/>
        </p:nvSpPr>
        <p:spPr>
          <a:xfrm xmlns:a="http://schemas.openxmlformats.org/drawingml/2006/main">
            <a:off x="609600" y="39624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6" name="">
            <a:extLst xmlns:a="http://schemas.openxmlformats.org/drawingml/2006/main">
              <a:ext uri="{FF2B5EF4-FFF2-40B4-BE49-F238E27FC236}">
                <a16:creationId xmlns:a16="http://schemas.microsoft.com/office/drawing/2014/main" id="{0443ABC6-4E7D-4C00-8535-BFDA35A37934}"/>
              </a:ext>
            </a:extLst>
          </p:cNvPr>
          <p:cNvSpPr>
            <a:spLocks xmlns:a="http://schemas.openxmlformats.org/drawingml/2006/main" noGrp="1"/>
          </p:cNvSpPr>
          <p:nvPr/>
        </p:nvSpPr>
        <p:spPr>
          <a:xfrm xmlns:a="http://schemas.openxmlformats.org/drawingml/2006/main">
            <a:off x="4762500" y="4257675"/>
            <a:ext cx="228600" cy="0"/>
          </a:xfrm>
          <a:prstGeom xmlns:a="http://schemas.openxmlformats.org/drawingml/2006/main" prst="line">
            <a:avLst/>
          </a:prstGeom>
          <a:ln xmlns:a="http://schemas.openxmlformats.org/drawingml/2006/main" w="14288">
            <a:solidFill>
              <a:srgbClr val="008A94"/>
            </a:solidFill>
            <a:prstDash val="solid"/>
          </a:ln>
        </p:spPr>
      </p:sp>
      <p:sp>
        <p:nvSpPr>
          <p:cNvPr id="337" name="">
            <a:extLst xmlns:a="http://schemas.openxmlformats.org/drawingml/2006/main">
              <a:ext uri="{FF2B5EF4-FFF2-40B4-BE49-F238E27FC236}">
                <a16:creationId xmlns:a16="http://schemas.microsoft.com/office/drawing/2014/main" id="{6631476C-E0EB-41B5-B0F6-1C1922F8E591}"/>
              </a:ext>
            </a:extLst>
          </p:cNvPr>
          <p:cNvSpPr>
            <a:spLocks xmlns:a="http://schemas.openxmlformats.org/drawingml/2006/main" noGrp="1"/>
          </p:cNvSpPr>
          <p:nvPr/>
        </p:nvSpPr>
        <p:spPr>
          <a:xfrm xmlns:a="http://schemas.openxmlformats.org/drawingml/2006/main">
            <a:off x="609600" y="4876800"/>
            <a:ext cx="28575" cy="590550"/>
          </a:xfrm>
          <a:prstGeom xmlns:a="http://schemas.openxmlformats.org/drawingml/2006/main" prst="rect">
            <a:avLst/>
          </a:prstGeom>
          <a:solidFill xmlns:a="http://schemas.openxmlformats.org/drawingml/2006/main">
            <a:srgbClr val="008A94"/>
          </a:solidFill>
          <a:ln xmlns:a="http://schemas.openxmlformats.org/drawingml/2006/main" w="0">
            <a:noFill/>
            <a:prstDash val="solid"/>
          </a:ln>
        </p:spPr>
      </p:sp>
      <p:sp>
        <p:nvSpPr>
          <p:cNvPr id="338" name="">
            <a:extLst xmlns:a="http://schemas.openxmlformats.org/drawingml/2006/main">
              <a:ext uri="{FF2B5EF4-FFF2-40B4-BE49-F238E27FC236}">
                <a16:creationId xmlns:a16="http://schemas.microsoft.com/office/drawing/2014/main" id="{349ABF30-956F-4DBD-A438-231784567053}"/>
              </a:ext>
            </a:extLst>
          </p:cNvPr>
          <p:cNvSpPr>
            <a:spLocks xmlns:a="http://schemas.openxmlformats.org/drawingml/2006/main" noGrp="1"/>
          </p:cNvSpPr>
          <p:nvPr/>
        </p:nvSpPr>
        <p:spPr>
          <a:xfrm xmlns:a="http://schemas.openxmlformats.org/drawingml/2006/main">
            <a:off x="4762500" y="5172075"/>
            <a:ext cx="228600" cy="0"/>
          </a:xfrm>
          <a:prstGeom xmlns:a="http://schemas.openxmlformats.org/drawingml/2006/main" prst="line">
            <a:avLst/>
          </a:prstGeom>
          <a:ln xmlns:a="http://schemas.openxmlformats.org/drawingml/2006/main" w="14288">
            <a:solidFill>
              <a:srgbClr val="008A94"/>
            </a:solidFill>
            <a:prstDash val="solid"/>
          </a:ln>
        </p:spPr>
      </p:sp>
      <p:sp>
        <p:nvSpPr>
          <p:cNvPr id="339" name="">
            <a:extLst xmlns:a="http://schemas.openxmlformats.org/drawingml/2006/main">
              <a:ext uri="{FF2B5EF4-FFF2-40B4-BE49-F238E27FC236}">
                <a16:creationId xmlns:a16="http://schemas.microsoft.com/office/drawing/2014/main" id="{CE17776B-2409-4FE7-AA26-9A4EE5AB828A}"/>
              </a:ext>
            </a:extLst>
          </p:cNvPr>
          <p:cNvSpPr>
            <a:spLocks xmlns:a="http://schemas.openxmlformats.org/drawingml/2006/main" noGrp="1"/>
          </p:cNvSpPr>
          <p:nvPr/>
        </p:nvSpPr>
        <p:spPr>
          <a:xfrm xmlns:a="http://schemas.openxmlformats.org/drawingml/2006/main">
            <a:off x="4991100" y="2428875"/>
            <a:ext cx="0" cy="2743200"/>
          </a:xfrm>
          <a:prstGeom xmlns:a="http://schemas.openxmlformats.org/drawingml/2006/main" prst="line">
            <a:avLst/>
          </a:prstGeom>
          <a:ln xmlns:a="http://schemas.openxmlformats.org/drawingml/2006/main" w="14288">
            <a:solidFill>
              <a:srgbClr val="008A94"/>
            </a:solidFill>
            <a:prstDash val="solid"/>
          </a:ln>
        </p:spPr>
      </p:sp>
      <p:sp>
        <p:nvSpPr>
          <p:cNvPr id="340" name="">
            <a:extLst xmlns:a="http://schemas.openxmlformats.org/drawingml/2006/main">
              <a:ext uri="{FF2B5EF4-FFF2-40B4-BE49-F238E27FC236}">
                <a16:creationId xmlns:a16="http://schemas.microsoft.com/office/drawing/2014/main" id="{117E31FF-AEDA-4218-9E2D-7041194952A7}"/>
              </a:ext>
            </a:extLst>
          </p:cNvPr>
          <p:cNvSpPr>
            <a:spLocks xmlns:a="http://schemas.openxmlformats.org/drawingml/2006/main" noGrp="1"/>
          </p:cNvSpPr>
          <p:nvPr/>
        </p:nvSpPr>
        <p:spPr>
          <a:xfrm xmlns:a="http://schemas.openxmlformats.org/drawingml/2006/main">
            <a:off x="4991100" y="3800475"/>
            <a:ext cx="323850" cy="0"/>
          </a:xfrm>
          <a:prstGeom xmlns:a="http://schemas.openxmlformats.org/drawingml/2006/main" prst="line">
            <a:avLst/>
          </a:prstGeom>
          <a:ln xmlns:a="http://schemas.openxmlformats.org/drawingml/2006/main" w="14288">
            <a:solidFill>
              <a:srgbClr val="008A94"/>
            </a:solidFill>
            <a:prstDash val="solid"/>
          </a:ln>
        </p:spPr>
      </p:sp>
      <p:sp>
        <p:nvSpPr>
          <p:cNvPr id="341" name="">
            <a:extLst xmlns:a="http://schemas.openxmlformats.org/drawingml/2006/main">
              <a:ext uri="{FF2B5EF4-FFF2-40B4-BE49-F238E27FC236}">
                <a16:creationId xmlns:a16="http://schemas.microsoft.com/office/drawing/2014/main" id="{9993E048-C1ED-431D-8748-89938139FF6C}"/>
              </a:ext>
            </a:extLst>
          </p:cNvPr>
          <p:cNvSpPr>
            <a:spLocks xmlns:a="http://schemas.openxmlformats.org/drawingml/2006/main" noGrp="1"/>
          </p:cNvSpPr>
          <p:nvPr/>
        </p:nvSpPr>
        <p:spPr>
          <a:xfrm xmlns:a="http://schemas.openxmlformats.org/drawingml/2006/main">
            <a:off x="7772400" y="2752725"/>
            <a:ext cx="0" cy="2343150"/>
          </a:xfrm>
          <a:prstGeom xmlns:a="http://schemas.openxmlformats.org/drawingml/2006/main" prst="line">
            <a:avLst/>
          </a:prstGeom>
          <a:ln xmlns:a="http://schemas.openxmlformats.org/drawingml/2006/main" w="14288">
            <a:solidFill>
              <a:srgbClr val="008A94"/>
            </a:solidFill>
            <a:prstDash val="solid"/>
          </a:ln>
        </p:spPr>
      </p:sp>
    </p:spTree>
    <p:extLst>
      <p:ext uri="{BB962C8B-B14F-4D97-AF65-F5344CB8AC3E}">
        <p14:creationId xmlns:p14="http://schemas.microsoft.com/office/powerpoint/2010/main" val="6731067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BCEE6D-21CF-4819-95FC-0E7BDF6A5AC6}"/>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66768A"/>
                </a:solidFill>
              </a:defRPr>
            </a:pPr>
            <a:r>
              <a:rPr sz="1275" b="1" i="0">
                <a:solidFill>
                  <a:srgbClr val="66768A"/>
                </a:solidFill>
              </a:rPr>
              <a:t>부록</a:t>
            </a:r>
          </a:p>
        </p:txBody>
      </p:sp>
      <p:sp>
        <p:nvSpPr>
          <p:cNvPr id="2" name="">
            <a:extLst xmlns:a="http://schemas.openxmlformats.org/drawingml/2006/main">
              <a:ext uri="{FF2B5EF4-FFF2-40B4-BE49-F238E27FC236}">
                <a16:creationId xmlns:a16="http://schemas.microsoft.com/office/drawing/2014/main" id="{3C0F7E40-F97E-4BC1-91B6-2035863ABA5C}"/>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922E6D-6B71-4FB1-A93F-DD153DBADFF3}"/>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5D44CE-8C3A-42CB-9651-FF56570AE6B2}"/>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Snowflake 요청</a:t>
            </a:r>
          </a:p>
        </p:txBody>
      </p:sp>
      <p:sp>
        <p:nvSpPr>
          <p:cNvPr id="5" name="">
            <a:extLst xmlns:a="http://schemas.openxmlformats.org/drawingml/2006/main">
              <a:ext uri="{FF2B5EF4-FFF2-40B4-BE49-F238E27FC236}">
                <a16:creationId xmlns:a16="http://schemas.microsoft.com/office/drawing/2014/main" id="{003E7DF6-5AE3-4EFE-882C-1A7B48B78AAB}"/>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고객 접촉 전 확인할 계정 근거</a:t>
            </a:r>
          </a:p>
        </p:txBody>
      </p:sp>
      <p:sp>
        <p:nvSpPr>
          <p:cNvPr id="6" name="">
            <a:extLst xmlns:a="http://schemas.openxmlformats.org/drawingml/2006/main">
              <a:ext uri="{FF2B5EF4-FFF2-40B4-BE49-F238E27FC236}">
                <a16:creationId xmlns:a16="http://schemas.microsoft.com/office/drawing/2014/main" id="{127B490F-8C27-4AA8-8FA7-B7D79EEE985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시장 전체의 추정을 법인·데이터·기술 준비도에 관한 실제 근거로 바꿉니다.</a:t>
            </a:r>
          </a:p>
        </p:txBody>
      </p:sp>
      <p:sp>
        <p:nvSpPr>
          <p:cNvPr id="7" name="">
            <a:extLst xmlns:a="http://schemas.openxmlformats.org/drawingml/2006/main">
              <a:ext uri="{FF2B5EF4-FFF2-40B4-BE49-F238E27FC236}">
                <a16:creationId xmlns:a16="http://schemas.microsoft.com/office/drawing/2014/main" id="{0C28FF5B-4073-4D4F-9EC0-3A47B2DEEE26}"/>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4F33B7C4-660E-411D-BAA4-06DBBD7B9AB4}"/>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7BA5A5AF-5214-40C8-A46A-68CC7F1D2F0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947211fde784874"/>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30BA233-3C47-45B6-8D15-A9495EDAEE46}"/>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7c49f06f29d4ec7"/>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5CAE0DF-CFBF-4F67-83E2-132BD2B4378A}"/>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FF5C11FA-BBA1-4EFF-8B53-1C26D0DD8B7C}"/>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15</a:t>
            </a:r>
          </a:p>
        </p:txBody>
      </p:sp>
      <p:sp>
        <p:nvSpPr>
          <p:cNvPr id="15" name="">
            <a:extLst xmlns:a="http://schemas.openxmlformats.org/drawingml/2006/main">
              <a:ext uri="{FF2B5EF4-FFF2-40B4-BE49-F238E27FC236}">
                <a16:creationId xmlns:a16="http://schemas.microsoft.com/office/drawing/2014/main" id="{E7508C6C-08C6-40F9-BBB0-889F279E1211}"/>
              </a:ext>
            </a:extLst>
          </p:cNvPr>
          <p:cNvSpPr>
            <a:spLocks xmlns:a="http://schemas.openxmlformats.org/drawingml/2006/main" noGrp="1"/>
          </p:cNvSpPr>
          <p:nvPr/>
        </p:nvSpPr>
        <p:spPr>
          <a:xfrm xmlns:a="http://schemas.openxmlformats.org/drawingml/2006/main">
            <a:off x="609600" y="1952625"/>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08A94"/>
                </a:solidFill>
              </a:defRPr>
            </a:pPr>
            <a:r>
              <a:rPr sz="1200" b="1" i="0">
                <a:solidFill>
                  <a:srgbClr val="008A94"/>
                </a:solidFill>
              </a:rPr>
              <a:t>계정 정보 + 데이터</a:t>
            </a:r>
          </a:p>
        </p:txBody>
      </p:sp>
      <p:graphicFrame>
        <p:nvGraphicFramePr>
          <p:cNvPr id="40" name=""/>
          <p:cNvGraphicFramePr/>
          <p:nvPr/>
        </p:nvGraphicFramePr>
        <p:xfrm>
          <a:off xmlns:a="http://schemas.openxmlformats.org/drawingml/2006/main" x="609600" y="2266950"/>
          <a:ext xmlns:a="http://schemas.openxmlformats.org/drawingml/2006/main" cx="10972800" cy="1600200"/>
        </p:xfrm>
        <a:graphic xmlns:a="http://schemas.openxmlformats.org/drawingml/2006/main">
          <a:graphicData uri="http://schemas.openxmlformats.org/drawingml/2006/table">
            <a:tbl>
              <a:tblPr/>
              <a:tblGrid>
                <a:gridCol w="2190750"/>
                <a:gridCol w="1619250"/>
                <a:gridCol w="1714500"/>
                <a:gridCol w="2000250"/>
                <a:gridCol w="2000250"/>
                <a:gridCol w="1447800"/>
              </a:tblGrid>
              <a:tr h="533400">
                <a:tc>
                  <a:txBody>
                    <a:bodyPr/>
                    <a:lstStyle/>
                    <a:p>
                      <a:r>
                        <a:rPr sz="1275" b="1">
                          <a:solidFill>
                            <a:srgbClr val="FFFFFF"/>
                          </a:solidFill>
                          <a:latin typeface="Arial"/>
                          <a:ea typeface="Arial"/>
                          <a:cs typeface="Arial"/>
                        </a:rPr>
                        <a:t>조직 / 법인</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계정 유형</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자가부담형 치아보험 운영?</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Snowflake 내 가입 자격?</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Snowflake 내 청구 항목?</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클라우드 / 리전</a:t>
                      </a:r>
                    </a:p>
                  </a:txBody>
                  <a:tcPr marL="76200" marR="76200" marT="38100" marB="38100" anchor="ctr">
                    <a:solidFill>
                      <a:srgbClr val="008A94"/>
                    </a:solidFill>
                  </a:tcPr>
                </a:tc>
              </a:tr>
              <a:tr h="53340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r h="53340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8DF623A6-3EDA-4A34-9912-C46793A58F31}"/>
              </a:ext>
            </a:extLst>
          </p:cNvPr>
          <p:cNvSpPr>
            <a:spLocks xmlns:a="http://schemas.openxmlformats.org/drawingml/2006/main" noGrp="1"/>
          </p:cNvSpPr>
          <p:nvPr/>
        </p:nvSpPr>
        <p:spPr>
          <a:xfrm xmlns:a="http://schemas.openxmlformats.org/drawingml/2006/main">
            <a:off x="609600" y="41719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08A94"/>
                </a:solidFill>
              </a:defRPr>
            </a:pPr>
            <a:r>
              <a:rPr sz="1200" b="1" i="0">
                <a:solidFill>
                  <a:srgbClr val="008A94"/>
                </a:solidFill>
              </a:rPr>
              <a:t>사업 + 기술 준비도</a:t>
            </a:r>
          </a:p>
        </p:txBody>
      </p:sp>
      <p:graphicFrame>
        <p:nvGraphicFramePr>
          <p:cNvPr id="42" name=""/>
          <p:cNvGraphicFramePr/>
          <p:nvPr/>
        </p:nvGraphicFramePr>
        <p:xfrm>
          <a:off xmlns:a="http://schemas.openxmlformats.org/drawingml/2006/main" x="609600" y="4486275"/>
          <a:ext xmlns:a="http://schemas.openxmlformats.org/drawingml/2006/main" cx="10972800" cy="1257300"/>
        </p:xfrm>
        <a:graphic xmlns:a="http://schemas.openxmlformats.org/drawingml/2006/main">
          <a:graphicData uri="http://schemas.openxmlformats.org/drawingml/2006/table">
            <a:tbl>
              <a:tblPr/>
              <a:tblGrid>
                <a:gridCol w="2476500"/>
                <a:gridCol w="2343150"/>
                <a:gridCol w="2000250"/>
                <a:gridCol w="2076450"/>
                <a:gridCol w="2076450"/>
              </a:tblGrid>
              <a:tr h="628650">
                <a:tc>
                  <a:txBody>
                    <a:bodyPr/>
                    <a:lstStyle/>
                    <a:p>
                      <a:r>
                        <a:rPr sz="1275" b="1">
                          <a:solidFill>
                            <a:srgbClr val="FFFFFF"/>
                          </a:solidFill>
                          <a:latin typeface="Arial"/>
                          <a:ea typeface="Arial"/>
                          <a:cs typeface="Arial"/>
                        </a:rPr>
                        <a:t>기존 이용지원 / 원격치과 업체</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ICLO 가능 영역</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Snowflake 계정 담당자</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기술 검증 준비?</a:t>
                      </a:r>
                    </a:p>
                  </a:txBody>
                  <a:tcPr marL="76200" marR="76200" marT="38100" marB="38100" anchor="ctr">
                    <a:solidFill>
                      <a:srgbClr val="008A94"/>
                    </a:solidFill>
                  </a:tcPr>
                </a:tc>
                <a:tc>
                  <a:txBody>
                    <a:bodyPr/>
                    <a:lstStyle/>
                    <a:p>
                      <a:r>
                        <a:rPr sz="1275" b="1">
                          <a:solidFill>
                            <a:srgbClr val="FFFFFF"/>
                          </a:solidFill>
                          <a:latin typeface="Arial"/>
                          <a:ea typeface="Arial"/>
                          <a:cs typeface="Arial"/>
                        </a:rPr>
                        <a:t>고객 소개 준비?</a:t>
                      </a:r>
                    </a:p>
                  </a:txBody>
                  <a:tcPr marL="76200" marR="76200" marT="38100" marB="38100" anchor="ctr">
                    <a:solidFill>
                      <a:srgbClr val="008A94"/>
                    </a:solidFill>
                  </a:tcPr>
                </a:tc>
              </a:tr>
              <a:tr h="62865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D2B0FD43-431F-4889-81DF-3DEA97759322}"/>
              </a:ext>
            </a:extLst>
          </p:cNvPr>
          <p:cNvSpPr>
            <a:spLocks xmlns:a="http://schemas.openxmlformats.org/drawingml/2006/main" noGrp="1"/>
          </p:cNvSpPr>
          <p:nvPr/>
        </p:nvSpPr>
        <p:spPr>
          <a:xfrm xmlns:a="http://schemas.openxmlformats.org/drawingml/2006/main">
            <a:off x="609600" y="60388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008A94"/>
                </a:solidFill>
              </a:defRPr>
            </a:pPr>
            <a:r>
              <a:rPr sz="1275" b="0" i="0">
                <a:solidFill>
                  <a:srgbClr val="008A94"/>
                </a:solidFill>
              </a:rPr>
              <a:t>빈 템플릿입니다. 계정팀과 함께 채웁니다. 이 표에 계정 근거가 채워지기 전에는 'Snowflake 고객인 TPA가 많다'고 말하지 않습니다.</a:t>
            </a:r>
          </a:p>
        </p:txBody>
      </p:sp>
    </p:spTree>
    <p:extLst>
      <p:ext uri="{BB962C8B-B14F-4D97-AF65-F5344CB8AC3E}">
        <p14:creationId xmlns:p14="http://schemas.microsoft.com/office/powerpoint/2010/main" val="20514265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A56177F-AFB1-41AA-A271-161DF6833087}"/>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66768A"/>
                </a:solidFill>
              </a:defRPr>
            </a:pPr>
            <a:r>
              <a:rPr sz="1275" b="1" i="0">
                <a:solidFill>
                  <a:srgbClr val="66768A"/>
                </a:solidFill>
              </a:rPr>
              <a:t>부록</a:t>
            </a:r>
          </a:p>
        </p:txBody>
      </p:sp>
      <p:sp>
        <p:nvSpPr>
          <p:cNvPr id="2" name="">
            <a:extLst xmlns:a="http://schemas.openxmlformats.org/drawingml/2006/main">
              <a:ext uri="{FF2B5EF4-FFF2-40B4-BE49-F238E27FC236}">
                <a16:creationId xmlns:a16="http://schemas.microsoft.com/office/drawing/2014/main" id="{C2791EFA-F310-42AB-B74C-76B69114F9C7}"/>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556E10-AD9D-4DF9-8A9B-1CB5C700168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C0FE70-442F-4396-BE5E-E2626B603155}"/>
              </a:ext>
            </a:extLst>
          </p:cNvPr>
          <p:cNvSpPr>
            <a:spLocks xmlns:a="http://schemas.openxmlformats.org/drawingml/2006/main" noGrp="1"/>
          </p:cNvSpPr>
          <p:nvPr/>
        </p:nvSpPr>
        <p:spPr>
          <a:xfrm xmlns:a="http://schemas.openxmlformats.org/drawingml/2006/main">
            <a:off x="6667500" y="228600"/>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1" i="0">
                <a:solidFill>
                  <a:srgbClr val="008A94"/>
                </a:solidFill>
              </a:defRPr>
            </a:pPr>
            <a:r>
              <a:rPr sz="975" b="1" i="0">
                <a:solidFill>
                  <a:srgbClr val="008A94"/>
                </a:solidFill>
              </a:rPr>
              <a:t>외부 공유 전 확인</a:t>
            </a:r>
          </a:p>
        </p:txBody>
      </p:sp>
      <p:sp>
        <p:nvSpPr>
          <p:cNvPr id="5" name="">
            <a:extLst xmlns:a="http://schemas.openxmlformats.org/drawingml/2006/main">
              <a:ext uri="{FF2B5EF4-FFF2-40B4-BE49-F238E27FC236}">
                <a16:creationId xmlns:a16="http://schemas.microsoft.com/office/drawing/2014/main" id="{C2D50D41-1643-4A2E-AC09-78F14ACF6C86}"/>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B2A4A"/>
                </a:solidFill>
              </a:defRPr>
            </a:pPr>
            <a:r>
              <a:rPr sz="2700" b="1" i="0">
                <a:solidFill>
                  <a:srgbClr val="1B2A4A"/>
                </a:solidFill>
              </a:rPr>
              <a:t>ICLO: 확인된 사실과 남은 검증</a:t>
            </a:r>
          </a:p>
        </p:txBody>
      </p:sp>
      <p:sp>
        <p:nvSpPr>
          <p:cNvPr id="6" name="">
            <a:extLst xmlns:a="http://schemas.openxmlformats.org/drawingml/2006/main">
              <a:ext uri="{FF2B5EF4-FFF2-40B4-BE49-F238E27FC236}">
                <a16:creationId xmlns:a16="http://schemas.microsoft.com/office/drawing/2014/main" id="{D47F81AF-BA8B-4528-A978-B9883B842237}"/>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B82"/>
                </a:solidFill>
              </a:defRPr>
            </a:pPr>
            <a:r>
              <a:rPr sz="1575" b="0" i="0">
                <a:solidFill>
                  <a:srgbClr val="5B6B82"/>
                </a:solidFill>
              </a:rPr>
              <a:t>프로그램 선정과 제품·데이터 경계는 검증의 기반이지만, 현재 Snowflake 상태는 외부 공유 전에 확인해야 합니다.</a:t>
            </a:r>
          </a:p>
        </p:txBody>
      </p:sp>
      <p:sp>
        <p:nvSpPr>
          <p:cNvPr id="7" name="">
            <a:extLst xmlns:a="http://schemas.openxmlformats.org/drawingml/2006/main">
              <a:ext uri="{FF2B5EF4-FFF2-40B4-BE49-F238E27FC236}">
                <a16:creationId xmlns:a16="http://schemas.microsoft.com/office/drawing/2014/main" id="{187FA335-5CFE-4C13-BE96-62E81233F00D}"/>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F2E977D7-44A8-4E83-9EAC-47F0D455F18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13DA659A-85F5-44CE-912D-89D05AFC60A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d4eba5aa8de4186"/>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322B111-9A98-4875-B081-16B56B0351D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i="0">
                <a:solidFill>
                  <a:srgbClr val="5B6B82"/>
                </a:solidFill>
              </a:defRPr>
            </a:pPr>
            <a:r>
              <a:rPr sz="825" b="1" i="0">
                <a:solidFill>
                  <a:srgbClr val="5B6B82"/>
                </a:solidFill>
              </a:rPr>
              <a:t>×</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74a6f9cd3327447d"/>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94F03A2-FD49-4A27-A82F-8D8BA8353D83}"/>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B6B82"/>
                </a:solidFill>
              </a:defRPr>
            </a:pPr>
            <a:r>
              <a:rPr sz="788" b="0" i="0">
                <a:solidFill>
                  <a:srgbClr val="5B6B82"/>
                </a:solidFill>
              </a:rPr>
              <a:t>ICLO 내부 검토 자료</a:t>
            </a:r>
          </a:p>
        </p:txBody>
      </p:sp>
      <p:sp>
        <p:nvSpPr>
          <p:cNvPr id="14" name="">
            <a:extLst xmlns:a="http://schemas.openxmlformats.org/drawingml/2006/main">
              <a:ext uri="{FF2B5EF4-FFF2-40B4-BE49-F238E27FC236}">
                <a16:creationId xmlns:a16="http://schemas.microsoft.com/office/drawing/2014/main" id="{8E2571BD-B994-4BC9-BA3E-D44109BA82BC}"/>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B6B82"/>
                </a:solidFill>
              </a:defRPr>
            </a:pPr>
            <a:r>
              <a:rPr sz="788" b="0" i="0">
                <a:solidFill>
                  <a:srgbClr val="5B6B82"/>
                </a:solidFill>
              </a:rPr>
              <a:t>16</a:t>
            </a:r>
          </a:p>
        </p:txBody>
      </p:sp>
      <p:sp>
        <p:nvSpPr>
          <p:cNvPr id="15" name="">
            <a:extLst xmlns:a="http://schemas.openxmlformats.org/drawingml/2006/main">
              <a:ext uri="{FF2B5EF4-FFF2-40B4-BE49-F238E27FC236}">
                <a16:creationId xmlns:a16="http://schemas.microsoft.com/office/drawing/2014/main" id="{7732A9A6-96B1-4568-B3D3-5A991AB21D92}"/>
              </a:ext>
            </a:extLst>
          </p:cNvPr>
          <p:cNvSpPr>
            <a:spLocks xmlns:a="http://schemas.openxmlformats.org/drawingml/2006/main" noGrp="1"/>
          </p:cNvSpPr>
          <p:nvPr/>
        </p:nvSpPr>
        <p:spPr>
          <a:xfrm xmlns:a="http://schemas.openxmlformats.org/drawingml/2006/main">
            <a:off x="609600" y="19907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007A87"/>
                </a:solidFill>
              </a:defRPr>
            </a:pPr>
            <a:r>
              <a:rPr sz="1200" b="1" i="0">
                <a:solidFill>
                  <a:srgbClr val="007A87"/>
                </a:solidFill>
              </a:rPr>
              <a:t>ICLO 핵심 정보</a:t>
            </a:r>
          </a:p>
        </p:txBody>
      </p:sp>
      <p:sp>
        <p:nvSpPr>
          <p:cNvPr id="16" name="">
            <a:extLst xmlns:a="http://schemas.openxmlformats.org/drawingml/2006/main">
              <a:ext uri="{FF2B5EF4-FFF2-40B4-BE49-F238E27FC236}">
                <a16:creationId xmlns:a16="http://schemas.microsoft.com/office/drawing/2014/main" id="{6328A8B7-9FF0-489B-8D1F-85C3543DC8DB}"/>
              </a:ext>
            </a:extLst>
          </p:cNvPr>
          <p:cNvSpPr>
            <a:spLocks xmlns:a="http://schemas.openxmlformats.org/drawingml/2006/main" noGrp="1"/>
          </p:cNvSpPr>
          <p:nvPr/>
        </p:nvSpPr>
        <p:spPr>
          <a:xfrm xmlns:a="http://schemas.openxmlformats.org/drawingml/2006/main">
            <a:off x="609600" y="238125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ABAA59-EC9F-4C1C-A44F-4E29E33FAF95}"/>
              </a:ext>
            </a:extLst>
          </p:cNvPr>
          <p:cNvSpPr>
            <a:spLocks xmlns:a="http://schemas.openxmlformats.org/drawingml/2006/main" noGrp="1"/>
          </p:cNvSpPr>
          <p:nvPr/>
        </p:nvSpPr>
        <p:spPr>
          <a:xfrm xmlns:a="http://schemas.openxmlformats.org/drawingml/2006/main">
            <a:off x="609600" y="2409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1</a:t>
            </a:r>
          </a:p>
        </p:txBody>
      </p:sp>
      <p:sp>
        <p:nvSpPr>
          <p:cNvPr id="18" name="">
            <a:extLst xmlns:a="http://schemas.openxmlformats.org/drawingml/2006/main">
              <a:ext uri="{FF2B5EF4-FFF2-40B4-BE49-F238E27FC236}">
                <a16:creationId xmlns:a16="http://schemas.microsoft.com/office/drawing/2014/main" id="{C7DFD1A7-0D6F-45FD-9892-8D6F233420E3}"/>
              </a:ext>
            </a:extLst>
          </p:cNvPr>
          <p:cNvSpPr>
            <a:spLocks xmlns:a="http://schemas.openxmlformats.org/drawingml/2006/main" noGrp="1"/>
          </p:cNvSpPr>
          <p:nvPr/>
        </p:nvSpPr>
        <p:spPr>
          <a:xfrm xmlns:a="http://schemas.openxmlformats.org/drawingml/2006/main">
            <a:off x="1028700" y="238125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회사</a:t>
            </a:r>
          </a:p>
          <a:p xmlns:a="http://schemas.openxmlformats.org/drawingml/2006/main">
            <a:pPr algn="l">
              <a:buNone/>
              <a:defRPr sz="1163" b="0" i="0">
                <a:solidFill>
                  <a:srgbClr val="152238"/>
                </a:solidFill>
              </a:defRPr>
            </a:pPr>
            <a:r>
              <a:rPr sz="1163" b="0" i="0">
                <a:solidFill>
                  <a:srgbClr val="152238"/>
                </a:solidFill>
              </a:rPr>
              <a:t>주식회사 아이클로 (ICLO Co., Ltd.) · 제주 · 국내 B2C·B2B 상용화 단계 · 핵심 인력 12명</a:t>
            </a:r>
          </a:p>
        </p:txBody>
      </p:sp>
      <p:sp>
        <p:nvSpPr>
          <p:cNvPr id="19" name="">
            <a:extLst xmlns:a="http://schemas.openxmlformats.org/drawingml/2006/main">
              <a:ext uri="{FF2B5EF4-FFF2-40B4-BE49-F238E27FC236}">
                <a16:creationId xmlns:a16="http://schemas.microsoft.com/office/drawing/2014/main" id="{CD37B683-1A89-4BB9-ADD5-03BD6DAACA0A}"/>
              </a:ext>
            </a:extLst>
          </p:cNvPr>
          <p:cNvSpPr>
            <a:spLocks xmlns:a="http://schemas.openxmlformats.org/drawingml/2006/main" noGrp="1"/>
          </p:cNvSpPr>
          <p:nvPr/>
        </p:nvSpPr>
        <p:spPr>
          <a:xfrm xmlns:a="http://schemas.openxmlformats.org/drawingml/2006/main">
            <a:off x="609600" y="304800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330CFE8-84DA-4BF6-A63B-7975B82A8012}"/>
              </a:ext>
            </a:extLst>
          </p:cNvPr>
          <p:cNvSpPr>
            <a:spLocks xmlns:a="http://schemas.openxmlformats.org/drawingml/2006/main" noGrp="1"/>
          </p:cNvSpPr>
          <p:nvPr/>
        </p:nvSpPr>
        <p:spPr>
          <a:xfrm xmlns:a="http://schemas.openxmlformats.org/drawingml/2006/main">
            <a:off x="609600" y="30765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2</a:t>
            </a:r>
          </a:p>
        </p:txBody>
      </p:sp>
      <p:sp>
        <p:nvSpPr>
          <p:cNvPr id="21" name="">
            <a:extLst xmlns:a="http://schemas.openxmlformats.org/drawingml/2006/main">
              <a:ext uri="{FF2B5EF4-FFF2-40B4-BE49-F238E27FC236}">
                <a16:creationId xmlns:a16="http://schemas.microsoft.com/office/drawing/2014/main" id="{B56B080F-6F2E-4184-8DDC-66A2024674AA}"/>
              </a:ext>
            </a:extLst>
          </p:cNvPr>
          <p:cNvSpPr>
            <a:spLocks xmlns:a="http://schemas.openxmlformats.org/drawingml/2006/main" noGrp="1"/>
          </p:cNvSpPr>
          <p:nvPr/>
        </p:nvSpPr>
        <p:spPr>
          <a:xfrm xmlns:a="http://schemas.openxmlformats.org/drawingml/2006/main">
            <a:off x="1028700" y="30480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제품</a:t>
            </a:r>
          </a:p>
          <a:p xmlns:a="http://schemas.openxmlformats.org/drawingml/2006/main">
            <a:pPr algn="l">
              <a:buNone/>
              <a:defRPr sz="1163" b="0" i="0">
                <a:solidFill>
                  <a:srgbClr val="152238"/>
                </a:solidFill>
              </a:defRPr>
            </a:pPr>
            <a:r>
              <a:rPr sz="1163" b="0" i="0">
                <a:solidFill>
                  <a:srgbClr val="152238"/>
                </a:solidFill>
              </a:rPr>
              <a:t>HomeDen SaaS(PMS·EMR·CRM)와 임직원 치아보험 이용지원·청구 근거 설계</a:t>
            </a:r>
          </a:p>
        </p:txBody>
      </p:sp>
      <p:sp>
        <p:nvSpPr>
          <p:cNvPr id="22" name="">
            <a:extLst xmlns:a="http://schemas.openxmlformats.org/drawingml/2006/main">
              <a:ext uri="{FF2B5EF4-FFF2-40B4-BE49-F238E27FC236}">
                <a16:creationId xmlns:a16="http://schemas.microsoft.com/office/drawing/2014/main" id="{1B2F570B-4755-48D8-83A1-178EE64F2D31}"/>
              </a:ext>
            </a:extLst>
          </p:cNvPr>
          <p:cNvSpPr>
            <a:spLocks xmlns:a="http://schemas.openxmlformats.org/drawingml/2006/main" noGrp="1"/>
          </p:cNvSpPr>
          <p:nvPr/>
        </p:nvSpPr>
        <p:spPr>
          <a:xfrm xmlns:a="http://schemas.openxmlformats.org/drawingml/2006/main">
            <a:off x="609600" y="371475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C297286-EE39-44AE-ADA6-DAB33502D71C}"/>
              </a:ext>
            </a:extLst>
          </p:cNvPr>
          <p:cNvSpPr>
            <a:spLocks xmlns:a="http://schemas.openxmlformats.org/drawingml/2006/main" noGrp="1"/>
          </p:cNvSpPr>
          <p:nvPr/>
        </p:nvSpPr>
        <p:spPr>
          <a:xfrm xmlns:a="http://schemas.openxmlformats.org/drawingml/2006/main">
            <a:off x="609600" y="37433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3</a:t>
            </a:r>
          </a:p>
        </p:txBody>
      </p:sp>
      <p:sp>
        <p:nvSpPr>
          <p:cNvPr id="24" name="">
            <a:extLst xmlns:a="http://schemas.openxmlformats.org/drawingml/2006/main">
              <a:ext uri="{FF2B5EF4-FFF2-40B4-BE49-F238E27FC236}">
                <a16:creationId xmlns:a16="http://schemas.microsoft.com/office/drawing/2014/main" id="{5DA42092-9C2A-45F2-B11C-3F87948F5F54}"/>
              </a:ext>
            </a:extLst>
          </p:cNvPr>
          <p:cNvSpPr>
            <a:spLocks xmlns:a="http://schemas.openxmlformats.org/drawingml/2006/main" noGrp="1"/>
          </p:cNvSpPr>
          <p:nvPr/>
        </p:nvSpPr>
        <p:spPr>
          <a:xfrm xmlns:a="http://schemas.openxmlformats.org/drawingml/2006/main">
            <a:off x="1028700" y="371475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선정</a:t>
            </a:r>
          </a:p>
          <a:p xmlns:a="http://schemas.openxmlformats.org/drawingml/2006/main">
            <a:pPr algn="l">
              <a:buNone/>
              <a:defRPr sz="1163" b="0" i="0">
                <a:solidFill>
                  <a:srgbClr val="152238"/>
                </a:solidFill>
              </a:defRPr>
            </a:pPr>
            <a:r>
              <a:rPr sz="1163" b="0" i="0">
                <a:solidFill>
                  <a:srgbClr val="152238"/>
                </a:solidFill>
              </a:rPr>
              <a:t>핀테크지원센터 Fintech Cube 9기·신한퓨쳐스랩 12기 선정</a:t>
            </a:r>
          </a:p>
        </p:txBody>
      </p:sp>
      <p:sp>
        <p:nvSpPr>
          <p:cNvPr id="25" name="">
            <a:extLst xmlns:a="http://schemas.openxmlformats.org/drawingml/2006/main">
              <a:ext uri="{FF2B5EF4-FFF2-40B4-BE49-F238E27FC236}">
                <a16:creationId xmlns:a16="http://schemas.microsoft.com/office/drawing/2014/main" id="{7ED774C8-5D5C-4600-88D0-27D8E075D1B6}"/>
              </a:ext>
            </a:extLst>
          </p:cNvPr>
          <p:cNvSpPr>
            <a:spLocks xmlns:a="http://schemas.openxmlformats.org/drawingml/2006/main" noGrp="1"/>
          </p:cNvSpPr>
          <p:nvPr/>
        </p:nvSpPr>
        <p:spPr>
          <a:xfrm xmlns:a="http://schemas.openxmlformats.org/drawingml/2006/main">
            <a:off x="609600" y="438150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F1AA69E-7F25-43DD-933C-FDE98D2A4E24}"/>
              </a:ext>
            </a:extLst>
          </p:cNvPr>
          <p:cNvSpPr>
            <a:spLocks xmlns:a="http://schemas.openxmlformats.org/drawingml/2006/main" noGrp="1"/>
          </p:cNvSpPr>
          <p:nvPr/>
        </p:nvSpPr>
        <p:spPr>
          <a:xfrm xmlns:a="http://schemas.openxmlformats.org/drawingml/2006/main">
            <a:off x="609600" y="44100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4</a:t>
            </a:r>
          </a:p>
        </p:txBody>
      </p:sp>
      <p:sp>
        <p:nvSpPr>
          <p:cNvPr id="27" name="">
            <a:extLst xmlns:a="http://schemas.openxmlformats.org/drawingml/2006/main">
              <a:ext uri="{FF2B5EF4-FFF2-40B4-BE49-F238E27FC236}">
                <a16:creationId xmlns:a16="http://schemas.microsoft.com/office/drawing/2014/main" id="{562AB4BD-A366-4541-A937-4D7DB64FF480}"/>
              </a:ext>
            </a:extLst>
          </p:cNvPr>
          <p:cNvSpPr>
            <a:spLocks xmlns:a="http://schemas.openxmlformats.org/drawingml/2006/main" noGrp="1"/>
          </p:cNvSpPr>
          <p:nvPr/>
        </p:nvSpPr>
        <p:spPr>
          <a:xfrm xmlns:a="http://schemas.openxmlformats.org/drawingml/2006/main">
            <a:off x="1028700" y="43815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SNOWFLAKE 상태</a:t>
            </a:r>
          </a:p>
          <a:p xmlns:a="http://schemas.openxmlformats.org/drawingml/2006/main">
            <a:pPr algn="l">
              <a:buNone/>
              <a:defRPr sz="1163" b="0" i="0">
                <a:solidFill>
                  <a:srgbClr val="152238"/>
                </a:solidFill>
              </a:defRPr>
            </a:pPr>
            <a:r>
              <a:rPr sz="1163" b="0" i="0">
                <a:solidFill>
                  <a:srgbClr val="152238"/>
                </a:solidFill>
              </a:rPr>
              <a:t>Snowflake와 함께 확인: 공식 프로그램명 · 스폰서 · 계정 · 클라우드 · 리전 · 크레딧 · 지원 담당자</a:t>
            </a:r>
          </a:p>
        </p:txBody>
      </p:sp>
      <p:sp>
        <p:nvSpPr>
          <p:cNvPr id="28" name="">
            <a:extLst xmlns:a="http://schemas.openxmlformats.org/drawingml/2006/main">
              <a:ext uri="{FF2B5EF4-FFF2-40B4-BE49-F238E27FC236}">
                <a16:creationId xmlns:a16="http://schemas.microsoft.com/office/drawing/2014/main" id="{9989CC95-3D8F-4CC4-994E-65E63BAE5F20}"/>
              </a:ext>
            </a:extLst>
          </p:cNvPr>
          <p:cNvSpPr>
            <a:spLocks xmlns:a="http://schemas.openxmlformats.org/drawingml/2006/main" noGrp="1"/>
          </p:cNvSpPr>
          <p:nvPr/>
        </p:nvSpPr>
        <p:spPr>
          <a:xfrm xmlns:a="http://schemas.openxmlformats.org/drawingml/2006/main">
            <a:off x="609600" y="5048250"/>
            <a:ext cx="266700" cy="2667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A0C903B-80E0-42F9-A333-6C4B65D21044}"/>
              </a:ext>
            </a:extLst>
          </p:cNvPr>
          <p:cNvSpPr>
            <a:spLocks xmlns:a="http://schemas.openxmlformats.org/drawingml/2006/main" noGrp="1"/>
          </p:cNvSpPr>
          <p:nvPr/>
        </p:nvSpPr>
        <p:spPr>
          <a:xfrm xmlns:a="http://schemas.openxmlformats.org/drawingml/2006/main">
            <a:off x="609600" y="5076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008A94"/>
                </a:solidFill>
              </a:defRPr>
            </a:pPr>
            <a:r>
              <a:rPr sz="1350" b="1" i="0">
                <a:solidFill>
                  <a:srgbClr val="008A94"/>
                </a:solidFill>
              </a:rPr>
              <a:t>5</a:t>
            </a:r>
          </a:p>
        </p:txBody>
      </p:sp>
      <p:sp>
        <p:nvSpPr>
          <p:cNvPr id="30" name="">
            <a:extLst xmlns:a="http://schemas.openxmlformats.org/drawingml/2006/main">
              <a:ext uri="{FF2B5EF4-FFF2-40B4-BE49-F238E27FC236}">
                <a16:creationId xmlns:a16="http://schemas.microsoft.com/office/drawing/2014/main" id="{B0DB2893-8350-498E-A804-95D29397E5E1}"/>
              </a:ext>
            </a:extLst>
          </p:cNvPr>
          <p:cNvSpPr>
            <a:spLocks xmlns:a="http://schemas.openxmlformats.org/drawingml/2006/main" noGrp="1"/>
          </p:cNvSpPr>
          <p:nvPr/>
        </p:nvSpPr>
        <p:spPr>
          <a:xfrm xmlns:a="http://schemas.openxmlformats.org/drawingml/2006/main">
            <a:off x="1028700" y="504825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63" b="0" i="0">
                <a:solidFill>
                  <a:srgbClr val="152238"/>
                </a:solidFill>
              </a:defRPr>
            </a:pPr>
            <a:r>
              <a:rPr sz="1163" b="0" i="0">
                <a:solidFill>
                  <a:srgbClr val="152238"/>
                </a:solidFill>
              </a:rPr>
              <a:t>다음 입증</a:t>
            </a:r>
          </a:p>
          <a:p xmlns:a="http://schemas.openxmlformats.org/drawingml/2006/main">
            <a:pPr algn="l">
              <a:buNone/>
              <a:defRPr sz="1163" b="0" i="0">
                <a:solidFill>
                  <a:srgbClr val="152238"/>
                </a:solidFill>
              </a:defRPr>
            </a:pPr>
            <a:r>
              <a:rPr sz="1163" b="0" i="0">
                <a:solidFill>
                  <a:srgbClr val="152238"/>
                </a:solidFill>
              </a:rPr>
              <a:t>미국 self-funded employer 치아보험 데이터 경로 1건과 계정팀 검토 1건</a:t>
            </a:r>
          </a:p>
        </p:txBody>
      </p:sp>
      <p:sp>
        <p:nvSpPr>
          <p:cNvPr id="31" name="">
            <a:extLst xmlns:a="http://schemas.openxmlformats.org/drawingml/2006/main">
              <a:ext uri="{FF2B5EF4-FFF2-40B4-BE49-F238E27FC236}">
                <a16:creationId xmlns:a16="http://schemas.microsoft.com/office/drawing/2014/main" id="{65461505-7886-438C-9076-436036BC5A2B}"/>
              </a:ext>
            </a:extLst>
          </p:cNvPr>
          <p:cNvSpPr>
            <a:spLocks xmlns:a="http://schemas.openxmlformats.org/drawingml/2006/main" noGrp="1"/>
          </p:cNvSpPr>
          <p:nvPr/>
        </p:nvSpPr>
        <p:spPr>
          <a:xfrm xmlns:a="http://schemas.openxmlformats.org/drawingml/2006/main">
            <a:off x="6286500" y="1924050"/>
            <a:ext cx="5295900" cy="4095750"/>
          </a:xfrm>
          <a:prstGeom xmlns:a="http://schemas.openxmlformats.org/drawingml/2006/main" prst="roundRect">
            <a:avLst>
              <a:gd name="adj" fmla="val 1860"/>
            </a:avLst>
          </a:prstGeom>
          <a:noFill xmlns:a="http://schemas.openxmlformats.org/drawingml/2006/main"/>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4201D38-56FE-49D0-B0BC-47818F0A0EF8}"/>
              </a:ext>
            </a:extLst>
          </p:cNvPr>
          <p:cNvSpPr>
            <a:spLocks xmlns:a="http://schemas.openxmlformats.org/drawingml/2006/main" noGrp="1"/>
          </p:cNvSpPr>
          <p:nvPr/>
        </p:nvSpPr>
        <p:spPr>
          <a:xfrm xmlns:a="http://schemas.openxmlformats.org/drawingml/2006/main">
            <a:off x="6534150" y="21145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D99A24"/>
                </a:solidFill>
              </a:defRPr>
            </a:pPr>
            <a:r>
              <a:rPr sz="1200" b="1" i="0">
                <a:solidFill>
                  <a:srgbClr val="D99A24"/>
                </a:solidFill>
              </a:rPr>
              <a:t/>
            </a:r>
          </a:p>
        </p:txBody>
      </p:sp>
      <p:sp>
        <p:nvSpPr>
          <p:cNvPr id="33" name="">
            <a:extLst xmlns:a="http://schemas.openxmlformats.org/drawingml/2006/main">
              <a:ext uri="{FF2B5EF4-FFF2-40B4-BE49-F238E27FC236}">
                <a16:creationId xmlns:a16="http://schemas.microsoft.com/office/drawing/2014/main" id="{30DC109F-718A-4F1B-BDF5-A1911F4CE64E}"/>
              </a:ext>
            </a:extLst>
          </p:cNvPr>
          <p:cNvSpPr>
            <a:spLocks xmlns:a="http://schemas.openxmlformats.org/drawingml/2006/main" noGrp="1"/>
          </p:cNvSpPr>
          <p:nvPr/>
        </p:nvSpPr>
        <p:spPr>
          <a:xfrm xmlns:a="http://schemas.openxmlformats.org/drawingml/2006/main">
            <a:off x="6534150" y="2571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B2A4A"/>
                </a:solidFill>
              </a:defRPr>
            </a:pPr>
            <a:r>
              <a:rPr sz="1275" b="1" i="0">
                <a:solidFill>
                  <a:srgbClr val="1B2A4A"/>
                </a:solidFill>
              </a:rPr>
              <a:t/>
            </a:r>
          </a:p>
        </p:txBody>
      </p:sp>
      <p:sp>
        <p:nvSpPr>
          <p:cNvPr id="34" name="">
            <a:extLst xmlns:a="http://schemas.openxmlformats.org/drawingml/2006/main">
              <a:ext uri="{FF2B5EF4-FFF2-40B4-BE49-F238E27FC236}">
                <a16:creationId xmlns:a16="http://schemas.microsoft.com/office/drawing/2014/main" id="{C9E234A1-55DA-4BD5-B67A-FC884BC95743}"/>
              </a:ext>
            </a:extLst>
          </p:cNvPr>
          <p:cNvSpPr>
            <a:spLocks xmlns:a="http://schemas.openxmlformats.org/drawingml/2006/main" noGrp="1"/>
          </p:cNvSpPr>
          <p:nvPr/>
        </p:nvSpPr>
        <p:spPr>
          <a:xfrm xmlns:a="http://schemas.openxmlformats.org/drawingml/2006/main">
            <a:off x="6534150" y="28765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B82"/>
                </a:solidFill>
              </a:defRPr>
            </a:pPr>
            <a:r>
              <a:rPr sz="1125" b="0" i="0">
                <a:solidFill>
                  <a:srgbClr val="5B6B82"/>
                </a:solidFill>
              </a:rPr>
              <a:t/>
            </a:r>
          </a:p>
        </p:txBody>
      </p:sp>
      <p:sp>
        <p:nvSpPr>
          <p:cNvPr id="35" name="">
            <a:extLst xmlns:a="http://schemas.openxmlformats.org/drawingml/2006/main">
              <a:ext uri="{FF2B5EF4-FFF2-40B4-BE49-F238E27FC236}">
                <a16:creationId xmlns:a16="http://schemas.microsoft.com/office/drawing/2014/main" id="{06DDE29B-CCEA-48CF-8FAC-CC5A9FA95C03}"/>
              </a:ext>
            </a:extLst>
          </p:cNvPr>
          <p:cNvSpPr>
            <a:spLocks xmlns:a="http://schemas.openxmlformats.org/drawingml/2006/main" noGrp="1"/>
          </p:cNvSpPr>
          <p:nvPr/>
        </p:nvSpPr>
        <p:spPr>
          <a:xfrm xmlns:a="http://schemas.openxmlformats.org/drawingml/2006/main">
            <a:off x="6534150" y="34766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B2A4A"/>
                </a:solidFill>
              </a:defRPr>
            </a:pPr>
            <a:r>
              <a:rPr sz="1275" b="1" i="0">
                <a:solidFill>
                  <a:srgbClr val="1B2A4A"/>
                </a:solidFill>
              </a:rPr>
              <a:t/>
            </a:r>
          </a:p>
        </p:txBody>
      </p:sp>
      <p:sp>
        <p:nvSpPr>
          <p:cNvPr id="36" name="">
            <a:extLst xmlns:a="http://schemas.openxmlformats.org/drawingml/2006/main">
              <a:ext uri="{FF2B5EF4-FFF2-40B4-BE49-F238E27FC236}">
                <a16:creationId xmlns:a16="http://schemas.microsoft.com/office/drawing/2014/main" id="{520CDC96-95F6-4DB1-B272-BCAE3DEBEF07}"/>
              </a:ext>
            </a:extLst>
          </p:cNvPr>
          <p:cNvSpPr>
            <a:spLocks xmlns:a="http://schemas.openxmlformats.org/drawingml/2006/main" noGrp="1"/>
          </p:cNvSpPr>
          <p:nvPr/>
        </p:nvSpPr>
        <p:spPr>
          <a:xfrm xmlns:a="http://schemas.openxmlformats.org/drawingml/2006/main">
            <a:off x="6534150" y="378142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B82"/>
                </a:solidFill>
              </a:defRPr>
            </a:pPr>
            <a:r>
              <a:rPr sz="1125" b="0" i="0">
                <a:solidFill>
                  <a:srgbClr val="5B6B82"/>
                </a:solidFill>
              </a:rPr>
              <a:t/>
            </a:r>
          </a:p>
        </p:txBody>
      </p:sp>
      <p:sp>
        <p:nvSpPr>
          <p:cNvPr id="37" name="">
            <a:extLst xmlns:a="http://schemas.openxmlformats.org/drawingml/2006/main">
              <a:ext uri="{FF2B5EF4-FFF2-40B4-BE49-F238E27FC236}">
                <a16:creationId xmlns:a16="http://schemas.microsoft.com/office/drawing/2014/main" id="{6F9916FA-12D0-45FE-8A14-1C1C57E083B8}"/>
              </a:ext>
            </a:extLst>
          </p:cNvPr>
          <p:cNvSpPr>
            <a:spLocks xmlns:a="http://schemas.openxmlformats.org/drawingml/2006/main" noGrp="1"/>
          </p:cNvSpPr>
          <p:nvPr/>
        </p:nvSpPr>
        <p:spPr>
          <a:xfrm xmlns:a="http://schemas.openxmlformats.org/drawingml/2006/main">
            <a:off x="6534150" y="4362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B2A4A"/>
                </a:solidFill>
              </a:defRPr>
            </a:pPr>
            <a:r>
              <a:rPr sz="1275" b="1" i="0">
                <a:solidFill>
                  <a:srgbClr val="1B2A4A"/>
                </a:solidFill>
              </a:rPr>
              <a:t/>
            </a:r>
          </a:p>
        </p:txBody>
      </p:sp>
      <p:sp>
        <p:nvSpPr>
          <p:cNvPr id="38" name="">
            <a:extLst xmlns:a="http://schemas.openxmlformats.org/drawingml/2006/main">
              <a:ext uri="{FF2B5EF4-FFF2-40B4-BE49-F238E27FC236}">
                <a16:creationId xmlns:a16="http://schemas.microsoft.com/office/drawing/2014/main" id="{C8B72BC5-7E1F-42A3-94E5-80B5B0062A3F}"/>
              </a:ext>
            </a:extLst>
          </p:cNvPr>
          <p:cNvSpPr>
            <a:spLocks xmlns:a="http://schemas.openxmlformats.org/drawingml/2006/main" noGrp="1"/>
          </p:cNvSpPr>
          <p:nvPr/>
        </p:nvSpPr>
        <p:spPr>
          <a:xfrm xmlns:a="http://schemas.openxmlformats.org/drawingml/2006/main">
            <a:off x="6534150" y="466725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B82"/>
                </a:solidFill>
              </a:defRPr>
            </a:pPr>
            <a:r>
              <a:rPr sz="1125" b="0" i="0">
                <a:solidFill>
                  <a:srgbClr val="5B6B82"/>
                </a:solidFill>
              </a:rPr>
              <a:t/>
            </a:r>
          </a:p>
        </p:txBody>
      </p:sp>
      <p:sp>
        <p:nvSpPr>
          <p:cNvPr id="39" name="">
            <a:extLst xmlns:a="http://schemas.openxmlformats.org/drawingml/2006/main">
              <a:ext uri="{FF2B5EF4-FFF2-40B4-BE49-F238E27FC236}">
                <a16:creationId xmlns:a16="http://schemas.microsoft.com/office/drawing/2014/main" id="{216BE996-3BEF-4040-874E-03E826C2F696}"/>
              </a:ext>
            </a:extLst>
          </p:cNvPr>
          <p:cNvSpPr>
            <a:spLocks xmlns:a="http://schemas.openxmlformats.org/drawingml/2006/main" noGrp="1"/>
          </p:cNvSpPr>
          <p:nvPr/>
        </p:nvSpPr>
        <p:spPr>
          <a:xfrm xmlns:a="http://schemas.openxmlformats.org/drawingml/2006/main">
            <a:off x="1028700" y="577215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D86464"/>
                </a:solidFill>
              </a:defRPr>
            </a:pPr>
            <a:r>
              <a:rPr sz="1275" b="1" i="0">
                <a:solidFill>
                  <a:srgbClr val="D86464"/>
                </a:solidFill>
              </a:rPr>
              <a:t>Snowflake 행은 이번 회의의 요청 사항입니다. 국내 상용화 단계와 프로그램 선정은 보험사 연동·인수·심사 또는 미국 성과를 입증하지 않습니다.</a:t>
            </a:r>
          </a:p>
        </p:txBody>
      </p:sp>
    </p:spTree>
    <p:extLst>
      <p:ext uri="{BB962C8B-B14F-4D97-AF65-F5344CB8AC3E}">
        <p14:creationId xmlns:p14="http://schemas.microsoft.com/office/powerpoint/2010/main" val="1006816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2026-08-09T00:45:53.2430000Z</dcterms:created>
  <dcterms:modified xsi:type="dcterms:W3CDTF">2026-08-09T00:45:53.2430000Z</dcterms:modified>
</coreProperties>
</file>