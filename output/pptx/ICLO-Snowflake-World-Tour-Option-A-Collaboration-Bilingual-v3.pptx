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26db863331424c" /><Relationship Type="http://schemas.openxmlformats.org/officeDocument/2006/relationships/extended-properties" Target="/docProps/app.xml" Id="R62146fa34f78459e" /><Relationship Type="http://schemas.openxmlformats.org/officeDocument/2006/relationships/officeDocument" Target="/ppt/presentation.xml" Id="R21cfffb64f0745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372f226fb14a4c"/>
  </p:sldMasterIdLst>
  <p:notesMasterIdLst>
    <p:notesMasterId xmlns:r="http://schemas.openxmlformats.org/officeDocument/2006/relationships" r:id="R27e3fa32853f4ef0"/>
  </p:notesMasterIdLst>
  <p:sldIdLst>
    <p:sldId xmlns:r="http://schemas.openxmlformats.org/officeDocument/2006/relationships" id="256" r:id="R451b7242349e4d66"/>
    <p:sldId xmlns:r="http://schemas.openxmlformats.org/officeDocument/2006/relationships" id="257" r:id="R693ed9a45c644fff"/>
    <p:sldId xmlns:r="http://schemas.openxmlformats.org/officeDocument/2006/relationships" id="258" r:id="R844425fa8d6b4ad6"/>
    <p:sldId xmlns:r="http://schemas.openxmlformats.org/officeDocument/2006/relationships" id="259" r:id="Rc52a8f3e95214e49"/>
    <p:sldId xmlns:r="http://schemas.openxmlformats.org/officeDocument/2006/relationships" id="260" r:id="Rf75acbbf5920466f"/>
    <p:sldId xmlns:r="http://schemas.openxmlformats.org/officeDocument/2006/relationships" id="261" r:id="R422db1d0b8764f38"/>
    <p:sldId xmlns:r="http://schemas.openxmlformats.org/officeDocument/2006/relationships" id="262" r:id="R5e8f2f940a6746f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926fe7274f4825" /><Relationship Type="http://schemas.openxmlformats.org/officeDocument/2006/relationships/slideMaster" Target="/ppt/slideMasters/slideMaster1.xml" Id="R9f372f226fb14a4c" /><Relationship Type="http://schemas.openxmlformats.org/officeDocument/2006/relationships/notesMaster" Target="/ppt/notesMasters/notesMaster1.xml" Id="R27e3fa32853f4ef0" /><Relationship Type="http://schemas.openxmlformats.org/officeDocument/2006/relationships/presProps" Target="/ppt/presProps.xml" Id="Rd617f5005d44413c" /><Relationship Type="http://schemas.openxmlformats.org/officeDocument/2006/relationships/tableStyles" Target="/ppt/tableStyles.xml" Id="Rc1381bfcfa894b13" /><Relationship Type="http://schemas.openxmlformats.org/officeDocument/2006/relationships/slide" Target="/ppt/slides/slide1.xml" Id="R451b7242349e4d66" /><Relationship Type="http://schemas.openxmlformats.org/officeDocument/2006/relationships/slide" Target="/ppt/slides/slide2.xml" Id="R693ed9a45c644fff" /><Relationship Type="http://schemas.openxmlformats.org/officeDocument/2006/relationships/slide" Target="/ppt/slides/slide3.xml" Id="R844425fa8d6b4ad6" /><Relationship Type="http://schemas.openxmlformats.org/officeDocument/2006/relationships/slide" Target="/ppt/slides/slide4.xml" Id="Rc52a8f3e95214e49" /><Relationship Type="http://schemas.openxmlformats.org/officeDocument/2006/relationships/slide" Target="/ppt/slides/slide5.xml" Id="Rf75acbbf5920466f" /><Relationship Type="http://schemas.openxmlformats.org/officeDocument/2006/relationships/slide" Target="/ppt/slides/slide6.xml" Id="R422db1d0b8764f38" /><Relationship Type="http://schemas.openxmlformats.org/officeDocument/2006/relationships/slide" Target="/ppt/slides/slide7.xml" Id="R5e8f2f940a6746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ca5f06b08048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85c27ffd634635" /><Relationship Type="http://schemas.openxmlformats.org/officeDocument/2006/relationships/notesMaster" Target="/ppt/notesMasters/notesMaster1.xml" Id="Rabb8082a383346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929ca3240646d4" /><Relationship Type="http://schemas.openxmlformats.org/officeDocument/2006/relationships/notesMaster" Target="/ppt/notesMasters/notesMaster1.xml" Id="Rcc3bffe9628c46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c90c75fb614008" /><Relationship Type="http://schemas.openxmlformats.org/officeDocument/2006/relationships/notesMaster" Target="/ppt/notesMasters/notesMaster1.xml" Id="R1136dc716a2646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bd7c9e71c3490c" /><Relationship Type="http://schemas.openxmlformats.org/officeDocument/2006/relationships/notesMaster" Target="/ppt/notesMasters/notesMaster1.xml" Id="Ra1db68a98c864e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0963ceb0f24d27" /><Relationship Type="http://schemas.openxmlformats.org/officeDocument/2006/relationships/notesMaster" Target="/ppt/notesMasters/notesMaster1.xml" Id="Rfbf484552ad548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89e755a8554eb7" /><Relationship Type="http://schemas.openxmlformats.org/officeDocument/2006/relationships/notesMaster" Target="/ppt/notesMasters/notesMaster1.xml" Id="R30d44fbf43234d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37410982da47a6" /><Relationship Type="http://schemas.openxmlformats.org/officeDocument/2006/relationships/notesMaster" Target="/ppt/notesMasters/notesMaster1.xml" Id="Rf4ebdf3105124d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부스 첫 5초 화면. ICLO를 치아 사진 AI가 아니라 employee dental-benefit navigation과 claims-verified aggregate evidence로 소개한다. 실사 이미지는 생성형 이미지이지만 텍스트·로고·UI는 이미지 안에 합성하지 않고 편집 가능한 레이어로 분리했다.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/Users/jk0307/Downloads/[스타트업 프로그램 코호트사용] 260827 Snowflake World Tour - Seoul - Startup Village Guide Deck (1).pdf</a:t>
            </a:r>
          </a:p>
          <a:p xmlns:a="http://schemas.openxmlformats.org/drawingml/2006/main">
            <a:r>
              <a:t>- User-provided ICLO positioning</a:t>
            </a:r>
          </a:p>
          <a:p xmlns:a="http://schemas.openxmlformats.org/drawingml/2006/main">
            <a:r>
              <a:t>- /Users/jk0307/Documents/GitHub/iclo/iclo-us-employee-dashboard/tmp/iclo-world-tour-v1/assets/hero-employee.png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Snowflake 고객사 임직원이 즉시 공감할 수 있도록 미국 치과보험 friction을 network, cost sharing, real availability의 세 질문으로 압축한다. Provider choice는 plan/network rules에 따라 제한되거나 경제적으로 불리해질 수 있다는 수준으로만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ICLO Snowflake external briefing source material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Employee app events, eligibility, plan/provider context와 claims를 Snowflake governed evidence plane에서 연결하되 raw oral image는 별도 U.S. object storage/PHI vault 경로에 둔다. 모델 신호와 예약/임상 routing을 시스템적으로 분리하고 employer에는 개인 신호를 제공하지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ICLO Snowflake external briefing addendum 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성과가 아니라 synthetic sample이다. 현장 설명 시 employee lens와 member lens, eligibility/claims 기준일, lag, completeness, n≥20 suppression을 먼저 가리킨다. employer가 개인 PHI를 보지 않는다는 점을 명확히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https://jangwookimbusiness-dev.github.io/iclo-us-employee-dashboard/</a:t>
            </a:r>
          </a:p>
          <a:p xmlns:a="http://schemas.openxmlformats.org/drawingml/2006/main">
            <a:r>
              <a:t>- /Users/jk0307/Documents/GitHub/iclo/iclo-us-employee-dashboard/index.html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J-curve는 planning hypothesis다. 첫해 예방 이용과 미치료 상태 발견으로 allowed, plan-paid, employee OOP가 서로 다르게 움직일 수 있다. 실제 ICLO 성과값으로 제시하지 않으며 year-one savings guarantee를 하지 않는다. Turnover sensitivity는 Snowflake analytics use case로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ICLO Snowflake external briefing addendum 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선정 사실은 사용자가 확인한 정보다. 프로그램 선정은 금융사 협업을 위한 검증 채널과 준비도의 신호로만 설명하고, 완료된 제휴·계약·성과로 표현하지 않는다. 화면의 인물 사진은 생성형 실사 이미지이며 실제 프로그램 관계자가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confirmation: Fintech Cube 9 and Shinhan Future’s Lab 12 selection</a:t>
            </a:r>
          </a:p>
          <a:p xmlns:a="http://schemas.openxmlformats.org/drawingml/2006/main">
            <a:r>
              <a:t>- https://fintech.or.kr/</a:t>
            </a:r>
          </a:p>
          <a:p xmlns:a="http://schemas.openxmlformats.org/drawingml/2006/main">
            <a:r>
              <a:t>- https://www.futureslab.kr/</a:t>
            </a:r>
          </a:p>
          <a:p xmlns:a="http://schemas.openxmlformats.org/drawingml/2006/main">
            <a:r>
              <a:t>- /Users/jk0307/Documents/GitHub/iclo/iclo-us-employee-dashboard/tmp/iclo-world-tour-v1/assets/collaboration-team.png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QR은 공개 synthetic dashboard로 연결된다. 리드 스캐너가 제공되지 않으므로 현장에서 질문을 받은 뒤 데모 QR을 보여주고, 별도 폼 또는 명함 수집 프로세스와 연결한다. Snowflake가 ICLO를 보증하거나 co-sell한다는 의미로 설명하지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/Users/jk0307/Downloads/[스타트업 프로그램 코호트사용] 260827 Snowflake World Tour - Seoul - Startup Village Guide Deck (1).pdf</a:t>
            </a:r>
          </a:p>
          <a:p xmlns:a="http://schemas.openxmlformats.org/drawingml/2006/main">
            <a:r>
              <a:t>- https://jangwookimbusiness-dev.github.io/iclo-us-employee-dashboard/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f426fd1f4545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0ce4c478b84768" /><Relationship Type="http://schemas.openxmlformats.org/officeDocument/2006/relationships/slideLayout" Target="/ppt/slideLayouts/slideLayout1.xml" Id="R56a7464e5a454f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a7464e5a454f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38f87e15484e01" /><Relationship Type="http://schemas.openxmlformats.org/officeDocument/2006/relationships/image" Target="/ppt/media/image.png" Id="R149a3766bd9c4958" /><Relationship Type="http://schemas.openxmlformats.org/officeDocument/2006/relationships/image" Target="/ppt/media/image2.png" Id="Rc8fb3b735167440b" /><Relationship Type="http://schemas.openxmlformats.org/officeDocument/2006/relationships/image" Target="/ppt/media/image3.png" Id="R4305fc545cb54bb4" /><Relationship Type="http://schemas.openxmlformats.org/officeDocument/2006/relationships/notesSlide" Target="/ppt/notesSlides/notesSlide1.xml" Id="R7172bebadac243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496b2fd15a4d23" /><Relationship Type="http://schemas.openxmlformats.org/officeDocument/2006/relationships/image" Target="/ppt/media/image4.png" Id="R01a5a6bcb4aa4713" /><Relationship Type="http://schemas.openxmlformats.org/officeDocument/2006/relationships/image" Target="/ppt/media/image5.png" Id="Rd1abff8a75f74ef6" /><Relationship Type="http://schemas.openxmlformats.org/officeDocument/2006/relationships/notesSlide" Target="/ppt/notesSlides/notesSlide2.xml" Id="Rc8489880e8654e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76561b126e412b" /><Relationship Type="http://schemas.openxmlformats.org/officeDocument/2006/relationships/image" Target="/ppt/media/image6.png" Id="R7f6264cbe6b149c1" /><Relationship Type="http://schemas.openxmlformats.org/officeDocument/2006/relationships/image" Target="/ppt/media/image7.png" Id="Rd892a01928b94686" /><Relationship Type="http://schemas.openxmlformats.org/officeDocument/2006/relationships/notesSlide" Target="/ppt/notesSlides/notesSlide3.xml" Id="Rb206d8626d564f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b8eeb8755b4fe1" /><Relationship Type="http://schemas.openxmlformats.org/officeDocument/2006/relationships/image" Target="/ppt/media/image8.png" Id="Rf37942b594d24067" /><Relationship Type="http://schemas.openxmlformats.org/officeDocument/2006/relationships/image" Target="/ppt/media/image9.png" Id="R60344365935f4f54" /><Relationship Type="http://schemas.openxmlformats.org/officeDocument/2006/relationships/image" Target="/ppt/media/image10.png" Id="R3f71451de2114ccf" /><Relationship Type="http://schemas.openxmlformats.org/officeDocument/2006/relationships/notesSlide" Target="/ppt/notesSlides/notesSlide4.xml" Id="R7cf22048d09f4b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084d833fe4a9b" /><Relationship Type="http://schemas.openxmlformats.org/officeDocument/2006/relationships/image" Target="/ppt/media/image11.png" Id="Redb61de0242c491c" /><Relationship Type="http://schemas.openxmlformats.org/officeDocument/2006/relationships/image" Target="/ppt/media/image12.png" Id="R95ceb39ab0ee462d" /><Relationship Type="http://schemas.openxmlformats.org/officeDocument/2006/relationships/notesSlide" Target="/ppt/notesSlides/notesSlide5.xml" Id="R2ede2cb7b8b04e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9f8703424450c" /><Relationship Type="http://schemas.openxmlformats.org/officeDocument/2006/relationships/image" Target="/ppt/media/image13.png" Id="R4285a606d7a64f75" /><Relationship Type="http://schemas.openxmlformats.org/officeDocument/2006/relationships/image" Target="/ppt/media/image14.png" Id="Ra0b87147dd6c4e86" /><Relationship Type="http://schemas.openxmlformats.org/officeDocument/2006/relationships/image" Target="/ppt/media/image15.png" Id="R63692d9bfbe543d3" /><Relationship Type="http://schemas.openxmlformats.org/officeDocument/2006/relationships/notesSlide" Target="/ppt/notesSlides/notesSlide6.xml" Id="R97a28b728af3443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1f5fb216024a90" /><Relationship Type="http://schemas.openxmlformats.org/officeDocument/2006/relationships/image" Target="/ppt/media/image16.png" Id="Re6a26c5538e24101" /><Relationship Type="http://schemas.openxmlformats.org/officeDocument/2006/relationships/image" Target="/ppt/media/image17.png" Id="Rcad7e8f615934895" /><Relationship Type="http://schemas.openxmlformats.org/officeDocument/2006/relationships/image" Target="/ppt/media/image18.png" Id="R95a4a3d40d424dc2" /><Relationship Type="http://schemas.openxmlformats.org/officeDocument/2006/relationships/notesSlide" Target="/ppt/notesSlides/notesSlide7.xml" Id="R82c3bd1b4a8d43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9a3766bd9c495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7E45FA-706A-4FCA-94F3-BBF06213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ADF002-5B5C-4D92-A5F7-75DED4ED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5C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fb3b735167440b"/>
          <a:stretch xmlns:a="http://schemas.openxmlformats.org/drawingml/2006/main"/>
        </p:blipFill>
        <p:spPr>
          <a:xfrm xmlns:a="http://schemas.openxmlformats.org/drawingml/2006/main">
            <a:off x="590579" y="476250"/>
            <a:ext cx="1123891" cy="41024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317CDC-7A69-4E72-BA84-782B826A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197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5E6A75"/>
                </a:solidFill>
              </a:defRPr>
            </a:pPr>
            <a:r>
              <a:rPr sz="1425" b="1" i="0">
                <a:solidFill>
                  <a:srgbClr val="5E6A75"/>
                </a:solidFill>
              </a:rPr>
              <a:t>×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05fc545cb54bb4"/>
          <a:stretch xmlns:a="http://schemas.openxmlformats.org/drawingml/2006/main"/>
        </p:blipFill>
        <p:spPr>
          <a:xfrm xmlns:a="http://schemas.openxmlformats.org/drawingml/2006/main">
            <a:off x="2171700" y="285911"/>
            <a:ext cx="1600200" cy="90059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A085EF-9D78-47EA-8337-6204118A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7D82"/>
                </a:solidFill>
              </a:defRPr>
            </a:pPr>
            <a:r>
              <a:rPr sz="900" b="1" i="0">
                <a:solidFill>
                  <a:srgbClr val="167D82"/>
                </a:solidFill>
              </a:rPr>
              <a:t>EMPLOYEE DENTAL BENEFITS / 직원 치과 복지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05D2B0-E6B1-4AF5-82D2-84328488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581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75" b="1" i="0">
                <a:solidFill>
                  <a:srgbClr val="12243A"/>
                </a:solidFill>
              </a:defRPr>
            </a:pPr>
            <a:r>
              <a:rPr sz="3675" b="1" i="0">
                <a:solidFill>
                  <a:srgbClr val="12243A"/>
                </a:solidFill>
              </a:rPr>
              <a:t>MAKE DENTAL BENEFITS</a:t>
            </a:r>
          </a:p>
          <a:p xmlns:a="http://schemas.openxmlformats.org/drawingml/2006/main">
            <a:pPr algn="l">
              <a:defRPr sz="3675" b="1" i="0">
                <a:solidFill>
                  <a:srgbClr val="12243A"/>
                </a:solidFill>
              </a:defRPr>
            </a:pPr>
            <a:r>
              <a:rPr sz="3675" b="1" i="0">
                <a:solidFill>
                  <a:srgbClr val="12243A"/>
                </a:solidFill>
              </a:rPr>
              <a:t>EASIER TO USE.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5115DB-4A74-4107-8C99-774E255F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4364C"/>
                </a:solidFill>
              </a:defRPr>
            </a:pPr>
            <a:r>
              <a:rPr sz="1650" b="1" i="0">
                <a:solidFill>
                  <a:srgbClr val="24364C"/>
                </a:solidFill>
              </a:rPr>
              <a:t>직원이 치과 혜택을 더 쉽게 이해하고 이용하도록.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442EEA-D0A1-4BDD-A555-7D03C0CC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719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5C8"/>
          </a:solidFill>
          <a:ln xmlns:a="http://schemas.openxmlformats.org/drawingml/2006/main" w="0">
            <a:solidFill>
              <a:srgbClr val="55C5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969C13-0ACA-4037-AF25-454B7467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0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4364C"/>
                </a:solidFill>
              </a:defRPr>
            </a:pPr>
            <a:r>
              <a:rPr sz="1275" b="1" i="0">
                <a:solidFill>
                  <a:srgbClr val="24364C"/>
                </a:solidFill>
              </a:rPr>
              <a:t>Employees navigate care. Employers see claims-verified, aggregate evidence.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A65129-8A70-4453-9028-747C9FA6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0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A75"/>
                </a:solidFill>
              </a:defRPr>
            </a:pPr>
            <a:r>
              <a:rPr sz="1200" b="0" i="0">
                <a:solidFill>
                  <a:srgbClr val="5E6A75"/>
                </a:solidFill>
              </a:rPr>
              <a:t>직원은 진료를 탐색하고, 회사는 청구로 확인된 집계 근거를 봅니다.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AD51F0-3D63-4006-BD2A-FEFFB9C9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817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167D82"/>
                </a:solidFill>
              </a:defRPr>
            </a:pPr>
            <a:r>
              <a:rPr sz="938" b="1" i="0">
                <a:solidFill>
                  <a:srgbClr val="167D82"/>
                </a:solidFill>
              </a:rPr>
              <a:t>Employee navigation · Claims-verified evidence / 직원 내비게이션 · 청구 검증 근거</a:t>
            </a:r>
          </a:p>
        </p:txBody>
      </p:sp>
    </p:spTree>
    <p:extLst>
      <p:ext uri="{BB962C8B-B14F-4D97-AF65-F5344CB8AC3E}">
        <p14:creationId xmlns:p14="http://schemas.microsoft.com/office/powerpoint/2010/main" val="9144205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a5a6bcb4aa4713"/>
          <a:stretch xmlns:a="http://schemas.openxmlformats.org/drawingml/2006/main"/>
        </p:blipFill>
        <p:spPr>
          <a:xfrm xmlns:a="http://schemas.openxmlformats.org/drawingml/2006/main">
            <a:off x="8601098" y="476250"/>
            <a:ext cx="876254" cy="319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CADAD-B436-4871-BE2B-CD3ECFA9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6197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5E6A75"/>
                </a:solidFill>
              </a:defRPr>
            </a:pPr>
            <a:r>
              <a:rPr sz="1425" b="1" i="0">
                <a:solidFill>
                  <a:srgbClr val="5E6A75"/>
                </a:solidFill>
              </a:rPr>
              <a:t>×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abff8a75f74ef6"/>
          <a:stretch xmlns:a="http://schemas.openxmlformats.org/drawingml/2006/main"/>
        </p:blipFill>
        <p:spPr>
          <a:xfrm xmlns:a="http://schemas.openxmlformats.org/drawingml/2006/main">
            <a:off x="9934575" y="285938"/>
            <a:ext cx="1866900" cy="105069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8B2AB7-D3C0-4752-AEA9-96266EF3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953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2243A"/>
                </a:solidFill>
              </a:defRPr>
            </a:pPr>
            <a:r>
              <a:rPr sz="2700" b="1" i="0">
                <a:solidFill>
                  <a:srgbClr val="12243A"/>
                </a:solidFill>
              </a:rPr>
              <a:t>Coverage does not solve navigation.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B71A09-DB9A-465D-9227-E9A9600A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795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A75"/>
                </a:solidFill>
              </a:defRPr>
            </a:pPr>
            <a:r>
              <a:rPr sz="1350" b="0" i="0">
                <a:solidFill>
                  <a:srgbClr val="5E6A75"/>
                </a:solidFill>
              </a:rPr>
              <a:t>보험이 있어도, 이용은 여전히 어렵습니다.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BF3F1A-3158-43C1-AD5F-060689BD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287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F"/>
          </a:solidFill>
          <a:ln xmlns:a="http://schemas.openxmlformats.org/drawingml/2006/main" w="0">
            <a:solidFill>
              <a:srgbClr val="D7DE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5A9E16-1EF9-4A84-A490-35B19310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28775"/>
            <a:ext cx="1028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5C8"/>
          </a:solidFill>
          <a:ln xmlns:a="http://schemas.openxmlformats.org/drawingml/2006/main" w="0">
            <a:solidFill>
              <a:srgbClr val="55C5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FB9771-DDC5-49A8-BFCA-5DDFB4BA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F"/>
          </a:solidFill>
          <a:ln xmlns:a="http://schemas.openxmlformats.org/drawingml/2006/main" w="0">
            <a:solidFill>
              <a:srgbClr val="D7DE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0556E2-A914-45D7-B4B5-12ED8DD2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E6A75"/>
                </a:solidFill>
              </a:defRPr>
            </a:pPr>
            <a:r>
              <a:rPr sz="788" b="0" i="0">
                <a:solidFill>
                  <a:srgbClr val="5E6A75"/>
                </a:solidFill>
              </a:rPr>
              <a:t>ICLO · SNOWFLAKE WORLD TOUR SEOUL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64DD49-6C07-4784-B39D-5964CD6A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 i="0">
                <a:solidFill>
                  <a:srgbClr val="5E6A75"/>
                </a:solidFill>
              </a:defRPr>
            </a:pPr>
            <a:r>
              <a:rPr sz="788" b="0" i="0">
                <a:solidFill>
                  <a:srgbClr val="5E6A75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C15902-7696-44F4-BCB0-4480EB11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2243A"/>
                </a:solidFill>
              </a:defRPr>
            </a:pPr>
            <a:r>
              <a:rPr sz="2400" b="1" i="0">
                <a:solidFill>
                  <a:srgbClr val="12243A"/>
                </a:solidFill>
              </a:rPr>
              <a:t>WHERE TO GO?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9BCE8C-C8AC-478A-8081-AE93686C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813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E6A75"/>
                </a:solidFill>
              </a:defRPr>
            </a:pPr>
            <a:r>
              <a:rPr sz="1350" b="1" i="0">
                <a:solidFill>
                  <a:srgbClr val="5E6A75"/>
                </a:solidFill>
              </a:rPr>
              <a:t>어디로 갈까?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267BFA-8DE7-44AD-86A3-DF40D0F7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480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67D82"/>
                </a:solidFill>
              </a:defRPr>
            </a:pPr>
            <a:r>
              <a:rPr sz="1425" b="1" i="0">
                <a:solidFill>
                  <a:srgbClr val="167D82"/>
                </a:solidFill>
              </a:rPr>
              <a:t>IN-NETWORK CARE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7A054F-E167-4064-B567-1B5D2734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4364C"/>
                </a:solidFill>
              </a:defRPr>
            </a:pPr>
            <a:r>
              <a:rPr sz="1200" b="0" i="0">
                <a:solidFill>
                  <a:srgbClr val="24364C"/>
                </a:solidFill>
              </a:rPr>
              <a:t>내 플랜에 맞는 네트워크 치과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2C0153-7E1B-48C1-AF6E-7CB14A45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190750"/>
            <a:ext cx="9525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F"/>
          </a:solidFill>
          <a:ln xmlns:a="http://schemas.openxmlformats.org/drawingml/2006/main" w="0">
            <a:solidFill>
              <a:srgbClr val="D7DE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651218-12BE-46D3-A350-77F99355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3812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2243A"/>
                </a:solidFill>
              </a:defRPr>
            </a:pPr>
            <a:r>
              <a:rPr sz="2400" b="1" i="0">
                <a:solidFill>
                  <a:srgbClr val="12243A"/>
                </a:solidFill>
              </a:rPr>
              <a:t>HOW MUCH?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9C7634-8C3A-4A0C-A56F-F9E1EAD8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9813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E6A75"/>
                </a:solidFill>
              </a:defRPr>
            </a:pPr>
            <a:r>
              <a:rPr sz="1350" b="1" i="0">
                <a:solidFill>
                  <a:srgbClr val="5E6A75"/>
                </a:solidFill>
              </a:rPr>
              <a:t>얼마가 들까?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D2D0D5-C771-4070-A6BD-58756DFE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6480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67D82"/>
                </a:solidFill>
              </a:defRPr>
            </a:pPr>
            <a:r>
              <a:rPr sz="1425" b="1" i="0">
                <a:solidFill>
                  <a:srgbClr val="167D82"/>
                </a:solidFill>
              </a:rPr>
              <a:t>OOP · DEDUCTIBLE · MAX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AFE2A1-5A6B-409A-847E-40EC6893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0957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4364C"/>
                </a:solidFill>
              </a:defRPr>
            </a:pPr>
            <a:r>
              <a:rPr sz="1200" b="0" i="0">
                <a:solidFill>
                  <a:srgbClr val="24364C"/>
                </a:solidFill>
              </a:rPr>
              <a:t>본인부담·공제액·연간 한도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EA9361-913F-4D77-AF2B-17820F10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190750"/>
            <a:ext cx="9525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F"/>
          </a:solidFill>
          <a:ln xmlns:a="http://schemas.openxmlformats.org/drawingml/2006/main" w="0">
            <a:solidFill>
              <a:srgbClr val="D7DE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6DE50E-CAD7-432E-B33D-81325E48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812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2243A"/>
                </a:solidFill>
              </a:defRPr>
            </a:pPr>
            <a:r>
              <a:rPr sz="2400" b="1" i="0">
                <a:solidFill>
                  <a:srgbClr val="12243A"/>
                </a:solidFill>
              </a:rPr>
              <a:t>WHEN?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FFC471-5902-4C9A-804D-4ACF3F0B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813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E6A75"/>
                </a:solidFill>
              </a:defRPr>
            </a:pPr>
            <a:r>
              <a:rPr sz="1350" b="1" i="0">
                <a:solidFill>
                  <a:srgbClr val="5E6A75"/>
                </a:solidFill>
              </a:rPr>
              <a:t>언제 갈 수 있을까?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12C734-BA1D-4FF8-80F8-DD635351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480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67D82"/>
                </a:solidFill>
              </a:defRPr>
            </a:pPr>
            <a:r>
              <a:rPr sz="1425" b="1" i="0">
                <a:solidFill>
                  <a:srgbClr val="167D82"/>
                </a:solidFill>
              </a:rPr>
              <a:t>REAL AVAILABILITY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B55B96-F0DF-42F5-A188-F22B0912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957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4364C"/>
                </a:solidFill>
              </a:defRPr>
            </a:pPr>
            <a:r>
              <a:rPr sz="1200" b="0" i="0">
                <a:solidFill>
                  <a:srgbClr val="24364C"/>
                </a:solidFill>
              </a:rPr>
              <a:t>디렉터리가 아닌 실제 예약 가능성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4B9AF2-B3FE-419E-A4C7-FE5E2809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62550"/>
            <a:ext cx="11087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5C8"/>
          </a:solidFill>
          <a:ln xmlns:a="http://schemas.openxmlformats.org/drawingml/2006/main" w="0">
            <a:solidFill>
              <a:srgbClr val="55C5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06B302-BEBD-43B6-A954-9106BBFC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483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243A"/>
                </a:solidFill>
              </a:defRPr>
            </a:pPr>
            <a:r>
              <a:rPr sz="1650" b="1" i="0">
                <a:solidFill>
                  <a:srgbClr val="12243A"/>
                </a:solidFill>
              </a:rPr>
              <a:t>Employees rarely see all three in one place.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9AA6BD-4A1E-4D88-82CC-2EB224F1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57875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A75"/>
                </a:solidFill>
              </a:defRPr>
            </a:pPr>
            <a:r>
              <a:rPr sz="1200" b="0" i="0">
                <a:solidFill>
                  <a:srgbClr val="5E6A75"/>
                </a:solidFill>
              </a:rPr>
              <a:t>직원은 이 세 가지를 한 번에 확인하기 어렵습니다.</a:t>
            </a:r>
          </a:p>
        </p:txBody>
      </p:sp>
    </p:spTree>
    <p:extLst>
      <p:ext uri="{BB962C8B-B14F-4D97-AF65-F5344CB8AC3E}">
        <p14:creationId xmlns:p14="http://schemas.microsoft.com/office/powerpoint/2010/main" val="9502375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6264cbe6b149c1"/>
          <a:stretch xmlns:a="http://schemas.openxmlformats.org/drawingml/2006/main"/>
        </p:blipFill>
        <p:spPr>
          <a:xfrm xmlns:a="http://schemas.openxmlformats.org/drawingml/2006/main">
            <a:off x="8601098" y="476250"/>
            <a:ext cx="876254" cy="319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EE39DC-AFC8-46C0-A625-F9617841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6197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5E6A75"/>
                </a:solidFill>
              </a:defRPr>
            </a:pPr>
            <a:r>
              <a:rPr sz="1425" b="1" i="0">
                <a:solidFill>
                  <a:srgbClr val="5E6A75"/>
                </a:solidFill>
              </a:rPr>
              <a:t>×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92a01928b94686"/>
          <a:stretch xmlns:a="http://schemas.openxmlformats.org/drawingml/2006/main"/>
        </p:blipFill>
        <p:spPr>
          <a:xfrm xmlns:a="http://schemas.openxmlformats.org/drawingml/2006/main">
            <a:off x="9934575" y="285938"/>
            <a:ext cx="1866900" cy="105069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583ADB-CC94-4043-9E01-209A761C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953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2243A"/>
                </a:solidFill>
              </a:defRPr>
            </a:pPr>
            <a:r>
              <a:rPr sz="2700" b="1" i="0">
                <a:solidFill>
                  <a:srgbClr val="12243A"/>
                </a:solidFill>
              </a:rPr>
              <a:t>Navigation in front. Evidence in back.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5CC29F-E56E-48B7-8094-F336FB4B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795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A75"/>
                </a:solidFill>
              </a:defRPr>
            </a:pPr>
            <a:r>
              <a:rPr sz="1350" b="0" i="0">
                <a:solidFill>
                  <a:srgbClr val="5E6A75"/>
                </a:solidFill>
              </a:rPr>
              <a:t>앞에서는 내비게이션. 뒤에서는 증거.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3E1525-5C60-41B5-B2D1-854888EE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287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F"/>
          </a:solidFill>
          <a:ln xmlns:a="http://schemas.openxmlformats.org/drawingml/2006/main" w="0">
            <a:solidFill>
              <a:srgbClr val="D7DE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2684C6-3C60-4747-AAFD-8CCEFB4B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28775"/>
            <a:ext cx="1028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5C8"/>
          </a:solidFill>
          <a:ln xmlns:a="http://schemas.openxmlformats.org/drawingml/2006/main" w="0">
            <a:solidFill>
              <a:srgbClr val="55C5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FED0F6-0764-4246-ABEC-738AA0D6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F"/>
          </a:solidFill>
          <a:ln xmlns:a="http://schemas.openxmlformats.org/drawingml/2006/main" w="0">
            <a:solidFill>
              <a:srgbClr val="D7DE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7C93E0-1ED3-4CC0-8B5B-2A523405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E6A75"/>
                </a:solidFill>
              </a:defRPr>
            </a:pPr>
            <a:r>
              <a:rPr sz="788" b="0" i="0">
                <a:solidFill>
                  <a:srgbClr val="5E6A75"/>
                </a:solidFill>
              </a:rPr>
              <a:t>ICLO · SNOWFLAKE WORLD TOUR SEOUL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90587A-CE2B-4DD1-8A10-91D41DED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 i="0">
                <a:solidFill>
                  <a:srgbClr val="5E6A75"/>
                </a:solidFill>
              </a:defRPr>
            </a:pPr>
            <a:r>
              <a:rPr sz="788" b="0" i="0">
                <a:solidFill>
                  <a:srgbClr val="5E6A75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55F550-21D6-4032-908C-90CACEFE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2952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6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E3E98B-3650-4FAA-8273-8F33C075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76450"/>
            <a:ext cx="2952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1224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155FC5-B7D2-414D-8F80-6D43719F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66950"/>
            <a:ext cx="2952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7"/>
          </a:solidFill>
          <a:ln xmlns:a="http://schemas.openxmlformats.org/drawingml/2006/main" w="9525">
            <a:solidFill>
              <a:srgbClr val="55C5C8"/>
            </a:solidFill>
            <a:prstDash val="solid"/>
          </a:ln>
        </p:spPr>
      </p:sp>
      <p:cxnSp>
        <p:nvCxnSpPr>
          <p:cNvPr id="50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505200" y="3314700"/>
            <a:ext cx="11144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7D82"/>
            </a:solidFill>
            <a:prstDash val="solid"/>
            <a:headEnd type="none" w="med" len="med"/>
          </a:ln>
        </p:spPr>
      </p:cxnSp>
      <p:cxnSp>
        <p:nvCxnSpPr>
          <p:cNvPr id="51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572375" y="3314700"/>
            <a:ext cx="11144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7D82"/>
            </a:solidFill>
            <a:prstDash val="solid"/>
            <a:headEnd type="non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4DA0E3-9F66-4EDC-BD2F-2E0B90AF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90850"/>
            <a:ext cx="742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167D82"/>
                </a:solidFill>
              </a:defRPr>
            </a:pPr>
            <a:r>
              <a:rPr sz="2550" b="1" i="0">
                <a:solidFill>
                  <a:srgbClr val="167D82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FBD579-C560-4653-9E16-2C761FA8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990850"/>
            <a:ext cx="742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167D82"/>
                </a:solidFill>
              </a:defRPr>
            </a:pPr>
            <a:r>
              <a:rPr sz="2550" b="1" i="0">
                <a:solidFill>
                  <a:srgbClr val="167D82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C59384-FB85-4EDB-9FFF-121FFA97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2243A"/>
                </a:solidFill>
              </a:defRPr>
            </a:pPr>
            <a:r>
              <a:rPr sz="1575" b="1" i="0">
                <a:solidFill>
                  <a:srgbClr val="12243A"/>
                </a:solidFill>
              </a:rPr>
              <a:t>Employee experience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53CDBF-A335-422E-A1D0-8DA4E4EB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A75"/>
                </a:solidFill>
              </a:defRPr>
            </a:pPr>
            <a:r>
              <a:rPr sz="1200" b="0" i="0">
                <a:solidFill>
                  <a:srgbClr val="5E6A75"/>
                </a:solidFill>
              </a:rPr>
              <a:t>직원 경험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2E5148-373A-4F82-9442-A189F319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247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1" i="0">
                <a:solidFill>
                  <a:srgbClr val="24364C"/>
                </a:solidFill>
              </a:defRPr>
            </a:pPr>
            <a:r>
              <a:rPr sz="1088" b="1" i="0">
                <a:solidFill>
                  <a:srgbClr val="24364C"/>
                </a:solidFill>
              </a:rPr>
              <a:t>Benefit understanding</a:t>
            </a:r>
          </a:p>
          <a:p xmlns:a="http://schemas.openxmlformats.org/drawingml/2006/main">
            <a:pPr algn="l">
              <a:defRPr sz="1088" b="1" i="0">
                <a:solidFill>
                  <a:srgbClr val="24364C"/>
                </a:solidFill>
              </a:defRPr>
            </a:pPr>
            <a:r>
              <a:rPr sz="1088" b="1" i="0">
                <a:solidFill>
                  <a:srgbClr val="24364C"/>
                </a:solidFill>
              </a:rPr>
              <a:t>혜택 이해</a:t>
            </a:r>
          </a:p>
          <a:p xmlns:a="http://schemas.openxmlformats.org/drawingml/2006/main">
            <a:pPr algn="l">
              <a:defRPr sz="1088" b="1" i="0">
                <a:solidFill>
                  <a:srgbClr val="24364C"/>
                </a:solidFill>
              </a:defRPr>
            </a:pPr>
            <a:r>
              <a:rPr sz="1088" b="1" i="0">
                <a:solidFill>
                  <a:srgbClr val="24364C"/>
                </a:solidFill>
              </a:rPr>
              <a:t>Network context</a:t>
            </a:r>
          </a:p>
          <a:p xmlns:a="http://schemas.openxmlformats.org/drawingml/2006/main">
            <a:pPr algn="l">
              <a:defRPr sz="1088" b="1" i="0">
                <a:solidFill>
                  <a:srgbClr val="24364C"/>
                </a:solidFill>
              </a:defRPr>
            </a:pPr>
            <a:r>
              <a:rPr sz="1088" b="1" i="0">
                <a:solidFill>
                  <a:srgbClr val="24364C"/>
                </a:solidFill>
              </a:rPr>
              <a:t>네트워크 맥락</a:t>
            </a:r>
          </a:p>
          <a:p xmlns:a="http://schemas.openxmlformats.org/drawingml/2006/main">
            <a:pPr algn="l">
              <a:defRPr sz="1088" b="1" i="0">
                <a:solidFill>
                  <a:srgbClr val="24364C"/>
                </a:solidFill>
              </a:defRPr>
            </a:pPr>
            <a:r>
              <a:rPr sz="1088" b="1" i="0">
                <a:solidFill>
                  <a:srgbClr val="24364C"/>
                </a:solidFill>
              </a:rPr>
              <a:t>Requested support</a:t>
            </a:r>
          </a:p>
          <a:p xmlns:a="http://schemas.openxmlformats.org/drawingml/2006/main">
            <a:pPr algn="l">
              <a:defRPr sz="1088" b="1" i="0">
                <a:solidFill>
                  <a:srgbClr val="24364C"/>
                </a:solidFill>
              </a:defRPr>
            </a:pPr>
            <a:r>
              <a:rPr sz="1088" b="1" i="0">
                <a:solidFill>
                  <a:srgbClr val="24364C"/>
                </a:solidFill>
              </a:rPr>
              <a:t>직원 요청 지원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4F15B0-65CD-4F5E-84C2-9035AB3C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314575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Snowflake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BAA58A-C025-4DFE-B4A0-BE420A09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705100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BFD1DD"/>
                </a:solidFill>
              </a:defRPr>
            </a:pPr>
            <a:r>
              <a:rPr sz="1200" b="0" i="0">
                <a:solidFill>
                  <a:srgbClr val="BFD1DD"/>
                </a:solidFill>
              </a:rPr>
              <a:t>Governed evidence plane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C5E106-F298-485C-B9E1-C86A175A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95275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BFD1DD"/>
                </a:solidFill>
              </a:defRPr>
            </a:pPr>
            <a:r>
              <a:rPr sz="1050" b="0" i="0">
                <a:solidFill>
                  <a:srgbClr val="BFD1DD"/>
                </a:solidFill>
              </a:rPr>
              <a:t>관리형 증거 레이어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C4D46F-FA22-4826-9256-7F5BEC4F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190875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5E8"/>
          </a:solidFill>
          <a:ln xmlns:a="http://schemas.openxmlformats.org/drawingml/2006/main" w="0">
            <a:solidFill>
              <a:srgbClr val="29B5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6AA92B-4598-4FCD-98F7-62A52B65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4805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1" i="0">
                <a:solidFill>
                  <a:srgbClr val="FFFFFF"/>
                </a:solidFill>
              </a:defRPr>
            </a:pPr>
            <a:r>
              <a:rPr sz="1088" b="1" i="0">
                <a:solidFill>
                  <a:srgbClr val="FFFFFF"/>
                </a:solidFill>
              </a:rPr>
              <a:t>ELIGIBILITY + PLAN</a:t>
            </a:r>
          </a:p>
          <a:p xmlns:a="http://schemas.openxmlformats.org/drawingml/2006/main">
            <a:pPr algn="ctr">
              <a:defRPr sz="1088" b="1" i="0">
                <a:solidFill>
                  <a:srgbClr val="FFFFFF"/>
                </a:solidFill>
              </a:defRPr>
            </a:pPr>
            <a:r>
              <a:rPr sz="1088" b="1" i="0">
                <a:solidFill>
                  <a:srgbClr val="FFFFFF"/>
                </a:solidFill>
              </a:rPr>
              <a:t>자격·플랜</a:t>
            </a:r>
          </a:p>
          <a:p xmlns:a="http://schemas.openxmlformats.org/drawingml/2006/main">
            <a:pPr algn="ctr">
              <a:defRPr sz="1088" b="1" i="0">
                <a:solidFill>
                  <a:srgbClr val="FFFFFF"/>
                </a:solidFill>
              </a:defRPr>
            </a:pPr>
            <a:r>
              <a:rPr sz="1088" b="1" i="0">
                <a:solidFill>
                  <a:srgbClr val="FFFFFF"/>
                </a:solidFill>
              </a:rPr>
              <a:t>APP EVENTS + CLAIMS</a:t>
            </a:r>
          </a:p>
          <a:p xmlns:a="http://schemas.openxmlformats.org/drawingml/2006/main">
            <a:pPr algn="ctr">
              <a:defRPr sz="1088" b="1" i="0">
                <a:solidFill>
                  <a:srgbClr val="FFFFFF"/>
                </a:solidFill>
              </a:defRPr>
            </a:pPr>
            <a:r>
              <a:rPr sz="1088" b="1" i="0">
                <a:solidFill>
                  <a:srgbClr val="FFFFFF"/>
                </a:solidFill>
              </a:rPr>
              <a:t>앱 이벤트·청구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D506CF-8750-448D-8492-FF00A8A7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76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2243A"/>
                </a:solidFill>
              </a:defRPr>
            </a:pPr>
            <a:r>
              <a:rPr sz="1575" b="1" i="0">
                <a:solidFill>
                  <a:srgbClr val="12243A"/>
                </a:solidFill>
              </a:rPr>
              <a:t>Employer 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C22D64-7738-41B7-A7CB-0AB4D480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479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7D82"/>
                </a:solidFill>
              </a:defRPr>
            </a:pPr>
            <a:r>
              <a:rPr sz="1200" b="0" i="0">
                <a:solidFill>
                  <a:srgbClr val="167D82"/>
                </a:solidFill>
              </a:rPr>
              <a:t>기업 집계 근거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795188-20CC-4D97-AAED-1D6094EA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19450"/>
            <a:ext cx="247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1" i="0">
                <a:solidFill>
                  <a:srgbClr val="24364C"/>
                </a:solidFill>
              </a:defRPr>
            </a:pPr>
            <a:r>
              <a:rPr sz="1088" b="1" i="0">
                <a:solidFill>
                  <a:srgbClr val="24364C"/>
                </a:solidFill>
              </a:rPr>
              <a:t>Claims-confirmed use</a:t>
            </a:r>
          </a:p>
          <a:p xmlns:a="http://schemas.openxmlformats.org/drawingml/2006/main">
            <a:pPr algn="l">
              <a:defRPr sz="1088" b="1" i="0">
                <a:solidFill>
                  <a:srgbClr val="24364C"/>
                </a:solidFill>
              </a:defRPr>
            </a:pPr>
            <a:r>
              <a:rPr sz="1088" b="1" i="0">
                <a:solidFill>
                  <a:srgbClr val="24364C"/>
                </a:solidFill>
              </a:rPr>
              <a:t>청구로 확인된 이용</a:t>
            </a:r>
          </a:p>
          <a:p xmlns:a="http://schemas.openxmlformats.org/drawingml/2006/main">
            <a:pPr algn="l">
              <a:defRPr sz="1088" b="1" i="0">
                <a:solidFill>
                  <a:srgbClr val="24364C"/>
                </a:solidFill>
              </a:defRPr>
            </a:pPr>
            <a:r>
              <a:rPr sz="1088" b="1" i="0">
                <a:solidFill>
                  <a:srgbClr val="24364C"/>
                </a:solidFill>
              </a:rPr>
              <a:t>Allowed · paid · OOP</a:t>
            </a:r>
          </a:p>
          <a:p xmlns:a="http://schemas.openxmlformats.org/drawingml/2006/main">
            <a:pPr algn="l">
              <a:defRPr sz="1088" b="1" i="0">
                <a:solidFill>
                  <a:srgbClr val="24364C"/>
                </a:solidFill>
              </a:defRPr>
            </a:pPr>
            <a:r>
              <a:rPr sz="1088" b="1" i="0">
                <a:solidFill>
                  <a:srgbClr val="24364C"/>
                </a:solidFill>
              </a:rPr>
              <a:t>비용 주체별 구분</a:t>
            </a:r>
          </a:p>
          <a:p xmlns:a="http://schemas.openxmlformats.org/drawingml/2006/main">
            <a:pPr algn="l">
              <a:defRPr sz="1088" b="1" i="0">
                <a:solidFill>
                  <a:srgbClr val="24364C"/>
                </a:solidFill>
              </a:defRPr>
            </a:pPr>
            <a:r>
              <a:rPr sz="1088" b="1" i="0">
                <a:solidFill>
                  <a:srgbClr val="24364C"/>
                </a:solidFill>
              </a:rPr>
              <a:t>Aggregate employer view</a:t>
            </a:r>
          </a:p>
          <a:p xmlns:a="http://schemas.openxmlformats.org/drawingml/2006/main">
            <a:pPr algn="l">
              <a:defRPr sz="1088" b="1" i="0">
                <a:solidFill>
                  <a:srgbClr val="24364C"/>
                </a:solidFill>
              </a:defRPr>
            </a:pPr>
            <a:r>
              <a:rPr sz="1088" b="1" i="0">
                <a:solidFill>
                  <a:srgbClr val="24364C"/>
                </a:solidFill>
              </a:rPr>
              <a:t>기업 집계 전용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AC4BA1-CBD0-4A65-9165-1A91431C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815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F"/>
          </a:solidFill>
          <a:ln xmlns:a="http://schemas.openxmlformats.org/drawingml/2006/main" w="0">
            <a:solidFill>
              <a:srgbClr val="D7DED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D47921-BE4C-42C1-B94A-689027B3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625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2243A"/>
                </a:solidFill>
              </a:defRPr>
            </a:pPr>
            <a:r>
              <a:rPr sz="975" b="1" i="0">
                <a:solidFill>
                  <a:srgbClr val="12243A"/>
                </a:solidFill>
              </a:rPr>
              <a:t>RAW ORAL IMAGES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D584CE-0FD9-4444-9F7E-36D7B2097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 i="0">
                <a:solidFill>
                  <a:srgbClr val="5E6A75"/>
                </a:solidFill>
              </a:defRPr>
            </a:pPr>
            <a:r>
              <a:rPr sz="1088" b="0" i="0">
                <a:solidFill>
                  <a:srgbClr val="5E6A75"/>
                </a:solidFill>
              </a:rPr>
              <a:t>원본 구강 이미지는 통제된 미국 내 저장소에 보관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CE4E32-96E4-408A-8AEC-440D8391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1625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67D82"/>
                </a:solidFill>
              </a:defRPr>
            </a:pPr>
            <a:r>
              <a:rPr sz="975" b="1" i="0">
                <a:solidFill>
                  <a:srgbClr val="167D82"/>
                </a:solidFill>
              </a:rPr>
              <a:t>SNOWFLAKE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1E4728-3E51-4169-824A-1CA977F1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4292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1" i="0">
                <a:solidFill>
                  <a:srgbClr val="24364C"/>
                </a:solidFill>
              </a:defRPr>
            </a:pPr>
            <a:r>
              <a:rPr sz="1088" b="1" i="0">
                <a:solidFill>
                  <a:srgbClr val="24364C"/>
                </a:solidFill>
              </a:rPr>
              <a:t>Authorized structured data + approved signals only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ADEDCF-55C4-4E9F-BEBF-93D6F7E9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686425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E6A75"/>
                </a:solidFill>
              </a:defRPr>
            </a:pPr>
            <a:r>
              <a:rPr sz="1050" b="0" i="0">
                <a:solidFill>
                  <a:srgbClr val="5E6A75"/>
                </a:solidFill>
              </a:rPr>
              <a:t>승인된 구조화 데이터와 신호만 저장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F47AE7-E8B2-48B7-9CF5-5FFB75B5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43600"/>
            <a:ext cx="1108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4364C"/>
                </a:solidFill>
              </a:defRPr>
            </a:pPr>
            <a:r>
              <a:rPr sz="1050" b="1" i="0">
                <a:solidFill>
                  <a:srgbClr val="24364C"/>
                </a:solidFill>
              </a:rPr>
              <a:t>Model signals stay separate from automated clinical routing.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752068-19FF-47B0-B24B-FE7528FF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81725"/>
            <a:ext cx="11087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 i="0">
                <a:solidFill>
                  <a:srgbClr val="5E6A75"/>
                </a:solidFill>
              </a:defRPr>
            </a:pPr>
            <a:r>
              <a:rPr sz="1013" b="0" i="0">
                <a:solidFill>
                  <a:srgbClr val="5E6A75"/>
                </a:solidFill>
              </a:rPr>
              <a:t>이미지 신호는 자동 임상 라우팅과 분리합니다.</a:t>
            </a:r>
          </a:p>
        </p:txBody>
      </p:sp>
    </p:spTree>
    <p:extLst>
      <p:ext uri="{BB962C8B-B14F-4D97-AF65-F5344CB8AC3E}">
        <p14:creationId xmlns:p14="http://schemas.microsoft.com/office/powerpoint/2010/main" val="12610355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7942b594d24067"/>
          <a:stretch xmlns:a="http://schemas.openxmlformats.org/drawingml/2006/main"/>
        </p:blipFill>
        <p:spPr>
          <a:xfrm xmlns:a="http://schemas.openxmlformats.org/drawingml/2006/main">
            <a:off x="8601098" y="476250"/>
            <a:ext cx="876254" cy="319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8DD91D-25F7-4422-9CE0-7E3C2756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6197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5E6A75"/>
                </a:solidFill>
              </a:defRPr>
            </a:pPr>
            <a:r>
              <a:rPr sz="1425" b="1" i="0">
                <a:solidFill>
                  <a:srgbClr val="5E6A75"/>
                </a:solidFill>
              </a:rPr>
              <a:t>×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344365935f4f54"/>
          <a:stretch xmlns:a="http://schemas.openxmlformats.org/drawingml/2006/main"/>
        </p:blipFill>
        <p:spPr>
          <a:xfrm xmlns:a="http://schemas.openxmlformats.org/drawingml/2006/main">
            <a:off x="9934575" y="285938"/>
            <a:ext cx="1866900" cy="105069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5E426D-8043-4EAE-830C-7B50CAF9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953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2243A"/>
                </a:solidFill>
              </a:defRPr>
            </a:pPr>
            <a:r>
              <a:rPr sz="2700" b="1" i="0">
                <a:solidFill>
                  <a:srgbClr val="12243A"/>
                </a:solidFill>
              </a:rPr>
              <a:t>Evidence begins with transparent definitions.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1211D0-2407-43C4-991A-2E001200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795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A75"/>
                </a:solidFill>
              </a:defRPr>
            </a:pPr>
            <a:r>
              <a:rPr sz="1350" b="0" i="0">
                <a:solidFill>
                  <a:srgbClr val="5E6A75"/>
                </a:solidFill>
              </a:rPr>
              <a:t>증거는 숫자보다 먼저, 정의가 보여야 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EE93A4-DA2E-4D2F-86E3-F7820A93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287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F"/>
          </a:solidFill>
          <a:ln xmlns:a="http://schemas.openxmlformats.org/drawingml/2006/main" w="0">
            <a:solidFill>
              <a:srgbClr val="D7DE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30777D-52EF-4411-884D-AC8A47B8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28775"/>
            <a:ext cx="1028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5C8"/>
          </a:solidFill>
          <a:ln xmlns:a="http://schemas.openxmlformats.org/drawingml/2006/main" w="0">
            <a:solidFill>
              <a:srgbClr val="55C5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01782A-B2AB-4D49-8C1B-39C120C4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F"/>
          </a:solidFill>
          <a:ln xmlns:a="http://schemas.openxmlformats.org/drawingml/2006/main" w="0">
            <a:solidFill>
              <a:srgbClr val="D7DE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DD30AB-AE83-4773-BBB7-86ACAFA6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E6A75"/>
                </a:solidFill>
              </a:defRPr>
            </a:pPr>
            <a:r>
              <a:rPr sz="788" b="0" i="0">
                <a:solidFill>
                  <a:srgbClr val="5E6A75"/>
                </a:solidFill>
              </a:rPr>
              <a:t>ICLO · SNOWFLAKE WORLD TOUR SEOUL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9FFC9C-502E-4D68-A60E-0540B00B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 i="0">
                <a:solidFill>
                  <a:srgbClr val="5E6A75"/>
                </a:solidFill>
              </a:defRPr>
            </a:pPr>
            <a:r>
              <a:rPr sz="788" b="0" i="0">
                <a:solidFill>
                  <a:srgbClr val="5E6A75"/>
                </a:solidFill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2FFA8B-B856-4EEB-9610-30A67678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1116330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71451de2114ccf"/>
          <a:stretch xmlns:a="http://schemas.openxmlformats.org/drawingml/2006/main"/>
        </p:blipFill>
        <p:spPr>
          <a:xfrm xmlns:a="http://schemas.openxmlformats.org/drawingml/2006/main">
            <a:off x="1325217" y="2914650"/>
            <a:ext cx="9541565" cy="30480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F69CE2-DC0E-4029-B2B1-723FC26F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666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5C8"/>
          </a:solidFill>
          <a:ln xmlns:a="http://schemas.openxmlformats.org/drawingml/2006/main" w="0">
            <a:solidFill>
              <a:srgbClr val="55C5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CB49DC-3E73-4BBD-A990-8C8D321B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 i="0">
                <a:solidFill>
                  <a:srgbClr val="167D82"/>
                </a:solidFill>
              </a:defRPr>
            </a:pPr>
            <a:r>
              <a:rPr sz="1013" b="1" i="0">
                <a:solidFill>
                  <a:srgbClr val="167D82"/>
                </a:solidFill>
              </a:rPr>
              <a:t>SYNTHETIC SAMPLE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E53AAC-D1AB-43E4-BEDB-4940D73C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24364C"/>
                </a:solidFill>
              </a:defRPr>
            </a:pPr>
            <a:r>
              <a:rPr sz="1013" b="0" i="0">
                <a:solidFill>
                  <a:srgbClr val="24364C"/>
                </a:solidFill>
              </a:rPr>
              <a:t>합성 데이터·예시용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510BDD-2E96-425A-B835-1B05F8BA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00250"/>
            <a:ext cx="666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5C8"/>
          </a:solidFill>
          <a:ln xmlns:a="http://schemas.openxmlformats.org/drawingml/2006/main" w="0">
            <a:solidFill>
              <a:srgbClr val="55C5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A9FFF1-7150-4761-9B6C-E933F1C5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81200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 i="0">
                <a:solidFill>
                  <a:srgbClr val="167D82"/>
                </a:solidFill>
              </a:defRPr>
            </a:pPr>
            <a:r>
              <a:rPr sz="1013" b="1" i="0">
                <a:solidFill>
                  <a:srgbClr val="167D82"/>
                </a:solidFill>
              </a:rPr>
              <a:t>EMPLOYEE / MEMBER LENS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FB0CA2-3C46-4313-B0D6-FD19A8EE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86000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24364C"/>
                </a:solidFill>
              </a:defRPr>
            </a:pPr>
            <a:r>
              <a:rPr sz="1013" b="0" i="0">
                <a:solidFill>
                  <a:srgbClr val="24364C"/>
                </a:solidFill>
              </a:rPr>
              <a:t>직원·가입자 기준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2EB862-B2D0-4FAF-A3D1-0489838C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00250"/>
            <a:ext cx="666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5C8"/>
          </a:solidFill>
          <a:ln xmlns:a="http://schemas.openxmlformats.org/drawingml/2006/main" w="0">
            <a:solidFill>
              <a:srgbClr val="55C5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C6F968-9550-4254-8A98-9A0B89C6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81200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 i="0">
                <a:solidFill>
                  <a:srgbClr val="167D82"/>
                </a:solidFill>
              </a:defRPr>
            </a:pPr>
            <a:r>
              <a:rPr sz="1013" b="1" i="0">
                <a:solidFill>
                  <a:srgbClr val="167D82"/>
                </a:solidFill>
              </a:rPr>
              <a:t>FRESHNESS + CLAIMS LAG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5A4582-41F9-4413-8D77-21C89620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86000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24364C"/>
                </a:solidFill>
              </a:defRPr>
            </a:pPr>
            <a:r>
              <a:rPr sz="1013" b="0" i="0">
                <a:solidFill>
                  <a:srgbClr val="24364C"/>
                </a:solidFill>
              </a:rPr>
              <a:t>기준일·청구 지연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0AB3DF-C7E7-48DF-8A67-98E7F2EC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00250"/>
            <a:ext cx="666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5C8"/>
          </a:solidFill>
          <a:ln xmlns:a="http://schemas.openxmlformats.org/drawingml/2006/main" w="0">
            <a:solidFill>
              <a:srgbClr val="55C5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E0A030-7EA0-45E2-A139-F2CC9258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981200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 i="0">
                <a:solidFill>
                  <a:srgbClr val="167D82"/>
                </a:solidFill>
              </a:defRPr>
            </a:pPr>
            <a:r>
              <a:rPr sz="1013" b="1" i="0">
                <a:solidFill>
                  <a:srgbClr val="167D82"/>
                </a:solidFill>
              </a:rPr>
              <a:t>AGGREGATE · n≥20 · NO PHI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466468-BD0D-42DF-8CC8-EB5B1A3C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86000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24364C"/>
                </a:solidFill>
              </a:defRPr>
            </a:pPr>
            <a:r>
              <a:rPr sz="1013" b="0" i="0">
                <a:solidFill>
                  <a:srgbClr val="24364C"/>
                </a:solidFill>
              </a:rPr>
              <a:t>집계 전용·개인 PHI 없음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08D03E-2ED5-48C1-A377-EB3B50B0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722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12243A"/>
                </a:solidFill>
              </a:defRPr>
            </a:pPr>
            <a:r>
              <a:rPr sz="938" b="1" i="0">
                <a:solidFill>
                  <a:srgbClr val="12243A"/>
                </a:solidFill>
              </a:rPr>
              <a:t>Not a performance claim—this demo makes data definitions and privacy visible.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B1756F-6F7E-492D-BA32-5E2EE81D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172200"/>
            <a:ext cx="468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38" b="0" i="0">
                <a:solidFill>
                  <a:srgbClr val="5E6A75"/>
                </a:solidFill>
              </a:defRPr>
            </a:pPr>
            <a:r>
              <a:rPr sz="938" b="0" i="0">
                <a:solidFill>
                  <a:srgbClr val="5E6A75"/>
                </a:solidFill>
              </a:rPr>
              <a:t>성과가 아닌 데이터 기준과 프라이버시 설계 예시입니다.</a:t>
            </a:r>
          </a:p>
        </p:txBody>
      </p:sp>
    </p:spTree>
    <p:extLst>
      <p:ext uri="{BB962C8B-B14F-4D97-AF65-F5344CB8AC3E}">
        <p14:creationId xmlns:p14="http://schemas.microsoft.com/office/powerpoint/2010/main" val="21142624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2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b61de0242c491c"/>
          <a:stretch xmlns:a="http://schemas.openxmlformats.org/drawingml/2006/main"/>
        </p:blipFill>
        <p:spPr>
          <a:xfrm xmlns:a="http://schemas.openxmlformats.org/drawingml/2006/main">
            <a:off x="8601098" y="476250"/>
            <a:ext cx="876254" cy="319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4EE141-575B-40C7-9EC5-2170EF42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6197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×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ceb39ab0ee462d"/>
          <a:stretch xmlns:a="http://schemas.openxmlformats.org/drawingml/2006/main"/>
        </p:blipFill>
        <p:spPr>
          <a:xfrm xmlns:a="http://schemas.openxmlformats.org/drawingml/2006/main">
            <a:off x="9934575" y="285938"/>
            <a:ext cx="1866900" cy="105069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5C93EB-60E1-4CF4-A1F1-CEF95FAE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953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FFFFF"/>
                </a:solidFill>
              </a:defRPr>
            </a:pPr>
            <a:r>
              <a:rPr sz="2700" b="1" i="0">
                <a:solidFill>
                  <a:srgbClr val="FFFFFF"/>
                </a:solidFill>
              </a:rPr>
              <a:t>No year-one savings promise.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8DACF4-8C3C-444C-BF08-E107EC9F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795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9D5DF"/>
                </a:solidFill>
              </a:defRPr>
            </a:pPr>
            <a:r>
              <a:rPr sz="1350" b="0" i="0">
                <a:solidFill>
                  <a:srgbClr val="C9D5DF"/>
                </a:solidFill>
              </a:rPr>
              <a:t>첫해 절감을 약속하지 않습니다.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5322BA-45AE-4E89-8AC5-ECE41AE9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287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8"/>
          </a:solidFill>
          <a:ln xmlns:a="http://schemas.openxmlformats.org/drawingml/2006/main" w="0">
            <a:solidFill>
              <a:srgbClr val="31435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647D54-0EC7-4ECB-BF05-722C73A1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28775"/>
            <a:ext cx="1028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5C8"/>
          </a:solidFill>
          <a:ln xmlns:a="http://schemas.openxmlformats.org/drawingml/2006/main" w="0">
            <a:solidFill>
              <a:srgbClr val="55C5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49EB10-09D4-4AA0-9F0E-E1FC61AF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8"/>
          </a:solidFill>
          <a:ln xmlns:a="http://schemas.openxmlformats.org/drawingml/2006/main" w="0">
            <a:solidFill>
              <a:srgbClr val="31435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84B079-C184-4A37-A4D9-8439E8B5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B7C4D0"/>
                </a:solidFill>
              </a:defRPr>
            </a:pPr>
            <a:r>
              <a:rPr sz="788" b="0" i="0">
                <a:solidFill>
                  <a:srgbClr val="B7C4D0"/>
                </a:solidFill>
              </a:rPr>
              <a:t>ICLO · SNOWFLAKE WORLD TOUR SEOUL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739B20-37B1-43E0-AF86-91E71DFF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 i="0">
                <a:solidFill>
                  <a:srgbClr val="B7C4D0"/>
                </a:solidFill>
              </a:defRPr>
            </a:pPr>
            <a:r>
              <a:rPr sz="788" b="0" i="0">
                <a:solidFill>
                  <a:srgbClr val="B7C4D0"/>
                </a:solidFill>
              </a:rPr>
              <a:t>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1E3756-0A5B-41BB-9680-99FB294C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D7922C"/>
                </a:solidFill>
              </a:defRPr>
            </a:pPr>
            <a:r>
              <a:rPr sz="863" b="1" i="0">
                <a:solidFill>
                  <a:srgbClr val="D7922C"/>
                </a:solidFill>
              </a:rPr>
              <a:t>ILLUSTRATIVE HYPOTHESIS - NOT AN OUTCOME / 예시 가설 - 실제 결과 아님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F3D500-C0BD-4817-90FE-E8360A06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552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D7E"/>
          </a:solidFill>
          <a:ln xmlns:a="http://schemas.openxmlformats.org/drawingml/2006/main" w="0">
            <a:solidFill>
              <a:srgbClr val="5B6D7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EC5313-AC93-4B51-9797-9BAD67E9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90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D7E"/>
          </a:solidFill>
          <a:ln xmlns:a="http://schemas.openxmlformats.org/drawingml/2006/main" w="0">
            <a:solidFill>
              <a:srgbClr val="5B6D7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7628BB-4BBD-4ACC-B627-F265A566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050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AEBBC5"/>
                </a:solidFill>
              </a:defRPr>
            </a:pPr>
            <a:r>
              <a:rPr sz="825" b="0" i="0">
                <a:solidFill>
                  <a:srgbClr val="AEBBC5"/>
                </a:solidFill>
              </a:rPr>
              <a:t>Plan-paid claims / 보험자 지급 청구액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A7E358-EDF9-4EF5-9A81-DE8B45C1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95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C5C8"/>
          </a:solidFill>
          <a:ln xmlns:a="http://schemas.openxmlformats.org/drawingml/2006/main" w="0">
            <a:solidFill>
              <a:srgbClr val="55C5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AFAFF6-F830-4ECB-BDD9-89FF1905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48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922C"/>
          </a:solidFill>
          <a:ln xmlns:a="http://schemas.openxmlformats.org/drawingml/2006/main" w="0">
            <a:solidFill>
              <a:srgbClr val="D7922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0CD371-A231-406C-888C-09D7C01F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76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C5C8"/>
          </a:solidFill>
          <a:ln xmlns:a="http://schemas.openxmlformats.org/drawingml/2006/main" w="0">
            <a:solidFill>
              <a:srgbClr val="55C5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D6A43C-90F6-4376-8825-7F1879C5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90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C5C8"/>
          </a:solidFill>
          <a:ln xmlns:a="http://schemas.openxmlformats.org/drawingml/2006/main" w="0">
            <a:solidFill>
              <a:srgbClr val="55C5C8"/>
            </a:solidFill>
            <a:prstDash val="solid"/>
          </a:ln>
        </p:spPr>
      </p:sp>
      <p:cxnSp>
        <p:nvCxnSpPr>
          <p:cNvPr id="58" name=""/>
          <p:cNvCxnSpPr>
            <a:stCxn xmlns:a="http://schemas.openxmlformats.org/drawingml/2006/main" id="15" idx="6"/>
            <a:endCxn xmlns:a="http://schemas.openxmlformats.org/drawingml/2006/main" id="16" idx="2"/>
          </p:cNvCxnSpPr>
          <p:nvPr/>
        </p:nvCxnSpPr>
        <p:spPr>
          <a:xfrm xmlns:a="http://schemas.openxmlformats.org/drawingml/2006/main" flipV="1">
            <a:off x="1504950" y="3124200"/>
            <a:ext cx="125730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55C5C8"/>
            </a:solidFill>
            <a:prstDash val="solid"/>
            <a:headEnd type="none" w="med" len="med"/>
          </a:ln>
        </p:spPr>
      </p:cxnSp>
      <p:cxnSp>
        <p:nvCxnSpPr>
          <p:cNvPr id="59" name=""/>
          <p:cNvCxnSpPr>
            <a:stCxn xmlns:a="http://schemas.openxmlformats.org/drawingml/2006/main" id="16" idx="6"/>
            <a:endCxn xmlns:a="http://schemas.openxmlformats.org/drawingml/2006/main" id="17" idx="2"/>
          </p:cNvCxnSpPr>
          <p:nvPr/>
        </p:nvCxnSpPr>
        <p:spPr>
          <a:xfrm xmlns:a="http://schemas.openxmlformats.org/drawingml/2006/main">
            <a:off x="2914650" y="3124200"/>
            <a:ext cx="131445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55C5C8"/>
            </a:solidFill>
            <a:prstDash val="solid"/>
            <a:headEnd type="none" w="med" len="med"/>
          </a:ln>
        </p:spPr>
      </p:cxnSp>
      <p:cxnSp>
        <p:nvCxnSpPr>
          <p:cNvPr id="60" name=""/>
          <p:cNvCxnSpPr>
            <a:stCxn xmlns:a="http://schemas.openxmlformats.org/drawingml/2006/main" id="17" idx="6"/>
            <a:endCxn xmlns:a="http://schemas.openxmlformats.org/drawingml/2006/main" id="18" idx="2"/>
          </p:cNvCxnSpPr>
          <p:nvPr/>
        </p:nvCxnSpPr>
        <p:spPr>
          <a:xfrm xmlns:a="http://schemas.openxmlformats.org/drawingml/2006/main">
            <a:off x="4381500" y="3552825"/>
            <a:ext cx="131445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55C5C8"/>
            </a:solidFill>
            <a:prstDash val="solid"/>
            <a:headEnd type="none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AA7E67-8CE0-4785-B28E-A49DEA19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197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 i="0">
                <a:solidFill>
                  <a:srgbClr val="C4D0D9"/>
                </a:solidFill>
              </a:defRPr>
            </a:pPr>
            <a:r>
              <a:rPr sz="938" b="0" i="0">
                <a:solidFill>
                  <a:srgbClr val="C4D0D9"/>
                </a:solidFill>
              </a:rPr>
              <a:t>Baseline / 기준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89BB1A-DBFD-4064-A787-4F7F8ACB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197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 i="0">
                <a:solidFill>
                  <a:srgbClr val="C4D0D9"/>
                </a:solidFill>
              </a:defRPr>
            </a:pPr>
            <a:r>
              <a:rPr sz="938" b="0" i="0">
                <a:solidFill>
                  <a:srgbClr val="C4D0D9"/>
                </a:solidFill>
              </a:rPr>
              <a:t>Year 1 / 1년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D5CA52-C633-4BD4-8227-52AE82AF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2197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 i="0">
                <a:solidFill>
                  <a:srgbClr val="C4D0D9"/>
                </a:solidFill>
              </a:defRPr>
            </a:pPr>
            <a:r>
              <a:rPr sz="938" b="0" i="0">
                <a:solidFill>
                  <a:srgbClr val="C4D0D9"/>
                </a:solidFill>
              </a:rPr>
              <a:t>Year 2 / 2년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7FA821-267A-4DE9-8BD7-7DF915BB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2197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 i="0">
                <a:solidFill>
                  <a:srgbClr val="C4D0D9"/>
                </a:solidFill>
              </a:defRPr>
            </a:pPr>
            <a:r>
              <a:rPr sz="938" b="0" i="0">
                <a:solidFill>
                  <a:srgbClr val="C4D0D9"/>
                </a:solidFill>
              </a:rPr>
              <a:t>Year 3 / 3년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55A6D6-E38C-4C24-9962-5BB46674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5527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D7922C"/>
                </a:solidFill>
              </a:defRPr>
            </a:pPr>
            <a:r>
              <a:rPr sz="1200" b="1" i="0">
                <a:solidFill>
                  <a:srgbClr val="D7922C"/>
                </a:solidFill>
              </a:rPr>
              <a:t>Prevention + discovered treatment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0844B5-8799-4078-A2E5-43802774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575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D6C09D"/>
                </a:solidFill>
              </a:defRPr>
            </a:pPr>
            <a:r>
              <a:rPr sz="975" b="0" i="0">
                <a:solidFill>
                  <a:srgbClr val="D6C09D"/>
                </a:solidFill>
              </a:rPr>
              <a:t>예방 이용 + 미치료 상태 발견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44976D-2586-49C2-921E-15D33D0B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90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5C5C8"/>
                </a:solidFill>
              </a:defRPr>
            </a:pPr>
            <a:r>
              <a:rPr sz="1125" b="1" i="0">
                <a:solidFill>
                  <a:srgbClr val="55C5C8"/>
                </a:solidFill>
              </a:rPr>
              <a:t>Year 1 / 1년차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04F03F-0436-469A-AEC7-7E7EFAAC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8602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Preventive use and discovered treatment can raise plan-paid claims.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57E02D-3941-4740-9C57-8971E4A4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765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7C4D0"/>
                </a:solidFill>
              </a:defRPr>
            </a:pPr>
            <a:r>
              <a:rPr sz="1050" b="0" i="0">
                <a:solidFill>
                  <a:srgbClr val="B7C4D0"/>
                </a:solidFill>
              </a:rPr>
              <a:t>예방진료와 발견된 치료로 보험자 지급액이 늘 수 있습니다.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B3C9E4-D167-4E6C-A2A7-37A5403F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147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5C5C8"/>
                </a:solidFill>
              </a:defRPr>
            </a:pPr>
            <a:r>
              <a:rPr sz="1125" b="1" i="0">
                <a:solidFill>
                  <a:srgbClr val="55C5C8"/>
                </a:solidFill>
              </a:rPr>
              <a:t>Years 2-3 / 2-3년차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A4BF91-6FC2-44EB-9E01-BEB7F540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0997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Treatment-mix change becomes measurable over time.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A3113F-7DDA-43FA-B819-63A9DBEE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005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7C4D0"/>
                </a:solidFill>
              </a:defRPr>
            </a:pPr>
            <a:r>
              <a:rPr sz="1050" b="0" i="0">
                <a:solidFill>
                  <a:srgbClr val="B7C4D0"/>
                </a:solidFill>
              </a:rPr>
              <a:t>치료 믹스 변화는 시간이 지나야 측정할 수 있습니다.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2ACD94-C9BF-498E-954D-3E75C1BC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386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5C5C8"/>
                </a:solidFill>
              </a:defRPr>
            </a:pPr>
            <a:r>
              <a:rPr sz="1125" b="1" i="0">
                <a:solidFill>
                  <a:srgbClr val="55C5C8"/>
                </a:solidFill>
              </a:rPr>
              <a:t>Turnover / 이직률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6C1942-5971-431E-B31E-C6AD07CE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73392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Tenure changes the economic and employee-experience case.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F7427D-2C7D-402E-86DB-0DA87534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1244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7C4D0"/>
                </a:solidFill>
              </a:defRPr>
            </a:pPr>
            <a:r>
              <a:rPr sz="1050" b="0" i="0">
                <a:solidFill>
                  <a:srgbClr val="B7C4D0"/>
                </a:solidFill>
              </a:rPr>
              <a:t>근속기간에 따라 비용·직원 경험의 가치 논리가 달라집니다.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662C2E-4428-4643-B7FE-CF49034A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657850"/>
            <a:ext cx="428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22C"/>
          </a:solidFill>
          <a:ln xmlns:a="http://schemas.openxmlformats.org/drawingml/2006/main" w="0">
            <a:solidFill>
              <a:srgbClr val="D7922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E5C286-B460-48E6-900C-362A98E4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7912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 i="0">
                <a:solidFill>
                  <a:srgbClr val="FFFFFF"/>
                </a:solidFill>
              </a:defRPr>
            </a:pPr>
            <a:r>
              <a:rPr sz="1013" b="1" i="0">
                <a:solidFill>
                  <a:srgbClr val="FFFFFF"/>
                </a:solidFill>
              </a:rPr>
              <a:t>Measure allowed, plan-paid and employee OOP separately.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D798A1-2809-4D78-BCD1-21060210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0483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7C4D0"/>
                </a:solidFill>
              </a:defRPr>
            </a:pPr>
            <a:r>
              <a:rPr sz="975" b="0" i="0">
                <a:solidFill>
                  <a:srgbClr val="B7C4D0"/>
                </a:solidFill>
              </a:rPr>
              <a:t>허용액·보험자 지급액·직원 본인부담액을 구분해 측정합니다.</a:t>
            </a:r>
          </a:p>
        </p:txBody>
      </p:sp>
    </p:spTree>
    <p:extLst>
      <p:ext uri="{BB962C8B-B14F-4D97-AF65-F5344CB8AC3E}">
        <p14:creationId xmlns:p14="http://schemas.microsoft.com/office/powerpoint/2010/main" val="20363065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85a606d7a64f75"/>
          <a:srcRect xmlns:a="http://schemas.openxmlformats.org/drawingml/2006/main" l="12519" t="0" r="125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C9A294-7990-4CA8-97B3-BE1EE3C9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b87147dd6c4e86"/>
          <a:stretch xmlns:a="http://schemas.openxmlformats.org/drawingml/2006/main"/>
        </p:blipFill>
        <p:spPr>
          <a:xfrm xmlns:a="http://schemas.openxmlformats.org/drawingml/2006/main">
            <a:off x="7258071" y="361950"/>
            <a:ext cx="819107" cy="29899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DE6B59-9E96-44A6-9BE9-58EBF3A0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767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5E6A75"/>
                </a:solidFill>
              </a:defRPr>
            </a:pPr>
            <a:r>
              <a:rPr sz="1425" b="1" i="0">
                <a:solidFill>
                  <a:srgbClr val="5E6A75"/>
                </a:solidFill>
              </a:rPr>
              <a:t>×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692d9bfbe543d3"/>
          <a:stretch xmlns:a="http://schemas.openxmlformats.org/drawingml/2006/main"/>
        </p:blipFill>
        <p:spPr>
          <a:xfrm xmlns:a="http://schemas.openxmlformats.org/drawingml/2006/main">
            <a:off x="8534400" y="171574"/>
            <a:ext cx="1238250" cy="69688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B5831B-A4BF-41DC-99E2-8FDC2B9E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066800"/>
            <a:ext cx="4762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2243A"/>
                </a:solidFill>
              </a:defRPr>
            </a:pPr>
            <a:r>
              <a:rPr sz="2325" b="1" i="0">
                <a:solidFill>
                  <a:srgbClr val="12243A"/>
                </a:solidFill>
              </a:rPr>
              <a:t>SELECTED FOR TWO FINANCIAL</a:t>
            </a:r>
          </a:p>
          <a:p xmlns:a="http://schemas.openxmlformats.org/drawingml/2006/main">
            <a:pPr algn="l">
              <a:defRPr sz="2325" b="1" i="0">
                <a:solidFill>
                  <a:srgbClr val="12243A"/>
                </a:solidFill>
              </a:defRPr>
            </a:pPr>
            <a:r>
              <a:rPr sz="2325" b="1" i="0">
                <a:solidFill>
                  <a:srgbClr val="12243A"/>
                </a:solidFill>
              </a:rPr>
              <a:t>INNOVATION COHORTS.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17C336-3DF1-41F1-B1E0-7EBEA78E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383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E6A75"/>
                </a:solidFill>
              </a:defRPr>
            </a:pPr>
            <a:r>
              <a:rPr sz="1350" b="1" i="0">
                <a:solidFill>
                  <a:srgbClr val="5E6A75"/>
                </a:solidFill>
              </a:rPr>
              <a:t>핀테크 큐브 9기 · 신한퓨처스랩 12기 선정 완료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3E6F99-192F-4E32-A452-9C43116C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194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F"/>
          </a:solidFill>
          <a:ln xmlns:a="http://schemas.openxmlformats.org/drawingml/2006/main" w="0">
            <a:solidFill>
              <a:srgbClr val="D7DE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37BD88-AF2D-4762-BB83-4D1F5D50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95675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2243A"/>
                </a:solidFill>
              </a:defRPr>
            </a:pPr>
            <a:r>
              <a:rPr sz="1725" b="1" i="0">
                <a:solidFill>
                  <a:srgbClr val="12243A"/>
                </a:solidFill>
              </a:rPr>
              <a:t>Selected · Fintech Cube Cohort 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596BD2-3CA1-4769-8AB4-F5E337B0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87667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7D82"/>
                </a:solidFill>
              </a:defRPr>
            </a:pPr>
            <a:r>
              <a:rPr sz="1200" b="0" i="0">
                <a:solidFill>
                  <a:srgbClr val="167D82"/>
                </a:solidFill>
              </a:rPr>
              <a:t>핀테크 큐브 9기 선정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3EDBAD-05F3-4834-9385-4F88FD44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35292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F"/>
          </a:solidFill>
          <a:ln xmlns:a="http://schemas.openxmlformats.org/drawingml/2006/main" w="0">
            <a:solidFill>
              <a:srgbClr val="D7DE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61E03B-1AFC-4862-B261-5E7F0C25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6291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243A"/>
                </a:solidFill>
              </a:defRPr>
            </a:pPr>
            <a:r>
              <a:rPr sz="1650" b="1" i="0">
                <a:solidFill>
                  <a:srgbClr val="12243A"/>
                </a:solidFill>
              </a:rPr>
              <a:t>Selected · Shinhan Future’s Lab Cohort 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4FF58C-4E49-426E-A4E2-1E045308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0101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7D82"/>
                </a:solidFill>
              </a:defRPr>
            </a:pPr>
            <a:r>
              <a:rPr sz="1200" b="0" i="0">
                <a:solidFill>
                  <a:srgbClr val="167D82"/>
                </a:solidFill>
              </a:rPr>
              <a:t>신한퓨처스랩 12기 선정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B5DF18-AA2D-48E5-A258-4F45F3CF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657850"/>
            <a:ext cx="476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7"/>
          </a:solidFill>
          <a:ln xmlns:a="http://schemas.openxmlformats.org/drawingml/2006/main" w="9525">
            <a:solidFill>
              <a:srgbClr val="55C5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518EC0-895A-462A-B7CC-673BD66A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734050"/>
            <a:ext cx="434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67D82"/>
                </a:solidFill>
              </a:defRPr>
            </a:pPr>
            <a:r>
              <a:rPr sz="1125" b="1" i="0">
                <a:solidFill>
                  <a:srgbClr val="167D82"/>
                </a:solidFill>
              </a:rPr>
              <a:t>Collaboration scoping and validation in progress</a:t>
            </a:r>
          </a:p>
          <a:p xmlns:a="http://schemas.openxmlformats.org/drawingml/2006/main">
            <a:pPr algn="ctr">
              <a:defRPr sz="1125" b="1" i="0">
                <a:solidFill>
                  <a:srgbClr val="167D82"/>
                </a:solidFill>
              </a:defRPr>
            </a:pPr>
            <a:r>
              <a:rPr sz="1125" b="1" i="0">
                <a:solidFill>
                  <a:srgbClr val="167D82"/>
                </a:solidFill>
              </a:rPr>
              <a:t>협업 과제 발굴·검증 진행 중</a:t>
            </a:r>
          </a:p>
        </p:txBody>
      </p:sp>
    </p:spTree>
    <p:extLst>
      <p:ext uri="{BB962C8B-B14F-4D97-AF65-F5344CB8AC3E}">
        <p14:creationId xmlns:p14="http://schemas.microsoft.com/office/powerpoint/2010/main" val="3909953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a26c5538e24101"/>
          <a:stretch xmlns:a="http://schemas.openxmlformats.org/drawingml/2006/main"/>
        </p:blipFill>
        <p:spPr>
          <a:xfrm xmlns:a="http://schemas.openxmlformats.org/drawingml/2006/main">
            <a:off x="609626" y="457200"/>
            <a:ext cx="1000073" cy="36504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399C89-1303-44FD-8785-60CBF2EC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5429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×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d7e8f615934895"/>
          <a:stretch xmlns:a="http://schemas.openxmlformats.org/drawingml/2006/main"/>
        </p:blipFill>
        <p:spPr>
          <a:xfrm xmlns:a="http://schemas.openxmlformats.org/drawingml/2006/main">
            <a:off x="2066925" y="266844"/>
            <a:ext cx="1428750" cy="80409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4E9F0B-1974-4A49-9D72-F12E5D3D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7429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FFFFF"/>
                </a:solidFill>
              </a:defRPr>
            </a:pPr>
            <a:r>
              <a:rPr sz="2925" b="1" i="0">
                <a:solidFill>
                  <a:srgbClr val="FFFFFF"/>
                </a:solidFill>
              </a:rPr>
              <a:t>CAN YOUR COMPANY PROVE</a:t>
            </a:r>
          </a:p>
          <a:p xmlns:a="http://schemas.openxmlformats.org/drawingml/2006/main">
            <a:pPr algn="l">
              <a:defRPr sz="2925" b="1" i="0">
                <a:solidFill>
                  <a:srgbClr val="FFFFFF"/>
                </a:solidFill>
              </a:defRPr>
            </a:pPr>
            <a:r>
              <a:rPr sz="2925" b="1" i="0">
                <a:solidFill>
                  <a:srgbClr val="FFFFFF"/>
                </a:solidFill>
              </a:rPr>
              <a:t>HOW DENTAL BENEFITS ARE USED?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2F0396-6C6F-4D22-BE60-0743A97D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895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D6E0E7"/>
                </a:solidFill>
              </a:defRPr>
            </a:pPr>
            <a:r>
              <a:rPr sz="1575" b="1" i="0">
                <a:solidFill>
                  <a:srgbClr val="D6E0E7"/>
                </a:solidFill>
              </a:rPr>
              <a:t>회사의 치과 혜택 이용을 근거로 설명할 수 있나요?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74EF66-E5FF-4FF7-9A5A-3E11DDA3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90975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5C8"/>
          </a:solidFill>
          <a:ln xmlns:a="http://schemas.openxmlformats.org/drawingml/2006/main" w="0">
            <a:solidFill>
              <a:srgbClr val="55C5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D9826A-6460-4F28-B3B5-64BD5A67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14825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Looking for HR, Benefits and Data teams at technology and financial-services companies.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8C032B-4044-443A-AD7F-BD8B0797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387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7C4D0"/>
                </a:solidFill>
              </a:defRPr>
            </a:pPr>
            <a:r>
              <a:rPr sz="1200" b="0" i="0">
                <a:solidFill>
                  <a:srgbClr val="B7C4D0"/>
                </a:solidFill>
              </a:rPr>
              <a:t>테크·금융 기업의 HR · Benefits · Data 팀을 찾습니다.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C53F8D-4071-4EE0-B6B2-40862460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5C5C8"/>
                </a:solidFill>
              </a:defRPr>
            </a:pPr>
            <a:r>
              <a:rPr sz="1275" b="1" i="0">
                <a:solidFill>
                  <a:srgbClr val="55C5C8"/>
                </a:solidFill>
              </a:rPr>
              <a:t>Help validate the governed evidence pattern on Snowflake.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EA8C9C-CB48-49B2-A7DB-356DF2A0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 i="0">
                <a:solidFill>
                  <a:srgbClr val="B7C4D0"/>
                </a:solidFill>
              </a:defRPr>
            </a:pPr>
            <a:r>
              <a:rPr sz="1088" b="0" i="0">
                <a:solidFill>
                  <a:srgbClr val="B7C4D0"/>
                </a:solidFill>
              </a:rPr>
              <a:t>Snowflake에서 구현할 관리형 증거 패턴을 함께 검증합니다.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1A225E-8515-4B9B-9F8C-AB3685E0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9810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55C5C8"/>
                </a:solidFill>
              </a:defRPr>
            </a:pPr>
            <a:r>
              <a:rPr sz="900" b="1" i="0">
                <a:solidFill>
                  <a:srgbClr val="55C5C8"/>
                </a:solidFill>
              </a:rPr>
              <a:t>LIVE SYNTHETIC DEMO / 합성 데이터 데모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4D57CB-C5F1-4908-BDFE-26764BB0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352550"/>
            <a:ext cx="27432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a4a3d40d424dc2"/>
          <a:stretch xmlns:a="http://schemas.openxmlformats.org/drawingml/2006/main"/>
        </p:blipFill>
        <p:spPr>
          <a:xfrm xmlns:a="http://schemas.openxmlformats.org/drawingml/2006/main">
            <a:off x="8667750" y="1495425"/>
            <a:ext cx="2457450" cy="24574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B6F07F-C1A0-413A-92E1-F0093BB8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9102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Synthetic data · aggregate only · no individual PHI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F9F280-2709-483B-8653-67E46330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33925"/>
            <a:ext cx="3448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B7C4D0"/>
                </a:solidFill>
              </a:defRPr>
            </a:pPr>
            <a:r>
              <a:rPr sz="975" b="0" i="0">
                <a:solidFill>
                  <a:srgbClr val="B7C4D0"/>
                </a:solidFill>
              </a:rPr>
              <a:t>합성 데이터 · 집계 전용 · 개인 PHI 없음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BDA119-4B49-4975-9155-E648DDD2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334000"/>
            <a:ext cx="396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1" i="0">
                <a:solidFill>
                  <a:srgbClr val="55C5C8"/>
                </a:solidFill>
              </a:defRPr>
            </a:pPr>
            <a:r>
              <a:rPr sz="938" b="1" i="0">
                <a:solidFill>
                  <a:srgbClr val="55C5C8"/>
                </a:solidFill>
              </a:rPr>
              <a:t>ASK FOR A WALK-THROUGH / 데모 설명 요청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088CAE-2593-43A1-8995-86A6B32E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962650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SCAN TO OPEN / 스캔하여 열기</a:t>
            </a:r>
          </a:p>
        </p:txBody>
      </p:sp>
    </p:spTree>
    <p:extLst>
      <p:ext uri="{BB962C8B-B14F-4D97-AF65-F5344CB8AC3E}">
        <p14:creationId xmlns:p14="http://schemas.microsoft.com/office/powerpoint/2010/main" val="13576551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2026-08-05T06:41:24.6820000Z</dcterms:created>
  <dcterms:modified xsi:type="dcterms:W3CDTF">2026-08-05T06:41:24.6820000Z</dcterms:modified>
</coreProperties>
</file>