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43374edc9f4e1b" /><Relationship Type="http://schemas.openxmlformats.org/officeDocument/2006/relationships/extended-properties" Target="/docProps/app.xml" Id="Rcc5dca4a225d49ce" /><Relationship Type="http://schemas.openxmlformats.org/officeDocument/2006/relationships/officeDocument" Target="/ppt/presentation.xml" Id="Rfe5e30f0b7014bb5" /></Relationships>
</file>

<file path=ppt/presentation.xml><?xml version="1.0" encoding="utf-8"?>
<p:presentation xmlns:p="http://schemas.openxmlformats.org/presentationml/2006/main">
  <p:sldMasterIdLst>
    <p:sldMasterId xmlns:r="http://schemas.openxmlformats.org/officeDocument/2006/relationships" id="2147483648" r:id="R4f2aeb3cc0374b34"/>
  </p:sldMasterIdLst>
  <p:notesMasterIdLst>
    <p:notesMasterId xmlns:r="http://schemas.openxmlformats.org/officeDocument/2006/relationships" r:id="R561c36f2effa42e0"/>
  </p:notesMasterIdLst>
  <p:sldIdLst>
    <p:sldId xmlns:r="http://schemas.openxmlformats.org/officeDocument/2006/relationships" id="256" r:id="R6b30ca8db9ee48de"/>
    <p:sldId xmlns:r="http://schemas.openxmlformats.org/officeDocument/2006/relationships" id="257" r:id="Rae36ed893fd94dc2"/>
    <p:sldId xmlns:r="http://schemas.openxmlformats.org/officeDocument/2006/relationships" id="258" r:id="R4a5ee10c9d0c4243"/>
    <p:sldId xmlns:r="http://schemas.openxmlformats.org/officeDocument/2006/relationships" id="259" r:id="R613e9f1e356c4647"/>
    <p:sldId xmlns:r="http://schemas.openxmlformats.org/officeDocument/2006/relationships" id="260" r:id="Rf1ec0450844b4c24"/>
    <p:sldId xmlns:r="http://schemas.openxmlformats.org/officeDocument/2006/relationships" id="261" r:id="R521d94fec2124979"/>
    <p:sldId xmlns:r="http://schemas.openxmlformats.org/officeDocument/2006/relationships" id="262" r:id="R5f476e9aa6a341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6f0d7000a48c8" /><Relationship Type="http://schemas.openxmlformats.org/officeDocument/2006/relationships/slideMaster" Target="/ppt/slideMasters/slideMaster1.xml" Id="R4f2aeb3cc0374b34" /><Relationship Type="http://schemas.openxmlformats.org/officeDocument/2006/relationships/notesMaster" Target="/ppt/notesMasters/notesMaster1.xml" Id="R561c36f2effa42e0" /><Relationship Type="http://schemas.openxmlformats.org/officeDocument/2006/relationships/presProps" Target="/ppt/presProps.xml" Id="R05d47f4ed67b4110" /><Relationship Type="http://schemas.openxmlformats.org/officeDocument/2006/relationships/tableStyles" Target="/ppt/tableStyles.xml" Id="R26e8e11169904994" /><Relationship Type="http://schemas.openxmlformats.org/officeDocument/2006/relationships/slide" Target="/ppt/slides/slide1.xml" Id="R6b30ca8db9ee48de" /><Relationship Type="http://schemas.openxmlformats.org/officeDocument/2006/relationships/slide" Target="/ppt/slides/slide2.xml" Id="Rae36ed893fd94dc2" /><Relationship Type="http://schemas.openxmlformats.org/officeDocument/2006/relationships/slide" Target="/ppt/slides/slide3.xml" Id="R4a5ee10c9d0c4243" /><Relationship Type="http://schemas.openxmlformats.org/officeDocument/2006/relationships/slide" Target="/ppt/slides/slide4.xml" Id="R613e9f1e356c4647" /><Relationship Type="http://schemas.openxmlformats.org/officeDocument/2006/relationships/slide" Target="/ppt/slides/slide5.xml" Id="Rf1ec0450844b4c24" /><Relationship Type="http://schemas.openxmlformats.org/officeDocument/2006/relationships/slide" Target="/ppt/slides/slide6.xml" Id="R521d94fec2124979" /><Relationship Type="http://schemas.openxmlformats.org/officeDocument/2006/relationships/slide" Target="/ppt/slides/slide7.xml" Id="R5f476e9aa6a341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d87c9233bf42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2b12a43bf5409d" /><Relationship Type="http://schemas.openxmlformats.org/officeDocument/2006/relationships/notesMaster" Target="/ppt/notesMasters/notesMaster1.xml" Id="R13a4ba9f031543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2398c42d1b49fa" /><Relationship Type="http://schemas.openxmlformats.org/officeDocument/2006/relationships/notesMaster" Target="/ppt/notesMasters/notesMaster1.xml" Id="Rc2f7e025009044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61206730164ce8" /><Relationship Type="http://schemas.openxmlformats.org/officeDocument/2006/relationships/notesMaster" Target="/ppt/notesMasters/notesMaster1.xml" Id="R8cc6634fa49343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153521ad0c4a46" /><Relationship Type="http://schemas.openxmlformats.org/officeDocument/2006/relationships/notesMaster" Target="/ppt/notesMasters/notesMaster1.xml" Id="R2d556d95c3bc48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4ed2af5ecb4457" /><Relationship Type="http://schemas.openxmlformats.org/officeDocument/2006/relationships/notesMaster" Target="/ppt/notesMasters/notesMaster1.xml" Id="R81e5ae7c3cad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92efe48e8c4390" /><Relationship Type="http://schemas.openxmlformats.org/officeDocument/2006/relationships/notesMaster" Target="/ppt/notesMasters/notesMaster1.xml" Id="Ref4b362ea6df48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00f4376f6543be" /><Relationship Type="http://schemas.openxmlformats.org/officeDocument/2006/relationships/notesMaster" Target="/ppt/notesMasters/notesMaster1.xml" Id="Rd8e8841e27db43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패널과 부스의 공통 오프닝입니다. 미국의 임직원 치아보험과 치과복지 프로그램을 먼저 설명합니다. 치아보험 가입이 실제 이용을 자동으로 보장하지는 않으며, 직원은 네트워크, 예상 본인부담금, 실제 예약 가능성을 함께 이해해야 합니다. ICLO는 치아보험을 판매하거나 인수하는 회사가 아니라, 직원의 이용을 돕고 그 결과를 청구 데이터로 확인 가능한 집계 근거로 연결하려는 회사입니다.</a:t>
            </a:r>
          </a:p>
          <a:p xmlns:a="http://schemas.openxmlformats.org/drawingml/2006/main">
            <a:r>
              <a:t/>
            </a:r>
          </a:p>
          <a:p xmlns:a="http://schemas.openxmlformats.org/drawingml/2006/main">
            <a:r>
              <a:t>[Sources]</a:t>
            </a:r>
          </a:p>
          <a:p xmlns:a="http://schemas.openxmlformats.org/drawingml/2006/main">
            <a:r>
              <a:t>- User-provided CEO and CMO email feedback, 2026-08-05</a:t>
            </a:r>
          </a:p>
          <a:p xmlns:a="http://schemas.openxmlformats.org/drawingml/2006/main">
            <a:r>
              <a:t>- ICLO Snowflake external briefing source material</a:t>
            </a:r>
          </a:p>
          <a:p xmlns:a="http://schemas.openxmlformats.org/drawingml/2006/main">
            <a:r>
              <a:t>- ICLO Option B-prime U.S. Access deck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미국 치아보험의 이용 장벽을 세 질문으로 설명합니다. 첫째, 내 플랜의 네트워크 안에 있는 치과는 어디인가. 둘째, 공제액, 본인부담률, 연간 한도를 고려하면 비용은 어떻게 달라지는가. 셋째, 실제 예약이 가능한가. 네트워크 밖 진료가 불가능하다고 단정하지 않고, 플랜과 네트워크 조건에 따라 선택이 제한되거나 직원 부담이 커질 수 있다고 설명합니다.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ICLO Option B-prime U.S. Access deck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A안의 Snowflake 협업 모델로 전환합니다. 앞단은 임직원 치과복지 프로그램입니다. 직원이 치아보험 혜택을 이해하고, 네트워크 치과를 찾고, 본인이 요청한 예약 지원을 받습니다. Snowflake에서는 가입 자격, 플랜 조건, 앱 이용 기록, 치아보험 청구 데이터를 연결하고 품질 대조와 데이터 계보를 관리합니다. 원본 구강 이미지는 별도 통제 저장소에 두며, 직원별 진료 경로나 건강 신호는 기업에 제공하지 않습니다.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ICLO Option A Snowflake Collaboration deck v3</a:t>
            </a:r>
          </a:p>
          <a:p xmlns:a="http://schemas.openxmlformats.org/drawingml/2006/main">
            <a:r>
              <a:t>- ICLO Option B-prime U.S. Access deck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실제 성과가 아니라 임직원 치과복지 프로그램의 데이터 기준을 어떻게 보여줄지 설명하는 합성 데이터 데모입니다. 직원 수와 가입자 수의 기준, 가입 자격 기준일, 청구 반영 지연, 데이터 완결성, n≥20 셀 억제, 개인 PHI 미제공을 짚습니다. 부스에서는 QR로 데모를 열어 각 기준이 표시되는 위치를 보여줍니다.</a:t>
            </a:r>
          </a:p>
          <a:p xmlns:a="http://schemas.openxmlformats.org/drawingml/2006/main">
            <a:r>
              <a:t/>
            </a:r>
          </a:p>
          <a:p xmlns:a="http://schemas.openxmlformats.org/drawingml/2006/main">
            <a:r>
              <a:t>[Sources]</a:t>
            </a:r>
          </a:p>
          <a:p xmlns:a="http://schemas.openxmlformats.org/drawingml/2006/main">
            <a:r>
              <a:t>- ICLO Employer Dashboard synthetic demo</a:t>
            </a:r>
          </a:p>
          <a:p xmlns:a="http://schemas.openxmlformats.org/drawingml/2006/main">
            <a:r>
              <a:t>- ICLO Snowflake external briefing source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첫해 치아보험 청구비용 절감을 약속하지 않는 이유를 설명합니다. 예방진료 이용과 미치료 상태의 발견이 늘면 첫해 보험자 지급액이 오를 수 있습니다. 허용액, 보험자 지급액, 직원 본인부담금을 분리하고, 근속기간과 청구 반영 지연을 고려해 1년차부터 3년차까지의 변화를 검증해야 합니다. 그래프는 가설이며 실제 ICLO 성과가 아닙니다.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Illustrative J-curve; not an ICLO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핀테크지원센터 Fintech Cube 9기와 Shinhan Future's Lab 12기는 이미 선정된 사실입니다. 현재는 치아보험과 임직원 복지 분야에서 금융사 협업 과제를 발굴하고 검증하는 단계입니다. 이 선정 이력이 치아보험 상품 제조, 자동 인수 또는 자동 심사 기능을 이미 제공한다는 의미는 아닙니다.</a:t>
            </a:r>
          </a:p>
          <a:p xmlns:a="http://schemas.openxmlformats.org/drawingml/2006/main">
            <a:r>
              <a:t/>
            </a:r>
          </a:p>
          <a:p xmlns:a="http://schemas.openxmlformats.org/drawingml/2006/main">
            <a:r>
              <a:t>[Sources]</a:t>
            </a:r>
          </a:p>
          <a:p xmlns:a="http://schemas.openxmlformats.org/drawingml/2006/main">
            <a:r>
              <a:t>- User-provided confirmation: Fintech Cube Cohort 9 and Shinhan Future's Lab Cohort 12 selected</a:t>
            </a:r>
          </a:p>
          <a:p xmlns:a="http://schemas.openxmlformats.org/drawingml/2006/main">
            <a:r>
              <a:t>- User-provided CEO email feedback,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 청중은 국내 테크·금융 기업의 HR, 복지, 데이터 리더입니다. 미국 임직원 치아보험과 치과복지 도입을 검토할 잠재 고객이자 데이터 협업 파트너입니다. Snowflake에는 막연한 고객 소개가 아니라 아키텍처 논의와 실제 치과 가입 자격 또는 청구 데이터를 보유한 payer/TPA 계정팀 한 곳의 기술 검증을 요청합니다. Snowflake가 ICLO의 AI를 검증하거나 ICLO 전체를 자동으로 규제 준수 상태로 만들어 달라는 요청이 아님을 분명히 합니다.</a:t>
            </a:r>
          </a:p>
          <a:p xmlns:a="http://schemas.openxmlformats.org/drawingml/2006/main">
            <a:r>
              <a:t/>
            </a:r>
          </a:p>
          <a:p xmlns:a="http://schemas.openxmlformats.org/drawingml/2006/main">
            <a:r>
              <a:t>[Sources]</a:t>
            </a:r>
          </a:p>
          <a:p xmlns:a="http://schemas.openxmlformats.org/drawingml/2006/main">
            <a:r>
              <a:t>- User-provided CEO and CMO email feedback, 2026-08-05</a:t>
            </a:r>
          </a:p>
          <a:p xmlns:a="http://schemas.openxmlformats.org/drawingml/2006/main">
            <a:r>
              <a:t>- ICLO Snowflake external briefing source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2e2358bada40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faa0932874837" /><Relationship Type="http://schemas.openxmlformats.org/officeDocument/2006/relationships/slideLayout" Target="/ppt/slideLayouts/slideLayout1.xml" Id="R206f79d6d74249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6f79d6d74249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89d5cac129461f" /><Relationship Type="http://schemas.openxmlformats.org/officeDocument/2006/relationships/image" Target="/ppt/media/image.png" Id="Rdc456a2ce6504685" /><Relationship Type="http://schemas.openxmlformats.org/officeDocument/2006/relationships/image" Target="/ppt/media/image2.png" Id="R42845cbbf299442e" /><Relationship Type="http://schemas.openxmlformats.org/officeDocument/2006/relationships/image" Target="/ppt/media/image3.png" Id="R59ace40aa6b94cf7" /><Relationship Type="http://schemas.openxmlformats.org/officeDocument/2006/relationships/notesSlide" Target="/ppt/notesSlides/notesSlide1.xml" Id="R9ce82413158f49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7db04e85384469" /><Relationship Type="http://schemas.openxmlformats.org/officeDocument/2006/relationships/image" Target="/ppt/media/image4.png" Id="R60ba76d2ab6245bc" /><Relationship Type="http://schemas.openxmlformats.org/officeDocument/2006/relationships/image" Target="/ppt/media/image5.png" Id="R877a5b80adfb4fcc" /><Relationship Type="http://schemas.openxmlformats.org/officeDocument/2006/relationships/notesSlide" Target="/ppt/notesSlides/notesSlide2.xml" Id="Rdb30d89a5f384d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33f41bcc244905" /><Relationship Type="http://schemas.openxmlformats.org/officeDocument/2006/relationships/image" Target="/ppt/media/image6.png" Id="Rbb0c15eeabbe43eb" /><Relationship Type="http://schemas.openxmlformats.org/officeDocument/2006/relationships/image" Target="/ppt/media/image7.png" Id="Rd2126d60062b42d0" /><Relationship Type="http://schemas.openxmlformats.org/officeDocument/2006/relationships/notesSlide" Target="/ppt/notesSlides/notesSlide3.xml" Id="R240907c503ac41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16fa3622d3412e" /><Relationship Type="http://schemas.openxmlformats.org/officeDocument/2006/relationships/image" Target="/ppt/media/image8.png" Id="R375e82fcc1354184" /><Relationship Type="http://schemas.openxmlformats.org/officeDocument/2006/relationships/image" Target="/ppt/media/image9.png" Id="Rfa2d990d7e5e404a" /><Relationship Type="http://schemas.openxmlformats.org/officeDocument/2006/relationships/image" Target="/ppt/media/image10.png" Id="R0f2552a1a523479d" /><Relationship Type="http://schemas.openxmlformats.org/officeDocument/2006/relationships/notesSlide" Target="/ppt/notesSlides/notesSlide4.xml" Id="R52153a29d9eb4b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9b0ef337f041e0" /><Relationship Type="http://schemas.openxmlformats.org/officeDocument/2006/relationships/image" Target="/ppt/media/image11.png" Id="R8be212d3edd045fc" /><Relationship Type="http://schemas.openxmlformats.org/officeDocument/2006/relationships/image" Target="/ppt/media/image12.png" Id="R15889a2bb5714d2b" /><Relationship Type="http://schemas.openxmlformats.org/officeDocument/2006/relationships/notesSlide" Target="/ppt/notesSlides/notesSlide5.xml" Id="Rd4707d4ac29344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6de630d0ca4d15" /><Relationship Type="http://schemas.openxmlformats.org/officeDocument/2006/relationships/image" Target="/ppt/media/image13.png" Id="Rd75dead091f14427" /><Relationship Type="http://schemas.openxmlformats.org/officeDocument/2006/relationships/image" Target="/ppt/media/image14.png" Id="Re5c0da091e784885" /><Relationship Type="http://schemas.openxmlformats.org/officeDocument/2006/relationships/image" Target="/ppt/media/image15.png" Id="Re7a03e4f5c7d4b97" /><Relationship Type="http://schemas.openxmlformats.org/officeDocument/2006/relationships/notesSlide" Target="/ppt/notesSlides/notesSlide6.xml" Id="R468cb9c3422943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794a9624c54c6a" /><Relationship Type="http://schemas.openxmlformats.org/officeDocument/2006/relationships/image" Target="/ppt/media/image16.png" Id="R16fb9fadeb5b48fd" /><Relationship Type="http://schemas.openxmlformats.org/officeDocument/2006/relationships/image" Target="/ppt/media/image17.png" Id="R80b211ded903484c" /><Relationship Type="http://schemas.openxmlformats.org/officeDocument/2006/relationships/image" Target="/ppt/media/image18.png" Id="Raaf362d26c4a4acc" /><Relationship Type="http://schemas.openxmlformats.org/officeDocument/2006/relationships/notesSlide" Target="/ppt/notesSlides/notesSlide7.xml" Id="Rbbf60b2568d14dd0" /></Relationships>
</file>

<file path=ppt/slides/slide1.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c456a2ce650468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7E45FA-706A-4FCA-94F3-BBF062136219}"/>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ADF002-5B5C-4D92-A5F7-75DED4EDE9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55C5C8"/>
          </a:solidFill>
          <a:ln xmlns:a="http://schemas.openxmlformats.org/drawingml/2006/main" w="0">
            <a:no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2845cbbf299442e"/>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317CDC-7A69-4E72-BA84-782B826A65FC}"/>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9ace40aa6b94cf7"/>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1A085EF-9D78-47EA-8337-6204118ACCD7}"/>
              </a:ext>
            </a:extLst>
          </p:cNvPr>
          <p:cNvSpPr>
            <a:spLocks xmlns:a="http://schemas.openxmlformats.org/drawingml/2006/main" noGrp="1"/>
          </p:cNvSpPr>
          <p:nvPr/>
        </p:nvSpPr>
        <p:spPr>
          <a:xfrm xmlns:a="http://schemas.openxmlformats.org/drawingml/2006/main">
            <a:off x="590550" y="125730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i="0">
                <a:solidFill>
                  <a:srgbClr val="167D82"/>
                </a:solidFill>
              </a:defRPr>
            </a:pPr>
            <a:r>
              <a:rPr sz="900" b="1" i="0">
                <a:solidFill>
                  <a:srgbClr val="167D82"/>
                </a:solidFill>
              </a:rPr>
              <a:t>U.S. DENTAL INSURANCE &amp; EMPLOYEE BENEFITS / 미국 치아보험·임직원 복지</a:t>
            </a:r>
          </a:p>
        </p:txBody>
      </p:sp>
      <p:sp>
        <p:nvSpPr>
          <p:cNvPr id="8" name="">
            <a:extLst xmlns:a="http://schemas.openxmlformats.org/drawingml/2006/main">
              <a:ext uri="{FF2B5EF4-FFF2-40B4-BE49-F238E27FC236}">
                <a16:creationId xmlns:a16="http://schemas.microsoft.com/office/drawing/2014/main" id="{1A05D2B0-E6B1-4AF5-82D2-84328488BDA1}"/>
              </a:ext>
            </a:extLst>
          </p:cNvPr>
          <p:cNvSpPr>
            <a:spLocks xmlns:a="http://schemas.openxmlformats.org/drawingml/2006/main" noGrp="1"/>
          </p:cNvSpPr>
          <p:nvPr/>
        </p:nvSpPr>
        <p:spPr>
          <a:xfrm xmlns:a="http://schemas.openxmlformats.org/drawingml/2006/main">
            <a:off x="552450" y="1628775"/>
            <a:ext cx="57150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75" b="1" i="0">
                <a:solidFill>
                  <a:srgbClr val="12243A"/>
                </a:solidFill>
              </a:defRPr>
            </a:pPr>
            <a:r>
              <a:rPr sz="3675" b="1" i="0">
                <a:solidFill>
                  <a:srgbClr val="12243A"/>
                </a:solidFill>
              </a:rPr>
              <a:t>MAKE DENTAL INSURANCE</a:t>
            </a:r>
          </a:p>
          <a:p xmlns:a="http://schemas.openxmlformats.org/drawingml/2006/main">
            <a:pPr algn="l">
              <a:buNone/>
              <a:defRPr sz="3675" b="1" i="0">
                <a:solidFill>
                  <a:srgbClr val="12243A"/>
                </a:solidFill>
              </a:defRPr>
            </a:pPr>
            <a:r>
              <a:rPr sz="3675" b="1" i="0">
                <a:solidFill>
                  <a:srgbClr val="12243A"/>
                </a:solidFill>
              </a:rPr>
              <a:t>AND BENEFITS</a:t>
            </a:r>
          </a:p>
          <a:p xmlns:a="http://schemas.openxmlformats.org/drawingml/2006/main">
            <a:pPr algn="l">
              <a:buNone/>
              <a:defRPr sz="3675" b="1" i="0">
                <a:solidFill>
                  <a:srgbClr val="12243A"/>
                </a:solidFill>
              </a:defRPr>
            </a:pPr>
            <a:r>
              <a:rPr sz="3675" b="1" i="0">
                <a:solidFill>
                  <a:srgbClr val="12243A"/>
                </a:solidFill>
              </a:rPr>
              <a:t>MORE ACCESSIBLE.</a:t>
            </a:r>
          </a:p>
        </p:txBody>
      </p:sp>
      <p:sp>
        <p:nvSpPr>
          <p:cNvPr id="9" name="">
            <a:extLst xmlns:a="http://schemas.openxmlformats.org/drawingml/2006/main">
              <a:ext uri="{FF2B5EF4-FFF2-40B4-BE49-F238E27FC236}">
                <a16:creationId xmlns:a16="http://schemas.microsoft.com/office/drawing/2014/main" id="{095115DB-4A74-4107-8C99-774E255F750C}"/>
              </a:ext>
            </a:extLst>
          </p:cNvPr>
          <p:cNvSpPr>
            <a:spLocks xmlns:a="http://schemas.openxmlformats.org/drawingml/2006/main" noGrp="1"/>
          </p:cNvSpPr>
          <p:nvPr/>
        </p:nvSpPr>
        <p:spPr>
          <a:xfrm xmlns:a="http://schemas.openxmlformats.org/drawingml/2006/main">
            <a:off x="590550" y="3943350"/>
            <a:ext cx="5429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4364C"/>
                </a:solidFill>
              </a:defRPr>
            </a:pPr>
            <a:r>
              <a:rPr sz="1650" b="1" i="0">
                <a:solidFill>
                  <a:srgbClr val="24364C"/>
                </a:solidFill>
              </a:rPr>
              <a:t>임직원이 미국의 치아보험과 복지 혜택을</a:t>
            </a:r>
          </a:p>
          <a:p xmlns:a="http://schemas.openxmlformats.org/drawingml/2006/main">
            <a:pPr algn="l">
              <a:buNone/>
              <a:defRPr sz="1650" b="1" i="0">
                <a:solidFill>
                  <a:srgbClr val="24364C"/>
                </a:solidFill>
              </a:defRPr>
            </a:pPr>
            <a:r>
              <a:rPr sz="1650" b="1" i="0">
                <a:solidFill>
                  <a:srgbClr val="24364C"/>
                </a:solidFill>
              </a:rPr>
              <a:t>더 쉽게 이해하고 이용하도록 돕습니다.</a:t>
            </a:r>
          </a:p>
        </p:txBody>
      </p:sp>
      <p:sp>
        <p:nvSpPr>
          <p:cNvPr id="10" name="">
            <a:extLst xmlns:a="http://schemas.openxmlformats.org/drawingml/2006/main">
              <a:ext uri="{FF2B5EF4-FFF2-40B4-BE49-F238E27FC236}">
                <a16:creationId xmlns:a16="http://schemas.microsoft.com/office/drawing/2014/main" id="{34442EEA-D0A1-4BDD-A555-7D03C0CC6D95}"/>
              </a:ext>
            </a:extLst>
          </p:cNvPr>
          <p:cNvSpPr>
            <a:spLocks xmlns:a="http://schemas.openxmlformats.org/drawingml/2006/main" noGrp="1"/>
          </p:cNvSpPr>
          <p:nvPr/>
        </p:nvSpPr>
        <p:spPr>
          <a:xfrm xmlns:a="http://schemas.openxmlformats.org/drawingml/2006/main">
            <a:off x="590550" y="5019675"/>
            <a:ext cx="952500" cy="476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1" name="">
            <a:extLst xmlns:a="http://schemas.openxmlformats.org/drawingml/2006/main">
              <a:ext uri="{FF2B5EF4-FFF2-40B4-BE49-F238E27FC236}">
                <a16:creationId xmlns:a16="http://schemas.microsoft.com/office/drawing/2014/main" id="{8C969C13-0ACA-4037-AF25-454B74674237}"/>
              </a:ext>
            </a:extLst>
          </p:cNvPr>
          <p:cNvSpPr>
            <a:spLocks xmlns:a="http://schemas.openxmlformats.org/drawingml/2006/main" noGrp="1"/>
          </p:cNvSpPr>
          <p:nvPr/>
        </p:nvSpPr>
        <p:spPr>
          <a:xfrm xmlns:a="http://schemas.openxmlformats.org/drawingml/2006/main">
            <a:off x="590550" y="5314950"/>
            <a:ext cx="547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24364C"/>
                </a:solidFill>
              </a:defRPr>
            </a:pPr>
            <a:r>
              <a:rPr sz="1275" b="1" i="0">
                <a:solidFill>
                  <a:srgbClr val="24364C"/>
                </a:solidFill>
              </a:rPr>
              <a:t>Employee dental-benefit navigation in front. Claims-verified evidence in back.</a:t>
            </a:r>
          </a:p>
        </p:txBody>
      </p:sp>
      <p:sp>
        <p:nvSpPr>
          <p:cNvPr id="12" name="">
            <a:extLst xmlns:a="http://schemas.openxmlformats.org/drawingml/2006/main">
              <a:ext uri="{FF2B5EF4-FFF2-40B4-BE49-F238E27FC236}">
                <a16:creationId xmlns:a16="http://schemas.microsoft.com/office/drawing/2014/main" id="{E8A65129-8A70-4453-9028-747C9FA6B528}"/>
              </a:ext>
            </a:extLst>
          </p:cNvPr>
          <p:cNvSpPr>
            <a:spLocks xmlns:a="http://schemas.openxmlformats.org/drawingml/2006/main" noGrp="1"/>
          </p:cNvSpPr>
          <p:nvPr/>
        </p:nvSpPr>
        <p:spPr>
          <a:xfrm xmlns:a="http://schemas.openxmlformats.org/drawingml/2006/main">
            <a:off x="590550" y="5667375"/>
            <a:ext cx="547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직원은 진료를 찾고, 기업은 청구 데이터로 집계 결과를 확인합니다.</a:t>
            </a:r>
          </a:p>
        </p:txBody>
      </p:sp>
      <p:sp>
        <p:nvSpPr>
          <p:cNvPr id="13" name="">
            <a:extLst xmlns:a="http://schemas.openxmlformats.org/drawingml/2006/main">
              <a:ext uri="{FF2B5EF4-FFF2-40B4-BE49-F238E27FC236}">
                <a16:creationId xmlns:a16="http://schemas.microsoft.com/office/drawing/2014/main" id="{EAAD51F0-3D63-4006-BD2A-FEFFB9C9BD17}"/>
              </a:ext>
            </a:extLst>
          </p:cNvPr>
          <p:cNvSpPr>
            <a:spLocks xmlns:a="http://schemas.openxmlformats.org/drawingml/2006/main" noGrp="1"/>
          </p:cNvSpPr>
          <p:nvPr/>
        </p:nvSpPr>
        <p:spPr>
          <a:xfrm xmlns:a="http://schemas.openxmlformats.org/drawingml/2006/main">
            <a:off x="590550" y="6096000"/>
            <a:ext cx="5572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38" b="1" i="0">
                <a:solidFill>
                  <a:srgbClr val="167D82"/>
                </a:solidFill>
              </a:defRPr>
            </a:pPr>
            <a:r>
              <a:rPr sz="938" b="1" i="0">
                <a:solidFill>
                  <a:srgbClr val="167D82"/>
                </a:solidFill>
              </a:rPr>
              <a:t>NOT DENTAL INSURANCE SALES OR UNDERWRITING / 치아보험 판매·인수 모델 아님</a:t>
            </a:r>
          </a:p>
        </p:txBody>
      </p:sp>
    </p:spTree>
    <p:extLst>
      <p:ext uri="{BB962C8B-B14F-4D97-AF65-F5344CB8AC3E}">
        <p14:creationId xmlns:p14="http://schemas.microsoft.com/office/powerpoint/2010/main" val="914420525"/>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0ba76d2ab6245bc"/>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9CADAD-B436-4871-BE2B-CD3ECFA94CAB}"/>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77a5b80adfb4fcc"/>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8B2AB7-D3C0-4752-AEA9-96266EF38CC1}"/>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Dental coverage is not the same as access.</a:t>
            </a:r>
          </a:p>
        </p:txBody>
      </p:sp>
      <p:sp>
        <p:nvSpPr>
          <p:cNvPr id="5" name="">
            <a:extLst xmlns:a="http://schemas.openxmlformats.org/drawingml/2006/main">
              <a:ext uri="{FF2B5EF4-FFF2-40B4-BE49-F238E27FC236}">
                <a16:creationId xmlns:a16="http://schemas.microsoft.com/office/drawing/2014/main" id="{03B71A09-DB9A-465D-9227-E9A9600A2685}"/>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치아보험에 가입해도 실제 진료 이용은 여전히 복잡합니다.</a:t>
            </a:r>
          </a:p>
        </p:txBody>
      </p:sp>
      <p:sp>
        <p:nvSpPr>
          <p:cNvPr id="6" name="">
            <a:extLst xmlns:a="http://schemas.openxmlformats.org/drawingml/2006/main">
              <a:ext uri="{FF2B5EF4-FFF2-40B4-BE49-F238E27FC236}">
                <a16:creationId xmlns:a16="http://schemas.microsoft.com/office/drawing/2014/main" id="{15BF3F1A-3158-43C1-AD5F-060689BD2F08}"/>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045A9E16-1EF9-4A84-A490-35B193100E1B}"/>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43FB9771-DDC5-49A8-BFCA-5DDFB4BA22C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DA0556E2-A914-45D7-B4B5-12ED8DD2D60D}"/>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AE64DD49-6C07-4784-B39D-5964CD6AE47B}"/>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02</a:t>
            </a:r>
          </a:p>
        </p:txBody>
      </p:sp>
      <p:sp>
        <p:nvSpPr>
          <p:cNvPr id="11" name="">
            <a:extLst xmlns:a="http://schemas.openxmlformats.org/drawingml/2006/main">
              <a:ext uri="{FF2B5EF4-FFF2-40B4-BE49-F238E27FC236}">
                <a16:creationId xmlns:a16="http://schemas.microsoft.com/office/drawing/2014/main" id="{F9C15902-7696-44F4-BCB0-4480EB115656}"/>
              </a:ext>
            </a:extLst>
          </p:cNvPr>
          <p:cNvSpPr>
            <a:spLocks xmlns:a="http://schemas.openxmlformats.org/drawingml/2006/main" noGrp="1"/>
          </p:cNvSpPr>
          <p:nvPr/>
        </p:nvSpPr>
        <p:spPr>
          <a:xfrm xmlns:a="http://schemas.openxmlformats.org/drawingml/2006/main">
            <a:off x="55245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WHERE TO GO?</a:t>
            </a:r>
          </a:p>
        </p:txBody>
      </p:sp>
      <p:sp>
        <p:nvSpPr>
          <p:cNvPr id="12" name="">
            <a:extLst xmlns:a="http://schemas.openxmlformats.org/drawingml/2006/main">
              <a:ext uri="{FF2B5EF4-FFF2-40B4-BE49-F238E27FC236}">
                <a16:creationId xmlns:a16="http://schemas.microsoft.com/office/drawing/2014/main" id="{3E9BCE8C-C8AC-478A-8081-AE93686C6D18}"/>
              </a:ext>
            </a:extLst>
          </p:cNvPr>
          <p:cNvSpPr>
            <a:spLocks xmlns:a="http://schemas.openxmlformats.org/drawingml/2006/main" noGrp="1"/>
          </p:cNvSpPr>
          <p:nvPr/>
        </p:nvSpPr>
        <p:spPr>
          <a:xfrm xmlns:a="http://schemas.openxmlformats.org/drawingml/2006/main">
            <a:off x="552450"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어디로 갈까?</a:t>
            </a:r>
          </a:p>
        </p:txBody>
      </p:sp>
      <p:sp>
        <p:nvSpPr>
          <p:cNvPr id="13" name="">
            <a:extLst xmlns:a="http://schemas.openxmlformats.org/drawingml/2006/main">
              <a:ext uri="{FF2B5EF4-FFF2-40B4-BE49-F238E27FC236}">
                <a16:creationId xmlns:a16="http://schemas.microsoft.com/office/drawing/2014/main" id="{4E267BFA-8DE7-44AD-86A3-DF40D0F71636}"/>
              </a:ext>
            </a:extLst>
          </p:cNvPr>
          <p:cNvSpPr>
            <a:spLocks xmlns:a="http://schemas.openxmlformats.org/drawingml/2006/main" noGrp="1"/>
          </p:cNvSpPr>
          <p:nvPr/>
        </p:nvSpPr>
        <p:spPr>
          <a:xfrm xmlns:a="http://schemas.openxmlformats.org/drawingml/2006/main">
            <a:off x="552450"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IN-NETWORK CARE</a:t>
            </a:r>
          </a:p>
        </p:txBody>
      </p:sp>
      <p:sp>
        <p:nvSpPr>
          <p:cNvPr id="14" name="">
            <a:extLst xmlns:a="http://schemas.openxmlformats.org/drawingml/2006/main">
              <a:ext uri="{FF2B5EF4-FFF2-40B4-BE49-F238E27FC236}">
                <a16:creationId xmlns:a16="http://schemas.microsoft.com/office/drawing/2014/main" id="{6C7A054F-E167-4064-B567-1B5D2734E9F8}"/>
              </a:ext>
            </a:extLst>
          </p:cNvPr>
          <p:cNvSpPr>
            <a:spLocks xmlns:a="http://schemas.openxmlformats.org/drawingml/2006/main" noGrp="1"/>
          </p:cNvSpPr>
          <p:nvPr/>
        </p:nvSpPr>
        <p:spPr>
          <a:xfrm xmlns:a="http://schemas.openxmlformats.org/drawingml/2006/main">
            <a:off x="552450"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내 치아보험 네트워크 안의 치과</a:t>
            </a:r>
          </a:p>
        </p:txBody>
      </p:sp>
      <p:sp>
        <p:nvSpPr>
          <p:cNvPr id="15" name="">
            <a:extLst xmlns:a="http://schemas.openxmlformats.org/drawingml/2006/main">
              <a:ext uri="{FF2B5EF4-FFF2-40B4-BE49-F238E27FC236}">
                <a16:creationId xmlns:a16="http://schemas.microsoft.com/office/drawing/2014/main" id="{2D2C0153-7E1B-48C1-AF6E-7CB14A452F3F}"/>
              </a:ext>
            </a:extLst>
          </p:cNvPr>
          <p:cNvSpPr>
            <a:spLocks xmlns:a="http://schemas.openxmlformats.org/drawingml/2006/main" noGrp="1"/>
          </p:cNvSpPr>
          <p:nvPr/>
        </p:nvSpPr>
        <p:spPr>
          <a:xfrm xmlns:a="http://schemas.openxmlformats.org/drawingml/2006/main">
            <a:off x="3886200" y="2190750"/>
            <a:ext cx="9525" cy="2705100"/>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16" name="">
            <a:extLst xmlns:a="http://schemas.openxmlformats.org/drawingml/2006/main">
              <a:ext uri="{FF2B5EF4-FFF2-40B4-BE49-F238E27FC236}">
                <a16:creationId xmlns:a16="http://schemas.microsoft.com/office/drawing/2014/main" id="{DA651218-12BE-46D3-A350-77F993551D8C}"/>
              </a:ext>
            </a:extLst>
          </p:cNvPr>
          <p:cNvSpPr>
            <a:spLocks xmlns:a="http://schemas.openxmlformats.org/drawingml/2006/main" noGrp="1"/>
          </p:cNvSpPr>
          <p:nvPr/>
        </p:nvSpPr>
        <p:spPr>
          <a:xfrm xmlns:a="http://schemas.openxmlformats.org/drawingml/2006/main">
            <a:off x="4219575"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HOW MUCH?</a:t>
            </a:r>
          </a:p>
        </p:txBody>
      </p:sp>
      <p:sp>
        <p:nvSpPr>
          <p:cNvPr id="17" name="">
            <a:extLst xmlns:a="http://schemas.openxmlformats.org/drawingml/2006/main">
              <a:ext uri="{FF2B5EF4-FFF2-40B4-BE49-F238E27FC236}">
                <a16:creationId xmlns:a16="http://schemas.microsoft.com/office/drawing/2014/main" id="{D89C7634-8C3A-4A0C-A56F-F9E1EAD84A55}"/>
              </a:ext>
            </a:extLst>
          </p:cNvPr>
          <p:cNvSpPr>
            <a:spLocks xmlns:a="http://schemas.openxmlformats.org/drawingml/2006/main" noGrp="1"/>
          </p:cNvSpPr>
          <p:nvPr/>
        </p:nvSpPr>
        <p:spPr>
          <a:xfrm xmlns:a="http://schemas.openxmlformats.org/drawingml/2006/main">
            <a:off x="4219575"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얼마가 들까?</a:t>
            </a:r>
          </a:p>
        </p:txBody>
      </p:sp>
      <p:sp>
        <p:nvSpPr>
          <p:cNvPr id="18" name="">
            <a:extLst xmlns:a="http://schemas.openxmlformats.org/drawingml/2006/main">
              <a:ext uri="{FF2B5EF4-FFF2-40B4-BE49-F238E27FC236}">
                <a16:creationId xmlns:a16="http://schemas.microsoft.com/office/drawing/2014/main" id="{BDD2D0D5-C771-4070-A6BD-58756DFEE318}"/>
              </a:ext>
            </a:extLst>
          </p:cNvPr>
          <p:cNvSpPr>
            <a:spLocks xmlns:a="http://schemas.openxmlformats.org/drawingml/2006/main" noGrp="1"/>
          </p:cNvSpPr>
          <p:nvPr/>
        </p:nvSpPr>
        <p:spPr>
          <a:xfrm xmlns:a="http://schemas.openxmlformats.org/drawingml/2006/main">
            <a:off x="4219575"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DEDUCTIBLE · COINSURANCE
ANNUAL MAXIMUM</a:t>
            </a:r>
          </a:p>
        </p:txBody>
      </p:sp>
      <p:sp>
        <p:nvSpPr>
          <p:cNvPr id="19" name="">
            <a:extLst xmlns:a="http://schemas.openxmlformats.org/drawingml/2006/main">
              <a:ext uri="{FF2B5EF4-FFF2-40B4-BE49-F238E27FC236}">
                <a16:creationId xmlns:a16="http://schemas.microsoft.com/office/drawing/2014/main" id="{F2AFE2A1-5A6B-409A-847E-40EC68933969}"/>
              </a:ext>
            </a:extLst>
          </p:cNvPr>
          <p:cNvSpPr>
            <a:spLocks xmlns:a="http://schemas.openxmlformats.org/drawingml/2006/main" noGrp="1"/>
          </p:cNvSpPr>
          <p:nvPr/>
        </p:nvSpPr>
        <p:spPr>
          <a:xfrm xmlns:a="http://schemas.openxmlformats.org/drawingml/2006/main">
            <a:off x="4219575"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공제액·본인부담률·연간 한도</a:t>
            </a:r>
          </a:p>
        </p:txBody>
      </p:sp>
      <p:sp>
        <p:nvSpPr>
          <p:cNvPr id="20" name="">
            <a:extLst xmlns:a="http://schemas.openxmlformats.org/drawingml/2006/main">
              <a:ext uri="{FF2B5EF4-FFF2-40B4-BE49-F238E27FC236}">
                <a16:creationId xmlns:a16="http://schemas.microsoft.com/office/drawing/2014/main" id="{53EA9361-913F-4D77-AF2B-17820F10373F}"/>
              </a:ext>
            </a:extLst>
          </p:cNvPr>
          <p:cNvSpPr>
            <a:spLocks xmlns:a="http://schemas.openxmlformats.org/drawingml/2006/main" noGrp="1"/>
          </p:cNvSpPr>
          <p:nvPr/>
        </p:nvSpPr>
        <p:spPr>
          <a:xfrm xmlns:a="http://schemas.openxmlformats.org/drawingml/2006/main">
            <a:off x="7553325" y="2190750"/>
            <a:ext cx="9525" cy="2705100"/>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21" name="">
            <a:extLst xmlns:a="http://schemas.openxmlformats.org/drawingml/2006/main">
              <a:ext uri="{FF2B5EF4-FFF2-40B4-BE49-F238E27FC236}">
                <a16:creationId xmlns:a16="http://schemas.microsoft.com/office/drawing/2014/main" id="{FD6DE50E-CAD7-432E-B33D-81325E488D35}"/>
              </a:ext>
            </a:extLst>
          </p:cNvPr>
          <p:cNvSpPr>
            <a:spLocks xmlns:a="http://schemas.openxmlformats.org/drawingml/2006/main" noGrp="1"/>
          </p:cNvSpPr>
          <p:nvPr/>
        </p:nvSpPr>
        <p:spPr>
          <a:xfrm xmlns:a="http://schemas.openxmlformats.org/drawingml/2006/main">
            <a:off x="788670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WHEN?</a:t>
            </a:r>
          </a:p>
        </p:txBody>
      </p:sp>
      <p:sp>
        <p:nvSpPr>
          <p:cNvPr id="22" name="">
            <a:extLst xmlns:a="http://schemas.openxmlformats.org/drawingml/2006/main">
              <a:ext uri="{FF2B5EF4-FFF2-40B4-BE49-F238E27FC236}">
                <a16:creationId xmlns:a16="http://schemas.microsoft.com/office/drawing/2014/main" id="{7CFFC471-5902-4C9A-804D-4ACF3F0B9B68}"/>
              </a:ext>
            </a:extLst>
          </p:cNvPr>
          <p:cNvSpPr>
            <a:spLocks xmlns:a="http://schemas.openxmlformats.org/drawingml/2006/main" noGrp="1"/>
          </p:cNvSpPr>
          <p:nvPr/>
        </p:nvSpPr>
        <p:spPr>
          <a:xfrm xmlns:a="http://schemas.openxmlformats.org/drawingml/2006/main">
            <a:off x="7886700"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언제 갈 수 있을까?</a:t>
            </a:r>
          </a:p>
        </p:txBody>
      </p:sp>
      <p:sp>
        <p:nvSpPr>
          <p:cNvPr id="23" name="">
            <a:extLst xmlns:a="http://schemas.openxmlformats.org/drawingml/2006/main">
              <a:ext uri="{FF2B5EF4-FFF2-40B4-BE49-F238E27FC236}">
                <a16:creationId xmlns:a16="http://schemas.microsoft.com/office/drawing/2014/main" id="{B612C734-BA1D-4FF8-80F8-DD635351D6B6}"/>
              </a:ext>
            </a:extLst>
          </p:cNvPr>
          <p:cNvSpPr>
            <a:spLocks xmlns:a="http://schemas.openxmlformats.org/drawingml/2006/main" noGrp="1"/>
          </p:cNvSpPr>
          <p:nvPr/>
        </p:nvSpPr>
        <p:spPr>
          <a:xfrm xmlns:a="http://schemas.openxmlformats.org/drawingml/2006/main">
            <a:off x="7886700"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REAL AVAILABILITY</a:t>
            </a:r>
          </a:p>
        </p:txBody>
      </p:sp>
      <p:sp>
        <p:nvSpPr>
          <p:cNvPr id="24" name="">
            <a:extLst xmlns:a="http://schemas.openxmlformats.org/drawingml/2006/main">
              <a:ext uri="{FF2B5EF4-FFF2-40B4-BE49-F238E27FC236}">
                <a16:creationId xmlns:a16="http://schemas.microsoft.com/office/drawing/2014/main" id="{E6B55B96-F0DF-42F5-A188-F22B0912305F}"/>
              </a:ext>
            </a:extLst>
          </p:cNvPr>
          <p:cNvSpPr>
            <a:spLocks xmlns:a="http://schemas.openxmlformats.org/drawingml/2006/main" noGrp="1"/>
          </p:cNvSpPr>
          <p:nvPr/>
        </p:nvSpPr>
        <p:spPr>
          <a:xfrm xmlns:a="http://schemas.openxmlformats.org/drawingml/2006/main">
            <a:off x="7886700"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실제 예약 가능성과 방문 준비</a:t>
            </a:r>
          </a:p>
        </p:txBody>
      </p:sp>
      <p:sp>
        <p:nvSpPr>
          <p:cNvPr id="25" name="">
            <a:extLst xmlns:a="http://schemas.openxmlformats.org/drawingml/2006/main">
              <a:ext uri="{FF2B5EF4-FFF2-40B4-BE49-F238E27FC236}">
                <a16:creationId xmlns:a16="http://schemas.microsoft.com/office/drawing/2014/main" id="{8B4B9AF2-B3FE-419E-A4C7-FE5E28096F53}"/>
              </a:ext>
            </a:extLst>
          </p:cNvPr>
          <p:cNvSpPr>
            <a:spLocks xmlns:a="http://schemas.openxmlformats.org/drawingml/2006/main" noGrp="1"/>
          </p:cNvSpPr>
          <p:nvPr/>
        </p:nvSpPr>
        <p:spPr>
          <a:xfrm xmlns:a="http://schemas.openxmlformats.org/drawingml/2006/main">
            <a:off x="552450" y="5162550"/>
            <a:ext cx="110871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6" name="">
            <a:extLst xmlns:a="http://schemas.openxmlformats.org/drawingml/2006/main">
              <a:ext uri="{FF2B5EF4-FFF2-40B4-BE49-F238E27FC236}">
                <a16:creationId xmlns:a16="http://schemas.microsoft.com/office/drawing/2014/main" id="{1106B302-BEBD-43B6-A954-9106BBFC28F0}"/>
              </a:ext>
            </a:extLst>
          </p:cNvPr>
          <p:cNvSpPr>
            <a:spLocks xmlns:a="http://schemas.openxmlformats.org/drawingml/2006/main" noGrp="1"/>
          </p:cNvSpPr>
          <p:nvPr/>
        </p:nvSpPr>
        <p:spPr>
          <a:xfrm xmlns:a="http://schemas.openxmlformats.org/drawingml/2006/main">
            <a:off x="552450" y="54483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2243A"/>
                </a:solidFill>
              </a:defRPr>
            </a:pPr>
            <a:r>
              <a:rPr sz="1650" b="1" i="0">
                <a:solidFill>
                  <a:srgbClr val="12243A"/>
                </a:solidFill>
              </a:rPr>
              <a:t>Network and plan rules can limit choice or increase employee cost.</a:t>
            </a:r>
          </a:p>
        </p:txBody>
      </p:sp>
      <p:sp>
        <p:nvSpPr>
          <p:cNvPr id="27" name="">
            <a:extLst xmlns:a="http://schemas.openxmlformats.org/drawingml/2006/main">
              <a:ext uri="{FF2B5EF4-FFF2-40B4-BE49-F238E27FC236}">
                <a16:creationId xmlns:a16="http://schemas.microsoft.com/office/drawing/2014/main" id="{9B9AA6BD-4A1E-4D88-82CC-2EB224F1AD86}"/>
              </a:ext>
            </a:extLst>
          </p:cNvPr>
          <p:cNvSpPr>
            <a:spLocks xmlns:a="http://schemas.openxmlformats.org/drawingml/2006/main" noGrp="1"/>
          </p:cNvSpPr>
          <p:nvPr/>
        </p:nvSpPr>
        <p:spPr>
          <a:xfrm xmlns:a="http://schemas.openxmlformats.org/drawingml/2006/main">
            <a:off x="552450" y="585787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네트워크와 플랜 조건에 따라 선택이 제한되거나 본인부담이 커질 수 있습니다.</a:t>
            </a:r>
          </a:p>
        </p:txBody>
      </p:sp>
    </p:spTree>
    <p:extLst>
      <p:ext uri="{BB962C8B-B14F-4D97-AF65-F5344CB8AC3E}">
        <p14:creationId xmlns:p14="http://schemas.microsoft.com/office/powerpoint/2010/main" val="9502375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bb0c15eeabbe43eb"/>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EE39DC-AFC8-46C0-A625-F9617841263A}"/>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d2126d60062b42d0"/>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583ADB-CC94-4043-9E01-209A761C3B2D}"/>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Dental benefits. Evidence on Snowflake.</a:t>
            </a:r>
          </a:p>
        </p:txBody>
      </p:sp>
      <p:sp>
        <p:nvSpPr>
          <p:cNvPr id="5" name="">
            <a:extLst xmlns:a="http://schemas.openxmlformats.org/drawingml/2006/main">
              <a:ext uri="{FF2B5EF4-FFF2-40B4-BE49-F238E27FC236}">
                <a16:creationId xmlns:a16="http://schemas.microsoft.com/office/drawing/2014/main" id="{965CC29F-E56E-48B7-8094-F336FB4B51E3}"/>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임직원 치과복지 이용을 Snowflake 기반 근거로 연결합니다.</a:t>
            </a:r>
          </a:p>
        </p:txBody>
      </p:sp>
      <p:sp>
        <p:nvSpPr>
          <p:cNvPr id="6" name="">
            <a:extLst xmlns:a="http://schemas.openxmlformats.org/drawingml/2006/main">
              <a:ext uri="{FF2B5EF4-FFF2-40B4-BE49-F238E27FC236}">
                <a16:creationId xmlns:a16="http://schemas.microsoft.com/office/drawing/2014/main" id="{1B3E1525-5C60-41B5-B2D1-854888EE42E8}"/>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C32684C6-3C60-4747-AAFD-8CCEFB4BDF53}"/>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FAFED0F6-0764-4246-ABEC-738AA0D636B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087C93E0-1ED3-4CC0-8B5B-2A5234055014}"/>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9490587A-CE2B-4DD1-8A10-91D41DEDD458}"/>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03</a:t>
            </a:r>
          </a:p>
        </p:txBody>
      </p:sp>
      <p:sp>
        <p:nvSpPr>
          <p:cNvPr id="11" name="">
            <a:extLst xmlns:a="http://schemas.openxmlformats.org/drawingml/2006/main">
              <a:ext uri="{FF2B5EF4-FFF2-40B4-BE49-F238E27FC236}">
                <a16:creationId xmlns:a16="http://schemas.microsoft.com/office/drawing/2014/main" id="{AB55F550-21D6-4032-908C-90CACEFEFD5E}"/>
              </a:ext>
            </a:extLst>
          </p:cNvPr>
          <p:cNvSpPr>
            <a:spLocks xmlns:a="http://schemas.openxmlformats.org/drawingml/2006/main" noGrp="1"/>
          </p:cNvSpPr>
          <p:nvPr/>
        </p:nvSpPr>
        <p:spPr>
          <a:xfrm xmlns:a="http://schemas.openxmlformats.org/drawingml/2006/main">
            <a:off x="552450" y="2266950"/>
            <a:ext cx="2952750" cy="2095500"/>
          </a:xfrm>
          <a:prstGeom xmlns:a="http://schemas.openxmlformats.org/drawingml/2006/main" prst="rect">
            <a:avLst/>
          </a:prstGeom>
          <a:solidFill xmlns:a="http://schemas.openxmlformats.org/drawingml/2006/main">
            <a:srgbClr val="F5F7F6"/>
          </a:solidFill>
          <a:ln xmlns:a="http://schemas.openxmlformats.org/drawingml/2006/main" w="9525">
            <a:solidFill>
              <a:srgbClr val="D7DEDF"/>
            </a:solidFill>
            <a:prstDash val="solid"/>
          </a:ln>
        </p:spPr>
      </p:sp>
      <p:sp>
        <p:nvSpPr>
          <p:cNvPr id="12" name="">
            <a:extLst xmlns:a="http://schemas.openxmlformats.org/drawingml/2006/main">
              <a:ext uri="{FF2B5EF4-FFF2-40B4-BE49-F238E27FC236}">
                <a16:creationId xmlns:a16="http://schemas.microsoft.com/office/drawing/2014/main" id="{D4E3E98B-3650-4FAA-8273-8F33C075BBE2}"/>
              </a:ext>
            </a:extLst>
          </p:cNvPr>
          <p:cNvSpPr>
            <a:spLocks xmlns:a="http://schemas.openxmlformats.org/drawingml/2006/main" noGrp="1"/>
          </p:cNvSpPr>
          <p:nvPr/>
        </p:nvSpPr>
        <p:spPr>
          <a:xfrm xmlns:a="http://schemas.openxmlformats.org/drawingml/2006/main">
            <a:off x="4619625" y="2076450"/>
            <a:ext cx="2952750" cy="2476500"/>
          </a:xfrm>
          <a:prstGeom xmlns:a="http://schemas.openxmlformats.org/drawingml/2006/main" prst="rect">
            <a:avLst/>
          </a:prstGeom>
          <a:solidFill xmlns:a="http://schemas.openxmlformats.org/drawingml/2006/main">
            <a:srgbClr val="12243A"/>
          </a:solidFill>
          <a:ln xmlns:a="http://schemas.openxmlformats.org/drawingml/2006/main" w="9525">
            <a:solidFill>
              <a:srgbClr val="12243A"/>
            </a:solidFill>
            <a:prstDash val="solid"/>
          </a:ln>
        </p:spPr>
      </p:sp>
      <p:sp>
        <p:nvSpPr>
          <p:cNvPr id="13" name="">
            <a:extLst xmlns:a="http://schemas.openxmlformats.org/drawingml/2006/main">
              <a:ext uri="{FF2B5EF4-FFF2-40B4-BE49-F238E27FC236}">
                <a16:creationId xmlns:a16="http://schemas.microsoft.com/office/drawing/2014/main" id="{5E155FC5-B7D2-414D-8F80-6D43719F947F}"/>
              </a:ext>
            </a:extLst>
          </p:cNvPr>
          <p:cNvSpPr>
            <a:spLocks xmlns:a="http://schemas.openxmlformats.org/drawingml/2006/main" noGrp="1"/>
          </p:cNvSpPr>
          <p:nvPr/>
        </p:nvSpPr>
        <p:spPr>
          <a:xfrm xmlns:a="http://schemas.openxmlformats.org/drawingml/2006/main">
            <a:off x="8686800" y="2266950"/>
            <a:ext cx="2952750" cy="2095500"/>
          </a:xfrm>
          <a:prstGeom xmlns:a="http://schemas.openxmlformats.org/drawingml/2006/main" prst="rect">
            <a:avLst/>
          </a:prstGeom>
          <a:solidFill xmlns:a="http://schemas.openxmlformats.org/drawingml/2006/main">
            <a:srgbClr val="E8F7F7"/>
          </a:solidFill>
          <a:ln xmlns:a="http://schemas.openxmlformats.org/drawingml/2006/main" w="9525">
            <a:solidFill>
              <a:srgbClr val="55C5C8"/>
            </a:solidFill>
            <a:prstDash val="solid"/>
          </a:ln>
        </p:spPr>
      </p:sp>
      <p:cxnSp>
        <p:nvCxnSpPr>
          <p:cNvPr id="203" name=""/>
          <p:cNvCxnSpPr>
            <a:stCxn xmlns:a="http://schemas.openxmlformats.org/drawingml/2006/main" id="11" idx="3"/>
            <a:endCxn xmlns:a="http://schemas.openxmlformats.org/drawingml/2006/main" id="12" idx="1"/>
          </p:cNvCxnSpPr>
          <p:nvPr/>
        </p:nvCxnSpPr>
        <p:spPr>
          <a:xfrm xmlns:a="http://schemas.openxmlformats.org/drawingml/2006/main">
            <a:off x="3505200" y="3314700"/>
            <a:ext cx="1114425" cy="0"/>
          </a:xfrm>
          <a:prstGeom xmlns:a="http://schemas.openxmlformats.org/drawingml/2006/main" prst="straightConnector1">
            <a:avLst/>
          </a:prstGeom>
          <a:ln xmlns:a="http://schemas.openxmlformats.org/drawingml/2006/main" w="28575">
            <a:solidFill>
              <a:srgbClr val="167D82"/>
            </a:solidFill>
            <a:prstDash val="solid"/>
            <a:headEnd type="none" w="med" len="med"/>
          </a:ln>
        </p:spPr>
      </p:cxnSp>
      <p:cxnSp>
        <p:nvCxnSpPr>
          <p:cNvPr id="204" name=""/>
          <p:cNvCxnSpPr>
            <a:stCxn xmlns:a="http://schemas.openxmlformats.org/drawingml/2006/main" id="12" idx="3"/>
            <a:endCxn xmlns:a="http://schemas.openxmlformats.org/drawingml/2006/main" id="13" idx="1"/>
          </p:cNvCxnSpPr>
          <p:nvPr/>
        </p:nvCxnSpPr>
        <p:spPr>
          <a:xfrm xmlns:a="http://schemas.openxmlformats.org/drawingml/2006/main">
            <a:off x="7572375" y="3314700"/>
            <a:ext cx="1114425" cy="0"/>
          </a:xfrm>
          <a:prstGeom xmlns:a="http://schemas.openxmlformats.org/drawingml/2006/main" prst="straightConnector1">
            <a:avLst/>
          </a:prstGeom>
          <a:ln xmlns:a="http://schemas.openxmlformats.org/drawingml/2006/main" w="28575">
            <a:solidFill>
              <a:srgbClr val="167D82"/>
            </a:solidFill>
            <a:prstDash val="solid"/>
            <a:headEnd type="none" w="med" len="med"/>
          </a:ln>
        </p:spPr>
      </p:cxnSp>
      <p:sp>
        <p:nvSpPr>
          <p:cNvPr id="16" name="">
            <a:extLst xmlns:a="http://schemas.openxmlformats.org/drawingml/2006/main">
              <a:ext uri="{FF2B5EF4-FFF2-40B4-BE49-F238E27FC236}">
                <a16:creationId xmlns:a16="http://schemas.microsoft.com/office/drawing/2014/main" id="{D94DA0E3-9F66-4EDC-BD2F-2E0B90AF0465}"/>
              </a:ext>
            </a:extLst>
          </p:cNvPr>
          <p:cNvSpPr>
            <a:spLocks xmlns:a="http://schemas.openxmlformats.org/drawingml/2006/main" noGrp="1"/>
          </p:cNvSpPr>
          <p:nvPr/>
        </p:nvSpPr>
        <p:spPr>
          <a:xfrm xmlns:a="http://schemas.openxmlformats.org/drawingml/2006/main">
            <a:off x="3676650" y="2990850"/>
            <a:ext cx="742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167D82"/>
                </a:solidFill>
              </a:defRPr>
            </a:pPr>
            <a:r>
              <a:rPr sz="2550" b="1" i="0">
                <a:solidFill>
                  <a:srgbClr val="167D82"/>
                </a:solidFill>
              </a:rPr>
              <a:t>→</a:t>
            </a:r>
          </a:p>
        </p:txBody>
      </p:sp>
      <p:sp>
        <p:nvSpPr>
          <p:cNvPr id="17" name="">
            <a:extLst xmlns:a="http://schemas.openxmlformats.org/drawingml/2006/main">
              <a:ext uri="{FF2B5EF4-FFF2-40B4-BE49-F238E27FC236}">
                <a16:creationId xmlns:a16="http://schemas.microsoft.com/office/drawing/2014/main" id="{C5FBD579-C560-4653-9E16-2C761FA81F5F}"/>
              </a:ext>
            </a:extLst>
          </p:cNvPr>
          <p:cNvSpPr>
            <a:spLocks xmlns:a="http://schemas.openxmlformats.org/drawingml/2006/main" noGrp="1"/>
          </p:cNvSpPr>
          <p:nvPr/>
        </p:nvSpPr>
        <p:spPr>
          <a:xfrm xmlns:a="http://schemas.openxmlformats.org/drawingml/2006/main">
            <a:off x="7743825" y="2990850"/>
            <a:ext cx="742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167D82"/>
                </a:solidFill>
              </a:defRPr>
            </a:pPr>
            <a:r>
              <a:rPr sz="2550" b="1" i="0">
                <a:solidFill>
                  <a:srgbClr val="167D82"/>
                </a:solidFill>
              </a:rPr>
              <a:t>→</a:t>
            </a:r>
          </a:p>
        </p:txBody>
      </p:sp>
      <p:sp>
        <p:nvSpPr>
          <p:cNvPr id="18" name="">
            <a:extLst xmlns:a="http://schemas.openxmlformats.org/drawingml/2006/main">
              <a:ext uri="{FF2B5EF4-FFF2-40B4-BE49-F238E27FC236}">
                <a16:creationId xmlns:a16="http://schemas.microsoft.com/office/drawing/2014/main" id="{C5C59384-FB85-4EDB-9FFF-121FFA97264E}"/>
              </a:ext>
            </a:extLst>
          </p:cNvPr>
          <p:cNvSpPr>
            <a:spLocks xmlns:a="http://schemas.openxmlformats.org/drawingml/2006/main" noGrp="1"/>
          </p:cNvSpPr>
          <p:nvPr/>
        </p:nvSpPr>
        <p:spPr>
          <a:xfrm xmlns:a="http://schemas.openxmlformats.org/drawingml/2006/main">
            <a:off x="781050"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12243A"/>
                </a:solidFill>
              </a:defRPr>
            </a:pPr>
            <a:r>
              <a:rPr sz="1575" b="1" i="0">
                <a:solidFill>
                  <a:srgbClr val="12243A"/>
                </a:solidFill>
              </a:rPr>
              <a:t>Dental-benefit program</a:t>
            </a:r>
          </a:p>
        </p:txBody>
      </p:sp>
      <p:sp>
        <p:nvSpPr>
          <p:cNvPr id="19" name="">
            <a:extLst xmlns:a="http://schemas.openxmlformats.org/drawingml/2006/main">
              <a:ext uri="{FF2B5EF4-FFF2-40B4-BE49-F238E27FC236}">
                <a16:creationId xmlns:a16="http://schemas.microsoft.com/office/drawing/2014/main" id="{8B53CDBF-A335-422E-A1D0-8DA4E4EB1FFD}"/>
              </a:ext>
            </a:extLst>
          </p:cNvPr>
          <p:cNvSpPr>
            <a:spLocks xmlns:a="http://schemas.openxmlformats.org/drawingml/2006/main" noGrp="1"/>
          </p:cNvSpPr>
          <p:nvPr/>
        </p:nvSpPr>
        <p:spPr>
          <a:xfrm xmlns:a="http://schemas.openxmlformats.org/drawingml/2006/main">
            <a:off x="781050" y="2857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임직원 복지 프로그램</a:t>
            </a:r>
          </a:p>
        </p:txBody>
      </p:sp>
      <p:sp>
        <p:nvSpPr>
          <p:cNvPr id="20" name="">
            <a:extLst xmlns:a="http://schemas.openxmlformats.org/drawingml/2006/main">
              <a:ext uri="{FF2B5EF4-FFF2-40B4-BE49-F238E27FC236}">
                <a16:creationId xmlns:a16="http://schemas.microsoft.com/office/drawing/2014/main" id="{E62E5148-373A-4F82-9442-A189F3190CFF}"/>
              </a:ext>
            </a:extLst>
          </p:cNvPr>
          <p:cNvSpPr>
            <a:spLocks xmlns:a="http://schemas.openxmlformats.org/drawingml/2006/main" noGrp="1"/>
          </p:cNvSpPr>
          <p:nvPr/>
        </p:nvSpPr>
        <p:spPr>
          <a:xfrm xmlns:a="http://schemas.openxmlformats.org/drawingml/2006/main">
            <a:off x="781050" y="321945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Understand dental benefits</a:t>
            </a:r>
          </a:p>
          <a:p xmlns:a="http://schemas.openxmlformats.org/drawingml/2006/main">
            <a:pPr algn="l">
              <a:buNone/>
              <a:defRPr sz="1088" b="1" i="0">
                <a:solidFill>
                  <a:srgbClr val="24364C"/>
                </a:solidFill>
              </a:defRPr>
            </a:pPr>
            <a:r>
              <a:rPr sz="1088" b="1" i="0">
                <a:solidFill>
                  <a:srgbClr val="24364C"/>
                </a:solidFill>
              </a:rPr>
              <a:t>치아보험 혜택 이해</a:t>
            </a:r>
          </a:p>
          <a:p xmlns:a="http://schemas.openxmlformats.org/drawingml/2006/main">
            <a:pPr algn="l">
              <a:buNone/>
              <a:defRPr sz="1088" b="1" i="0">
                <a:solidFill>
                  <a:srgbClr val="24364C"/>
                </a:solidFill>
              </a:defRPr>
            </a:pPr>
            <a:r>
              <a:rPr sz="1088" b="1" i="0">
                <a:solidFill>
                  <a:srgbClr val="24364C"/>
                </a:solidFill>
              </a:rPr>
              <a:t>Find in-network care</a:t>
            </a:r>
          </a:p>
          <a:p xmlns:a="http://schemas.openxmlformats.org/drawingml/2006/main">
            <a:pPr algn="l">
              <a:buNone/>
              <a:defRPr sz="1088" b="1" i="0">
                <a:solidFill>
                  <a:srgbClr val="24364C"/>
                </a:solidFill>
              </a:defRPr>
            </a:pPr>
            <a:r>
              <a:rPr sz="1088" b="1" i="0">
                <a:solidFill>
                  <a:srgbClr val="24364C"/>
                </a:solidFill>
              </a:rPr>
              <a:t>네트워크 치과 탐색</a:t>
            </a:r>
          </a:p>
          <a:p xmlns:a="http://schemas.openxmlformats.org/drawingml/2006/main">
            <a:pPr algn="l">
              <a:buNone/>
              <a:defRPr sz="1088" b="1" i="0">
                <a:solidFill>
                  <a:srgbClr val="24364C"/>
                </a:solidFill>
              </a:defRPr>
            </a:pPr>
            <a:r>
              <a:rPr sz="1088" b="1" i="0">
                <a:solidFill>
                  <a:srgbClr val="24364C"/>
                </a:solidFill>
              </a:rPr>
              <a:t>Employee-requested support</a:t>
            </a:r>
          </a:p>
          <a:p xmlns:a="http://schemas.openxmlformats.org/drawingml/2006/main">
            <a:pPr algn="l">
              <a:buNone/>
              <a:defRPr sz="1088" b="1" i="0">
                <a:solidFill>
                  <a:srgbClr val="24364C"/>
                </a:solidFill>
              </a:defRPr>
            </a:pPr>
            <a:r>
              <a:rPr sz="1088" b="1" i="0">
                <a:solidFill>
                  <a:srgbClr val="24364C"/>
                </a:solidFill>
              </a:rPr>
              <a:t>직원 요청에 따른 예약 지원</a:t>
            </a:r>
          </a:p>
        </p:txBody>
      </p:sp>
      <p:sp>
        <p:nvSpPr>
          <p:cNvPr id="21" name="">
            <a:extLst xmlns:a="http://schemas.openxmlformats.org/drawingml/2006/main">
              <a:ext uri="{FF2B5EF4-FFF2-40B4-BE49-F238E27FC236}">
                <a16:creationId xmlns:a16="http://schemas.microsoft.com/office/drawing/2014/main" id="{A64F15B0-65CD-4F5E-84C2-9035AB3C7834}"/>
              </a:ext>
            </a:extLst>
          </p:cNvPr>
          <p:cNvSpPr>
            <a:spLocks xmlns:a="http://schemas.openxmlformats.org/drawingml/2006/main" noGrp="1"/>
          </p:cNvSpPr>
          <p:nvPr/>
        </p:nvSpPr>
        <p:spPr>
          <a:xfrm xmlns:a="http://schemas.openxmlformats.org/drawingml/2006/main">
            <a:off x="4886325" y="231457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FFFFFF"/>
                </a:solidFill>
              </a:defRPr>
            </a:pPr>
            <a:r>
              <a:rPr sz="1950" b="1" i="0">
                <a:solidFill>
                  <a:srgbClr val="FFFFFF"/>
                </a:solidFill>
              </a:rPr>
              <a:t>Snowflake</a:t>
            </a:r>
          </a:p>
        </p:txBody>
      </p:sp>
      <p:sp>
        <p:nvSpPr>
          <p:cNvPr id="22" name="">
            <a:extLst xmlns:a="http://schemas.openxmlformats.org/drawingml/2006/main">
              <a:ext uri="{FF2B5EF4-FFF2-40B4-BE49-F238E27FC236}">
                <a16:creationId xmlns:a16="http://schemas.microsoft.com/office/drawing/2014/main" id="{95BAA58A-C025-4DFE-B4A0-BE420A09F704}"/>
              </a:ext>
            </a:extLst>
          </p:cNvPr>
          <p:cNvSpPr>
            <a:spLocks xmlns:a="http://schemas.openxmlformats.org/drawingml/2006/main" noGrp="1"/>
          </p:cNvSpPr>
          <p:nvPr/>
        </p:nvSpPr>
        <p:spPr>
          <a:xfrm xmlns:a="http://schemas.openxmlformats.org/drawingml/2006/main">
            <a:off x="4886325" y="2705100"/>
            <a:ext cx="2419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BFD1DD"/>
                </a:solidFill>
              </a:defRPr>
            </a:pPr>
            <a:r>
              <a:rPr sz="1200" b="0" i="0">
                <a:solidFill>
                  <a:srgbClr val="BFD1DD"/>
                </a:solidFill>
              </a:rPr>
              <a:t>Governed evidence plane</a:t>
            </a:r>
          </a:p>
        </p:txBody>
      </p:sp>
      <p:sp>
        <p:nvSpPr>
          <p:cNvPr id="23" name="">
            <a:extLst xmlns:a="http://schemas.openxmlformats.org/drawingml/2006/main">
              <a:ext uri="{FF2B5EF4-FFF2-40B4-BE49-F238E27FC236}">
                <a16:creationId xmlns:a16="http://schemas.microsoft.com/office/drawing/2014/main" id="{03C5E106-F298-485C-B9E1-C86A175A87AE}"/>
              </a:ext>
            </a:extLst>
          </p:cNvPr>
          <p:cNvSpPr>
            <a:spLocks xmlns:a="http://schemas.openxmlformats.org/drawingml/2006/main" noGrp="1"/>
          </p:cNvSpPr>
          <p:nvPr/>
        </p:nvSpPr>
        <p:spPr>
          <a:xfrm xmlns:a="http://schemas.openxmlformats.org/drawingml/2006/main">
            <a:off x="4886325" y="2952750"/>
            <a:ext cx="2419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i="0">
                <a:solidFill>
                  <a:srgbClr val="BFD1DD"/>
                </a:solidFill>
              </a:defRPr>
            </a:pPr>
            <a:r>
              <a:rPr sz="1050" b="0" i="0">
                <a:solidFill>
                  <a:srgbClr val="BFD1DD"/>
                </a:solidFill>
              </a:rPr>
              <a:t>관리형 증거 레이어</a:t>
            </a:r>
          </a:p>
        </p:txBody>
      </p:sp>
      <p:sp>
        <p:nvSpPr>
          <p:cNvPr id="24" name="">
            <a:extLst xmlns:a="http://schemas.openxmlformats.org/drawingml/2006/main">
              <a:ext uri="{FF2B5EF4-FFF2-40B4-BE49-F238E27FC236}">
                <a16:creationId xmlns:a16="http://schemas.microsoft.com/office/drawing/2014/main" id="{EEC4D46F-FA22-4826-9256-7F5BEC4FF183}"/>
              </a:ext>
            </a:extLst>
          </p:cNvPr>
          <p:cNvSpPr>
            <a:spLocks xmlns:a="http://schemas.openxmlformats.org/drawingml/2006/main" noGrp="1"/>
          </p:cNvSpPr>
          <p:nvPr/>
        </p:nvSpPr>
        <p:spPr>
          <a:xfrm xmlns:a="http://schemas.openxmlformats.org/drawingml/2006/main">
            <a:off x="5095875" y="3190875"/>
            <a:ext cx="2000250" cy="381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5" name="">
            <a:extLst xmlns:a="http://schemas.openxmlformats.org/drawingml/2006/main">
              <a:ext uri="{FF2B5EF4-FFF2-40B4-BE49-F238E27FC236}">
                <a16:creationId xmlns:a16="http://schemas.microsoft.com/office/drawing/2014/main" id="{8C6AA92B-4598-4FCD-98F7-62A52B650C28}"/>
              </a:ext>
            </a:extLst>
          </p:cNvPr>
          <p:cNvSpPr>
            <a:spLocks xmlns:a="http://schemas.openxmlformats.org/drawingml/2006/main" noGrp="1"/>
          </p:cNvSpPr>
          <p:nvPr/>
        </p:nvSpPr>
        <p:spPr>
          <a:xfrm xmlns:a="http://schemas.openxmlformats.org/drawingml/2006/main">
            <a:off x="4857750" y="34480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1" i="0">
                <a:solidFill>
                  <a:srgbClr val="FFFFFF"/>
                </a:solidFill>
              </a:defRPr>
            </a:pPr>
            <a:r>
              <a:rPr sz="1088" b="1" i="0">
                <a:solidFill>
                  <a:srgbClr val="FFFFFF"/>
                </a:solidFill>
              </a:rPr>
              <a:t>ELIGIBILITY + PLAN</a:t>
            </a:r>
          </a:p>
          <a:p xmlns:a="http://schemas.openxmlformats.org/drawingml/2006/main">
            <a:pPr algn="ctr">
              <a:buNone/>
              <a:defRPr sz="1088" b="1" i="0">
                <a:solidFill>
                  <a:srgbClr val="FFFFFF"/>
                </a:solidFill>
              </a:defRPr>
            </a:pPr>
            <a:r>
              <a:rPr sz="1088" b="1" i="0">
                <a:solidFill>
                  <a:srgbClr val="FFFFFF"/>
                </a:solidFill>
              </a:rPr>
              <a:t>가입 자격·플랜 조건</a:t>
            </a:r>
          </a:p>
          <a:p xmlns:a="http://schemas.openxmlformats.org/drawingml/2006/main">
            <a:pPr algn="ctr">
              <a:buNone/>
              <a:defRPr sz="1088" b="1" i="0">
                <a:solidFill>
                  <a:srgbClr val="FFFFFF"/>
                </a:solidFill>
              </a:defRPr>
            </a:pPr>
            <a:r>
              <a:rPr sz="1088" b="1" i="0">
                <a:solidFill>
                  <a:srgbClr val="FFFFFF"/>
                </a:solidFill>
              </a:rPr>
              <a:t>APP EVENTS + DENTAL CLAIMS</a:t>
            </a:r>
          </a:p>
          <a:p xmlns:a="http://schemas.openxmlformats.org/drawingml/2006/main">
            <a:pPr algn="ctr">
              <a:buNone/>
              <a:defRPr sz="1088" b="1" i="0">
                <a:solidFill>
                  <a:srgbClr val="FFFFFF"/>
                </a:solidFill>
              </a:defRPr>
            </a:pPr>
            <a:r>
              <a:rPr sz="1088" b="1" i="0">
                <a:solidFill>
                  <a:srgbClr val="FFFFFF"/>
                </a:solidFill>
              </a:rPr>
              <a:t>앱 이용 기록·치아보험 청구</a:t>
            </a:r>
          </a:p>
        </p:txBody>
      </p:sp>
      <p:sp>
        <p:nvSpPr>
          <p:cNvPr id="26" name="">
            <a:extLst xmlns:a="http://schemas.openxmlformats.org/drawingml/2006/main">
              <a:ext uri="{FF2B5EF4-FFF2-40B4-BE49-F238E27FC236}">
                <a16:creationId xmlns:a16="http://schemas.microsoft.com/office/drawing/2014/main" id="{E0D506CF-8750-448D-8492-FF00A8A72F63}"/>
              </a:ext>
            </a:extLst>
          </p:cNvPr>
          <p:cNvSpPr>
            <a:spLocks xmlns:a="http://schemas.openxmlformats.org/drawingml/2006/main" noGrp="1"/>
          </p:cNvSpPr>
          <p:nvPr/>
        </p:nvSpPr>
        <p:spPr>
          <a:xfrm xmlns:a="http://schemas.openxmlformats.org/drawingml/2006/main">
            <a:off x="8915400"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12243A"/>
                </a:solidFill>
              </a:defRPr>
            </a:pPr>
            <a:r>
              <a:rPr sz="1575" b="1" i="0">
                <a:solidFill>
                  <a:srgbClr val="12243A"/>
                </a:solidFill>
              </a:rPr>
              <a:t>Employer evidence</a:t>
            </a:r>
          </a:p>
        </p:txBody>
      </p:sp>
      <p:sp>
        <p:nvSpPr>
          <p:cNvPr id="27" name="">
            <a:extLst xmlns:a="http://schemas.openxmlformats.org/drawingml/2006/main">
              <a:ext uri="{FF2B5EF4-FFF2-40B4-BE49-F238E27FC236}">
                <a16:creationId xmlns:a16="http://schemas.microsoft.com/office/drawing/2014/main" id="{FAC22D64-7738-41B7-A7CB-0AB4D4809AF4}"/>
              </a:ext>
            </a:extLst>
          </p:cNvPr>
          <p:cNvSpPr>
            <a:spLocks xmlns:a="http://schemas.openxmlformats.org/drawingml/2006/main" noGrp="1"/>
          </p:cNvSpPr>
          <p:nvPr/>
        </p:nvSpPr>
        <p:spPr>
          <a:xfrm xmlns:a="http://schemas.openxmlformats.org/drawingml/2006/main">
            <a:off x="8915400" y="28479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기업용 집계 근거</a:t>
            </a:r>
          </a:p>
        </p:txBody>
      </p:sp>
      <p:sp>
        <p:nvSpPr>
          <p:cNvPr id="28" name="">
            <a:extLst xmlns:a="http://schemas.openxmlformats.org/drawingml/2006/main">
              <a:ext uri="{FF2B5EF4-FFF2-40B4-BE49-F238E27FC236}">
                <a16:creationId xmlns:a16="http://schemas.microsoft.com/office/drawing/2014/main" id="{7E795188-20CC-4D97-AAED-1D6094EACF69}"/>
              </a:ext>
            </a:extLst>
          </p:cNvPr>
          <p:cNvSpPr>
            <a:spLocks xmlns:a="http://schemas.openxmlformats.org/drawingml/2006/main" noGrp="1"/>
          </p:cNvSpPr>
          <p:nvPr/>
        </p:nvSpPr>
        <p:spPr>
          <a:xfrm xmlns:a="http://schemas.openxmlformats.org/drawingml/2006/main">
            <a:off x="8915400" y="321945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Claims-confirmed use</a:t>
            </a:r>
          </a:p>
          <a:p xmlns:a="http://schemas.openxmlformats.org/drawingml/2006/main">
            <a:pPr algn="l">
              <a:buNone/>
              <a:defRPr sz="1088" b="1" i="0">
                <a:solidFill>
                  <a:srgbClr val="24364C"/>
                </a:solidFill>
              </a:defRPr>
            </a:pPr>
            <a:r>
              <a:rPr sz="1088" b="1" i="0">
                <a:solidFill>
                  <a:srgbClr val="24364C"/>
                </a:solidFill>
              </a:rPr>
              <a:t>청구로 확인된 이용</a:t>
            </a:r>
          </a:p>
          <a:p xmlns:a="http://schemas.openxmlformats.org/drawingml/2006/main">
            <a:pPr algn="l">
              <a:buNone/>
              <a:defRPr sz="1088" b="1" i="0">
                <a:solidFill>
                  <a:srgbClr val="24364C"/>
                </a:solidFill>
              </a:defRPr>
            </a:pPr>
            <a:r>
              <a:rPr sz="1088" b="1" i="0">
                <a:solidFill>
                  <a:srgbClr val="24364C"/>
                </a:solidFill>
              </a:rPr>
              <a:t>Allowed · paid · OOP</a:t>
            </a:r>
          </a:p>
          <a:p xmlns:a="http://schemas.openxmlformats.org/drawingml/2006/main">
            <a:pPr algn="l">
              <a:buNone/>
              <a:defRPr sz="1088" b="1" i="0">
                <a:solidFill>
                  <a:srgbClr val="24364C"/>
                </a:solidFill>
              </a:defRPr>
            </a:pPr>
            <a:r>
              <a:rPr sz="1088" b="1" i="0">
                <a:solidFill>
                  <a:srgbClr val="24364C"/>
                </a:solidFill>
              </a:rPr>
              <a:t>허용액·지급액·본인부담금</a:t>
            </a:r>
          </a:p>
          <a:p xmlns:a="http://schemas.openxmlformats.org/drawingml/2006/main">
            <a:pPr algn="l">
              <a:buNone/>
              <a:defRPr sz="1088" b="1" i="0">
                <a:solidFill>
                  <a:srgbClr val="24364C"/>
                </a:solidFill>
              </a:defRPr>
            </a:pPr>
            <a:r>
              <a:rPr sz="1088" b="1" i="0">
                <a:solidFill>
                  <a:srgbClr val="24364C"/>
                </a:solidFill>
              </a:rPr>
              <a:t>Freshness · lag · completeness</a:t>
            </a:r>
          </a:p>
          <a:p xmlns:a="http://schemas.openxmlformats.org/drawingml/2006/main">
            <a:pPr algn="l">
              <a:buNone/>
              <a:defRPr sz="1088" b="1" i="0">
                <a:solidFill>
                  <a:srgbClr val="24364C"/>
                </a:solidFill>
              </a:defRPr>
            </a:pPr>
            <a:r>
              <a:rPr sz="1088" b="1" i="0">
                <a:solidFill>
                  <a:srgbClr val="24364C"/>
                </a:solidFill>
              </a:rPr>
              <a:t>기준일·지연·완결성</a:t>
            </a:r>
          </a:p>
        </p:txBody>
      </p:sp>
      <p:sp>
        <p:nvSpPr>
          <p:cNvPr id="29" name="">
            <a:extLst xmlns:a="http://schemas.openxmlformats.org/drawingml/2006/main">
              <a:ext uri="{FF2B5EF4-FFF2-40B4-BE49-F238E27FC236}">
                <a16:creationId xmlns:a16="http://schemas.microsoft.com/office/drawing/2014/main" id="{F9AC4BA1-CBD0-4A65-9165-1A91431C82CE}"/>
              </a:ext>
            </a:extLst>
          </p:cNvPr>
          <p:cNvSpPr>
            <a:spLocks xmlns:a="http://schemas.openxmlformats.org/drawingml/2006/main" noGrp="1"/>
          </p:cNvSpPr>
          <p:nvPr/>
        </p:nvSpPr>
        <p:spPr>
          <a:xfrm xmlns:a="http://schemas.openxmlformats.org/drawingml/2006/main">
            <a:off x="552450" y="4981575"/>
            <a:ext cx="110871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30" name="">
            <a:extLst xmlns:a="http://schemas.openxmlformats.org/drawingml/2006/main">
              <a:ext uri="{FF2B5EF4-FFF2-40B4-BE49-F238E27FC236}">
                <a16:creationId xmlns:a16="http://schemas.microsoft.com/office/drawing/2014/main" id="{45D47921-BE4C-42C1-B94A-689027B30A6D}"/>
              </a:ext>
            </a:extLst>
          </p:cNvPr>
          <p:cNvSpPr>
            <a:spLocks xmlns:a="http://schemas.openxmlformats.org/drawingml/2006/main" noGrp="1"/>
          </p:cNvSpPr>
          <p:nvPr/>
        </p:nvSpPr>
        <p:spPr>
          <a:xfrm xmlns:a="http://schemas.openxmlformats.org/drawingml/2006/main">
            <a:off x="552450" y="5162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i="0">
                <a:solidFill>
                  <a:srgbClr val="12243A"/>
                </a:solidFill>
              </a:defRPr>
            </a:pPr>
            <a:r>
              <a:rPr sz="975" b="1" i="0">
                <a:solidFill>
                  <a:srgbClr val="12243A"/>
                </a:solidFill>
              </a:rPr>
              <a:t>RAW ORAL IMAGES</a:t>
            </a:r>
          </a:p>
        </p:txBody>
      </p:sp>
      <p:sp>
        <p:nvSpPr>
          <p:cNvPr id="31" name="">
            <a:extLst xmlns:a="http://schemas.openxmlformats.org/drawingml/2006/main">
              <a:ext uri="{FF2B5EF4-FFF2-40B4-BE49-F238E27FC236}">
                <a16:creationId xmlns:a16="http://schemas.microsoft.com/office/drawing/2014/main" id="{06D584CE-0FD9-4444-9F7E-36D7B2097F1A}"/>
              </a:ext>
            </a:extLst>
          </p:cNvPr>
          <p:cNvSpPr>
            <a:spLocks xmlns:a="http://schemas.openxmlformats.org/drawingml/2006/main" noGrp="1"/>
          </p:cNvSpPr>
          <p:nvPr/>
        </p:nvSpPr>
        <p:spPr>
          <a:xfrm xmlns:a="http://schemas.openxmlformats.org/drawingml/2006/main">
            <a:off x="552450" y="54292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5E6A75"/>
                </a:solidFill>
              </a:defRPr>
            </a:pPr>
            <a:r>
              <a:rPr sz="1088" b="0" i="0">
                <a:solidFill>
                  <a:srgbClr val="5E6A75"/>
                </a:solidFill>
              </a:rPr>
              <a:t>원본 구강 이미지는 통제된 미국 내 저장소에 보관</a:t>
            </a:r>
          </a:p>
        </p:txBody>
      </p:sp>
      <p:sp>
        <p:nvSpPr>
          <p:cNvPr id="32" name="">
            <a:extLst xmlns:a="http://schemas.openxmlformats.org/drawingml/2006/main">
              <a:ext uri="{FF2B5EF4-FFF2-40B4-BE49-F238E27FC236}">
                <a16:creationId xmlns:a16="http://schemas.microsoft.com/office/drawing/2014/main" id="{10CE4E32-96E4-408A-8AEC-440D83917F63}"/>
              </a:ext>
            </a:extLst>
          </p:cNvPr>
          <p:cNvSpPr>
            <a:spLocks xmlns:a="http://schemas.openxmlformats.org/drawingml/2006/main" noGrp="1"/>
          </p:cNvSpPr>
          <p:nvPr/>
        </p:nvSpPr>
        <p:spPr>
          <a:xfrm xmlns:a="http://schemas.openxmlformats.org/drawingml/2006/main">
            <a:off x="6496050" y="51625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i="0">
                <a:solidFill>
                  <a:srgbClr val="167D82"/>
                </a:solidFill>
              </a:defRPr>
            </a:pPr>
            <a:r>
              <a:rPr sz="975" b="1" i="0">
                <a:solidFill>
                  <a:srgbClr val="167D82"/>
                </a:solidFill>
              </a:rPr>
              <a:t>SNOWFLAKE</a:t>
            </a:r>
          </a:p>
        </p:txBody>
      </p:sp>
      <p:sp>
        <p:nvSpPr>
          <p:cNvPr id="33" name="">
            <a:extLst xmlns:a="http://schemas.openxmlformats.org/drawingml/2006/main">
              <a:ext uri="{FF2B5EF4-FFF2-40B4-BE49-F238E27FC236}">
                <a16:creationId xmlns:a16="http://schemas.microsoft.com/office/drawing/2014/main" id="{1F1E4728-3E51-4169-824A-1CA977F157E2}"/>
              </a:ext>
            </a:extLst>
          </p:cNvPr>
          <p:cNvSpPr>
            <a:spLocks xmlns:a="http://schemas.openxmlformats.org/drawingml/2006/main" noGrp="1"/>
          </p:cNvSpPr>
          <p:nvPr/>
        </p:nvSpPr>
        <p:spPr>
          <a:xfrm xmlns:a="http://schemas.openxmlformats.org/drawingml/2006/main">
            <a:off x="6496050" y="5429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Approved data · purpose-based access · quality · lineage</a:t>
            </a:r>
          </a:p>
        </p:txBody>
      </p:sp>
      <p:sp>
        <p:nvSpPr>
          <p:cNvPr id="34" name="">
            <a:extLst xmlns:a="http://schemas.openxmlformats.org/drawingml/2006/main">
              <a:ext uri="{FF2B5EF4-FFF2-40B4-BE49-F238E27FC236}">
                <a16:creationId xmlns:a16="http://schemas.microsoft.com/office/drawing/2014/main" id="{DCADEDCF-55C4-4E9F-BEBF-93D6F7E9EB20}"/>
              </a:ext>
            </a:extLst>
          </p:cNvPr>
          <p:cNvSpPr>
            <a:spLocks xmlns:a="http://schemas.openxmlformats.org/drawingml/2006/main" noGrp="1"/>
          </p:cNvSpPr>
          <p:nvPr/>
        </p:nvSpPr>
        <p:spPr>
          <a:xfrm xmlns:a="http://schemas.openxmlformats.org/drawingml/2006/main">
            <a:off x="6496050" y="5686425"/>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5E6A75"/>
                </a:solidFill>
              </a:defRPr>
            </a:pPr>
            <a:r>
              <a:rPr sz="1050" b="0" i="0">
                <a:solidFill>
                  <a:srgbClr val="5E6A75"/>
                </a:solidFill>
              </a:rPr>
              <a:t>승인된 데이터·품질 대조·데이터 계보</a:t>
            </a:r>
          </a:p>
        </p:txBody>
      </p:sp>
      <p:sp>
        <p:nvSpPr>
          <p:cNvPr id="35" name="">
            <a:extLst xmlns:a="http://schemas.openxmlformats.org/drawingml/2006/main">
              <a:ext uri="{FF2B5EF4-FFF2-40B4-BE49-F238E27FC236}">
                <a16:creationId xmlns:a16="http://schemas.microsoft.com/office/drawing/2014/main" id="{60F47AE7-E8B2-48B7-9CF5-5FFB75B5EDA7}"/>
              </a:ext>
            </a:extLst>
          </p:cNvPr>
          <p:cNvSpPr>
            <a:spLocks xmlns:a="http://schemas.openxmlformats.org/drawingml/2006/main" noGrp="1"/>
          </p:cNvSpPr>
          <p:nvPr/>
        </p:nvSpPr>
        <p:spPr>
          <a:xfrm xmlns:a="http://schemas.openxmlformats.org/drawingml/2006/main">
            <a:off x="552450" y="6019800"/>
            <a:ext cx="11087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24364C"/>
                </a:solidFill>
              </a:defRPr>
            </a:pPr>
            <a:r>
              <a:rPr sz="1050" b="1" i="0">
                <a:solidFill>
                  <a:srgbClr val="24364C"/>
                </a:solidFill>
              </a:rPr>
              <a:t>Individual routing and health signals stay outside employer views.</a:t>
            </a:r>
          </a:p>
        </p:txBody>
      </p:sp>
      <p:sp>
        <p:nvSpPr>
          <p:cNvPr id="36" name="">
            <a:extLst xmlns:a="http://schemas.openxmlformats.org/drawingml/2006/main">
              <a:ext uri="{FF2B5EF4-FFF2-40B4-BE49-F238E27FC236}">
                <a16:creationId xmlns:a16="http://schemas.microsoft.com/office/drawing/2014/main" id="{D2752068-19FF-47B0-B24B-FE7528FF6E3E}"/>
              </a:ext>
            </a:extLst>
          </p:cNvPr>
          <p:cNvSpPr>
            <a:spLocks xmlns:a="http://schemas.openxmlformats.org/drawingml/2006/main" noGrp="1"/>
          </p:cNvSpPr>
          <p:nvPr/>
        </p:nvSpPr>
        <p:spPr>
          <a:xfrm xmlns:a="http://schemas.openxmlformats.org/drawingml/2006/main">
            <a:off x="552450" y="6248400"/>
            <a:ext cx="11087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5E6A75"/>
                </a:solidFill>
              </a:defRPr>
            </a:pPr>
            <a:r>
              <a:rPr sz="1013" b="0" i="0">
                <a:solidFill>
                  <a:srgbClr val="5E6A75"/>
                </a:solidFill>
              </a:rPr>
              <a:t>직원별 진료 경로와 건강 신호는 기업에 제공하지 않습니다.</a:t>
            </a:r>
          </a:p>
        </p:txBody>
      </p:sp>
    </p:spTree>
    <p:extLst>
      <p:ext uri="{BB962C8B-B14F-4D97-AF65-F5344CB8AC3E}">
        <p14:creationId xmlns:p14="http://schemas.microsoft.com/office/powerpoint/2010/main" val="1261035585"/>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75e82fcc1354184"/>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8DD91D-25F7-4422-9CE0-7E3C2756EB4A}"/>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a2d990d7e5e404a"/>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5E426D-8043-4EAE-830C-7B50CAF9D27D}"/>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Clear definitions make evidence credible.</a:t>
            </a:r>
          </a:p>
        </p:txBody>
      </p:sp>
      <p:sp>
        <p:nvSpPr>
          <p:cNvPr id="5" name="">
            <a:extLst xmlns:a="http://schemas.openxmlformats.org/drawingml/2006/main">
              <a:ext uri="{FF2B5EF4-FFF2-40B4-BE49-F238E27FC236}">
                <a16:creationId xmlns:a16="http://schemas.microsoft.com/office/drawing/2014/main" id="{E91211D0-2407-43C4-991A-2E0012002195}"/>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임직원 치과복지 성과는 명확한 데이터 기준에서 시작합니다.</a:t>
            </a:r>
          </a:p>
        </p:txBody>
      </p:sp>
      <p:sp>
        <p:nvSpPr>
          <p:cNvPr id="6" name="">
            <a:extLst xmlns:a="http://schemas.openxmlformats.org/drawingml/2006/main">
              <a:ext uri="{FF2B5EF4-FFF2-40B4-BE49-F238E27FC236}">
                <a16:creationId xmlns:a16="http://schemas.microsoft.com/office/drawing/2014/main" id="{6EEE93A4-DA2E-4D2F-86E3-F7820A93816C}"/>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8930777D-52EF-4411-884D-AC8A47B815E6}"/>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0601782A-B2AB-4D49-8C1B-39C120C4141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1ADD30AB-AE83-4773-BBB7-86ACAFA6C0AD}"/>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889FFC9C-502E-4D68-A60E-0540B00B391A}"/>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04</a:t>
            </a:r>
          </a:p>
        </p:txBody>
      </p:sp>
      <p:sp>
        <p:nvSpPr>
          <p:cNvPr id="11" name="">
            <a:extLst xmlns:a="http://schemas.openxmlformats.org/drawingml/2006/main">
              <a:ext uri="{FF2B5EF4-FFF2-40B4-BE49-F238E27FC236}">
                <a16:creationId xmlns:a16="http://schemas.microsoft.com/office/drawing/2014/main" id="{B52FFA8B-B856-4EEB-9610-30A67678B868}"/>
              </a:ext>
            </a:extLst>
          </p:cNvPr>
          <p:cNvSpPr>
            <a:spLocks xmlns:a="http://schemas.openxmlformats.org/drawingml/2006/main" noGrp="1"/>
          </p:cNvSpPr>
          <p:nvPr/>
        </p:nvSpPr>
        <p:spPr>
          <a:xfrm xmlns:a="http://schemas.openxmlformats.org/drawingml/2006/main">
            <a:off x="514350" y="2800350"/>
            <a:ext cx="11163300" cy="3276600"/>
          </a:xfrm>
          <a:prstGeom xmlns:a="http://schemas.openxmlformats.org/drawingml/2006/main" prst="rect">
            <a:avLst/>
          </a:prstGeom>
          <a:solidFill xmlns:a="http://schemas.openxmlformats.org/drawingml/2006/main">
            <a:srgbClr val="FFFFFF"/>
          </a:solidFill>
          <a:ln xmlns:a="http://schemas.openxmlformats.org/drawingml/2006/main" w="9525">
            <a:solidFill>
              <a:srgbClr val="D7DED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f2552a1a523479d"/>
          <a:stretch xmlns:a="http://schemas.openxmlformats.org/drawingml/2006/main"/>
        </p:blipFill>
        <p:spPr>
          <a:xfrm xmlns:a="http://schemas.openxmlformats.org/drawingml/2006/main">
            <a:off x="1704975" y="2914650"/>
            <a:ext cx="8782050" cy="3048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5F69CE2-DC0E-4029-B2B1-723FC26FD7DF}"/>
              </a:ext>
            </a:extLst>
          </p:cNvPr>
          <p:cNvSpPr>
            <a:spLocks xmlns:a="http://schemas.openxmlformats.org/drawingml/2006/main" noGrp="1"/>
          </p:cNvSpPr>
          <p:nvPr/>
        </p:nvSpPr>
        <p:spPr>
          <a:xfrm xmlns:a="http://schemas.openxmlformats.org/drawingml/2006/main">
            <a:off x="5524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4" name="">
            <a:extLst xmlns:a="http://schemas.openxmlformats.org/drawingml/2006/main">
              <a:ext uri="{FF2B5EF4-FFF2-40B4-BE49-F238E27FC236}">
                <a16:creationId xmlns:a16="http://schemas.microsoft.com/office/drawing/2014/main" id="{6ACB49DC-3E73-4BBD-A990-8C8D321BB1D6}"/>
              </a:ext>
            </a:extLst>
          </p:cNvPr>
          <p:cNvSpPr>
            <a:spLocks xmlns:a="http://schemas.openxmlformats.org/drawingml/2006/main" noGrp="1"/>
          </p:cNvSpPr>
          <p:nvPr/>
        </p:nvSpPr>
        <p:spPr>
          <a:xfrm xmlns:a="http://schemas.openxmlformats.org/drawingml/2006/main">
            <a:off x="7429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SYNTHETIC SAMPLE</a:t>
            </a:r>
          </a:p>
        </p:txBody>
      </p:sp>
      <p:sp>
        <p:nvSpPr>
          <p:cNvPr id="15" name="">
            <a:extLst xmlns:a="http://schemas.openxmlformats.org/drawingml/2006/main">
              <a:ext uri="{FF2B5EF4-FFF2-40B4-BE49-F238E27FC236}">
                <a16:creationId xmlns:a16="http://schemas.microsoft.com/office/drawing/2014/main" id="{F0E53AAC-D1AB-43E4-BEDB-4940D73C8267}"/>
              </a:ext>
            </a:extLst>
          </p:cNvPr>
          <p:cNvSpPr>
            <a:spLocks xmlns:a="http://schemas.openxmlformats.org/drawingml/2006/main" noGrp="1"/>
          </p:cNvSpPr>
          <p:nvPr/>
        </p:nvSpPr>
        <p:spPr>
          <a:xfrm xmlns:a="http://schemas.openxmlformats.org/drawingml/2006/main">
            <a:off x="7429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합성 데이터·예시용</a:t>
            </a:r>
          </a:p>
        </p:txBody>
      </p:sp>
      <p:sp>
        <p:nvSpPr>
          <p:cNvPr id="16" name="">
            <a:extLst xmlns:a="http://schemas.openxmlformats.org/drawingml/2006/main">
              <a:ext uri="{FF2B5EF4-FFF2-40B4-BE49-F238E27FC236}">
                <a16:creationId xmlns:a16="http://schemas.microsoft.com/office/drawing/2014/main" id="{50510BDD-2E96-425A-B835-1B05F8BA1B58}"/>
              </a:ext>
            </a:extLst>
          </p:cNvPr>
          <p:cNvSpPr>
            <a:spLocks xmlns:a="http://schemas.openxmlformats.org/drawingml/2006/main" noGrp="1"/>
          </p:cNvSpPr>
          <p:nvPr/>
        </p:nvSpPr>
        <p:spPr>
          <a:xfrm xmlns:a="http://schemas.openxmlformats.org/drawingml/2006/main">
            <a:off x="33337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7" name="">
            <a:extLst xmlns:a="http://schemas.openxmlformats.org/drawingml/2006/main">
              <a:ext uri="{FF2B5EF4-FFF2-40B4-BE49-F238E27FC236}">
                <a16:creationId xmlns:a16="http://schemas.microsoft.com/office/drawing/2014/main" id="{ECA9FFF1-7150-4761-9B6C-E933F1C530D4}"/>
              </a:ext>
            </a:extLst>
          </p:cNvPr>
          <p:cNvSpPr>
            <a:spLocks xmlns:a="http://schemas.openxmlformats.org/drawingml/2006/main" noGrp="1"/>
          </p:cNvSpPr>
          <p:nvPr/>
        </p:nvSpPr>
        <p:spPr>
          <a:xfrm xmlns:a="http://schemas.openxmlformats.org/drawingml/2006/main">
            <a:off x="35242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EMPLOYEE / MEMBER LENS</a:t>
            </a:r>
          </a:p>
        </p:txBody>
      </p:sp>
      <p:sp>
        <p:nvSpPr>
          <p:cNvPr id="18" name="">
            <a:extLst xmlns:a="http://schemas.openxmlformats.org/drawingml/2006/main">
              <a:ext uri="{FF2B5EF4-FFF2-40B4-BE49-F238E27FC236}">
                <a16:creationId xmlns:a16="http://schemas.microsoft.com/office/drawing/2014/main" id="{03FB0CA2-3C46-4313-B0D6-FD19A8EEA9DD}"/>
              </a:ext>
            </a:extLst>
          </p:cNvPr>
          <p:cNvSpPr>
            <a:spLocks xmlns:a="http://schemas.openxmlformats.org/drawingml/2006/main" noGrp="1"/>
          </p:cNvSpPr>
          <p:nvPr/>
        </p:nvSpPr>
        <p:spPr>
          <a:xfrm xmlns:a="http://schemas.openxmlformats.org/drawingml/2006/main">
            <a:off x="35242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직원·가입자 기준</a:t>
            </a:r>
          </a:p>
        </p:txBody>
      </p:sp>
      <p:sp>
        <p:nvSpPr>
          <p:cNvPr id="19" name="">
            <a:extLst xmlns:a="http://schemas.openxmlformats.org/drawingml/2006/main">
              <a:ext uri="{FF2B5EF4-FFF2-40B4-BE49-F238E27FC236}">
                <a16:creationId xmlns:a16="http://schemas.microsoft.com/office/drawing/2014/main" id="{F22EB862-B2D0-4FAF-A3D1-0489838C6B78}"/>
              </a:ext>
            </a:extLst>
          </p:cNvPr>
          <p:cNvSpPr>
            <a:spLocks xmlns:a="http://schemas.openxmlformats.org/drawingml/2006/main" noGrp="1"/>
          </p:cNvSpPr>
          <p:nvPr/>
        </p:nvSpPr>
        <p:spPr>
          <a:xfrm xmlns:a="http://schemas.openxmlformats.org/drawingml/2006/main">
            <a:off x="61150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0" name="">
            <a:extLst xmlns:a="http://schemas.openxmlformats.org/drawingml/2006/main">
              <a:ext uri="{FF2B5EF4-FFF2-40B4-BE49-F238E27FC236}">
                <a16:creationId xmlns:a16="http://schemas.microsoft.com/office/drawing/2014/main" id="{5AC6F968-9550-4254-8A98-9A0B89C65083}"/>
              </a:ext>
            </a:extLst>
          </p:cNvPr>
          <p:cNvSpPr>
            <a:spLocks xmlns:a="http://schemas.openxmlformats.org/drawingml/2006/main" noGrp="1"/>
          </p:cNvSpPr>
          <p:nvPr/>
        </p:nvSpPr>
        <p:spPr>
          <a:xfrm xmlns:a="http://schemas.openxmlformats.org/drawingml/2006/main">
            <a:off x="63055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FRESHNESS + CLAIMS LAG</a:t>
            </a:r>
          </a:p>
        </p:txBody>
      </p:sp>
      <p:sp>
        <p:nvSpPr>
          <p:cNvPr id="21" name="">
            <a:extLst xmlns:a="http://schemas.openxmlformats.org/drawingml/2006/main">
              <a:ext uri="{FF2B5EF4-FFF2-40B4-BE49-F238E27FC236}">
                <a16:creationId xmlns:a16="http://schemas.microsoft.com/office/drawing/2014/main" id="{E25A4582-41F9-4413-8D77-21C89620D382}"/>
              </a:ext>
            </a:extLst>
          </p:cNvPr>
          <p:cNvSpPr>
            <a:spLocks xmlns:a="http://schemas.openxmlformats.org/drawingml/2006/main" noGrp="1"/>
          </p:cNvSpPr>
          <p:nvPr/>
        </p:nvSpPr>
        <p:spPr>
          <a:xfrm xmlns:a="http://schemas.openxmlformats.org/drawingml/2006/main">
            <a:off x="63055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데이터 기준일·청구 지연·완결성</a:t>
            </a:r>
          </a:p>
        </p:txBody>
      </p:sp>
      <p:sp>
        <p:nvSpPr>
          <p:cNvPr id="22" name="">
            <a:extLst xmlns:a="http://schemas.openxmlformats.org/drawingml/2006/main">
              <a:ext uri="{FF2B5EF4-FFF2-40B4-BE49-F238E27FC236}">
                <a16:creationId xmlns:a16="http://schemas.microsoft.com/office/drawing/2014/main" id="{3A0AB3DF-C7E7-48DF-8A67-98E7F2EC2A99}"/>
              </a:ext>
            </a:extLst>
          </p:cNvPr>
          <p:cNvSpPr>
            <a:spLocks xmlns:a="http://schemas.openxmlformats.org/drawingml/2006/main" noGrp="1"/>
          </p:cNvSpPr>
          <p:nvPr/>
        </p:nvSpPr>
        <p:spPr>
          <a:xfrm xmlns:a="http://schemas.openxmlformats.org/drawingml/2006/main">
            <a:off x="88963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3" name="">
            <a:extLst xmlns:a="http://schemas.openxmlformats.org/drawingml/2006/main">
              <a:ext uri="{FF2B5EF4-FFF2-40B4-BE49-F238E27FC236}">
                <a16:creationId xmlns:a16="http://schemas.microsoft.com/office/drawing/2014/main" id="{91E0A030-7EA0-45E2-A139-F2CC9258A282}"/>
              </a:ext>
            </a:extLst>
          </p:cNvPr>
          <p:cNvSpPr>
            <a:spLocks xmlns:a="http://schemas.openxmlformats.org/drawingml/2006/main" noGrp="1"/>
          </p:cNvSpPr>
          <p:nvPr/>
        </p:nvSpPr>
        <p:spPr>
          <a:xfrm xmlns:a="http://schemas.openxmlformats.org/drawingml/2006/main">
            <a:off x="90868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AGGREGATE · n≥20 · NO PHI</a:t>
            </a:r>
          </a:p>
        </p:txBody>
      </p:sp>
      <p:sp>
        <p:nvSpPr>
          <p:cNvPr id="24" name="">
            <a:extLst xmlns:a="http://schemas.openxmlformats.org/drawingml/2006/main">
              <a:ext uri="{FF2B5EF4-FFF2-40B4-BE49-F238E27FC236}">
                <a16:creationId xmlns:a16="http://schemas.microsoft.com/office/drawing/2014/main" id="{19466468-BD0D-42DF-8CC8-EB5B1A3C3D9F}"/>
              </a:ext>
            </a:extLst>
          </p:cNvPr>
          <p:cNvSpPr>
            <a:spLocks xmlns:a="http://schemas.openxmlformats.org/drawingml/2006/main" noGrp="1"/>
          </p:cNvSpPr>
          <p:nvPr/>
        </p:nvSpPr>
        <p:spPr>
          <a:xfrm xmlns:a="http://schemas.openxmlformats.org/drawingml/2006/main">
            <a:off x="90868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집계 결과만·개인 PHI 없음</a:t>
            </a:r>
          </a:p>
        </p:txBody>
      </p:sp>
      <p:sp>
        <p:nvSpPr>
          <p:cNvPr id="25" name="">
            <a:extLst xmlns:a="http://schemas.openxmlformats.org/drawingml/2006/main">
              <a:ext uri="{FF2B5EF4-FFF2-40B4-BE49-F238E27FC236}">
                <a16:creationId xmlns:a16="http://schemas.microsoft.com/office/drawing/2014/main" id="{1F08D03E-2ED5-48C1-A377-EB3B50B00D9A}"/>
              </a:ext>
            </a:extLst>
          </p:cNvPr>
          <p:cNvSpPr>
            <a:spLocks xmlns:a="http://schemas.openxmlformats.org/drawingml/2006/main" noGrp="1"/>
          </p:cNvSpPr>
          <p:nvPr/>
        </p:nvSpPr>
        <p:spPr>
          <a:xfrm xmlns:a="http://schemas.openxmlformats.org/drawingml/2006/main">
            <a:off x="552450" y="6172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38" b="1" i="0">
                <a:solidFill>
                  <a:srgbClr val="12243A"/>
                </a:solidFill>
              </a:defRPr>
            </a:pPr>
            <a:r>
              <a:rPr sz="938" b="1" i="0">
                <a:solidFill>
                  <a:srgbClr val="12243A"/>
                </a:solidFill>
              </a:rPr>
              <a:t>Not a performance claim - this demo shows access, data quality and privacy.</a:t>
            </a:r>
          </a:p>
        </p:txBody>
      </p:sp>
      <p:sp>
        <p:nvSpPr>
          <p:cNvPr id="26" name="">
            <a:extLst xmlns:a="http://schemas.openxmlformats.org/drawingml/2006/main">
              <a:ext uri="{FF2B5EF4-FFF2-40B4-BE49-F238E27FC236}">
                <a16:creationId xmlns:a16="http://schemas.microsoft.com/office/drawing/2014/main" id="{4AB1756F-6F7E-492D-BA32-5E2EE81DD402}"/>
              </a:ext>
            </a:extLst>
          </p:cNvPr>
          <p:cNvSpPr>
            <a:spLocks xmlns:a="http://schemas.openxmlformats.org/drawingml/2006/main" noGrp="1"/>
          </p:cNvSpPr>
          <p:nvPr/>
        </p:nvSpPr>
        <p:spPr>
          <a:xfrm xmlns:a="http://schemas.openxmlformats.org/drawingml/2006/main">
            <a:off x="6953250" y="6172200"/>
            <a:ext cx="468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38" b="0" i="0">
                <a:solidFill>
                  <a:srgbClr val="5E6A75"/>
                </a:solidFill>
              </a:defRPr>
            </a:pPr>
            <a:r>
              <a:rPr sz="938" b="0" i="0">
                <a:solidFill>
                  <a:srgbClr val="5E6A75"/>
                </a:solidFill>
              </a:rPr>
              <a:t>성과 주장이 아니라 접근성·데이터 품질·프라이버시 설계를 보여주는 화면입니다.</a:t>
            </a:r>
          </a:p>
        </p:txBody>
      </p:sp>
    </p:spTree>
    <p:extLst>
      <p:ext uri="{BB962C8B-B14F-4D97-AF65-F5344CB8AC3E}">
        <p14:creationId xmlns:p14="http://schemas.microsoft.com/office/powerpoint/2010/main" val="2114262485"/>
      </p:ext>
    </p:extLst>
  </p:cSld>
</p:sld>
</file>

<file path=ppt/slides/slide5.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pic>
        <p:nvPicPr>
          <p:cNvPr id="247" name=""/>
          <p:cNvPicPr>
            <a:picLocks xmlns:a="http://schemas.openxmlformats.org/drawingml/2006/main" noChangeAspect="1"/>
          </p:cNvPicPr>
          <p:nvPr/>
        </p:nvPicPr>
        <p:blipFill>
          <a:blip xmlns:r="http://schemas.openxmlformats.org/officeDocument/2006/relationships" xmlns:a="http://schemas.openxmlformats.org/drawingml/2006/main" r:embed="R8be212d3edd045fc"/>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4EE141-575B-40C7-9EC5-2170EF42D020}"/>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FFFFFF"/>
                </a:solidFill>
              </a:defRPr>
            </a:pPr>
            <a:r>
              <a:rPr sz="1425" b="1" i="0">
                <a:solidFill>
                  <a:srgbClr val="FFFFFF"/>
                </a:solidFill>
              </a:rPr>
              <a:t>×</a:t>
            </a:r>
          </a:p>
        </p:txBody>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15889a2bb5714d2b"/>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5C93EB-60E1-4CF4-A1F1-CEF95FAE2386}"/>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FFFFFF"/>
                </a:solidFill>
              </a:defRPr>
            </a:pPr>
            <a:r>
              <a:rPr sz="2700" b="1" i="0">
                <a:solidFill>
                  <a:srgbClr val="FFFFFF"/>
                </a:solidFill>
              </a:rPr>
              <a:t>No year-one savings promise on dental claims.</a:t>
            </a:r>
          </a:p>
        </p:txBody>
      </p:sp>
      <p:sp>
        <p:nvSpPr>
          <p:cNvPr id="5" name="">
            <a:extLst xmlns:a="http://schemas.openxmlformats.org/drawingml/2006/main">
              <a:ext uri="{FF2B5EF4-FFF2-40B4-BE49-F238E27FC236}">
                <a16:creationId xmlns:a16="http://schemas.microsoft.com/office/drawing/2014/main" id="{988DACF4-8C3C-444C-BF08-E107EC9FA061}"/>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C9D5DF"/>
                </a:solidFill>
              </a:defRPr>
            </a:pPr>
            <a:r>
              <a:rPr sz="1350" b="0" i="0">
                <a:solidFill>
                  <a:srgbClr val="C9D5DF"/>
                </a:solidFill>
              </a:rPr>
              <a:t>첫해 치아보험 청구비용 절감을 약속하지 않습니다.</a:t>
            </a:r>
          </a:p>
        </p:txBody>
      </p:sp>
      <p:sp>
        <p:nvSpPr>
          <p:cNvPr id="6" name="">
            <a:extLst xmlns:a="http://schemas.openxmlformats.org/drawingml/2006/main">
              <a:ext uri="{FF2B5EF4-FFF2-40B4-BE49-F238E27FC236}">
                <a16:creationId xmlns:a16="http://schemas.microsoft.com/office/drawing/2014/main" id="{305322BA-45AE-4E89-8AC5-ECE41AE91D7F}"/>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314358"/>
          </a:solidFill>
          <a:ln xmlns:a="http://schemas.openxmlformats.org/drawingml/2006/main" w="0">
            <a:solidFill>
              <a:srgbClr val="314358"/>
            </a:solidFill>
            <a:prstDash val="solid"/>
          </a:ln>
        </p:spPr>
      </p:sp>
      <p:sp>
        <p:nvSpPr>
          <p:cNvPr id="7" name="">
            <a:extLst xmlns:a="http://schemas.openxmlformats.org/drawingml/2006/main">
              <a:ext uri="{FF2B5EF4-FFF2-40B4-BE49-F238E27FC236}">
                <a16:creationId xmlns:a16="http://schemas.microsoft.com/office/drawing/2014/main" id="{4E647D54-0EC7-4ECB-BF05-722C73A15C6C}"/>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2D49EB10-09D4-4AA0-9F0E-E1FC61AF088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314358"/>
          </a:solidFill>
          <a:ln xmlns:a="http://schemas.openxmlformats.org/drawingml/2006/main" w="0">
            <a:solidFill>
              <a:srgbClr val="314358"/>
            </a:solidFill>
            <a:prstDash val="solid"/>
          </a:ln>
        </p:spPr>
      </p:sp>
      <p:sp>
        <p:nvSpPr>
          <p:cNvPr id="9" name="">
            <a:extLst xmlns:a="http://schemas.openxmlformats.org/drawingml/2006/main">
              <a:ext uri="{FF2B5EF4-FFF2-40B4-BE49-F238E27FC236}">
                <a16:creationId xmlns:a16="http://schemas.microsoft.com/office/drawing/2014/main" id="{E084B079-C184-4A37-A4D9-8439E8B53F54}"/>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B7C4D0"/>
                </a:solidFill>
              </a:defRPr>
            </a:pPr>
            <a:r>
              <a:rPr sz="788" b="0" i="0">
                <a:solidFill>
                  <a:srgbClr val="B7C4D0"/>
                </a:solidFill>
              </a:rPr>
              <a:t>ICLO · SNOWFLAKE WORLD TOUR SEOUL 2026</a:t>
            </a:r>
          </a:p>
        </p:txBody>
      </p:sp>
      <p:sp>
        <p:nvSpPr>
          <p:cNvPr id="10" name="">
            <a:extLst xmlns:a="http://schemas.openxmlformats.org/drawingml/2006/main">
              <a:ext uri="{FF2B5EF4-FFF2-40B4-BE49-F238E27FC236}">
                <a16:creationId xmlns:a16="http://schemas.microsoft.com/office/drawing/2014/main" id="{36739B20-37B1-43E0-AF86-91E71DFF9136}"/>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B7C4D0"/>
                </a:solidFill>
              </a:defRPr>
            </a:pPr>
            <a:r>
              <a:rPr sz="788" b="0" i="0">
                <a:solidFill>
                  <a:srgbClr val="B7C4D0"/>
                </a:solidFill>
              </a:rPr>
              <a:t>05</a:t>
            </a:r>
          </a:p>
        </p:txBody>
      </p:sp>
      <p:sp>
        <p:nvSpPr>
          <p:cNvPr id="11" name="">
            <a:extLst xmlns:a="http://schemas.openxmlformats.org/drawingml/2006/main">
              <a:ext uri="{FF2B5EF4-FFF2-40B4-BE49-F238E27FC236}">
                <a16:creationId xmlns:a16="http://schemas.microsoft.com/office/drawing/2014/main" id="{F81E3756-0A5B-41BB-9680-99FB294C0F96}"/>
              </a:ext>
            </a:extLst>
          </p:cNvPr>
          <p:cNvSpPr>
            <a:spLocks xmlns:a="http://schemas.openxmlformats.org/drawingml/2006/main" noGrp="1"/>
          </p:cNvSpPr>
          <p:nvPr/>
        </p:nvSpPr>
        <p:spPr>
          <a:xfrm xmlns:a="http://schemas.openxmlformats.org/drawingml/2006/main">
            <a:off x="704850" y="20383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63" b="1" i="0">
                <a:solidFill>
                  <a:srgbClr val="D7922C"/>
                </a:solidFill>
              </a:defRPr>
            </a:pPr>
            <a:r>
              <a:rPr sz="863" b="1" i="0">
                <a:solidFill>
                  <a:srgbClr val="D7922C"/>
                </a:solidFill>
              </a:rPr>
              <a:t>ILLUSTRATIVE HYPOTHESIS - NOT AN OUTCOME / 예시 가설 - 실제 결과 아님</a:t>
            </a:r>
          </a:p>
        </p:txBody>
      </p:sp>
      <p:sp>
        <p:nvSpPr>
          <p:cNvPr id="12" name="">
            <a:extLst xmlns:a="http://schemas.openxmlformats.org/drawingml/2006/main">
              <a:ext uri="{FF2B5EF4-FFF2-40B4-BE49-F238E27FC236}">
                <a16:creationId xmlns:a16="http://schemas.microsoft.com/office/drawing/2014/main" id="{45F3D500-C0BD-4817-90FE-E8360A062927}"/>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EC5313-AC93-4B51-9797-9BAD67E9B6E1}"/>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7628BB-4BBD-4ACC-B627-F265A5666A4E}"/>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i="0">
                <a:solidFill>
                  <a:srgbClr val="AEBBC5"/>
                </a:solidFill>
              </a:defRPr>
            </a:pPr>
            <a:r>
              <a:rPr sz="825" b="0" i="0">
                <a:solidFill>
                  <a:srgbClr val="AEBBC5"/>
                </a:solidFill>
              </a:rPr>
              <a:t/>
            </a:r>
          </a:p>
        </p:txBody>
      </p:sp>
      <p:sp>
        <p:nvSpPr>
          <p:cNvPr id="15" name="">
            <a:extLst xmlns:a="http://schemas.openxmlformats.org/drawingml/2006/main">
              <a:ext uri="{FF2B5EF4-FFF2-40B4-BE49-F238E27FC236}">
                <a16:creationId xmlns:a16="http://schemas.microsoft.com/office/drawing/2014/main" id="{99A7E358-EDF9-4EF5-9A81-DE8B45C17BD3}"/>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AFAFF6-F830-4ECB-BDD9-89FF1905EA41}"/>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60CD371-A231-406C-888C-09D7C01F02E7}"/>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3D6A43C-90F6-4376-8825-7F1879C50021}"/>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265" name=""/>
          <p:cNvCxnSpPr>
            <a:stCxn xmlns:a="http://schemas.openxmlformats.org/drawingml/2006/main" id="15" idx="6"/>
            <a:endCxn xmlns:a="http://schemas.openxmlformats.org/drawingml/2006/main" id="16" idx="2"/>
          </p:cNvCxnSpPr>
          <p:nvPr/>
        </p:nvCxnSpPr>
        <p:spPr>
          <a:xfrm xmlns:a="http://schemas.openxmlformats.org/drawingml/2006/main" flipH="1" flipV="0">
            <a:off x="0" y="6862763"/>
            <a:ext cx="9525" cy="0"/>
          </a:xfrm>
          <a:prstGeom xmlns:a="http://schemas.openxmlformats.org/drawingml/2006/main" prst="straightConnector1">
            <a:avLst/>
          </a:prstGeom>
          <a:ln xmlns:a="http://schemas.openxmlformats.org/drawingml/2006/main" w="0">
            <a:noFill/>
            <a:prstDash val="solid"/>
            <a:headEnd type="none" w="med" len="med"/>
          </a:ln>
        </p:spPr>
      </p:cxnSp>
      <p:cxnSp>
        <p:nvCxnSpPr>
          <p:cNvPr id="266" name=""/>
          <p:cNvCxnSpPr>
            <a:stCxn xmlns:a="http://schemas.openxmlformats.org/drawingml/2006/main" id="16" idx="6"/>
            <a:endCxn xmlns:a="http://schemas.openxmlformats.org/drawingml/2006/main" id="17" idx="2"/>
          </p:cNvCxnSpPr>
          <p:nvPr/>
        </p:nvCxnSpPr>
        <p:spPr>
          <a:xfrm xmlns:a="http://schemas.openxmlformats.org/drawingml/2006/main" flipH="1">
            <a:off x="0" y="6862763"/>
            <a:ext cx="9525" cy="0"/>
          </a:xfrm>
          <a:prstGeom xmlns:a="http://schemas.openxmlformats.org/drawingml/2006/main" prst="straightConnector1">
            <a:avLst/>
          </a:prstGeom>
          <a:ln xmlns:a="http://schemas.openxmlformats.org/drawingml/2006/main" w="0">
            <a:noFill/>
            <a:prstDash val="solid"/>
            <a:headEnd type="none" w="med" len="med"/>
          </a:ln>
        </p:spPr>
      </p:cxnSp>
      <p:cxnSp>
        <p:nvCxnSpPr>
          <p:cNvPr id="267" name=""/>
          <p:cNvCxnSpPr>
            <a:stCxn xmlns:a="http://schemas.openxmlformats.org/drawingml/2006/main" id="17" idx="6"/>
            <a:endCxn xmlns:a="http://schemas.openxmlformats.org/drawingml/2006/main" id="18" idx="2"/>
          </p:cNvCxnSpPr>
          <p:nvPr/>
        </p:nvCxnSpPr>
        <p:spPr>
          <a:xfrm xmlns:a="http://schemas.openxmlformats.org/drawingml/2006/main" flipH="1">
            <a:off x="0" y="6862763"/>
            <a:ext cx="9525" cy="0"/>
          </a:xfrm>
          <a:prstGeom xmlns:a="http://schemas.openxmlformats.org/drawingml/2006/main" prst="straightConnector1">
            <a:avLst/>
          </a:prstGeom>
          <a:ln xmlns:a="http://schemas.openxmlformats.org/drawingml/2006/main" w="0">
            <a:noFill/>
            <a:prstDash val="solid"/>
            <a:headEnd type="none" w="med" len="med"/>
          </a:ln>
        </p:spPr>
      </p:cxnSp>
      <p:sp>
        <p:nvSpPr>
          <p:cNvPr id="22" name="">
            <a:extLst xmlns:a="http://schemas.openxmlformats.org/drawingml/2006/main">
              <a:ext uri="{FF2B5EF4-FFF2-40B4-BE49-F238E27FC236}">
                <a16:creationId xmlns:a16="http://schemas.microsoft.com/office/drawing/2014/main" id="{C3AA7E67-8CE0-4785-B28E-A49DEA19399A}"/>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
            </a:r>
          </a:p>
        </p:txBody>
      </p:sp>
      <p:sp>
        <p:nvSpPr>
          <p:cNvPr id="23" name="">
            <a:extLst xmlns:a="http://schemas.openxmlformats.org/drawingml/2006/main">
              <a:ext uri="{FF2B5EF4-FFF2-40B4-BE49-F238E27FC236}">
                <a16:creationId xmlns:a16="http://schemas.microsoft.com/office/drawing/2014/main" id="{5F89BB1A-DBFD-4064-A787-4F7F8ACB840A}"/>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
            </a:r>
          </a:p>
        </p:txBody>
      </p:sp>
      <p:sp>
        <p:nvSpPr>
          <p:cNvPr id="24" name="">
            <a:extLst xmlns:a="http://schemas.openxmlformats.org/drawingml/2006/main">
              <a:ext uri="{FF2B5EF4-FFF2-40B4-BE49-F238E27FC236}">
                <a16:creationId xmlns:a16="http://schemas.microsoft.com/office/drawing/2014/main" id="{02D5CA52-C633-4BD4-8227-52AE82AF145B}"/>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
            </a:r>
          </a:p>
        </p:txBody>
      </p:sp>
      <p:sp>
        <p:nvSpPr>
          <p:cNvPr id="25" name="">
            <a:extLst xmlns:a="http://schemas.openxmlformats.org/drawingml/2006/main">
              <a:ext uri="{FF2B5EF4-FFF2-40B4-BE49-F238E27FC236}">
                <a16:creationId xmlns:a16="http://schemas.microsoft.com/office/drawing/2014/main" id="{5A7FA821-267A-4DE9-8BD7-7DF915BBC65B}"/>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
            </a:r>
          </a:p>
        </p:txBody>
      </p:sp>
      <p:sp>
        <p:nvSpPr>
          <p:cNvPr id="26" name="">
            <a:extLst xmlns:a="http://schemas.openxmlformats.org/drawingml/2006/main">
              <a:ext uri="{FF2B5EF4-FFF2-40B4-BE49-F238E27FC236}">
                <a16:creationId xmlns:a16="http://schemas.microsoft.com/office/drawing/2014/main" id="{C455A6D6-E38C-4C24-9962-5BB46674FFAE}"/>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D7922C"/>
                </a:solidFill>
              </a:defRPr>
            </a:pPr>
            <a:r>
              <a:rPr sz="1200" b="1" i="0">
                <a:solidFill>
                  <a:srgbClr val="D7922C"/>
                </a:solidFill>
              </a:rPr>
              <a:t/>
            </a:r>
          </a:p>
        </p:txBody>
      </p:sp>
      <p:sp>
        <p:nvSpPr>
          <p:cNvPr id="27" name="">
            <a:extLst xmlns:a="http://schemas.openxmlformats.org/drawingml/2006/main">
              <a:ext uri="{FF2B5EF4-FFF2-40B4-BE49-F238E27FC236}">
                <a16:creationId xmlns:a16="http://schemas.microsoft.com/office/drawing/2014/main" id="{040844B5-8799-4078-A2E5-43802774F5B3}"/>
              </a:ext>
            </a:extLst>
          </p:cNvPr>
          <p:cNvSpPr>
            <a:spLocks xmlns:a="http://schemas.openxmlformats.org/drawingml/2006/main" noGrp="1"/>
          </p:cNvSpPr>
          <p:nvPr/>
        </p:nvSpPr>
        <p:spPr>
          <a:xfrm xmlns:a="http://schemas.openxmlformats.org/drawingml/2006/main">
            <a:off x="0" y="6858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i="0">
                <a:solidFill>
                  <a:srgbClr val="D6C09D"/>
                </a:solidFill>
              </a:defRPr>
            </a:pPr>
            <a:r>
              <a:rPr sz="975" b="0" i="0">
                <a:solidFill>
                  <a:srgbClr val="D6C09D"/>
                </a:solidFill>
              </a:rPr>
              <a:t/>
            </a:r>
          </a:p>
        </p:txBody>
      </p:sp>
      <p:sp>
        <p:nvSpPr>
          <p:cNvPr id="28" name="">
            <a:extLst xmlns:a="http://schemas.openxmlformats.org/drawingml/2006/main">
              <a:ext uri="{FF2B5EF4-FFF2-40B4-BE49-F238E27FC236}">
                <a16:creationId xmlns:a16="http://schemas.microsoft.com/office/drawing/2014/main" id="{CD44976D-2586-49C2-921E-15D33D0B9AFC}"/>
              </a:ext>
            </a:extLst>
          </p:cNvPr>
          <p:cNvSpPr>
            <a:spLocks xmlns:a="http://schemas.openxmlformats.org/drawingml/2006/main" noGrp="1"/>
          </p:cNvSpPr>
          <p:nvPr/>
        </p:nvSpPr>
        <p:spPr>
          <a:xfrm xmlns:a="http://schemas.openxmlformats.org/drawingml/2006/main">
            <a:off x="533400" y="25527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Year 1 / 1년차</a:t>
            </a:r>
          </a:p>
        </p:txBody>
      </p:sp>
      <p:sp>
        <p:nvSpPr>
          <p:cNvPr id="29" name="">
            <a:extLst xmlns:a="http://schemas.openxmlformats.org/drawingml/2006/main">
              <a:ext uri="{FF2B5EF4-FFF2-40B4-BE49-F238E27FC236}">
                <a16:creationId xmlns:a16="http://schemas.microsoft.com/office/drawing/2014/main" id="{7304F03F-0436-469A-AEC7-7E7EFAACEB80}"/>
              </a:ext>
            </a:extLst>
          </p:cNvPr>
          <p:cNvSpPr>
            <a:spLocks xmlns:a="http://schemas.openxmlformats.org/drawingml/2006/main" noGrp="1"/>
          </p:cNvSpPr>
          <p:nvPr/>
        </p:nvSpPr>
        <p:spPr>
          <a:xfrm xmlns:a="http://schemas.openxmlformats.org/drawingml/2006/main">
            <a:off x="533400" y="28765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Prevention and newly discovered treatment can increase claims.</a:t>
            </a:r>
          </a:p>
        </p:txBody>
      </p:sp>
      <p:sp>
        <p:nvSpPr>
          <p:cNvPr id="30" name="">
            <a:extLst xmlns:a="http://schemas.openxmlformats.org/drawingml/2006/main">
              <a:ext uri="{FF2B5EF4-FFF2-40B4-BE49-F238E27FC236}">
                <a16:creationId xmlns:a16="http://schemas.microsoft.com/office/drawing/2014/main" id="{0D57E02D-3941-4740-9C57-8971E4A483D5}"/>
              </a:ext>
            </a:extLst>
          </p:cNvPr>
          <p:cNvSpPr>
            <a:spLocks xmlns:a="http://schemas.openxmlformats.org/drawingml/2006/main" noGrp="1"/>
          </p:cNvSpPr>
          <p:nvPr/>
        </p:nvSpPr>
        <p:spPr>
          <a:xfrm xmlns:a="http://schemas.openxmlformats.org/drawingml/2006/main">
            <a:off x="533400" y="35052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예방진료 이용과 미치료 상태 발견으로 치아보험 지급액이 늘 수 있습니다.</a:t>
            </a:r>
          </a:p>
        </p:txBody>
      </p:sp>
      <p:sp>
        <p:nvSpPr>
          <p:cNvPr id="31" name="">
            <a:extLst xmlns:a="http://schemas.openxmlformats.org/drawingml/2006/main">
              <a:ext uri="{FF2B5EF4-FFF2-40B4-BE49-F238E27FC236}">
                <a16:creationId xmlns:a16="http://schemas.microsoft.com/office/drawing/2014/main" id="{9AB3C9E4-D167-4E6C-A2A7-37A5403F9EA0}"/>
              </a:ext>
            </a:extLst>
          </p:cNvPr>
          <p:cNvSpPr>
            <a:spLocks xmlns:a="http://schemas.openxmlformats.org/drawingml/2006/main" noGrp="1"/>
          </p:cNvSpPr>
          <p:nvPr/>
        </p:nvSpPr>
        <p:spPr>
          <a:xfrm xmlns:a="http://schemas.openxmlformats.org/drawingml/2006/main">
            <a:off x="4267200" y="25527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Years 2-3 / 2-3년차</a:t>
            </a:r>
          </a:p>
        </p:txBody>
      </p:sp>
      <p:sp>
        <p:nvSpPr>
          <p:cNvPr id="32" name="">
            <a:extLst xmlns:a="http://schemas.openxmlformats.org/drawingml/2006/main">
              <a:ext uri="{FF2B5EF4-FFF2-40B4-BE49-F238E27FC236}">
                <a16:creationId xmlns:a16="http://schemas.microsoft.com/office/drawing/2014/main" id="{A3A4BF91-6FC2-44EB-9E01-BEB7F5401BC7}"/>
              </a:ext>
            </a:extLst>
          </p:cNvPr>
          <p:cNvSpPr>
            <a:spLocks xmlns:a="http://schemas.openxmlformats.org/drawingml/2006/main" noGrp="1"/>
          </p:cNvSpPr>
          <p:nvPr/>
        </p:nvSpPr>
        <p:spPr>
          <a:xfrm xmlns:a="http://schemas.openxmlformats.org/drawingml/2006/main">
            <a:off x="4267200" y="28765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Treatment-mix change becomes measurable over time.</a:t>
            </a:r>
          </a:p>
        </p:txBody>
      </p:sp>
      <p:sp>
        <p:nvSpPr>
          <p:cNvPr id="33" name="">
            <a:extLst xmlns:a="http://schemas.openxmlformats.org/drawingml/2006/main">
              <a:ext uri="{FF2B5EF4-FFF2-40B4-BE49-F238E27FC236}">
                <a16:creationId xmlns:a16="http://schemas.microsoft.com/office/drawing/2014/main" id="{BAA3113F-7DDA-43FA-B819-63A9DBEE7138}"/>
              </a:ext>
            </a:extLst>
          </p:cNvPr>
          <p:cNvSpPr>
            <a:spLocks xmlns:a="http://schemas.openxmlformats.org/drawingml/2006/main" noGrp="1"/>
          </p:cNvSpPr>
          <p:nvPr/>
        </p:nvSpPr>
        <p:spPr>
          <a:xfrm xmlns:a="http://schemas.openxmlformats.org/drawingml/2006/main">
            <a:off x="4267200" y="35052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치료 구성의 변화는 시간이 지나야 측정할 수 있습니다.</a:t>
            </a:r>
          </a:p>
        </p:txBody>
      </p:sp>
      <p:sp>
        <p:nvSpPr>
          <p:cNvPr id="34" name="">
            <a:extLst xmlns:a="http://schemas.openxmlformats.org/drawingml/2006/main">
              <a:ext uri="{FF2B5EF4-FFF2-40B4-BE49-F238E27FC236}">
                <a16:creationId xmlns:a16="http://schemas.microsoft.com/office/drawing/2014/main" id="{B12ACD94-C9BF-498E-954D-3E75C1BCC962}"/>
              </a:ext>
            </a:extLst>
          </p:cNvPr>
          <p:cNvSpPr>
            <a:spLocks xmlns:a="http://schemas.openxmlformats.org/drawingml/2006/main" noGrp="1"/>
          </p:cNvSpPr>
          <p:nvPr/>
        </p:nvSpPr>
        <p:spPr>
          <a:xfrm xmlns:a="http://schemas.openxmlformats.org/drawingml/2006/main">
            <a:off x="8001000" y="25527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Turnover / 이직률</a:t>
            </a:r>
          </a:p>
        </p:txBody>
      </p:sp>
      <p:sp>
        <p:nvSpPr>
          <p:cNvPr id="35" name="">
            <a:extLst xmlns:a="http://schemas.openxmlformats.org/drawingml/2006/main">
              <a:ext uri="{FF2B5EF4-FFF2-40B4-BE49-F238E27FC236}">
                <a16:creationId xmlns:a16="http://schemas.microsoft.com/office/drawing/2014/main" id="{3C6C1942-5971-431E-B31E-C6AD07CE6666}"/>
              </a:ext>
            </a:extLst>
          </p:cNvPr>
          <p:cNvSpPr>
            <a:spLocks xmlns:a="http://schemas.openxmlformats.org/drawingml/2006/main" noGrp="1"/>
          </p:cNvSpPr>
          <p:nvPr/>
        </p:nvSpPr>
        <p:spPr>
          <a:xfrm xmlns:a="http://schemas.openxmlformats.org/drawingml/2006/main">
            <a:off x="8001000" y="28765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Tenure changes the economic and employee-experience case.</a:t>
            </a:r>
          </a:p>
        </p:txBody>
      </p:sp>
      <p:sp>
        <p:nvSpPr>
          <p:cNvPr id="36" name="">
            <a:extLst xmlns:a="http://schemas.openxmlformats.org/drawingml/2006/main">
              <a:ext uri="{FF2B5EF4-FFF2-40B4-BE49-F238E27FC236}">
                <a16:creationId xmlns:a16="http://schemas.microsoft.com/office/drawing/2014/main" id="{B2F7427D-2C7D-402E-86DB-0DA875347444}"/>
              </a:ext>
            </a:extLst>
          </p:cNvPr>
          <p:cNvSpPr>
            <a:spLocks xmlns:a="http://schemas.openxmlformats.org/drawingml/2006/main" noGrp="1"/>
          </p:cNvSpPr>
          <p:nvPr/>
        </p:nvSpPr>
        <p:spPr>
          <a:xfrm xmlns:a="http://schemas.openxmlformats.org/drawingml/2006/main">
            <a:off x="8001000" y="35052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근속기간에 따라 비용과 직원 경험의 가치가 달라집니다.</a:t>
            </a:r>
          </a:p>
        </p:txBody>
      </p:sp>
      <p:sp>
        <p:nvSpPr>
          <p:cNvPr id="37" name="">
            <a:extLst xmlns:a="http://schemas.openxmlformats.org/drawingml/2006/main">
              <a:ext uri="{FF2B5EF4-FFF2-40B4-BE49-F238E27FC236}">
                <a16:creationId xmlns:a16="http://schemas.microsoft.com/office/drawing/2014/main" id="{52662C2E-4428-4643-B7FE-CF49034A1209}"/>
              </a:ext>
            </a:extLst>
          </p:cNvPr>
          <p:cNvSpPr>
            <a:spLocks xmlns:a="http://schemas.openxmlformats.org/drawingml/2006/main" noGrp="1"/>
          </p:cNvSpPr>
          <p:nvPr/>
        </p:nvSpPr>
        <p:spPr>
          <a:xfrm xmlns:a="http://schemas.openxmlformats.org/drawingml/2006/main">
            <a:off x="533400" y="4838700"/>
            <a:ext cx="11125200" cy="28575"/>
          </a:xfrm>
          <a:prstGeom xmlns:a="http://schemas.openxmlformats.org/drawingml/2006/main" prst="rect">
            <a:avLst/>
          </a:prstGeom>
          <a:solidFill xmlns:a="http://schemas.openxmlformats.org/drawingml/2006/main">
            <a:srgbClr val="D7922C"/>
          </a:solidFill>
          <a:ln xmlns:a="http://schemas.openxmlformats.org/drawingml/2006/main" w="0">
            <a:solidFill>
              <a:srgbClr val="D7922C"/>
            </a:solidFill>
            <a:prstDash val="solid"/>
          </a:ln>
        </p:spPr>
      </p:sp>
      <p:sp>
        <p:nvSpPr>
          <p:cNvPr id="38" name="">
            <a:extLst xmlns:a="http://schemas.openxmlformats.org/drawingml/2006/main">
              <a:ext uri="{FF2B5EF4-FFF2-40B4-BE49-F238E27FC236}">
                <a16:creationId xmlns:a16="http://schemas.microsoft.com/office/drawing/2014/main" id="{D1E5C286-B460-48E6-900C-362A98E4B32B}"/>
              </a:ext>
            </a:extLst>
          </p:cNvPr>
          <p:cNvSpPr>
            <a:spLocks xmlns:a="http://schemas.openxmlformats.org/drawingml/2006/main" noGrp="1"/>
          </p:cNvSpPr>
          <p:nvPr/>
        </p:nvSpPr>
        <p:spPr>
          <a:xfrm xmlns:a="http://schemas.openxmlformats.org/drawingml/2006/main">
            <a:off x="533400" y="4991100"/>
            <a:ext cx="11125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FFFFFF"/>
                </a:solidFill>
              </a:defRPr>
            </a:pPr>
            <a:r>
              <a:rPr sz="1013" b="1" i="0">
                <a:solidFill>
                  <a:srgbClr val="FFFFFF"/>
                </a:solidFill>
              </a:rPr>
              <a:t>Measure allowed, plan-paid and employee OOP separately.</a:t>
            </a:r>
          </a:p>
        </p:txBody>
      </p:sp>
      <p:sp>
        <p:nvSpPr>
          <p:cNvPr id="39" name="">
            <a:extLst xmlns:a="http://schemas.openxmlformats.org/drawingml/2006/main">
              <a:ext uri="{FF2B5EF4-FFF2-40B4-BE49-F238E27FC236}">
                <a16:creationId xmlns:a16="http://schemas.microsoft.com/office/drawing/2014/main" id="{73D798A1-2809-4D78-BCD1-21060210C4E6}"/>
              </a:ext>
            </a:extLst>
          </p:cNvPr>
          <p:cNvSpPr>
            <a:spLocks xmlns:a="http://schemas.openxmlformats.org/drawingml/2006/main" noGrp="1"/>
          </p:cNvSpPr>
          <p:nvPr/>
        </p:nvSpPr>
        <p:spPr>
          <a:xfrm xmlns:a="http://schemas.openxmlformats.org/drawingml/2006/main">
            <a:off x="533400" y="5257800"/>
            <a:ext cx="11125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i="0">
                <a:solidFill>
                  <a:srgbClr val="B7C4D0"/>
                </a:solidFill>
              </a:defRPr>
            </a:pPr>
            <a:r>
              <a:rPr sz="975" b="0" i="0">
                <a:solidFill>
                  <a:srgbClr val="B7C4D0"/>
                </a:solidFill>
              </a:rPr>
              <a:t>허용액·보험자 지급액·직원 본인부담액을 구분해 측정합니다.</a:t>
            </a:r>
          </a:p>
        </p:txBody>
      </p:sp>
    </p:spTree>
    <p:extLst>
      <p:ext uri="{BB962C8B-B14F-4D97-AF65-F5344CB8AC3E}">
        <p14:creationId xmlns:p14="http://schemas.microsoft.com/office/powerpoint/2010/main" val="20363065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75dead091f14427"/>
          <a:srcRect xmlns:a="http://schemas.openxmlformats.org/drawingml/2006/main" l="12519" t="0" r="12519" b="0"/>
          <a:stretch xmlns:a="http://schemas.openxmlformats.org/drawingml/2006/main">
            <a:fillRect l="0" t="0" r="0" b="0"/>
          </a:stretch>
        </p:blipFill>
        <p:spPr>
          <a:xfrm xmlns:a="http://schemas.openxmlformats.org/drawingml/2006/main">
            <a:off x="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C9A294-7990-4CA8-97B3-BE1EE3C9E9E8}"/>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5c0da091e784885"/>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DE6B59-9E96-44A6-9BE9-58EBF3A01D2F}"/>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7a03e4f5c7d4b97"/>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B5831B-A4BF-41DC-99E2-8FDC2B9EE574}"/>
              </a:ext>
            </a:extLst>
          </p:cNvPr>
          <p:cNvSpPr>
            <a:spLocks xmlns:a="http://schemas.openxmlformats.org/drawingml/2006/main" noGrp="1"/>
          </p:cNvSpPr>
          <p:nvPr/>
        </p:nvSpPr>
        <p:spPr>
          <a:xfrm xmlns:a="http://schemas.openxmlformats.org/drawingml/2006/main">
            <a:off x="6762750" y="1066800"/>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i="0">
                <a:solidFill>
                  <a:srgbClr val="12243A"/>
                </a:solidFill>
              </a:defRPr>
            </a:pPr>
            <a:r>
              <a:rPr sz="2325" b="1" i="0">
                <a:solidFill>
                  <a:srgbClr val="12243A"/>
                </a:solidFill>
              </a:rPr>
              <a:t>SELECTED FOR TWO FINANCIAL</a:t>
            </a:r>
          </a:p>
          <a:p xmlns:a="http://schemas.openxmlformats.org/drawingml/2006/main">
            <a:pPr algn="l">
              <a:buNone/>
              <a:defRPr sz="2325" b="1" i="0">
                <a:solidFill>
                  <a:srgbClr val="12243A"/>
                </a:solidFill>
              </a:defRPr>
            </a:pPr>
            <a:r>
              <a:rPr sz="2325" b="1" i="0">
                <a:solidFill>
                  <a:srgbClr val="12243A"/>
                </a:solidFill>
              </a:rPr>
              <a:t>INNOVATION COHORTS.</a:t>
            </a:r>
          </a:p>
        </p:txBody>
      </p:sp>
      <p:sp>
        <p:nvSpPr>
          <p:cNvPr id="7" name="">
            <a:extLst xmlns:a="http://schemas.openxmlformats.org/drawingml/2006/main">
              <a:ext uri="{FF2B5EF4-FFF2-40B4-BE49-F238E27FC236}">
                <a16:creationId xmlns:a16="http://schemas.microsoft.com/office/drawing/2014/main" id="{4A17C336-3DF1-41F1-B1E0-7EBEA78E60AF}"/>
              </a:ext>
            </a:extLst>
          </p:cNvPr>
          <p:cNvSpPr>
            <a:spLocks xmlns:a="http://schemas.openxmlformats.org/drawingml/2006/main" noGrp="1"/>
          </p:cNvSpPr>
          <p:nvPr/>
        </p:nvSpPr>
        <p:spPr>
          <a:xfrm xmlns:a="http://schemas.openxmlformats.org/drawingml/2006/main">
            <a:off x="6781800" y="22383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핀테크 큐브 9기 · 신한퓨처스랩 12기 선정 완료</a:t>
            </a:r>
          </a:p>
        </p:txBody>
      </p:sp>
      <p:sp>
        <p:nvSpPr>
          <p:cNvPr id="8" name="">
            <a:extLst xmlns:a="http://schemas.openxmlformats.org/drawingml/2006/main">
              <a:ext uri="{FF2B5EF4-FFF2-40B4-BE49-F238E27FC236}">
                <a16:creationId xmlns:a16="http://schemas.microsoft.com/office/drawing/2014/main" id="{533E6F99-192F-4E32-A452-9C43116C9FF7}"/>
              </a:ext>
            </a:extLst>
          </p:cNvPr>
          <p:cNvSpPr>
            <a:spLocks xmlns:a="http://schemas.openxmlformats.org/drawingml/2006/main" noGrp="1"/>
          </p:cNvSpPr>
          <p:nvPr/>
        </p:nvSpPr>
        <p:spPr>
          <a:xfrm xmlns:a="http://schemas.openxmlformats.org/drawingml/2006/main">
            <a:off x="6781800" y="3219450"/>
            <a:ext cx="47625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4037BD88-AF2D-4762-BB83-4D1F5D506E89}"/>
              </a:ext>
            </a:extLst>
          </p:cNvPr>
          <p:cNvSpPr>
            <a:spLocks xmlns:a="http://schemas.openxmlformats.org/drawingml/2006/main" noGrp="1"/>
          </p:cNvSpPr>
          <p:nvPr/>
        </p:nvSpPr>
        <p:spPr>
          <a:xfrm xmlns:a="http://schemas.openxmlformats.org/drawingml/2006/main">
            <a:off x="6781800" y="349567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2243A"/>
                </a:solidFill>
              </a:defRPr>
            </a:pPr>
            <a:r>
              <a:rPr sz="1725" b="1" i="0">
                <a:solidFill>
                  <a:srgbClr val="12243A"/>
                </a:solidFill>
              </a:rPr>
              <a:t>Selected · Fintech Cube Cohort 9</a:t>
            </a:r>
          </a:p>
        </p:txBody>
      </p:sp>
      <p:sp>
        <p:nvSpPr>
          <p:cNvPr id="10" name="">
            <a:extLst xmlns:a="http://schemas.openxmlformats.org/drawingml/2006/main">
              <a:ext uri="{FF2B5EF4-FFF2-40B4-BE49-F238E27FC236}">
                <a16:creationId xmlns:a16="http://schemas.microsoft.com/office/drawing/2014/main" id="{BE596BD2-3CA1-4769-8AB4-F5E337B0337E}"/>
              </a:ext>
            </a:extLst>
          </p:cNvPr>
          <p:cNvSpPr>
            <a:spLocks xmlns:a="http://schemas.openxmlformats.org/drawingml/2006/main" noGrp="1"/>
          </p:cNvSpPr>
          <p:nvPr/>
        </p:nvSpPr>
        <p:spPr>
          <a:xfrm xmlns:a="http://schemas.openxmlformats.org/drawingml/2006/main">
            <a:off x="6781800" y="38766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핀테크 큐브 9기 선정</a:t>
            </a:r>
          </a:p>
        </p:txBody>
      </p:sp>
      <p:sp>
        <p:nvSpPr>
          <p:cNvPr id="11" name="">
            <a:extLst xmlns:a="http://schemas.openxmlformats.org/drawingml/2006/main">
              <a:ext uri="{FF2B5EF4-FFF2-40B4-BE49-F238E27FC236}">
                <a16:creationId xmlns:a16="http://schemas.microsoft.com/office/drawing/2014/main" id="{CF3EDBAD-05F3-4834-9385-4F88FD44460C}"/>
              </a:ext>
            </a:extLst>
          </p:cNvPr>
          <p:cNvSpPr>
            <a:spLocks xmlns:a="http://schemas.openxmlformats.org/drawingml/2006/main" noGrp="1"/>
          </p:cNvSpPr>
          <p:nvPr/>
        </p:nvSpPr>
        <p:spPr>
          <a:xfrm xmlns:a="http://schemas.openxmlformats.org/drawingml/2006/main">
            <a:off x="6781800" y="4352925"/>
            <a:ext cx="47625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12" name="">
            <a:extLst xmlns:a="http://schemas.openxmlformats.org/drawingml/2006/main">
              <a:ext uri="{FF2B5EF4-FFF2-40B4-BE49-F238E27FC236}">
                <a16:creationId xmlns:a16="http://schemas.microsoft.com/office/drawing/2014/main" id="{7A61E03B-1AFC-4862-B261-5E7F0C251584}"/>
              </a:ext>
            </a:extLst>
          </p:cNvPr>
          <p:cNvSpPr>
            <a:spLocks xmlns:a="http://schemas.openxmlformats.org/drawingml/2006/main" noGrp="1"/>
          </p:cNvSpPr>
          <p:nvPr/>
        </p:nvSpPr>
        <p:spPr>
          <a:xfrm xmlns:a="http://schemas.openxmlformats.org/drawingml/2006/main">
            <a:off x="6781800" y="46291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2243A"/>
                </a:solidFill>
              </a:defRPr>
            </a:pPr>
            <a:r>
              <a:rPr sz="1650" b="1" i="0">
                <a:solidFill>
                  <a:srgbClr val="12243A"/>
                </a:solidFill>
              </a:rPr>
              <a:t>Selected · Shinhan Future’s Lab Cohort 12</a:t>
            </a:r>
          </a:p>
        </p:txBody>
      </p:sp>
      <p:sp>
        <p:nvSpPr>
          <p:cNvPr id="13" name="">
            <a:extLst xmlns:a="http://schemas.openxmlformats.org/drawingml/2006/main">
              <a:ext uri="{FF2B5EF4-FFF2-40B4-BE49-F238E27FC236}">
                <a16:creationId xmlns:a16="http://schemas.microsoft.com/office/drawing/2014/main" id="{AE4FF58C-4E49-426E-A4E2-1E045308E98F}"/>
              </a:ext>
            </a:extLst>
          </p:cNvPr>
          <p:cNvSpPr>
            <a:spLocks xmlns:a="http://schemas.openxmlformats.org/drawingml/2006/main" noGrp="1"/>
          </p:cNvSpPr>
          <p:nvPr/>
        </p:nvSpPr>
        <p:spPr>
          <a:xfrm xmlns:a="http://schemas.openxmlformats.org/drawingml/2006/main">
            <a:off x="6781800" y="50101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신한퓨처스랩 12기 선정</a:t>
            </a:r>
          </a:p>
        </p:txBody>
      </p:sp>
      <p:sp>
        <p:nvSpPr>
          <p:cNvPr id="14" name="">
            <a:extLst xmlns:a="http://schemas.openxmlformats.org/drawingml/2006/main">
              <a:ext uri="{FF2B5EF4-FFF2-40B4-BE49-F238E27FC236}">
                <a16:creationId xmlns:a16="http://schemas.microsoft.com/office/drawing/2014/main" id="{E8B5DF18-AA2D-48E5-A258-4F45F3CF4814}"/>
              </a:ext>
            </a:extLst>
          </p:cNvPr>
          <p:cNvSpPr>
            <a:spLocks xmlns:a="http://schemas.openxmlformats.org/drawingml/2006/main" noGrp="1"/>
          </p:cNvSpPr>
          <p:nvPr/>
        </p:nvSpPr>
        <p:spPr>
          <a:xfrm xmlns:a="http://schemas.openxmlformats.org/drawingml/2006/main">
            <a:off x="6781800" y="5657850"/>
            <a:ext cx="4762500" cy="628650"/>
          </a:xfrm>
          <a:prstGeom xmlns:a="http://schemas.openxmlformats.org/drawingml/2006/main" prst="rect">
            <a:avLst/>
          </a:prstGeom>
          <a:solidFill xmlns:a="http://schemas.openxmlformats.org/drawingml/2006/main">
            <a:srgbClr val="E8F7F7"/>
          </a:solidFill>
          <a:ln xmlns:a="http://schemas.openxmlformats.org/drawingml/2006/main" w="9525">
            <a:solidFill>
              <a:srgbClr val="55C5C8"/>
            </a:solidFill>
            <a:prstDash val="solid"/>
          </a:ln>
        </p:spPr>
      </p:sp>
      <p:sp>
        <p:nvSpPr>
          <p:cNvPr id="15" name="">
            <a:extLst xmlns:a="http://schemas.openxmlformats.org/drawingml/2006/main">
              <a:ext uri="{FF2B5EF4-FFF2-40B4-BE49-F238E27FC236}">
                <a16:creationId xmlns:a16="http://schemas.microsoft.com/office/drawing/2014/main" id="{AE518EC0-895A-462A-B7CC-673BD66A37C2}"/>
              </a:ext>
            </a:extLst>
          </p:cNvPr>
          <p:cNvSpPr>
            <a:spLocks xmlns:a="http://schemas.openxmlformats.org/drawingml/2006/main" noGrp="1"/>
          </p:cNvSpPr>
          <p:nvPr/>
        </p:nvSpPr>
        <p:spPr>
          <a:xfrm xmlns:a="http://schemas.openxmlformats.org/drawingml/2006/main">
            <a:off x="6991350" y="5734050"/>
            <a:ext cx="434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67D82"/>
                </a:solidFill>
              </a:defRPr>
            </a:pPr>
            <a:r>
              <a:rPr sz="1125" b="1" i="0">
                <a:solidFill>
                  <a:srgbClr val="167D82"/>
                </a:solidFill>
              </a:rPr>
              <a:t>Program selection only — not a completed partnership, integration or outcome.</a:t>
            </a:r>
          </a:p>
          <a:p xmlns:a="http://schemas.openxmlformats.org/drawingml/2006/main">
            <a:pPr algn="ctr">
              <a:buNone/>
              <a:defRPr sz="1125" b="1" i="0">
                <a:solidFill>
                  <a:srgbClr val="167D82"/>
                </a:solidFill>
              </a:defRPr>
            </a:pPr>
            <a:r>
              <a:rPr sz="1125" b="1" i="0">
                <a:solidFill>
                  <a:srgbClr val="167D82"/>
                </a:solidFill>
              </a:rPr>
              <a:t>선정 사실만 해당하며, 완료된 제휴·연동·성과를 의미하지 않습니다.</a:t>
            </a:r>
          </a:p>
        </p:txBody>
      </p:sp>
    </p:spTree>
    <p:extLst>
      <p:ext uri="{BB962C8B-B14F-4D97-AF65-F5344CB8AC3E}">
        <p14:creationId xmlns:p14="http://schemas.microsoft.com/office/powerpoint/2010/main" val="390995367"/>
      </p:ext>
    </p:extLst>
  </p:cSld>
</p:sld>
</file>

<file path=ppt/slides/slide7.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6fb9fadeb5b48fd"/>
          <a:stretch xmlns:a="http://schemas.openxmlformats.org/drawingml/2006/main"/>
        </p:blipFill>
        <p:spPr>
          <a:xfrm xmlns:a="http://schemas.openxmlformats.org/drawingml/2006/main">
            <a:off x="8915400" y="457200"/>
            <a:ext cx="1200150" cy="43805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399C89-1303-44FD-8785-60CBF2ECD7CF}"/>
              </a:ext>
            </a:extLst>
          </p:cNvPr>
          <p:cNvSpPr>
            <a:spLocks xmlns:a="http://schemas.openxmlformats.org/drawingml/2006/main" noGrp="1"/>
          </p:cNvSpPr>
          <p:nvPr/>
        </p:nvSpPr>
        <p:spPr>
          <a:xfrm xmlns:a="http://schemas.openxmlformats.org/drawingml/2006/main">
            <a:off x="10210800" y="5334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FFFFFF"/>
                </a:solidFill>
              </a:defRPr>
            </a:pPr>
            <a:r>
              <a:rPr sz="1425" b="1" i="0">
                <a:solidFill>
                  <a:srgbClr val="FFFFFF"/>
                </a:solidFill>
              </a:rPr>
              <a: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0b211ded903484c"/>
          <a:stretch xmlns:a="http://schemas.openxmlformats.org/drawingml/2006/main"/>
        </p:blipFill>
        <p:spPr>
          <a:xfrm xmlns:a="http://schemas.openxmlformats.org/drawingml/2006/main">
            <a:off x="10496550" y="304800"/>
            <a:ext cx="1123950" cy="6324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4E9F0B-1974-4A49-9D72-F12E5D3D860C}"/>
              </a:ext>
            </a:extLst>
          </p:cNvPr>
          <p:cNvSpPr>
            <a:spLocks xmlns:a="http://schemas.openxmlformats.org/drawingml/2006/main" noGrp="1"/>
          </p:cNvSpPr>
          <p:nvPr/>
        </p:nvSpPr>
        <p:spPr>
          <a:xfrm xmlns:a="http://schemas.openxmlformats.org/drawingml/2006/main">
            <a:off x="590550" y="1390650"/>
            <a:ext cx="742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FFFFFF"/>
                </a:solidFill>
              </a:defRPr>
            </a:pPr>
            <a:r>
              <a:rPr sz="2925" b="1" i="0">
                <a:solidFill>
                  <a:srgbClr val="FFFFFF"/>
                </a:solidFill>
              </a:rPr>
              <a:t>CAN YOUR COMPANY MEASURE</a:t>
            </a:r>
          </a:p>
          <a:p xmlns:a="http://schemas.openxmlformats.org/drawingml/2006/main">
            <a:pPr algn="l">
              <a:buNone/>
              <a:defRPr sz="2925" b="1" i="0">
                <a:solidFill>
                  <a:srgbClr val="FFFFFF"/>
                </a:solidFill>
              </a:defRPr>
            </a:pPr>
            <a:r>
              <a:rPr sz="2925" b="1" i="0">
                <a:solidFill>
                  <a:srgbClr val="FFFFFF"/>
                </a:solidFill>
              </a:rPr>
              <a:t>HOW EMPLOYEES USE</a:t>
            </a:r>
          </a:p>
          <a:p xmlns:a="http://schemas.openxmlformats.org/drawingml/2006/main">
            <a:pPr algn="l">
              <a:buNone/>
              <a:defRPr sz="2925" b="1" i="0">
                <a:solidFill>
                  <a:srgbClr val="FFFFFF"/>
                </a:solidFill>
              </a:defRPr>
            </a:pPr>
            <a:r>
              <a:rPr sz="2925" b="1" i="0">
                <a:solidFill>
                  <a:srgbClr val="FFFFFF"/>
                </a:solidFill>
              </a:rPr>
              <a:t>DENTAL INSURANCE &amp; BENEFITS?</a:t>
            </a:r>
          </a:p>
        </p:txBody>
      </p:sp>
      <p:sp>
        <p:nvSpPr>
          <p:cNvPr id="5" name="">
            <a:extLst xmlns:a="http://schemas.openxmlformats.org/drawingml/2006/main">
              <a:ext uri="{FF2B5EF4-FFF2-40B4-BE49-F238E27FC236}">
                <a16:creationId xmlns:a16="http://schemas.microsoft.com/office/drawing/2014/main" id="{FF2F0396-6C6F-4D22-BE60-0743A97DF677}"/>
              </a:ext>
            </a:extLst>
          </p:cNvPr>
          <p:cNvSpPr>
            <a:spLocks xmlns:a="http://schemas.openxmlformats.org/drawingml/2006/main" noGrp="1"/>
          </p:cNvSpPr>
          <p:nvPr/>
        </p:nvSpPr>
        <p:spPr>
          <a:xfrm xmlns:a="http://schemas.openxmlformats.org/drawingml/2006/main">
            <a:off x="628650" y="3028950"/>
            <a:ext cx="685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D6E0E7"/>
                </a:solidFill>
              </a:defRPr>
            </a:pPr>
            <a:r>
              <a:rPr sz="1575" b="1" i="0">
                <a:solidFill>
                  <a:srgbClr val="D6E0E7"/>
                </a:solidFill>
              </a:rPr>
              <a:t>우리 회사는 임직원의 치아보험·치과복지 이용을</a:t>
            </a:r>
          </a:p>
          <a:p xmlns:a="http://schemas.openxmlformats.org/drawingml/2006/main">
            <a:pPr algn="l">
              <a:buNone/>
              <a:defRPr sz="1575" b="1" i="0">
                <a:solidFill>
                  <a:srgbClr val="D6E0E7"/>
                </a:solidFill>
              </a:defRPr>
            </a:pPr>
            <a:r>
              <a:rPr sz="1575" b="1" i="0">
                <a:solidFill>
                  <a:srgbClr val="D6E0E7"/>
                </a:solidFill>
              </a:rPr>
              <a:t>데이터로 설명할 수 있나요?</a:t>
            </a:r>
          </a:p>
        </p:txBody>
      </p:sp>
      <p:sp>
        <p:nvSpPr>
          <p:cNvPr id="6" name="">
            <a:extLst xmlns:a="http://schemas.openxmlformats.org/drawingml/2006/main">
              <a:ext uri="{FF2B5EF4-FFF2-40B4-BE49-F238E27FC236}">
                <a16:creationId xmlns:a16="http://schemas.microsoft.com/office/drawing/2014/main" id="{3174EF66-E5FF-4FF7-9A5A-3E11DDA3EE0B}"/>
              </a:ext>
            </a:extLst>
          </p:cNvPr>
          <p:cNvSpPr>
            <a:spLocks xmlns:a="http://schemas.openxmlformats.org/drawingml/2006/main" noGrp="1"/>
          </p:cNvSpPr>
          <p:nvPr/>
        </p:nvSpPr>
        <p:spPr>
          <a:xfrm xmlns:a="http://schemas.openxmlformats.org/drawingml/2006/main">
            <a:off x="628650" y="3990975"/>
            <a:ext cx="1009650" cy="476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7" name="">
            <a:extLst xmlns:a="http://schemas.openxmlformats.org/drawingml/2006/main">
              <a:ext uri="{FF2B5EF4-FFF2-40B4-BE49-F238E27FC236}">
                <a16:creationId xmlns:a16="http://schemas.microsoft.com/office/drawing/2014/main" id="{90D9826A-6460-4F28-B3B5-64BD5A676E1A}"/>
              </a:ext>
            </a:extLst>
          </p:cNvPr>
          <p:cNvSpPr>
            <a:spLocks xmlns:a="http://schemas.openxmlformats.org/drawingml/2006/main" noGrp="1"/>
          </p:cNvSpPr>
          <p:nvPr/>
        </p:nvSpPr>
        <p:spPr>
          <a:xfrm xmlns:a="http://schemas.openxmlformats.org/drawingml/2006/main">
            <a:off x="628650" y="4314825"/>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FFFFFF"/>
                </a:solidFill>
              </a:defRPr>
            </a:pPr>
            <a:r>
              <a:rPr sz="1425" b="1" i="0">
                <a:solidFill>
                  <a:srgbClr val="FFFFFF"/>
                </a:solidFill>
              </a:rPr>
              <a:t>For HR, Benefits and Data leaders at technology and financial-services companies.</a:t>
            </a:r>
          </a:p>
        </p:txBody>
      </p:sp>
      <p:sp>
        <p:nvSpPr>
          <p:cNvPr id="8" name="">
            <a:extLst xmlns:a="http://schemas.openxmlformats.org/drawingml/2006/main">
              <a:ext uri="{FF2B5EF4-FFF2-40B4-BE49-F238E27FC236}">
                <a16:creationId xmlns:a16="http://schemas.microsoft.com/office/drawing/2014/main" id="{CF8C032B-4044-443A-AD7F-BD8B0797283E}"/>
              </a:ext>
            </a:extLst>
          </p:cNvPr>
          <p:cNvSpPr>
            <a:spLocks xmlns:a="http://schemas.openxmlformats.org/drawingml/2006/main" noGrp="1"/>
          </p:cNvSpPr>
          <p:nvPr/>
        </p:nvSpPr>
        <p:spPr>
          <a:xfrm xmlns:a="http://schemas.openxmlformats.org/drawingml/2006/main">
            <a:off x="628650" y="483870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B7C4D0"/>
                </a:solidFill>
              </a:defRPr>
            </a:pPr>
            <a:r>
              <a:rPr sz="1200" b="0" i="0">
                <a:solidFill>
                  <a:srgbClr val="B7C4D0"/>
                </a:solidFill>
              </a:rPr>
              <a:t>테크·금융 기업의 HR·복지·데이터 리더와 협업하고자 합니다.</a:t>
            </a:r>
          </a:p>
        </p:txBody>
      </p:sp>
      <p:sp>
        <p:nvSpPr>
          <p:cNvPr id="9" name="">
            <a:extLst xmlns:a="http://schemas.openxmlformats.org/drawingml/2006/main">
              <a:ext uri="{FF2B5EF4-FFF2-40B4-BE49-F238E27FC236}">
                <a16:creationId xmlns:a16="http://schemas.microsoft.com/office/drawing/2014/main" id="{07C53F8D-4071-4EE0-B6B2-40862460DF20}"/>
              </a:ext>
            </a:extLst>
          </p:cNvPr>
          <p:cNvSpPr>
            <a:spLocks xmlns:a="http://schemas.openxmlformats.org/drawingml/2006/main" noGrp="1"/>
          </p:cNvSpPr>
          <p:nvPr/>
        </p:nvSpPr>
        <p:spPr>
          <a:xfrm xmlns:a="http://schemas.openxmlformats.org/drawingml/2006/main">
            <a:off x="628650" y="56197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55C5C8"/>
                </a:solidFill>
              </a:defRPr>
            </a:pPr>
            <a:r>
              <a:rPr sz="1275" b="1" i="0">
                <a:solidFill>
                  <a:srgbClr val="55C5C8"/>
                </a:solidFill>
              </a:rPr>
              <a:t>Validate this program on Snowflake with one payer/TPA account team.</a:t>
            </a:r>
          </a:p>
        </p:txBody>
      </p:sp>
      <p:sp>
        <p:nvSpPr>
          <p:cNvPr id="10" name="">
            <a:extLst xmlns:a="http://schemas.openxmlformats.org/drawingml/2006/main">
              <a:ext uri="{FF2B5EF4-FFF2-40B4-BE49-F238E27FC236}">
                <a16:creationId xmlns:a16="http://schemas.microsoft.com/office/drawing/2014/main" id="{F7EA8C9C-CB48-49B2-A7DB-356DF2A0724B}"/>
              </a:ext>
            </a:extLst>
          </p:cNvPr>
          <p:cNvSpPr>
            <a:spLocks xmlns:a="http://schemas.openxmlformats.org/drawingml/2006/main" noGrp="1"/>
          </p:cNvSpPr>
          <p:nvPr/>
        </p:nvSpPr>
        <p:spPr>
          <a:xfrm xmlns:a="http://schemas.openxmlformats.org/drawingml/2006/main">
            <a:off x="628650" y="597217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B7C4D0"/>
                </a:solidFill>
              </a:defRPr>
            </a:pPr>
            <a:r>
              <a:rPr sz="1088" b="0" i="0">
                <a:solidFill>
                  <a:srgbClr val="B7C4D0"/>
                </a:solidFill>
              </a:rPr>
              <a:t>Snowflake와 payer/TPA 계정 단위 데이터 협업을 검증합니다.</a:t>
            </a:r>
          </a:p>
        </p:txBody>
      </p:sp>
      <p:sp>
        <p:nvSpPr>
          <p:cNvPr id="11" name="">
            <a:extLst xmlns:a="http://schemas.openxmlformats.org/drawingml/2006/main">
              <a:ext uri="{FF2B5EF4-FFF2-40B4-BE49-F238E27FC236}">
                <a16:creationId xmlns:a16="http://schemas.microsoft.com/office/drawing/2014/main" id="{D01A225E-8515-4B9B-9F8C-AB3685E04925}"/>
              </a:ext>
            </a:extLst>
          </p:cNvPr>
          <p:cNvSpPr>
            <a:spLocks xmlns:a="http://schemas.openxmlformats.org/drawingml/2006/main" noGrp="1"/>
          </p:cNvSpPr>
          <p:nvPr/>
        </p:nvSpPr>
        <p:spPr>
          <a:xfrm xmlns:a="http://schemas.openxmlformats.org/drawingml/2006/main">
            <a:off x="8334375" y="9810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1" i="0">
                <a:solidFill>
                  <a:srgbClr val="55C5C8"/>
                </a:solidFill>
              </a:defRPr>
            </a:pPr>
            <a:r>
              <a:rPr sz="900" b="1" i="0">
                <a:solidFill>
                  <a:srgbClr val="55C5C8"/>
                </a:solidFill>
              </a:rPr>
              <a:t>LIVE SYNTHETIC DEMO / 합성 데이터 데모</a:t>
            </a:r>
          </a:p>
        </p:txBody>
      </p:sp>
      <p:sp>
        <p:nvSpPr>
          <p:cNvPr id="12" name="">
            <a:extLst xmlns:a="http://schemas.openxmlformats.org/drawingml/2006/main">
              <a:ext uri="{FF2B5EF4-FFF2-40B4-BE49-F238E27FC236}">
                <a16:creationId xmlns:a16="http://schemas.microsoft.com/office/drawing/2014/main" id="{BB4D57CB-C5F1-4908-BDFE-26764BB0429A}"/>
              </a:ext>
            </a:extLst>
          </p:cNvPr>
          <p:cNvSpPr>
            <a:spLocks xmlns:a="http://schemas.openxmlformats.org/drawingml/2006/main" noGrp="1"/>
          </p:cNvSpPr>
          <p:nvPr/>
        </p:nvSpPr>
        <p:spPr>
          <a:xfrm xmlns:a="http://schemas.openxmlformats.org/drawingml/2006/main">
            <a:off x="8524875" y="1352550"/>
            <a:ext cx="2743200" cy="2743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af362d26c4a4acc"/>
          <a:stretch xmlns:a="http://schemas.openxmlformats.org/drawingml/2006/main"/>
        </p:blipFill>
        <p:spPr>
          <a:xfrm xmlns:a="http://schemas.openxmlformats.org/drawingml/2006/main">
            <a:off x="8667750" y="1495425"/>
            <a:ext cx="2457450" cy="2457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0B6F07F-C1A0-413A-92E1-F0093BB88391}"/>
              </a:ext>
            </a:extLst>
          </p:cNvPr>
          <p:cNvSpPr>
            <a:spLocks xmlns:a="http://schemas.openxmlformats.org/drawingml/2006/main" noGrp="1"/>
          </p:cNvSpPr>
          <p:nvPr/>
        </p:nvSpPr>
        <p:spPr>
          <a:xfrm xmlns:a="http://schemas.openxmlformats.org/drawingml/2006/main">
            <a:off x="8039100" y="439102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FFFFFF"/>
                </a:solidFill>
              </a:defRPr>
            </a:pPr>
            <a:r>
              <a:rPr sz="1050" b="1" i="0">
                <a:solidFill>
                  <a:srgbClr val="FFFFFF"/>
                </a:solidFill>
              </a:rPr>
              <a:t>Synthetic data · aggregate only · no individual PHI</a:t>
            </a:r>
          </a:p>
        </p:txBody>
      </p:sp>
      <p:sp>
        <p:nvSpPr>
          <p:cNvPr id="15" name="">
            <a:extLst xmlns:a="http://schemas.openxmlformats.org/drawingml/2006/main">
              <a:ext uri="{FF2B5EF4-FFF2-40B4-BE49-F238E27FC236}">
                <a16:creationId xmlns:a16="http://schemas.microsoft.com/office/drawing/2014/main" id="{CDF9F280-2709-483B-8653-67E463303566}"/>
              </a:ext>
            </a:extLst>
          </p:cNvPr>
          <p:cNvSpPr>
            <a:spLocks xmlns:a="http://schemas.openxmlformats.org/drawingml/2006/main" noGrp="1"/>
          </p:cNvSpPr>
          <p:nvPr/>
        </p:nvSpPr>
        <p:spPr>
          <a:xfrm xmlns:a="http://schemas.openxmlformats.org/drawingml/2006/main">
            <a:off x="8172450" y="4733925"/>
            <a:ext cx="3448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i="0">
                <a:solidFill>
                  <a:srgbClr val="B7C4D0"/>
                </a:solidFill>
              </a:defRPr>
            </a:pPr>
            <a:r>
              <a:rPr sz="975" b="0" i="0">
                <a:solidFill>
                  <a:srgbClr val="B7C4D0"/>
                </a:solidFill>
              </a:rPr>
              <a:t>합성 데이터 · 집계 결과만 · 개인 PHI 없음</a:t>
            </a:r>
          </a:p>
        </p:txBody>
      </p:sp>
      <p:sp>
        <p:nvSpPr>
          <p:cNvPr id="16" name="">
            <a:extLst xmlns:a="http://schemas.openxmlformats.org/drawingml/2006/main">
              <a:ext uri="{FF2B5EF4-FFF2-40B4-BE49-F238E27FC236}">
                <a16:creationId xmlns:a16="http://schemas.microsoft.com/office/drawing/2014/main" id="{A7BDA119-4B49-4975-9155-E648DDD2F811}"/>
              </a:ext>
            </a:extLst>
          </p:cNvPr>
          <p:cNvSpPr>
            <a:spLocks xmlns:a="http://schemas.openxmlformats.org/drawingml/2006/main" noGrp="1"/>
          </p:cNvSpPr>
          <p:nvPr/>
        </p:nvSpPr>
        <p:spPr>
          <a:xfrm xmlns:a="http://schemas.openxmlformats.org/drawingml/2006/main">
            <a:off x="7905750" y="5334000"/>
            <a:ext cx="396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1" i="0">
                <a:solidFill>
                  <a:srgbClr val="55C5C8"/>
                </a:solidFill>
              </a:defRPr>
            </a:pPr>
            <a:r>
              <a:rPr sz="938" b="1" i="0">
                <a:solidFill>
                  <a:srgbClr val="55C5C8"/>
                </a:solidFill>
              </a:rPr>
              <a:t>ASK FOR A WALK-THROUGH / </a:t>
            </a:r>
            <a:r>
              <a:rPr sz="938" b="1" i="0">
                <a:solidFill>
                  <a:srgbClr val="55C5C8"/>
                </a:solidFill>
              </a:rPr>
              <a:t>데모 안내 받기</a:t>
            </a:r>
          </a:p>
        </p:txBody>
      </p:sp>
      <p:sp>
        <p:nvSpPr>
          <p:cNvPr id="17" name="">
            <a:extLst xmlns:a="http://schemas.openxmlformats.org/drawingml/2006/main">
              <a:ext uri="{FF2B5EF4-FFF2-40B4-BE49-F238E27FC236}">
                <a16:creationId xmlns:a16="http://schemas.microsoft.com/office/drawing/2014/main" id="{1F088CAE-2593-43A1-8995-86A6B32EE96B}"/>
              </a:ext>
            </a:extLst>
          </p:cNvPr>
          <p:cNvSpPr>
            <a:spLocks xmlns:a="http://schemas.openxmlformats.org/drawingml/2006/main" noGrp="1"/>
          </p:cNvSpPr>
          <p:nvPr/>
        </p:nvSpPr>
        <p:spPr>
          <a:xfrm xmlns:a="http://schemas.openxmlformats.org/drawingml/2006/main">
            <a:off x="8572500" y="59626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1" i="0">
                <a:solidFill>
                  <a:srgbClr val="FFFFFF"/>
                </a:solidFill>
              </a:defRPr>
            </a:pPr>
            <a:r>
              <a:rPr sz="900" b="1" i="0">
                <a:solidFill>
                  <a:srgbClr val="FFFFFF"/>
                </a:solidFill>
              </a:rPr>
              <a:t>SCAN TO OPEN / </a:t>
            </a:r>
            <a:r>
              <a:rPr sz="900" b="1" i="0">
                <a:solidFill>
                  <a:srgbClr val="FFFFFF"/>
                </a:solidFill>
              </a:rPr>
              <a:t>스캔해 보기</a:t>
            </a:r>
          </a:p>
        </p:txBody>
      </p:sp>
    </p:spTree>
    <p:extLst>
      <p:ext uri="{BB962C8B-B14F-4D97-AF65-F5344CB8AC3E}">
        <p14:creationId xmlns:p14="http://schemas.microsoft.com/office/powerpoint/2010/main" val="1357655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2026-08-08T02:41:48.8060000Z</dcterms:created>
  <dcterms:modified xsi:type="dcterms:W3CDTF">2026-08-08T02:41:48.8060000Z</dcterms:modified>
</coreProperties>
</file>