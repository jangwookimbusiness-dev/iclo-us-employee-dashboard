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958017b8554c48" /><Relationship Type="http://schemas.openxmlformats.org/officeDocument/2006/relationships/extended-properties" Target="/docProps/app.xml" Id="Rc4480126933d4016" /><Relationship Type="http://schemas.openxmlformats.org/officeDocument/2006/relationships/officeDocument" Target="/ppt/presentation.xml" Id="Rd40e07afa14c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f3d70ef1534bc9"/>
  </p:sldMasterIdLst>
  <p:notesMasterIdLst>
    <p:notesMasterId xmlns:r="http://schemas.openxmlformats.org/officeDocument/2006/relationships" r:id="Rc1b7d97504bd436a"/>
  </p:notesMasterIdLst>
  <p:sldIdLst>
    <p:sldId xmlns:r="http://schemas.openxmlformats.org/officeDocument/2006/relationships" id="256" r:id="R4437edb366f24dbf"/>
    <p:sldId xmlns:r="http://schemas.openxmlformats.org/officeDocument/2006/relationships" id="257" r:id="Ra154eab9603d40f1"/>
    <p:sldId xmlns:r="http://schemas.openxmlformats.org/officeDocument/2006/relationships" id="258" r:id="Rc6c02cfb65db4b27"/>
    <p:sldId xmlns:r="http://schemas.openxmlformats.org/officeDocument/2006/relationships" id="259" r:id="Rf974d1f8586a437e"/>
    <p:sldId xmlns:r="http://schemas.openxmlformats.org/officeDocument/2006/relationships" id="260" r:id="Rfeac7ca1ce554c83"/>
    <p:sldId xmlns:r="http://schemas.openxmlformats.org/officeDocument/2006/relationships" id="261" r:id="R005d3ebe902042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df287314614d20" /><Relationship Type="http://schemas.openxmlformats.org/officeDocument/2006/relationships/slideMaster" Target="/ppt/slideMasters/slideMaster1.xml" Id="R1df3d70ef1534bc9" /><Relationship Type="http://schemas.openxmlformats.org/officeDocument/2006/relationships/notesMaster" Target="/ppt/notesMasters/notesMaster1.xml" Id="Rc1b7d97504bd436a" /><Relationship Type="http://schemas.openxmlformats.org/officeDocument/2006/relationships/presProps" Target="/ppt/presProps.xml" Id="R8e7a5fb5c6444663" /><Relationship Type="http://schemas.openxmlformats.org/officeDocument/2006/relationships/tableStyles" Target="/ppt/tableStyles.xml" Id="Rced1f34226734998" /><Relationship Type="http://schemas.openxmlformats.org/officeDocument/2006/relationships/slide" Target="/ppt/slides/slide1.xml" Id="R4437edb366f24dbf" /><Relationship Type="http://schemas.openxmlformats.org/officeDocument/2006/relationships/slide" Target="/ppt/slides/slide2.xml" Id="Ra154eab9603d40f1" /><Relationship Type="http://schemas.openxmlformats.org/officeDocument/2006/relationships/slide" Target="/ppt/slides/slide3.xml" Id="Rc6c02cfb65db4b27" /><Relationship Type="http://schemas.openxmlformats.org/officeDocument/2006/relationships/slide" Target="/ppt/slides/slide4.xml" Id="Rf974d1f8586a437e" /><Relationship Type="http://schemas.openxmlformats.org/officeDocument/2006/relationships/slide" Target="/ppt/slides/slide5.xml" Id="Rfeac7ca1ce554c83" /><Relationship Type="http://schemas.openxmlformats.org/officeDocument/2006/relationships/slide" Target="/ppt/slides/slide6.xml" Id="R005d3ebe902042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0c71e156564b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8861f03ecf49d2" /><Relationship Type="http://schemas.openxmlformats.org/officeDocument/2006/relationships/notesMaster" Target="/ppt/notesMasters/notesMaster1.xml" Id="R3e395f3b53614d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c99d8ee3f645aa" /><Relationship Type="http://schemas.openxmlformats.org/officeDocument/2006/relationships/notesMaster" Target="/ppt/notesMasters/notesMaster1.xml" Id="Rdac9d2c131ad44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42ebc36ece44ac" /><Relationship Type="http://schemas.openxmlformats.org/officeDocument/2006/relationships/notesMaster" Target="/ppt/notesMasters/notesMaster1.xml" Id="R983a9cccd89244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e21d52a0184798" /><Relationship Type="http://schemas.openxmlformats.org/officeDocument/2006/relationships/notesMaster" Target="/ppt/notesMasters/notesMaster1.xml" Id="Rd0581490ce2846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bc9295ad274c90" /><Relationship Type="http://schemas.openxmlformats.org/officeDocument/2006/relationships/notesMaster" Target="/ppt/notesMasters/notesMaster1.xml" Id="R3e26216c550043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d4d67a64c8444c" /><Relationship Type="http://schemas.openxmlformats.org/officeDocument/2006/relationships/notesMaster" Target="/ppt/notesMasters/notesMaster1.xml" Id="R689c5685d455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B′의 첫 화면이다. 미국 치과보험 및 employee benefits의 접근성을 lead로 두고, ICLO의 employee navigation과 claims-verified evidence를 한 문장으로 연결한다. 보험 판매, 개별 인수, 자동 청구심사 또는 자동 임상 라우팅을 제안하지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/Users/jk0307/Documents/GitHub/iclo/iclo-us-employee-dashboard/output/imagegen/ICLO-World-Tour-BPrime-US-Access-Hero-v1.png</a:t>
            </a:r>
          </a:p>
          <a:p xmlns:a="http://schemas.openxmlformats.org/drawingml/2006/main">
            <a:r>
              <a:t>- /Users/jk0307/Documents/GitHub/iclo/iclo-us-employee-dashboard/output/booth/assets/Snowflake-Corporate-Logo-Blue-Transparent-v3.png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미국 치과보험 friction을 find, understand, act 세 동사로 설명한다. 네트워크 밖 진료가 절대 불가능하다고 말하지 않고, plan/network rules에 따라 선택이 제한되거나 경제적 불이익이 생길 수 있다고 표현한다.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ICLO Snowflake external briefing source material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B′는 소비자 진단 앱이 아니라 employee-initiated navigation이다. 초기에는 직원 action 또는 human-assisted support를 포함하며 image-derived signal은 provider, urgency, treatment pathway를 자동 결정하지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ICLO Snowflake external briefing source material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Snowflake를 employee app과 claims를 이어주는 governed evidence plane으로 설명한다. employer에게는 aggregate output만 제공하고 개인 routing/health signal은 제공하지 않는다. Raw oral image는 controlled U.S. object storage 또는 PHI vault에 두며, Snowflake에는 승인된 structured data와 metadata만 저장한다.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ICLO Snowflake external briefing source material</a:t>
            </a:r>
          </a:p>
          <a:p xmlns:a="http://schemas.openxmlformats.org/drawingml/2006/main">
            <a:r>
              <a:t>- /Users/jk0307/Documents/GitHub/iclo/iclo-us-employee-dashboard/output/booth/assets/Snowflake-Corporate-Logo-Blue-Transparent-v3.png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Dashboard는 synthetic data를 이용한 visual proof다. 성과 주장이 아니라 employees/members lens, eligibility/claims 기준일, claims lag, completeness, aggregate-only, n≥20 suppression을 구매자에게 보여주는 방식의 데모다.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  <a:p xmlns:a="http://schemas.openxmlformats.org/drawingml/2006/main">
            <a:r>
              <a:t>- /Users/jk0307/Documents/GitHub/iclo/iclo-us-employee-dashboard/tmp/iclo-snowflake-briefing-v1/assets/employer-dashboard-overview.png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부스 대화의 CTA다. U.S. employer-benefits, payer/TPA, HR, data team과 eligibility, plan, claims를 연결하는 working session을 요청한다. Snowflake 고객 소개를 막연히 요청하지 않고 governed data-collaboration pattern의 account-level validation을 요청한다.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/Users/jk0307/Downloads/[스타트업 프로그램 코호트사용] 260827 Snowflake World Tour - Seoul - Startup Village Guide Deck (1).pdf</a:t>
            </a:r>
          </a:p>
          <a:p xmlns:a="http://schemas.openxmlformats.org/drawingml/2006/main">
            <a:r>
              <a:t>- https://jangwookimbusiness-dev.github.io/iclo-us-employee-dashboard/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995b02e80a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0fae618aa14129" /><Relationship Type="http://schemas.openxmlformats.org/officeDocument/2006/relationships/slideLayout" Target="/ppt/slideLayouts/slideLayout1.xml" Id="Rd4920eeb074445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920eeb074445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88eacca5e24e10" /><Relationship Type="http://schemas.openxmlformats.org/officeDocument/2006/relationships/image" Target="/ppt/media/image.png" Id="Rd995fbc4ffa34e2d" /><Relationship Type="http://schemas.openxmlformats.org/officeDocument/2006/relationships/image" Target="/ppt/media/image2.png" Id="R06933ba8f1644eef" /><Relationship Type="http://schemas.openxmlformats.org/officeDocument/2006/relationships/image" Target="/ppt/media/image3.png" Id="R31bb23721e1e4361" /><Relationship Type="http://schemas.openxmlformats.org/officeDocument/2006/relationships/notesSlide" Target="/ppt/notesSlides/notesSlide1.xml" Id="R093d18ec0f5b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207cc7abd41fc" /><Relationship Type="http://schemas.openxmlformats.org/officeDocument/2006/relationships/image" Target="/ppt/media/image4.png" Id="Rd8373bb55cff49ec" /><Relationship Type="http://schemas.openxmlformats.org/officeDocument/2006/relationships/image" Target="/ppt/media/image5.png" Id="R03d02dcd00fe4a94" /><Relationship Type="http://schemas.openxmlformats.org/officeDocument/2006/relationships/notesSlide" Target="/ppt/notesSlides/notesSlide2.xml" Id="Rbc7ad57893174a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cf44a9fcd4611" /><Relationship Type="http://schemas.openxmlformats.org/officeDocument/2006/relationships/image" Target="/ppt/media/image6.png" Id="Red69c30fc1ce40d2" /><Relationship Type="http://schemas.openxmlformats.org/officeDocument/2006/relationships/image" Target="/ppt/media/image7.png" Id="R0fc8244d7cc8480f" /><Relationship Type="http://schemas.openxmlformats.org/officeDocument/2006/relationships/notesSlide" Target="/ppt/notesSlides/notesSlide3.xml" Id="Re46c44774c9548a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51c615519441b" /><Relationship Type="http://schemas.openxmlformats.org/officeDocument/2006/relationships/image" Target="/ppt/media/image8.png" Id="Rf6fee425161e4236" /><Relationship Type="http://schemas.openxmlformats.org/officeDocument/2006/relationships/image" Target="/ppt/media/image9.png" Id="Rec69634d685a4622" /><Relationship Type="http://schemas.openxmlformats.org/officeDocument/2006/relationships/image" Target="/ppt/media/image10.png" Id="Rb6648d33842b4e8d" /><Relationship Type="http://schemas.openxmlformats.org/officeDocument/2006/relationships/notesSlide" Target="/ppt/notesSlides/notesSlide4.xml" Id="R84addc58ad334ae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ed53b24e844b4" /><Relationship Type="http://schemas.openxmlformats.org/officeDocument/2006/relationships/image" Target="/ppt/media/image11.png" Id="R5b1286f05bec4247" /><Relationship Type="http://schemas.openxmlformats.org/officeDocument/2006/relationships/image" Target="/ppt/media/image12.png" Id="R2a8bf19d89464c2d" /><Relationship Type="http://schemas.openxmlformats.org/officeDocument/2006/relationships/image" Target="/ppt/media/image13.png" Id="Rf583249c32a64a11" /><Relationship Type="http://schemas.openxmlformats.org/officeDocument/2006/relationships/notesSlide" Target="/ppt/notesSlides/notesSlide5.xml" Id="R33a7fbbe013540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05231cdf94336" /><Relationship Type="http://schemas.openxmlformats.org/officeDocument/2006/relationships/image" Target="/ppt/media/image14.png" Id="Ra29045fa344343ab" /><Relationship Type="http://schemas.openxmlformats.org/officeDocument/2006/relationships/image" Target="/ppt/media/image15.png" Id="R838d45a30522448e" /><Relationship Type="http://schemas.openxmlformats.org/officeDocument/2006/relationships/image" Target="/ppt/media/image16.png" Id="R6675ce428b1f4110" /><Relationship Type="http://schemas.openxmlformats.org/officeDocument/2006/relationships/notesSlide" Target="/ppt/notesSlides/notesSlide6.xml" Id="Refa552c3e51543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5fbc4ffa34e2d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4FFE4-CCA3-4DDA-B1A8-7DBF9C33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44159-E57F-4E17-BE0B-B0CAC7D4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33ba8f1644eef"/>
          <a:stretch xmlns:a="http://schemas.openxmlformats.org/drawingml/2006/main"/>
        </p:blipFill>
        <p:spPr>
          <a:xfrm xmlns:a="http://schemas.openxmlformats.org/drawingml/2006/main">
            <a:off x="590550" y="570728"/>
            <a:ext cx="1066800" cy="389402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552FE-B79E-457B-AFBD-83FF1F6BE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3075" y="5619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bb23721e1e4361"/>
          <a:stretch xmlns:a="http://schemas.openxmlformats.org/drawingml/2006/main"/>
        </p:blipFill>
        <p:spPr>
          <a:xfrm xmlns:a="http://schemas.openxmlformats.org/drawingml/2006/main">
            <a:off x="2038350" y="266858"/>
            <a:ext cx="1571625" cy="88450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40C24-2D56-4FE2-B520-9D2FAB4B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47E84"/>
                </a:solidFill>
              </a:defRPr>
            </a:pPr>
            <a:r>
              <a:rPr sz="900" b="1" i="0">
                <a:solidFill>
                  <a:srgbClr val="147E84"/>
                </a:solidFill>
              </a:rPr>
              <a:t>U.S. DENTAL INSURANCE &amp; EMPLOYEE BENEFITS / 미국 치과보험·직원 복지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6C7FF5-4FF9-4E7C-895A-8485946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28775"/>
            <a:ext cx="5715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12243A"/>
                </a:solidFill>
              </a:defRPr>
            </a:pPr>
            <a:r>
              <a:rPr sz="3300" b="1" i="0">
                <a:solidFill>
                  <a:srgbClr val="12243A"/>
                </a:solidFill>
              </a:rPr>
              <a:t>MAKE DENTAL INSURANCE</a:t>
            </a:r>
          </a:p>
          <a:p xmlns:a="http://schemas.openxmlformats.org/drawingml/2006/main">
            <a:pPr algn="l">
              <a:defRPr sz="3300" b="1" i="0">
                <a:solidFill>
                  <a:srgbClr val="12243A"/>
                </a:solidFill>
              </a:defRPr>
            </a:pPr>
            <a:r>
              <a:rPr sz="3300" b="1" i="0">
                <a:solidFill>
                  <a:srgbClr val="12243A"/>
                </a:solidFill>
              </a:rPr>
              <a:t>AND BENEFITS</a:t>
            </a:r>
          </a:p>
          <a:p xmlns:a="http://schemas.openxmlformats.org/drawingml/2006/main">
            <a:pPr algn="l">
              <a:defRPr sz="3300" b="1" i="0">
                <a:solidFill>
                  <a:srgbClr val="12243A"/>
                </a:solidFill>
              </a:defRPr>
            </a:pPr>
            <a:r>
              <a:rPr sz="3300" b="1" i="0">
                <a:solidFill>
                  <a:srgbClr val="12243A"/>
                </a:solidFill>
              </a:rPr>
              <a:t>MORE ACCESSIBLE.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C1DCB-A6DF-4AF2-B960-4668C21A4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542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63A50"/>
                </a:solidFill>
              </a:defRPr>
            </a:pPr>
            <a:r>
              <a:rPr sz="1650" b="1" i="0">
                <a:solidFill>
                  <a:srgbClr val="263A50"/>
                </a:solidFill>
              </a:rPr>
              <a:t>미국의 치과보험과 복지 혜택을</a:t>
            </a:r>
          </a:p>
          <a:p xmlns:a="http://schemas.openxmlformats.org/drawingml/2006/main">
            <a:pPr algn="l">
              <a:defRPr sz="1650" b="1" i="0">
                <a:solidFill>
                  <a:srgbClr val="263A50"/>
                </a:solidFill>
              </a:defRPr>
            </a:pPr>
            <a:r>
              <a:rPr sz="1650" b="1" i="0">
                <a:solidFill>
                  <a:srgbClr val="263A50"/>
                </a:solidFill>
              </a:rPr>
              <a:t>더 쉽게 이해하고 이용하도록.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FFDD6-42BD-4476-83B8-A6DEF593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19675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5B059-F995-4B53-B866-BA89E5D5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63A50"/>
                </a:solidFill>
              </a:defRPr>
            </a:pPr>
            <a:r>
              <a:rPr sz="1275" b="1" i="0">
                <a:solidFill>
                  <a:srgbClr val="263A50"/>
                </a:solidFill>
              </a:rPr>
              <a:t>Employee navigation in front. Claims-verified evidence in back.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BEC1B4-2652-4060-B41E-EC5CCD89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67375"/>
            <a:ext cx="5476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4717C"/>
                </a:solidFill>
              </a:defRPr>
            </a:pPr>
            <a:r>
              <a:rPr sz="1125" b="0" i="0">
                <a:solidFill>
                  <a:srgbClr val="64717C"/>
                </a:solidFill>
              </a:rPr>
              <a:t>앞에서는 직원 내비게이션, 뒤에서는 청구로 검증된 근거를 제공합니다.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B6E7C5-824F-4466-9F9D-B9958AB2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557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147E84"/>
                </a:solidFill>
              </a:defRPr>
            </a:pPr>
            <a:r>
              <a:rPr sz="863" b="1" i="0">
                <a:solidFill>
                  <a:srgbClr val="147E84"/>
                </a:solidFill>
              </a:rPr>
              <a:t>NAVIGATION SUPPORT — NOT INSURANCE SALES OR UNDERWRITING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03A11-F328-40B6-AD0B-1E1FF776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5572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64717C"/>
                </a:solidFill>
              </a:defRPr>
            </a:pPr>
            <a:r>
              <a:rPr sz="863" b="0" i="0">
                <a:solidFill>
                  <a:srgbClr val="64717C"/>
                </a:solidFill>
              </a:rPr>
              <a:t>보험 판매·인수가 아닌 직원 내비게이션 지원</a:t>
            </a:r>
          </a:p>
        </p:txBody>
      </p:sp>
    </p:spTree>
    <p:extLst>
      <p:ext uri="{BB962C8B-B14F-4D97-AF65-F5344CB8AC3E}">
        <p14:creationId xmlns:p14="http://schemas.microsoft.com/office/powerpoint/2010/main" val="1033471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BF104-2CAE-4614-98DF-AAA65F54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Coverage is not the same as access.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CD62F-A530-47F7-8C21-CD8BAA8D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보험 가입만으로 실제 이용이 쉬워지지는 않습니다.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73bb55cff49ec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2A292-2C2E-4A8C-984D-CB9A2E82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02dcd00fe4a94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797B7-5B1B-455C-90BE-DDD1E37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6651B-6DF1-40BB-8C23-E0C2326A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0859C5-63C7-4681-ACB3-0F4942D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C4E38-26AE-4B6C-942F-4266383E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72B23-EAA4-4C04-820D-DD75270AF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20277-D4CF-4FE3-A56C-85CFE0A3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9B5E8"/>
                </a:solidFill>
              </a:defRPr>
            </a:pPr>
            <a:r>
              <a:rPr sz="2250" b="1" i="0">
                <a:solidFill>
                  <a:srgbClr val="29B5E8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068FF-7095-4A35-8EDC-D6A165F5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1455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E84"/>
                </a:solidFill>
              </a:defRPr>
            </a:pPr>
            <a:r>
              <a:rPr sz="1350" b="1" i="0">
                <a:solidFill>
                  <a:srgbClr val="147E84"/>
                </a:solidFill>
              </a:rPr>
              <a:t>FIND</a:t>
            </a:r>
          </a:p>
          <a:p xmlns:a="http://schemas.openxmlformats.org/drawingml/2006/main">
            <a:pPr algn="l">
              <a:defRPr sz="1350" b="1" i="0">
                <a:solidFill>
                  <a:srgbClr val="147E84"/>
                </a:solidFill>
              </a:defRPr>
            </a:pPr>
            <a:r>
              <a:rPr sz="1350" b="1" i="0">
                <a:solidFill>
                  <a:srgbClr val="147E84"/>
                </a:solidFill>
              </a:rPr>
              <a:t>찾기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B5B12F-C3A4-4CF5-9E42-A7AFF457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43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63A50"/>
                </a:solidFill>
              </a:defRPr>
            </a:pPr>
            <a:r>
              <a:rPr sz="1725" b="1" i="0">
                <a:solidFill>
                  <a:srgbClr val="263A50"/>
                </a:solidFill>
              </a:rPr>
              <a:t>In-network care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DCB39A-C7EF-40D8-AFAA-DE3F96E7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527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내 plan에 맞는 네트워크 치과를 찾기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833043-38B3-4C57-8A4E-F8529E4D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CE1029-FBB9-4CE1-A18A-9AE2E057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9B5E8"/>
                </a:solidFill>
              </a:defRPr>
            </a:pPr>
            <a:r>
              <a:rPr sz="2250" b="1" i="0">
                <a:solidFill>
                  <a:srgbClr val="29B5E8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CAFAE2-8020-4100-BC15-50F69C30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86125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E84"/>
                </a:solidFill>
              </a:defRPr>
            </a:pPr>
            <a:r>
              <a:rPr sz="1350" b="1" i="0">
                <a:solidFill>
                  <a:srgbClr val="147E84"/>
                </a:solidFill>
              </a:rPr>
              <a:t>UNDERSTAND</a:t>
            </a:r>
          </a:p>
          <a:p xmlns:a="http://schemas.openxmlformats.org/drawingml/2006/main">
            <a:pPr algn="l">
              <a:defRPr sz="1350" b="1" i="0">
                <a:solidFill>
                  <a:srgbClr val="147E84"/>
                </a:solidFill>
              </a:defRPr>
            </a:pPr>
            <a:r>
              <a:rPr sz="1350" b="1" i="0">
                <a:solidFill>
                  <a:srgbClr val="147E84"/>
                </a:solidFill>
              </a:rPr>
              <a:t>이해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56C76-72D7-4CD2-9AD9-C4769428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147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63A50"/>
                </a:solidFill>
              </a:defRPr>
            </a:pPr>
            <a:r>
              <a:rPr sz="1725" b="1" i="0">
                <a:solidFill>
                  <a:srgbClr val="263A50"/>
                </a:solidFill>
              </a:rPr>
              <a:t>Deductible · coinsurance · annual maximum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46F822-3B18-46EC-9303-158A65E7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242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공제액·본인부담률·연간 한도를 이해하기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FAB3C-D57B-4D98-816B-8F343151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4337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05980E-C1F8-47FD-85A2-D7E191B8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66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9B5E8"/>
                </a:solidFill>
              </a:defRPr>
            </a:pPr>
            <a:r>
              <a:rPr sz="2250" b="1" i="0">
                <a:solidFill>
                  <a:srgbClr val="29B5E8"/>
                </a:solidFill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80BB8-666B-44E8-8A35-36ED0436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457700"/>
            <a:ext cx="200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47E84"/>
                </a:solidFill>
              </a:defRPr>
            </a:pPr>
            <a:r>
              <a:rPr sz="1350" b="1" i="0">
                <a:solidFill>
                  <a:srgbClr val="147E84"/>
                </a:solidFill>
              </a:rPr>
              <a:t>ACT</a:t>
            </a:r>
          </a:p>
          <a:p xmlns:a="http://schemas.openxmlformats.org/drawingml/2006/main">
            <a:pPr algn="l">
              <a:defRPr sz="1350" b="1" i="0">
                <a:solidFill>
                  <a:srgbClr val="147E84"/>
                </a:solidFill>
              </a:defRPr>
            </a:pPr>
            <a:r>
              <a:rPr sz="1350" b="1" i="0">
                <a:solidFill>
                  <a:srgbClr val="147E84"/>
                </a:solidFill>
              </a:rPr>
              <a:t>실행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D28EE5-7632-431C-939E-FEA20AD7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862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263A50"/>
                </a:solidFill>
              </a:defRPr>
            </a:pPr>
            <a:r>
              <a:rPr sz="1725" b="1" i="0">
                <a:solidFill>
                  <a:srgbClr val="263A50"/>
                </a:solidFill>
              </a:rPr>
              <a:t>Real availability and appointment preparation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0CFBE2-BDD8-4907-89CF-26E0D468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958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실제 예약 가능성과 방문 준비를 연결하기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D183C2-DD46-442A-8D4C-C65D8360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1495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E718AC-01FD-4103-A2B7-28002C51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B24A56"/>
                </a:solidFill>
              </a:defRPr>
            </a:pPr>
            <a:r>
              <a:rPr sz="1238" b="1" i="0">
                <a:solidFill>
                  <a:srgbClr val="B24A56"/>
                </a:solidFill>
              </a:rPr>
              <a:t>Provider choice may be constrained or economically penalized by network and plan rules.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B95BAD-7040-454F-BFF7-3F5056CB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1104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0" i="0">
                <a:solidFill>
                  <a:srgbClr val="64717C"/>
                </a:solidFill>
              </a:defRPr>
            </a:pPr>
            <a:r>
              <a:rPr sz="1088" b="0" i="0">
                <a:solidFill>
                  <a:srgbClr val="64717C"/>
                </a:solidFill>
              </a:rPr>
              <a:t>Provider 선택은 네트워크와 plan 규칙에 따라 제한되거나 비용상 불리할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9530807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4C4ABC-8B58-4E71-A2FC-64D92915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Turn benefits into employee action.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E3342-7035-44B7-858D-73CA4AF6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혜택 정보가 실제 예방진료와 적절한 in-network care로 이어지게 합니다.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9c30fc1ce40d2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2D566-2591-4AD0-A950-F3627F3A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c8244d7cc8480f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20D067-019C-4252-99ED-04429B2A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6D31CC-B4A2-475B-84C4-7C313F5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2443BD-F686-41B7-9DF7-5C77B58B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2E919-77EC-48AB-A333-A0B3B093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0691C-127D-4D6C-8765-9061014A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9FB4A-3CEF-4EAE-BC7F-80BC3A1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717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9B5E8"/>
                </a:solidFill>
              </a:defRPr>
            </a:pPr>
            <a:r>
              <a:rPr sz="3300" b="1" i="0">
                <a:solidFill>
                  <a:srgbClr val="29B5E8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E376C-394C-420C-888A-DDC86AC5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2238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43A"/>
                </a:solidFill>
              </a:defRPr>
            </a:pPr>
            <a:r>
              <a:rPr sz="1500" b="1" i="0">
                <a:solidFill>
                  <a:srgbClr val="12243A"/>
                </a:solidFill>
              </a:rPr>
              <a:t>UNDERSTAND / 이해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DB49F-C6D8-4A86-8A14-790AE6A5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25DA8-771C-4312-B4F1-54EB1C4B0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Eligibility · coverage rules · OOP context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68F15-A06E-41DA-A399-CFBFEB1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71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자격·보장 규칙·예상 부담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9A71D-4541-4F4B-90A6-FF12BA28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717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9B5E8"/>
                </a:solidFill>
              </a:defRPr>
            </a:pPr>
            <a:r>
              <a:rPr sz="3300" b="1" i="0">
                <a:solidFill>
                  <a:srgbClr val="29B5E8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105D0A-EFB1-4B8B-9C18-7BF87CDE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43A"/>
                </a:solidFill>
              </a:defRPr>
            </a:pPr>
            <a:r>
              <a:rPr sz="1500" b="1" i="0">
                <a:solidFill>
                  <a:srgbClr val="12243A"/>
                </a:solidFill>
              </a:rPr>
              <a:t>NAVIGATE / 탐색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78F2D-E408-4FE5-86B8-B7C61EB8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4322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22598-F79D-4657-92BF-96B4B436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76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Network and provider context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574F45-E1BB-4EB8-B00D-8AB73F0E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71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네트워크·provider 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BB097-50DE-4D60-8951-379008D36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17170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29B5E8"/>
                </a:solidFill>
              </a:defRPr>
            </a:pPr>
            <a:r>
              <a:rPr sz="3300" b="1" i="0">
                <a:solidFill>
                  <a:srgbClr val="29B5E8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781555-3F67-4434-829E-1FC7C446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238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243A"/>
                </a:solidFill>
              </a:defRPr>
            </a:pPr>
            <a:r>
              <a:rPr sz="1500" b="1" i="0">
                <a:solidFill>
                  <a:srgbClr val="12243A"/>
                </a:solidFill>
              </a:rPr>
              <a:t>PREPARE / 준비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F4872C-D9EA-4E44-BB19-52A1C73C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432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B28708-1CA8-4D91-A71A-DA4E1A24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63A50"/>
                </a:solidFill>
              </a:defRPr>
            </a:pPr>
            <a:r>
              <a:rPr sz="1500" b="1" i="0">
                <a:solidFill>
                  <a:srgbClr val="263A50"/>
                </a:solidFill>
              </a:rPr>
              <a:t>Employee-requested appointment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82E9E-F78C-4B3D-BD6F-23595057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719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64717C"/>
                </a:solidFill>
              </a:defRPr>
            </a:pPr>
            <a:r>
              <a:rPr sz="1238" b="0" i="0">
                <a:solidFill>
                  <a:srgbClr val="64717C"/>
                </a:solidFill>
              </a:rPr>
              <a:t>직원이 요청한 예약·방문 준비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FC85E0-4DB7-490E-A8DC-7C03CEF1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9347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9"/>
          </a:solidFill>
          <a:ln xmlns:a="http://schemas.openxmlformats.org/drawingml/2006/main" w="9525">
            <a:solidFill>
              <a:srgbClr val="55C5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9628E3-6802-461E-8F75-7923B9B9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47E84"/>
                </a:solidFill>
              </a:defRPr>
            </a:pPr>
            <a:r>
              <a:rPr sz="1050" b="1" i="0">
                <a:solidFill>
                  <a:srgbClr val="147E84"/>
                </a:solidFill>
              </a:rPr>
              <a:t>PRODUCT REDLINE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38356-CFF4-4A49-B450-37F62309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29275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47E84"/>
                </a:solidFill>
              </a:defRPr>
            </a:pPr>
            <a:r>
              <a:rPr sz="1050" b="0" i="0">
                <a:solidFill>
                  <a:srgbClr val="147E84"/>
                </a:solidFill>
              </a:rPr>
              <a:t>제품 원칙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BCCAB4-0A1A-4928-BA10-F5CA5A51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3400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263A50"/>
                </a:solidFill>
              </a:defRPr>
            </a:pPr>
            <a:r>
              <a:rPr sz="1313" b="1" i="0">
                <a:solidFill>
                  <a:srgbClr val="263A50"/>
                </a:solidFill>
              </a:rPr>
              <a:t>Image-derived signals remain separate from automated provider, urgency or treatment routing.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A970C2-236A-4E7B-AFA9-32346AEA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676900"/>
            <a:ext cx="838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64717C"/>
                </a:solidFill>
              </a:defRPr>
            </a:pPr>
            <a:r>
              <a:rPr sz="1088" b="0" i="0">
                <a:solidFill>
                  <a:srgbClr val="64717C"/>
                </a:solidFill>
              </a:rPr>
              <a:t>이미지 기반 신호는 provider·긴급도·치료 경로 자동 결정과 분리합니다.</a:t>
            </a:r>
          </a:p>
        </p:txBody>
      </p:sp>
    </p:spTree>
    <p:extLst>
      <p:ext uri="{BB962C8B-B14F-4D97-AF65-F5344CB8AC3E}">
        <p14:creationId xmlns:p14="http://schemas.microsoft.com/office/powerpoint/2010/main" val="1255259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BC6A72D-33F2-4FC4-8F33-542C42F6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Connect access to claims-verified evidence.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0C066-FF85-4351-8788-D6D5B3A2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개인 건강신호를 employer에게 노출하지 않고 이용 여정을 집계 근거로 연결합니다.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ee425161e4236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ADB61-88C2-4F21-A1B4-162B5CC0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9634d685a4622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B0982-D2D3-4E32-A5DC-58D25F0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4E06A-5D0C-47A8-8A74-259FE774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BA2F0-1F98-49C2-9FFA-9B41D120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AD626-3961-4B49-899F-3E4EFFD3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08014-DC17-4A9F-8A74-9E0CCC10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12433F-C7AE-4B9A-8959-70837DA1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47E84"/>
                </a:solidFill>
              </a:defRPr>
            </a:pPr>
            <a:r>
              <a:rPr sz="938" b="1" i="0">
                <a:solidFill>
                  <a:srgbClr val="147E84"/>
                </a:solidFill>
              </a:rPr>
              <a:t>EMPLOYEE + PLAN CONTEXT / 직원 + 플랜 맥락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512ED-4820-48AE-B3A8-0FA0D56F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19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29B5E8"/>
                </a:solidFill>
              </a:defRPr>
            </a:pPr>
            <a:r>
              <a:rPr sz="938" b="1" i="0">
                <a:solidFill>
                  <a:srgbClr val="29B5E8"/>
                </a:solidFill>
              </a:rPr>
              <a:t>SNOWFLAKE GOVERNED EVIDENCE / 관리형 증거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0A336-C8C4-44B9-A0BA-C9A9F0E4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19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1" i="0">
                <a:solidFill>
                  <a:srgbClr val="147E84"/>
                </a:solidFill>
              </a:defRPr>
            </a:pPr>
            <a:r>
              <a:rPr sz="938" b="1" i="0">
                <a:solidFill>
                  <a:srgbClr val="147E84"/>
                </a:solidFill>
              </a:rPr>
              <a:t>EMPLOYER VIEW / 기업 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BAEDA2-20A8-414B-A5AC-1343BA58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527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47E84"/>
                </a:solidFill>
              </a:defRPr>
            </a:pPr>
            <a:r>
              <a:rPr sz="2550" b="1" i="0">
                <a:solidFill>
                  <a:srgbClr val="147E8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ED809C-40AF-4C49-99F5-4270B01A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52775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47E84"/>
                </a:solidFill>
              </a:defRPr>
            </a:pPr>
            <a:r>
              <a:rPr sz="2550" b="1" i="0">
                <a:solidFill>
                  <a:srgbClr val="147E8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3A847-1F07-41D1-8FDC-9D9F3ACF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3143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6DE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8E3A0-DD83-467F-8D4D-F2E25A12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Eligibility + plan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236CF5-1A6E-47EB-9BD1-13D61050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4322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Provider + network context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44A49-68C6-4F1E-B424-D5BE007F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Employee app events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F5E75-9620-41BB-8683-A19C913C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9975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TPA / carrier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0473C5-3360-4652-9156-8D0FBBC5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5C8"/>
          </a:solidFill>
          <a:ln xmlns:a="http://schemas.openxmlformats.org/drawingml/2006/main" w="0">
            <a:solidFill>
              <a:srgbClr val="55C5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40CBF-838A-4A70-981B-5E800E1E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2724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4717C"/>
                </a:solidFill>
              </a:defRPr>
            </a:pPr>
            <a:r>
              <a:rPr sz="1013" b="0" i="0">
                <a:solidFill>
                  <a:srgbClr val="64717C"/>
                </a:solidFill>
              </a:rPr>
              <a:t>자격·플랜·네트워크·앱 이벤트·TPA/보험사 청구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D8180B-B653-47C4-95BB-F24A74FD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90775"/>
            <a:ext cx="361950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3A"/>
          </a:solidFill>
          <a:ln xmlns:a="http://schemas.openxmlformats.org/drawingml/2006/main" w="0">
            <a:solidFill>
              <a:srgbClr val="12243A"/>
            </a:solidFill>
            <a:prstDash val="solid"/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648d33842b4e8d"/>
          <a:stretch xmlns:a="http://schemas.openxmlformats.org/drawingml/2006/main"/>
        </p:blipFill>
        <p:spPr>
          <a:xfrm xmlns:a="http://schemas.openxmlformats.org/drawingml/2006/main">
            <a:off x="5219700" y="2535769"/>
            <a:ext cx="1752600" cy="986362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C490B7-F5BE-485F-B70A-9FE275A5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62350"/>
            <a:ext cx="308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FFFFFF"/>
                </a:solidFill>
              </a:defRPr>
            </a:pPr>
            <a:r>
              <a:rPr sz="1163" b="1" i="0">
                <a:solidFill>
                  <a:srgbClr val="FFFFFF"/>
                </a:solidFill>
              </a:rPr>
              <a:t>Purpose-based access</a:t>
            </a:r>
          </a:p>
          <a:p xmlns:a="http://schemas.openxmlformats.org/drawingml/2006/main">
            <a:pPr algn="ctr">
              <a:defRPr sz="1163" b="1" i="0">
                <a:solidFill>
                  <a:srgbClr val="FFFFFF"/>
                </a:solidFill>
              </a:defRPr>
            </a:pPr>
            <a:r>
              <a:rPr sz="1163" b="1" i="0">
                <a:solidFill>
                  <a:srgbClr val="FFFFFF"/>
                </a:solidFill>
              </a:rPr>
              <a:t>Quality + reconciliation</a:t>
            </a:r>
          </a:p>
          <a:p xmlns:a="http://schemas.openxmlformats.org/drawingml/2006/main">
            <a:pPr algn="ctr">
              <a:defRPr sz="1163" b="1" i="0">
                <a:solidFill>
                  <a:srgbClr val="FFFFFF"/>
                </a:solidFill>
              </a:defRPr>
            </a:pPr>
            <a:r>
              <a:rPr sz="1163" b="1" i="0">
                <a:solidFill>
                  <a:srgbClr val="FFFFFF"/>
                </a:solidFill>
              </a:rPr>
              <a:t>Lineage + aggregate views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6D946-98AE-49B8-A16D-00D6CC28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52925"/>
            <a:ext cx="3086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BFD1DD"/>
                </a:solidFill>
              </a:defRPr>
            </a:pPr>
            <a:r>
              <a:rPr sz="975" b="0" i="0">
                <a:solidFill>
                  <a:srgbClr val="BFD1DD"/>
                </a:solidFill>
              </a:rPr>
              <a:t>목적별 접근·품질 대조·계보·집계 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50C582-EC8E-4495-B5F4-9E278F9E5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3143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29B5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E10380-7405-4AB9-80D0-9BEBC67D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0985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Claims-confirmed use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0ADC01-50B0-437A-92F4-FF639487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4322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Allowed · paid · OOP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A3F4CB-6261-4485-B507-4FA1AA69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Freshness · lag · completeness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E3435E-D164-4F82-A6F5-6AD6E9FC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9975"/>
            <a:ext cx="274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63A50"/>
                </a:solidFill>
              </a:defRPr>
            </a:pPr>
            <a:r>
              <a:rPr sz="1200" b="1" i="0">
                <a:solidFill>
                  <a:srgbClr val="263A50"/>
                </a:solidFill>
              </a:rPr>
              <a:t>Aggregate only · no PHI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347286-01A7-4549-8C0D-F433AB6F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0025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39F35F-D5B2-43CF-8952-2C2D9BA3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2743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64717C"/>
                </a:solidFill>
              </a:defRPr>
            </a:pPr>
            <a:r>
              <a:rPr sz="1013" b="0" i="0">
                <a:solidFill>
                  <a:srgbClr val="64717C"/>
                </a:solidFill>
              </a:rPr>
              <a:t>청구 확인·비용 구분·최신성·집계 전용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4F6CBF-BEDE-454C-8E2C-C490A71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673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6ACE1E-0143-463C-9185-F9A897E2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476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6"/>
          </a:solidFill>
          <a:ln xmlns:a="http://schemas.openxmlformats.org/drawingml/2006/main" w="9525">
            <a:solidFill>
              <a:srgbClr val="D6DED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577F8C-DAF3-41BB-820E-C081B8F5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B24A56"/>
                </a:solidFill>
              </a:defRPr>
            </a:pPr>
            <a:r>
              <a:rPr sz="938" b="1" i="0">
                <a:solidFill>
                  <a:srgbClr val="B24A56"/>
                </a:solidFill>
              </a:rPr>
              <a:t>RAW ORAL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2AA3DB-F4F3-414C-B5C2-AD5FFDA5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263A50"/>
                </a:solidFill>
              </a:defRPr>
            </a:pPr>
            <a:r>
              <a:rPr sz="1088" b="1" i="0">
                <a:solidFill>
                  <a:srgbClr val="263A50"/>
                </a:solidFill>
              </a:rPr>
              <a:t>Controlled U.S. storage / 미국 내 통제 저장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D43AE-F16E-4738-AEEB-23802F23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362575"/>
            <a:ext cx="72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47E84"/>
                </a:solidFill>
              </a:defRPr>
            </a:pPr>
            <a:r>
              <a:rPr sz="2100" b="1" i="0">
                <a:solidFill>
                  <a:srgbClr val="147E84"/>
                </a:solidFill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771F2B6-317C-4376-AC53-393E2B53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19700"/>
            <a:ext cx="495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29B5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F7E81E-0DA8-4B11-AEDF-4C54D3D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147E84"/>
                </a:solidFill>
              </a:defRPr>
            </a:pPr>
            <a:r>
              <a:rPr sz="938" b="1" i="0">
                <a:solidFill>
                  <a:srgbClr val="147E84"/>
                </a:solidFill>
              </a:rPr>
              <a:t>SNOWFLAKE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3883A33-5C53-4FF8-8755-839213F3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600700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1" i="0">
                <a:solidFill>
                  <a:srgbClr val="263A50"/>
                </a:solidFill>
              </a:defRPr>
            </a:pPr>
            <a:r>
              <a:rPr sz="1088" b="1" i="0">
                <a:solidFill>
                  <a:srgbClr val="263A50"/>
                </a:solidFill>
              </a:rPr>
              <a:t>Authorized structured data + approved signals only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A8939E3-6B3B-4EAD-AE25-984E42E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57900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63A50"/>
                </a:solidFill>
              </a:defRPr>
            </a:pPr>
            <a:r>
              <a:rPr sz="975" b="1" i="0">
                <a:solidFill>
                  <a:srgbClr val="263A50"/>
                </a:solidFill>
              </a:rPr>
              <a:t>Individual routing and health signals stay outside employer views.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33BFEF-F027-4F89-8A88-B073A7CF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57900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4717C"/>
                </a:solidFill>
              </a:defRPr>
            </a:pPr>
            <a:r>
              <a:rPr sz="975" b="0" i="0">
                <a:solidFill>
                  <a:srgbClr val="64717C"/>
                </a:solidFill>
              </a:rPr>
              <a:t>개인 라우팅·건강 신호는 employer 뷰에 노출하지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8198974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FE471-0B1F-4978-A0AD-CFC8ED6E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2243A"/>
                </a:solidFill>
              </a:defRPr>
            </a:pPr>
            <a:r>
              <a:rPr sz="2775" b="1" i="0">
                <a:solidFill>
                  <a:srgbClr val="12243A"/>
                </a:solidFill>
              </a:rPr>
              <a:t>Measure access—not individual employees.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C6B66-BB9C-44C0-BF5E-AFF56C4B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4717C"/>
                </a:solidFill>
              </a:defRPr>
            </a:pPr>
            <a:r>
              <a:rPr sz="1350" b="0" i="0">
                <a:solidFill>
                  <a:srgbClr val="64717C"/>
                </a:solidFill>
              </a:rPr>
              <a:t>분모·최신성·완결성·프라이버시가 보이는 aggregate evidence입니다.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286f05bec4247"/>
          <a:stretch xmlns:a="http://schemas.openxmlformats.org/drawingml/2006/main"/>
        </p:blipFill>
        <p:spPr>
          <a:xfrm xmlns:a="http://schemas.openxmlformats.org/drawingml/2006/main">
            <a:off x="8810625" y="480148"/>
            <a:ext cx="723900" cy="26423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4A7AF-ED0C-4700-8A73-21C86E23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048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bf19d89464c2d"/>
          <a:stretch xmlns:a="http://schemas.openxmlformats.org/drawingml/2006/main"/>
        </p:blipFill>
        <p:spPr>
          <a:xfrm xmlns:a="http://schemas.openxmlformats.org/drawingml/2006/main">
            <a:off x="9915525" y="209674"/>
            <a:ext cx="1238250" cy="69688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93AF4-FC68-4B14-A388-CAFFB6C4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79A45-6CA0-4DBE-9F8F-14FC4AA9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57350"/>
            <a:ext cx="1066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C62E6-747A-4A3F-95E6-1E87DEE9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F"/>
          </a:solidFill>
          <a:ln xmlns:a="http://schemas.openxmlformats.org/drawingml/2006/main" w="0">
            <a:solidFill>
              <a:srgbClr val="D6DE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BD297-2C92-4E5F-9FCC-8137826C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ICLO · SNOWFLAKE WORLD TOUR SEOUL 2026 · B′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A6901-D1EB-4F39-BE7C-A081F1D2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64717C"/>
                </a:solidFill>
              </a:defRPr>
            </a:pPr>
            <a:r>
              <a:rPr sz="788" b="0" i="0">
                <a:solidFill>
                  <a:srgbClr val="64717C"/>
                </a:solidFill>
              </a:rPr>
              <a:t>05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C27FE-E9E1-4DDC-A262-0AD7A556A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43200"/>
            <a:ext cx="111633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EDF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3249c32a64a11"/>
          <a:stretch xmlns:a="http://schemas.openxmlformats.org/drawingml/2006/main"/>
        </p:blipFill>
        <p:spPr>
          <a:xfrm xmlns:a="http://schemas.openxmlformats.org/drawingml/2006/main">
            <a:off x="1235765" y="2857500"/>
            <a:ext cx="9720470" cy="3105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94C458-7F4D-4AE0-942A-34C905ED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7167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63235-849C-4128-B49F-379BF6EB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47E84"/>
                </a:solidFill>
              </a:defRPr>
            </a:pPr>
            <a:r>
              <a:rPr sz="1013" b="1" i="0">
                <a:solidFill>
                  <a:srgbClr val="147E84"/>
                </a:solidFill>
              </a:rPr>
              <a:t>SYNTHETIC SAMPLE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67394E-A2B6-4849-A5E3-3E46C70A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63A50"/>
                </a:solidFill>
              </a:defRPr>
            </a:pPr>
            <a:r>
              <a:rPr sz="1013" b="0" i="0">
                <a:solidFill>
                  <a:srgbClr val="263A50"/>
                </a:solidFill>
              </a:rPr>
              <a:t>합성 데이터·예시용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5B8B7-8D24-48DB-96A7-7D30D5D9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7167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8088C5-0313-407E-AFB1-E35E9D91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526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47E84"/>
                </a:solidFill>
              </a:defRPr>
            </a:pPr>
            <a:r>
              <a:rPr sz="1013" b="1" i="0">
                <a:solidFill>
                  <a:srgbClr val="147E84"/>
                </a:solidFill>
              </a:rPr>
              <a:t>EMPLOYEE / MEMBER LENS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DF542-3D5A-4E0B-ADAB-975D0AD1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5742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63A50"/>
                </a:solidFill>
              </a:defRPr>
            </a:pPr>
            <a:r>
              <a:rPr sz="1013" b="0" i="0">
                <a:solidFill>
                  <a:srgbClr val="263A50"/>
                </a:solidFill>
              </a:rPr>
              <a:t>직원·가입자 기준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D985C7-7A9C-4663-8824-8577AB1C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7167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0EE7A7-C12F-4DDB-A238-EBA40D64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47E84"/>
                </a:solidFill>
              </a:defRPr>
            </a:pPr>
            <a:r>
              <a:rPr sz="1013" b="1" i="0">
                <a:solidFill>
                  <a:srgbClr val="147E84"/>
                </a:solidFill>
              </a:rPr>
              <a:t>FRESHNESS + CLAIMS LAG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C88ECB-9AD5-4EAB-9664-59D701FF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5742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63A50"/>
                </a:solidFill>
              </a:defRPr>
            </a:pPr>
            <a:r>
              <a:rPr sz="1013" b="0" i="0">
                <a:solidFill>
                  <a:srgbClr val="263A50"/>
                </a:solidFill>
              </a:rPr>
              <a:t>기준일·청구 지연·완결성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65DE26-1DC5-42A9-A1E8-BAD81E01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71675"/>
            <a:ext cx="66675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5B321-71DD-4478-AFE1-637E9F4C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52625"/>
            <a:ext cx="242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1" i="0">
                <a:solidFill>
                  <a:srgbClr val="147E84"/>
                </a:solidFill>
              </a:defRPr>
            </a:pPr>
            <a:r>
              <a:rPr sz="1013" b="1" i="0">
                <a:solidFill>
                  <a:srgbClr val="147E84"/>
                </a:solidFill>
              </a:rPr>
              <a:t>AGGREGATE · n≥20 · NO PHI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F03295-0F7C-4AD5-9305-3712A4C7C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57425"/>
            <a:ext cx="2428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 i="0">
                <a:solidFill>
                  <a:srgbClr val="263A50"/>
                </a:solidFill>
              </a:defRPr>
            </a:pPr>
            <a:r>
              <a:rPr sz="1013" b="0" i="0">
                <a:solidFill>
                  <a:srgbClr val="263A50"/>
                </a:solidFill>
              </a:rPr>
              <a:t>집계 전용·개인 PHI 없음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26ACA3-1572-45CF-9BBC-5F231AAF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72200"/>
            <a:ext cx="647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B24A56"/>
                </a:solidFill>
              </a:defRPr>
            </a:pPr>
            <a:r>
              <a:rPr sz="938" b="1" i="0">
                <a:solidFill>
                  <a:srgbClr val="B24A56"/>
                </a:solidFill>
              </a:rPr>
              <a:t>Not a performance claim—this demo makes access, data quality and privacy visible.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9F186E-AEB2-4200-A675-BCCC8551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6172200"/>
            <a:ext cx="451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38" b="0" i="0">
                <a:solidFill>
                  <a:srgbClr val="64717C"/>
                </a:solidFill>
              </a:defRPr>
            </a:pPr>
            <a:r>
              <a:rPr sz="938" b="0" i="0">
                <a:solidFill>
                  <a:srgbClr val="64717C"/>
                </a:solidFill>
              </a:rPr>
              <a:t>성과가 아닌 접근성·데이터 품질·프라이버시 설계 예시입니다.</a:t>
            </a:r>
          </a:p>
        </p:txBody>
      </p:sp>
    </p:spTree>
    <p:extLst>
      <p:ext uri="{BB962C8B-B14F-4D97-AF65-F5344CB8AC3E}">
        <p14:creationId xmlns:p14="http://schemas.microsoft.com/office/powerpoint/2010/main" val="1077563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4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231CD-260F-4C6D-A494-16062126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E189E-6713-4862-8D74-FE3BDB7C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342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045fa344343ab"/>
          <a:stretch xmlns:a="http://schemas.openxmlformats.org/drawingml/2006/main"/>
        </p:blipFill>
        <p:spPr>
          <a:xfrm xmlns:a="http://schemas.openxmlformats.org/drawingml/2006/main">
            <a:off x="742950" y="595828"/>
            <a:ext cx="933450" cy="340727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304046-33A1-4CAE-8169-55AD2AF4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60007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64717C"/>
                </a:solidFill>
              </a:defRPr>
            </a:pPr>
            <a:r>
              <a:rPr sz="1275" b="1" i="0">
                <a:solidFill>
                  <a:srgbClr val="64717C"/>
                </a:solidFill>
              </a:rPr>
              <a:t>×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d45a30522448e"/>
          <a:stretch xmlns:a="http://schemas.openxmlformats.org/drawingml/2006/main"/>
        </p:blipFill>
        <p:spPr>
          <a:xfrm xmlns:a="http://schemas.openxmlformats.org/drawingml/2006/main">
            <a:off x="2057400" y="304940"/>
            <a:ext cx="1390650" cy="782656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1023F2-18FF-43AF-BCAB-62F4A866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7239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CAN YOUR COMPANY MAKE</a:t>
            </a:r>
          </a:p>
          <a:p xmlns:a="http://schemas.openxmlformats.org/drawingml/2006/main">
            <a:pPr algn="l">
              <a:defRPr sz="2925" b="1" i="0">
                <a:solidFill>
                  <a:srgbClr val="FFFFFF"/>
                </a:solidFill>
              </a:defRPr>
            </a:pPr>
            <a:r>
              <a:rPr sz="2925" b="1" i="0">
                <a:solidFill>
                  <a:srgbClr val="FFFFFF"/>
                </a:solidFill>
              </a:rPr>
              <a:t>DENTAL BENEFITS EASIER TO ACCESS?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D9B38-9DBA-4EAC-88C9-16157CC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33725"/>
            <a:ext cx="695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6E0E7"/>
                </a:solidFill>
              </a:defRPr>
            </a:pPr>
            <a:r>
              <a:rPr sz="1575" b="1" i="0">
                <a:solidFill>
                  <a:srgbClr val="D6E0E7"/>
                </a:solidFill>
              </a:rPr>
              <a:t>미국의 치과보험과 복지 혜택을 더 쉽게 만들 준비가 되어 있나요?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73C8E9-8DBC-49A7-B102-8E186289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14800"/>
            <a:ext cx="10096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B5E8"/>
          </a:solidFill>
          <a:ln xmlns:a="http://schemas.openxmlformats.org/drawingml/2006/main" w="0">
            <a:solidFill>
              <a:srgbClr val="29B5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FF102-6827-4EE9-A8DB-9D736996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Looking for U.S. employer-benefits, payer/TPA, HR and data teams.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B6B03-A2DA-47E9-BBB9-E8EF417AE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B9C7D1"/>
                </a:solidFill>
              </a:defRPr>
            </a:pPr>
            <a:r>
              <a:rPr sz="1163" b="0" i="0">
                <a:solidFill>
                  <a:srgbClr val="B9C7D1"/>
                </a:solidFill>
              </a:rPr>
              <a:t>미국 employer benefits, payer/TPA, HR 및 data 팀과의 협업을 찾습니다.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554C9-87EB-47B2-B2F9-764AC93B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FFFFFF"/>
                </a:solidFill>
              </a:defRPr>
            </a:pPr>
            <a:r>
              <a:rPr sz="1238" b="1" i="0">
                <a:solidFill>
                  <a:srgbClr val="FFFFFF"/>
                </a:solidFill>
              </a:rPr>
              <a:t>Let’s validate a governed eligibility + plan + claims collaboration pattern on Snowflake.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07CD92-2754-433B-B7C0-B8EECCDA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245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88" b="0" i="0">
                <a:solidFill>
                  <a:srgbClr val="B9C7D1"/>
                </a:solidFill>
              </a:defRPr>
            </a:pPr>
            <a:r>
              <a:rPr sz="1088" b="0" i="0">
                <a:solidFill>
                  <a:srgbClr val="B9C7D1"/>
                </a:solidFill>
              </a:rPr>
              <a:t>Snowflake에서 자격·플랜·청구를 연결하는 관리형 협업 패턴을 검증합니다.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6AFFD-2930-4038-9CDC-1262550C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150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9B5E8"/>
                </a:solidFill>
              </a:defRPr>
            </a:pPr>
            <a:r>
              <a:rPr sz="975" b="1" i="0">
                <a:solidFill>
                  <a:srgbClr val="29B5E8"/>
                </a:solidFill>
              </a:rPr>
              <a:t>Synthetic demo · aggregate only · no individual PHI / 합성 데이터 · 집계 전용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BE306-8BFF-4176-9F24-A4F37306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219200"/>
            <a:ext cx="272415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5ce428b1f4110"/>
          <a:stretch xmlns:a="http://schemas.openxmlformats.org/drawingml/2006/main"/>
        </p:blipFill>
        <p:spPr>
          <a:xfrm xmlns:a="http://schemas.openxmlformats.org/drawingml/2006/main">
            <a:off x="8705850" y="1352550"/>
            <a:ext cx="2457450" cy="2457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F81F7-CEC4-476F-A212-732F202F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3820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9B5E8"/>
                </a:solidFill>
              </a:defRPr>
            </a:pPr>
            <a:r>
              <a:rPr sz="900" b="1" i="0">
                <a:solidFill>
                  <a:srgbClr val="29B5E8"/>
                </a:solidFill>
              </a:rPr>
              <a:t>LIVE SYNTHETIC DEMO / 합성 데이터 데모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291EC6-A1C0-4C63-9786-A787ADAB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38625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FFFFFF"/>
                </a:solidFill>
              </a:defRPr>
            </a:pPr>
            <a:r>
              <a:rPr sz="938" b="1" i="0">
                <a:solidFill>
                  <a:srgbClr val="FFFFFF"/>
                </a:solidFill>
              </a:rPr>
              <a:t>SCAN TO OPEN / 스캔하여 열기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148BF-0646-4ACC-BED9-AD838E88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62500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29B5E8"/>
                </a:solidFill>
              </a:defRPr>
            </a:pPr>
            <a:r>
              <a:rPr sz="938" b="1" i="0">
                <a:solidFill>
                  <a:srgbClr val="29B5E8"/>
                </a:solidFill>
              </a:rPr>
              <a:t>SYNTHETIC EMPLOYER 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DCA543-3C3C-4CD2-96BD-849C80C0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38725"/>
            <a:ext cx="3486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B9C7D1"/>
                </a:solidFill>
              </a:defRPr>
            </a:pPr>
            <a:r>
              <a:rPr sz="938" b="0" i="0">
                <a:solidFill>
                  <a:srgbClr val="B9C7D1"/>
                </a:solidFill>
              </a:rPr>
              <a:t>합성 데이터 기반 기업 대시보드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6C874-8DD0-4D47-A6F8-DFE11001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57850"/>
            <a:ext cx="3867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29B5E8"/>
                </a:solidFill>
              </a:defRPr>
            </a:pPr>
            <a:r>
              <a:rPr sz="863" b="1" i="0">
                <a:solidFill>
                  <a:srgbClr val="29B5E8"/>
                </a:solidFill>
              </a:rPr>
              <a:t>NAVIGATION SUPPORT — NOT INSURANCE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D610A0-8CA8-4A30-B0DB-4296A64A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962650"/>
            <a:ext cx="3676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B9C7D1"/>
                </a:solidFill>
              </a:defRPr>
            </a:pPr>
            <a:r>
              <a:rPr sz="900" b="0" i="0">
                <a:solidFill>
                  <a:srgbClr val="B9C7D1"/>
                </a:solidFill>
              </a:rPr>
              <a:t>직원 내비게이션 — 보험 판매 모델 아님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B7996-2EEB-4DEE-BB60-E33554F4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065"/>
          </a:solidFill>
          <a:ln xmlns:a="http://schemas.openxmlformats.org/drawingml/2006/main" w="0">
            <a:solidFill>
              <a:srgbClr val="3650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765678-5317-4993-8C02-D34C1AF4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7225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B9C7D1"/>
                </a:solidFill>
              </a:defRPr>
            </a:pPr>
            <a:r>
              <a:rPr sz="788" b="0" i="0">
                <a:solidFill>
                  <a:srgbClr val="B9C7D1"/>
                </a:solidFill>
              </a:rPr>
              <a:t>ICLO · SNOWFLAKE WORLD TOUR SEOUL 2026 · B′ CONCEPT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37ACB3-6966-464C-921A-F2FBF11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572250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B9C7D1"/>
                </a:solidFill>
              </a:defRPr>
            </a:pPr>
            <a:r>
              <a:rPr sz="788" b="0" i="0">
                <a:solidFill>
                  <a:srgbClr val="B9C7D1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99527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2026-08-05T06:41:36.1950000Z</dcterms:created>
  <dcterms:modified xsi:type="dcterms:W3CDTF">2026-08-05T06:41:36.1950000Z</dcterms:modified>
</coreProperties>
</file>