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ICLO 근거 레이어 — 데이터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self-funded employer 치아보험 · 원천에서 기업 화면까지 · 세부는 기술문서 2절 그림 1-A · 1-B · 1-C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w-slide@3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060704"/>
            <a:ext cx="8686800" cy="472620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9235440" y="1060704"/>
            <a:ext cx="0" cy="5385816"/>
          </a:xfrm>
          <a:prstGeom prst="line">
            <a:avLst/>
          </a:prstGeom>
          <a:ln w="1270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418320" y="1060704"/>
            <a:ext cx="24048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17202B"/>
                </a:solidFill>
                <a:latin typeface="Apple SD Gothic Neo"/>
              </a:rPr>
              <a:t>이 그림 읽는 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408176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17202B"/>
                </a:solidFill>
                <a:latin typeface="Apple SD Gothic Neo"/>
              </a:rPr>
              <a:t>가운데 축 ①→⑦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0" y="1577340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원천에서 기업 화면까지의 본류. 위에서 아래로 흐릅니다.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8928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418320" y="19613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C9880A"/>
                </a:solidFill>
                <a:latin typeface="Apple SD Gothic Neo"/>
              </a:rPr>
              <a:t>왼쪽 앰버 — 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05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사진은 이 축을 타지 않습니다. 바이너리는 ICLO 저장소에만 있고 파생 신호만 돌아옵니다.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418320" y="25786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9418320" y="26471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0B7A55"/>
                </a:solidFill>
                <a:latin typeface="Apple SD Gothic Neo"/>
              </a:rPr>
              <a:t>왼쪽 초록 — 실시간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8163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잔여 한도는 창고를 안 거칩니다. 청구 지연 때문에 창고 값을 개인 한도로 쓸 수 없습니다.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418320" y="32644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418320" y="33329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29B5E8"/>
                </a:solidFill>
                <a:latin typeface="Apple SD Gothic Neo"/>
              </a:rPr>
              <a:t>파란 점선 — Snowflake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5021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그 안쪽이 Snowflake 위에서 도는 부분. 구현은 ICLO가 하고 요청은 검토입니다.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18320" y="39502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418320" y="40187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17202B"/>
                </a:solidFill>
                <a:latin typeface="Apple SD Gothic Neo"/>
              </a:rPr>
              <a:t>검은 띠 두 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0" y="4187952"/>
            <a:ext cx="2404872" cy="40599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위는 개인 레벨(CANONICAL), 아래는 기업 노출용(EMPLOYER). 기업 사용자는 위를 못 봅니다.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418320" y="4636008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418320" y="4704588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B3261E"/>
                </a:solidFill>
                <a:latin typeface="Apple SD Gothic Neo"/>
              </a:rPr>
              <a:t>빨간 칩 — ENTITY KEY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4873752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단일 최대 결함 지점. 없으면 n≥20이 '20명'이 아니라 '20행'을 셉니다.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418320" y="5189220"/>
            <a:ext cx="2404872" cy="0"/>
          </a:xfrm>
          <a:prstGeom prst="line">
            <a:avLst/>
          </a:prstGeom>
          <a:ln w="10160">
            <a:solidFill>
              <a:srgbClr val="DDE3EA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9418320" y="5257800"/>
            <a:ext cx="240487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80" b="1">
                <a:solidFill>
                  <a:srgbClr val="5A6B7D"/>
                </a:solidFill>
                <a:latin typeface="Apple SD Gothic Neo"/>
              </a:rPr>
              <a:t>오른쪽 두 상자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5426964"/>
            <a:ext cx="2404872" cy="2706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830" b="0">
                <a:solidFill>
                  <a:srgbClr val="5A6B7D"/>
                </a:solidFill>
                <a:latin typeface="Apple SD Gothic Neo"/>
              </a:rPr>
              <a:t>회의에서 답을 받아야 하는 것과, 아직 만들지 않은 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알아둘 용어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self-funded 치아보험은 용어가 촘촘하고, 비슷해 보이는 두 단어가 다른 숫자를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8813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원천 시스템 — 데이터가 어디서 오나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1291132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HRIS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" y="1432864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기업의 인사 시스템. 누가 재직 중이고 어느 플랜에 가입했는지가 여기 있어 자격 파일(834)의 출발점입니다.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" y="158374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SFTP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1725472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암호화된 파일 전송. 미국 보험 데이터는 아직 API보다 파일을 서버에 올려두는 방식이 표준입니다.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1922068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보험 구조 — 누가 돈을 내고 누가 운영하나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212506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self-funded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" y="226679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기업이 의료비를 직접 부담하는 구조. 보험사는 청구 처리만 대행하고 위험은 안 집니다. 절감의 이익이 기업에 돌아가는 것이 이 제품의 전제입니다.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" y="2538374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TPA / ASO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2680106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청구 심사·네트워크 운영 대행 사업자(TPA)와 그 계약 형태(ASO). 데이터를 쥐고 있어 협조 없이는 아무것도 못 받습니다.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2951683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SPD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" y="3093415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Summary Plan Description. 급여 내용이 적힌 플랜 문서. 한도·부담률은 834에 없고 이 문서에만 있어서 사람이 옮겨 적어야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" y="336499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COBRA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" y="3506723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퇴사 후 본인 부담으로 기존 플랜을 유지하는 연방 제도. 18/29/36개월로 사유에 따라 다르고, 직원이 나가도 가족이 남습니다.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" y="377830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subscriber / dependent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8" y="392003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본인 가입자(직원)와 피부양자(배우자·자녀). 관계코드 18·01·19. 사람의 속성이 아니라 가입의 속성이라 시간에 따라 바뀝니다.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" y="4237329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가입 자격과 분모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" y="4440326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member-month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" y="4582058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한 사람이 한 달 보장받은 단위. 모든 비용 지표의 분모입니다. 월 중 입·퇴사가 있으면 일수로 쪼개므로 사람 수와 다릅니다.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4048" y="485363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PMPM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048" y="499536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per member per month. 금액 / member-months. 인원이 변해도 비교할 수 있게 만든 표준 단위입니다.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5312663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청구의 시간 — 이 제품의 가장 큰 난점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" y="551566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claims lag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4048" y="565739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진료일과 청구 도착 사이의 시차. 고정값이 아니라 분포이고 치과·시술·시기마다 다릅니다. 화면의 60일은 데모 표시값이며, 실시간 조회로도 이 지연 전부를 없앨 수는 없습니다.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8" y="592896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run-out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" y="6070701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자격이 끝난 뒤에도 청구가 계속 들어오는 기간. 퇴사자 청구가 몇 달 더 오므로, 사람이 빠질 때 데이터를 지우면 그 달 분모가 사라져 지표가 폭발합니다.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6342278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C9880A"/>
                </a:solidFill>
                <a:latin typeface="Apple SD Gothic Neo"/>
              </a:rPr>
              <a:t>IBNR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4048" y="6484010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incurred but not reported. 이미 발생했지만 아직 청구가 안 들어온 몫. 완결성 추정이 이 부분을 메웁니다.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1088136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급여와 금액 — 본인부담이 어떻게 정해지나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1291132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allowed / plan paid / member OOP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1432864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계약 인정액 / 플랜 지급액 / 본인부담. 치과 청구액이 아니라 네트워크 계약가가 기준이고, 셋이 따로 움직이므로 분리해 저장합니다.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170444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deductible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1846173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공제액. 이 금액까지는 본인이 먼저 냅니다. 예방진료는 공제 면제인 경우가 흔합니다.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99704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coinsurance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2138781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공제 충족 후 플랜과 나누는 비율. 예방 100% · 기본 80% · 주요 50%가 전형적입니다.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289657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annual maximum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09360" y="2431389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연간 플랜 지급 상한. 통상 이월되지 않아 연말에 소진 러시가 생깁니다. 한국 실손과 가장 다른 부분입니다.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258226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0B7A55"/>
                </a:solidFill>
                <a:latin typeface="Apple SD Gothic Neo"/>
              </a:rPr>
              <a:t>accumulator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09360" y="2723997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지금까지 쓴 누적액과 공제 충족 상태. 잔여 한도가 여기서 나오며, 271로만 정확히 알 수 있습니다.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2920593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치과 · 규제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60" y="312359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CDT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3265322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치과 시술 코드 체계. D1110 성인 스케일링처럼 진료 하나하나에 코드가 붙습니다. 예방·기본·주요 구분과 부담률이 이 코드로 결정됩니다.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3536899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NPI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3678631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의료제공자 고유번호. 837D에는 billing(청구 주체) · rendering(진료 의사) · service facility(진료 장소) 셋이 따로 있고 서로 다릅니다.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3950207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PHI / HIPAA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91939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개인을 식별할 수 있는 건강정보와 그것을 규율하는 연방법. 이 문서의 거의 모든 통제가 여기서 나옵니다.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242815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BAA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0" y="4384547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Business Associate Agreement. 남의 PHI를 대신 다루려면 반드시 맺어야 하는 계약. 없으면 데이터를 받을 수 없습니다.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01844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데이터 인프라 · 거버넌스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4904841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17202B"/>
                </a:solidFill>
                <a:latin typeface="Apple SD Gothic Neo"/>
              </a:rPr>
              <a:t>RAW → EMPLOYER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0" y="5046573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데이터가 거치는 5개 층(RAW·STAGED·CANONICAL·MART·EMPLOYER). 원본 보관에서 기업 집계로 갈수록 권한이 좁아지고, 기업 사용자는 마지막 층만 봅니다.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318150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B3261E"/>
                </a:solidFill>
                <a:latin typeface="Apple SD Gothic Neo"/>
              </a:rPr>
              <a:t>집계 정책 · ENTITY KEY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0" y="5459882"/>
            <a:ext cx="5486400" cy="134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20명 미만 그룹을 DB가 반환하지 않게 하는 Snowflake 기능. ENTITY KEY를 지정해야 '20명'을 셉니다.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0" y="5610758"/>
            <a:ext cx="54864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80" b="1">
                <a:solidFill>
                  <a:srgbClr val="29B5E8"/>
                </a:solidFill>
                <a:latin typeface="Apple SD Gothic Neo"/>
              </a:rPr>
              <a:t>Secure Data Sharing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5752490"/>
            <a:ext cx="5486400" cy="26883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5000"/>
              </a:lnSpc>
              <a:spcAft>
                <a:spcPts val="0"/>
              </a:spcAft>
            </a:pPr>
            <a:r>
              <a:rPr sz="745" b="0">
                <a:solidFill>
                  <a:srgbClr val="5A6B7D"/>
                </a:solidFill>
                <a:latin typeface="Apple SD Gothic Neo"/>
              </a:rPr>
              <a:t>사본을 만들지 않고 다른 계정에 데이터를 열어주는 방식. TPA도 Snowflake를 쓰면 파일 전송이 필요 없어 데이터 권리 협상이 쉬워집니다.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778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2000" b="1">
                <a:solidFill>
                  <a:srgbClr val="17202B"/>
                </a:solidFill>
                <a:latin typeface="Apple SD Gothic Neo"/>
              </a:rPr>
              <a:t>부록 — X12 전자 문서 상세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621792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30" b="0">
                <a:solidFill>
                  <a:srgbClr val="5A6B7D"/>
                </a:solidFill>
                <a:latin typeface="Apple SD Gothic Neo"/>
              </a:rPr>
              <a:t>미국 보험 데이터는 대부분 이 형식으로 오갑니다. 처음 보면 낯설지만 구조는 단순합니다.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52560" y="292608"/>
            <a:ext cx="2743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29B5E8"/>
                </a:solidFill>
                <a:latin typeface="Apple SD Gothic Neo"/>
              </a:rPr>
              <a:t>ICLO × Snowflake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384048" y="877824"/>
            <a:ext cx="11420856" cy="15875"/>
          </a:xfrm>
          <a:prstGeom prst="rect">
            <a:avLst/>
          </a:prstGeom>
          <a:solidFill>
            <a:srgbClr val="17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84048" y="1024128"/>
            <a:ext cx="5532120" cy="2231136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52144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17202B"/>
                </a:solidFill>
                <a:latin typeface="Apple SD Gothic Neo"/>
              </a:rPr>
              <a:t>1970~80년대에 만들어진 산업용 EDI 규격입니다. 사람이 읽으라고 만든 형식이 아니라 기계가 주고받으라고 만든 것이고, HIPAA가 의료 거래에 이 형식을 의무화하면서 지금까지 표준으로 남았습니다. 보험사·TPA·HRIS가 서로 다른 시스템을 써도 같은 전문으로 대화할 수 있는 이유입니다.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084831"/>
            <a:ext cx="5212080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구분자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*는 필드 구분, ~는 세그먼트 끝. 줄바꿈은 의미가 없습니다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3중 봉투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ISA/IEA(교환) 안에 GS/GE(문서 그룹), 그 안에 ST/SE(문서 하나)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버전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005010X220A1 같은 코드. 다르면 같은 834라도 파싱이 달라집니다</a:t>
            </a:r>
          </a:p>
          <a:p>
            <a:pPr>
              <a:spcAft>
                <a:spcPts val="300"/>
              </a:spcAft>
            </a:pPr>
            <a:r>
              <a:rPr sz="780" b="1">
                <a:solidFill>
                  <a:srgbClr val="29B5E8"/>
                </a:solidFill>
                <a:latin typeface="Apple SD Gothic Neo"/>
              </a:rPr>
              <a:t>companion guide</a:t>
            </a:r>
            <a:r>
              <a:rPr sz="740">
                <a:solidFill>
                  <a:srgbClr val="5A6B7D"/>
                </a:solidFill>
                <a:latin typeface="Apple SD Gothic Neo"/>
              </a:rPr>
              <a:t>   표준은 하나인데 TPA마다 자기 해석 문서가 따로 있습니다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024128"/>
            <a:ext cx="5678424" cy="2231136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72784" y="1133856"/>
            <a:ext cx="5394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860" b="1">
                <a:solidFill>
                  <a:srgbClr val="17202B"/>
                </a:solidFill>
                <a:latin typeface="Apple SD Gothic Neo"/>
              </a:rPr>
              <a:t>실제 834 파일은 이렇게 생겼습니다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2784" y="1335024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ISA*00*   *00*   *ZZ*ACMEHRIS *ZZ*TPA01 ...~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56064" y="1335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교환 봉투 시작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4" y="1504188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GS*BE*ACMEHRIS*TPA01*20260801*1200*1*X*005010X220A1~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6064" y="150418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문서 그룹 · 버전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2784" y="1673352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ST*834*0001*005010X220A1~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56064" y="167335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834 문서 시작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72784" y="1842516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INS*Y*18*030*XN*A***FT~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6064" y="1842516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본인(18) · 신규 등록(030)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2784" y="2011680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REF*0F*100234~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6064" y="2011680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subscriber 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2784" y="2180844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NM1*IL*1*KIM*JANGWOOK****MI*W1234567~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6064" y="218084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이름 · member 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2350008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DMG*D8*19850312*M~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56064" y="2350008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생년월일 · 성별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72784" y="2519172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HD*030**DEN*DENTAL-PPO~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6064" y="251917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치과 플랜 등록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2784" y="2688336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DTP*348*D8*20260101~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56064" y="2688336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보장 시작일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72784" y="2857500"/>
            <a:ext cx="331012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30" b="0">
                <a:solidFill>
                  <a:srgbClr val="17202B"/>
                </a:solidFill>
                <a:latin typeface="Menlo"/>
              </a:rPr>
              <a:t>SE*9*0001~ GE*1*1~ IEA*1*000000001~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2857500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640" b="0">
                <a:solidFill>
                  <a:srgbClr val="5A6B7D"/>
                </a:solidFill>
                <a:latin typeface="Apple SD Gothic Neo"/>
              </a:rPr>
              <a:t>← 문서 · 그룹 · 봉투 닫기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84048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4048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가입 자격  Benefit Enrollment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3776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기업 HRIS → TPA / ICLO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월 1회. 전체 파일 또는 변경분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사람 · 플랜 · 보장 기간 · 관계코드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급여 설계(한도·부담률)와 부서가 없습니다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종료일을 30~60일 소급해 보내는 일이 흔합니다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member-month. 모든 비용 지표의 분모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88336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688336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98064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837D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98064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치과 청구  Health Care Claim: Dental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98064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치과 → TPA (→ 우리)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진료 후 며칠~몇 주. 편차가 큼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진료일 · CDT · 치식 · NPI · 청구액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NPI가 billing/rendering/facility로 여럿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이건 '청구'이지 '지급'이 아닙니다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PMPM 분자 · 청구로 확인된 완료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992624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29B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992624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02352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835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02352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지급 명세  Payment / Advice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2352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TPA → 치과 (→ 우리)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심사 완료 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allowed · plan paid · 본인부담 · 사유 코드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같은 청구에 조정·취소가 여러 번 옵니다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금액이 대체값인지 증감분인지 TPA마다 다름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세 금액을 분리해 저장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296912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0B7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296912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0B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270 / 271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06640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실시간 자격·급여 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06640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270 = 질문, 271 = 답. 파일이 아니라 실시간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사용자가 화면을 열 때마다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자격 유효 · 한도 잔여 · 공제 충족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청구 라인을 안 줍니다. CDT도 진료일도 없음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B3261E"/>
                </a:solidFill>
                <a:latin typeface="Apple SD Gothic Neo"/>
              </a:rPr>
              <a:t>⚠ 치과가 청구를 안 냈으면 TPA도 모릅니다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앱 잔여 한도. 창고 지연 우회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601200" y="3346704"/>
            <a:ext cx="2212848" cy="181051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88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601200" y="3346704"/>
            <a:ext cx="2212848" cy="256032"/>
          </a:xfrm>
          <a:prstGeom prst="roundRect">
            <a:avLst>
              <a:gd name="adj" fmla="val 4000"/>
            </a:avLst>
          </a:prstGeom>
          <a:solidFill>
            <a:srgbClr val="C988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10928" y="3396996"/>
            <a:ext cx="199339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nlo"/>
              </a:rPr>
              <a:t>999 / TA1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10928" y="3675888"/>
            <a:ext cx="199339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730" b="1">
                <a:solidFill>
                  <a:srgbClr val="17202B"/>
                </a:solidFill>
                <a:latin typeface="Apple SD Gothic Neo"/>
              </a:rPr>
              <a:t>수신 확인  Acknowledgement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710928" y="4005072"/>
            <a:ext cx="1993391" cy="1042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보내는 쪽: 받은 쪽 → 보낸 쪽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주기: 파일마다 즉시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담는 것: 받았는지 · 문법 오류가 있었는지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왜 중요한가: 없으면 '보냈는데 안 들어갔다'를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0">
                <a:solidFill>
                  <a:srgbClr val="5A6B7D"/>
                </a:solidFill>
                <a:latin typeface="Apple SD Gothic Neo"/>
              </a:rPr>
              <a:t>몇 주 뒤에 압니다</a:t>
            </a:r>
          </a:p>
          <a:p>
            <a:pPr>
              <a:lnSpc>
                <a:spcPct val="108000"/>
              </a:lnSpc>
              <a:spcAft>
                <a:spcPts val="300"/>
              </a:spcAft>
            </a:pPr>
            <a:r>
              <a:rPr sz="670" b="1">
                <a:solidFill>
                  <a:srgbClr val="0B7A55"/>
                </a:solidFill>
                <a:latin typeface="Apple SD Gothic Neo"/>
              </a:rPr>
              <a:t>→ 적재 실패를 그날 아는 것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" y="5138928"/>
            <a:ext cx="1142085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760" b="1">
                <a:solidFill>
                  <a:srgbClr val="17202B"/>
                </a:solidFill>
                <a:latin typeface="Apple SD Gothic Neo"/>
              </a:rPr>
              <a:t>카드 색이 경로를 뜻합니다   </a:t>
            </a:r>
            <a:r>
              <a:rPr sz="760" b="0">
                <a:solidFill>
                  <a:srgbClr val="29B5E8"/>
                </a:solidFill>
                <a:latin typeface="Apple SD Gothic Neo"/>
              </a:rPr>
              <a:t>■ 파랑 = 월 1회 파일로 창고를 타는 것    </a:t>
            </a:r>
            <a:r>
              <a:rPr sz="760" b="0">
                <a:solidFill>
                  <a:srgbClr val="0B7A55"/>
                </a:solidFill>
                <a:latin typeface="Apple SD Gothic Neo"/>
              </a:rPr>
              <a:t>■ 초록 = 실시간. 창고를 안 거침    </a:t>
            </a:r>
            <a:r>
              <a:rPr sz="760" b="0">
                <a:solidFill>
                  <a:srgbClr val="C9880A"/>
                </a:solidFill>
                <a:latin typeface="Apple SD Gothic Neo"/>
              </a:rPr>
              <a:t>■ 주황 = 운영·확인용. 데이터가 아니라 신호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" y="5358384"/>
            <a:ext cx="11420856" cy="841248"/>
          </a:xfrm>
          <a:prstGeom prst="roundRect">
            <a:avLst>
              <a:gd name="adj" fmla="val 4000"/>
            </a:avLst>
          </a:prstGeom>
          <a:solidFill>
            <a:srgbClr val="F6F8FA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8640" y="5477256"/>
            <a:ext cx="1109167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19" b="1">
                <a:solidFill>
                  <a:srgbClr val="17202B"/>
                </a:solidFill>
                <a:latin typeface="Apple SD Gothic Neo"/>
              </a:rPr>
              <a:t>실무에서 실제로 걸리는 것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trading partner 계약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기술 연결 전에 계약과 테스트 왕복이 먼저입니다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8328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전체 파일 vs 변경분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834를 변경분으로만 받으면 한 번 놓친 파일이 영구히 어긋납니다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term_date 규약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마지막 보장일인지 첫 미보장일인지 다릅니다. 종료자 전원 하루씩 차이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52560" y="5705856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740" b="1">
                <a:solidFill>
                  <a:srgbClr val="29B5E8"/>
                </a:solidFill>
                <a:latin typeface="Apple SD Gothic Neo"/>
              </a:rPr>
              <a:t>SFTP vs Data Sharing</a:t>
            </a:r>
          </a:p>
          <a:p>
            <a:pPr>
              <a:lnSpc>
                <a:spcPct val="110000"/>
              </a:lnSpc>
              <a:spcAft>
                <a:spcPts val="0"/>
              </a:spcAft>
            </a:pPr>
            <a:r>
              <a:rPr sz="690" b="0">
                <a:solidFill>
                  <a:srgbClr val="5A6B7D"/>
                </a:solidFill>
                <a:latin typeface="Apple SD Gothic Neo"/>
              </a:rPr>
              <a:t>TPA가 Snowflake를 쓰면 파일 전송 없이 공유로 받을 수 있습니다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