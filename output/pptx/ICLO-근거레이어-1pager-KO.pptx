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56032"/>
            <a:ext cx="8778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17202B"/>
                </a:solidFill>
                <a:latin typeface="Apple SD Gothic Neo"/>
              </a:rPr>
              <a:t>ICLO 근거 레이어 — 데이터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621792"/>
            <a:ext cx="9692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30" b="0">
                <a:solidFill>
                  <a:srgbClr val="5A6B7D"/>
                </a:solidFill>
                <a:latin typeface="Apple SD Gothic Neo"/>
              </a:rPr>
              <a:t>미국 self-funded employer 치아보험 · 원천에서 화면까지 · 기술문서 2절 그림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29260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29B5E8"/>
                </a:solidFill>
                <a:latin typeface="Apple SD Gothic Neo"/>
              </a:rPr>
              <a:t>ICLO × Snowflake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77824"/>
            <a:ext cx="11420856" cy="15875"/>
          </a:xfrm>
          <a:prstGeom prst="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low-slide@3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060704"/>
            <a:ext cx="8686800" cy="4932336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9235440" y="1060704"/>
            <a:ext cx="0" cy="5385816"/>
          </a:xfrm>
          <a:prstGeom prst="line">
            <a:avLst/>
          </a:prstGeom>
          <a:ln w="12700">
            <a:solidFill>
              <a:srgbClr val="DDE3EA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418320" y="1060704"/>
            <a:ext cx="24048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80" b="1">
                <a:solidFill>
                  <a:srgbClr val="17202B"/>
                </a:solidFill>
                <a:latin typeface="Apple SD Gothic Neo"/>
              </a:rPr>
              <a:t>이 그림 읽는 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408176"/>
            <a:ext cx="240487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80" b="1">
                <a:solidFill>
                  <a:srgbClr val="17202B"/>
                </a:solidFill>
                <a:latin typeface="Apple SD Gothic Neo"/>
              </a:rPr>
              <a:t>가운데 축 ④→⑦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1577340"/>
            <a:ext cx="2404872" cy="405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30" b="0">
                <a:solidFill>
                  <a:srgbClr val="5A6B7D"/>
                </a:solidFill>
                <a:latin typeface="Apple SD Gothic Neo"/>
              </a:rPr>
              <a:t>정본에서 기업 화면까지. 위에서 아래로 흐릅니다. 원천에서 정본까지는 기술문서 그림 1-A.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418320" y="2025395"/>
            <a:ext cx="2404872" cy="0"/>
          </a:xfrm>
          <a:prstGeom prst="line">
            <a:avLst/>
          </a:prstGeom>
          <a:ln w="10160">
            <a:solidFill>
              <a:srgbClr val="DDE3EA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418320" y="2093976"/>
            <a:ext cx="240487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80" b="1">
                <a:solidFill>
                  <a:srgbClr val="17202B"/>
                </a:solidFill>
                <a:latin typeface="Apple SD Gothic Neo"/>
              </a:rPr>
              <a:t>검은 띠 두 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2263140"/>
            <a:ext cx="2404872" cy="541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30" b="0">
                <a:solidFill>
                  <a:srgbClr val="5A6B7D"/>
                </a:solidFill>
                <a:latin typeface="Apple SD Gothic Neo"/>
              </a:rPr>
              <a:t>위는 개인 레벨(CANONICAL) — 기업 사용자는 접근 권한이 없습니다. 아래는 기업 노출용(EMPLOYER) — 뷰만 존재합니다.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418320" y="2843784"/>
            <a:ext cx="2404872" cy="0"/>
          </a:xfrm>
          <a:prstGeom prst="line">
            <a:avLst/>
          </a:prstGeom>
          <a:ln w="10160">
            <a:solidFill>
              <a:srgbClr val="DDE3EA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418320" y="2912364"/>
            <a:ext cx="240487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80" b="1">
                <a:solidFill>
                  <a:srgbClr val="B3261E"/>
                </a:solidFill>
                <a:latin typeface="Apple SD Gothic Neo"/>
              </a:rPr>
              <a:t>빨간 칩 — ENTITY 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3081528"/>
            <a:ext cx="2404872" cy="270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30" b="0">
                <a:solidFill>
                  <a:srgbClr val="5A6B7D"/>
                </a:solidFill>
                <a:latin typeface="Apple SD Gothic Neo"/>
              </a:rPr>
              <a:t>단일 최대 결함 지점. 없으면 n≥20이 '20명'이 아니라 '20행'을 셉니다.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418320" y="3396996"/>
            <a:ext cx="2404872" cy="0"/>
          </a:xfrm>
          <a:prstGeom prst="line">
            <a:avLst/>
          </a:prstGeom>
          <a:ln w="10160">
            <a:solidFill>
              <a:srgbClr val="DDE3EA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418320" y="3465576"/>
            <a:ext cx="240487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80" b="1">
                <a:solidFill>
                  <a:srgbClr val="29B5E8"/>
                </a:solidFill>
                <a:latin typeface="Apple SD Gothic Neo"/>
              </a:rPr>
              <a:t>⑤ MART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634740"/>
            <a:ext cx="2404872" cy="405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30" b="0">
                <a:solidFill>
                  <a:srgbClr val="5A6B7D"/>
                </a:solidFill>
                <a:latin typeface="Apple SD Gothic Neo"/>
              </a:rPr>
              <a:t>레이어 사이의 파생 지표. 완결성은 곡선이 없는 최근 달을 100%로 채우지 않습니다.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18320" y="4082796"/>
            <a:ext cx="2404872" cy="0"/>
          </a:xfrm>
          <a:prstGeom prst="line">
            <a:avLst/>
          </a:prstGeom>
          <a:ln w="10160">
            <a:solidFill>
              <a:srgbClr val="DDE3EA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418320" y="4151376"/>
            <a:ext cx="240487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80" b="1">
                <a:solidFill>
                  <a:srgbClr val="0B7A55"/>
                </a:solidFill>
                <a:latin typeface="Apple SD Gothic Neo"/>
              </a:rPr>
              <a:t>⑦ 노출 세 갈래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4320540"/>
            <a:ext cx="2404872" cy="270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30" b="0">
                <a:solidFill>
                  <a:srgbClr val="5A6B7D"/>
                </a:solidFill>
                <a:latin typeface="Apple SD Gothic Neo"/>
              </a:rPr>
              <a:t>같은 데이터를 기업·임직원·임상이 각각 다른 범위로 봅니다.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418320" y="4636008"/>
            <a:ext cx="2404872" cy="0"/>
          </a:xfrm>
          <a:prstGeom prst="line">
            <a:avLst/>
          </a:prstGeom>
          <a:ln w="10160">
            <a:solidFill>
              <a:srgbClr val="DDE3EA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418320" y="4704588"/>
            <a:ext cx="240487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80" b="1">
                <a:solidFill>
                  <a:srgbClr val="5A6B7D"/>
                </a:solidFill>
                <a:latin typeface="Apple SD Gothic Neo"/>
              </a:rPr>
              <a:t>맨 아래 문단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4873752"/>
            <a:ext cx="2404872" cy="405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30" b="0">
                <a:solidFill>
                  <a:srgbClr val="5A6B7D"/>
                </a:solidFill>
                <a:latin typeface="Apple SD Gothic Neo"/>
              </a:rPr>
              <a:t>이 설계에서 가장 위험한 곳. 신원을 잘못 묶으면 그 오류가 집계 화면에서 보이지 않습니다.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56032"/>
            <a:ext cx="8778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17202B"/>
                </a:solidFill>
                <a:latin typeface="Apple SD Gothic Neo"/>
              </a:rPr>
              <a:t>알아둘 용어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621792"/>
            <a:ext cx="9692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30" b="0">
                <a:solidFill>
                  <a:srgbClr val="5A6B7D"/>
                </a:solidFill>
                <a:latin typeface="Apple SD Gothic Neo"/>
              </a:rPr>
              <a:t>미국 self-funded 치아보험은 용어가 촘촘하고, 비슷해 보이는 두 단어가 다른 숫자를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29260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29B5E8"/>
                </a:solidFill>
                <a:latin typeface="Apple SD Gothic Neo"/>
              </a:rPr>
              <a:t>ICLO × Snowflake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77824"/>
            <a:ext cx="11420856" cy="15875"/>
          </a:xfrm>
          <a:prstGeom prst="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088136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80" b="1">
                <a:solidFill>
                  <a:srgbClr val="29B5E8"/>
                </a:solidFill>
                <a:latin typeface="Apple SD Gothic Neo"/>
              </a:rPr>
              <a:t>원천 시스템 — 데이터가 어디서 오나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91132"/>
            <a:ext cx="54864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80" b="1">
                <a:solidFill>
                  <a:srgbClr val="29B5E8"/>
                </a:solidFill>
                <a:latin typeface="Apple SD Gothic Neo"/>
              </a:rPr>
              <a:t>HRIS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432864"/>
            <a:ext cx="5486400" cy="134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45" b="0">
                <a:solidFill>
                  <a:srgbClr val="5A6B7D"/>
                </a:solidFill>
                <a:latin typeface="Apple SD Gothic Neo"/>
              </a:rPr>
              <a:t>기업의 인사 시스템. 누가 재직 중이고 어느 플랜에 가입했는지가 여기 있어 자격 파일(834)의 출발점입니다.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583740"/>
            <a:ext cx="54864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80" b="1">
                <a:solidFill>
                  <a:srgbClr val="29B5E8"/>
                </a:solidFill>
                <a:latin typeface="Apple SD Gothic Neo"/>
              </a:rPr>
              <a:t>SFTP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725472"/>
            <a:ext cx="5486400" cy="134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45" b="0">
                <a:solidFill>
                  <a:srgbClr val="5A6B7D"/>
                </a:solidFill>
                <a:latin typeface="Apple SD Gothic Neo"/>
              </a:rPr>
              <a:t>암호화된 파일 전송. 미국 보험 데이터는 아직 API보다 파일을 서버에 올려두는 방식이 표준입니다.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92206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80" b="1">
                <a:solidFill>
                  <a:srgbClr val="29B5E8"/>
                </a:solidFill>
                <a:latin typeface="Apple SD Gothic Neo"/>
              </a:rPr>
              <a:t>보험 구조 — 누가 돈을 내고 누가 운영하나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125065"/>
            <a:ext cx="54864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80" b="1">
                <a:solidFill>
                  <a:srgbClr val="29B5E8"/>
                </a:solidFill>
                <a:latin typeface="Apple SD Gothic Neo"/>
              </a:rPr>
              <a:t>self-funded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266797"/>
            <a:ext cx="5486400" cy="268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45" b="0">
                <a:solidFill>
                  <a:srgbClr val="5A6B7D"/>
                </a:solidFill>
                <a:latin typeface="Apple SD Gothic Neo"/>
              </a:rPr>
              <a:t>기업이 의료비를 직접 부담하는 구조. 보험사는 청구 처리만 대행하고 위험은 안 집니다. 절감의 이익이 기업에 돌아가는 것이 이 제품의 전제입니다.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538374"/>
            <a:ext cx="54864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80" b="1">
                <a:solidFill>
                  <a:srgbClr val="29B5E8"/>
                </a:solidFill>
                <a:latin typeface="Apple SD Gothic Neo"/>
              </a:rPr>
              <a:t>TPA / ASO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680106"/>
            <a:ext cx="5486400" cy="268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45" b="0">
                <a:solidFill>
                  <a:srgbClr val="5A6B7D"/>
                </a:solidFill>
                <a:latin typeface="Apple SD Gothic Neo"/>
              </a:rPr>
              <a:t>청구 심사·네트워크 운영 대행 사업자(TPA)와 그 계약 형태(ASO). 데이터를 쥐고 있어 협조 없이는 아무것도 못 받습니다.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951683"/>
            <a:ext cx="54864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80" b="1">
                <a:solidFill>
                  <a:srgbClr val="29B5E8"/>
                </a:solidFill>
                <a:latin typeface="Apple SD Gothic Neo"/>
              </a:rPr>
              <a:t>SPD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093415"/>
            <a:ext cx="5486400" cy="268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45" b="0">
                <a:solidFill>
                  <a:srgbClr val="5A6B7D"/>
                </a:solidFill>
                <a:latin typeface="Apple SD Gothic Neo"/>
              </a:rPr>
              <a:t>Summary Plan Description. 급여 내용이 적힌 플랜 문서. 한도·부담률은 834에 없고 이 문서에만 있어서 사람이 옮겨 적어야 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3364991"/>
            <a:ext cx="54864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80" b="1">
                <a:solidFill>
                  <a:srgbClr val="29B5E8"/>
                </a:solidFill>
                <a:latin typeface="Apple SD Gothic Neo"/>
              </a:rPr>
              <a:t>COBRA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3506723"/>
            <a:ext cx="5486400" cy="268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45" b="0">
                <a:solidFill>
                  <a:srgbClr val="5A6B7D"/>
                </a:solidFill>
                <a:latin typeface="Apple SD Gothic Neo"/>
              </a:rPr>
              <a:t>퇴사 후 본인 부담으로 기존 플랜을 유지하는 연방 제도. 18/29/36개월로 사유에 따라 다르고, 직원이 나가도 가족이 남습니다.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3778300"/>
            <a:ext cx="54864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80" b="1">
                <a:solidFill>
                  <a:srgbClr val="29B5E8"/>
                </a:solidFill>
                <a:latin typeface="Apple SD Gothic Neo"/>
              </a:rPr>
              <a:t>subscriber / dependent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3920032"/>
            <a:ext cx="5486400" cy="268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45" b="0">
                <a:solidFill>
                  <a:srgbClr val="5A6B7D"/>
                </a:solidFill>
                <a:latin typeface="Apple SD Gothic Neo"/>
              </a:rPr>
              <a:t>본인 가입자(직원)와 피부양자(배우자·자녀). 관계코드 18·01·19. 사람의 속성이 아니라 가입의 속성이라 시간에 따라 바뀝니다.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4237329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80" b="1">
                <a:solidFill>
                  <a:srgbClr val="29B5E8"/>
                </a:solidFill>
                <a:latin typeface="Apple SD Gothic Neo"/>
              </a:rPr>
              <a:t>가입 자격과 분모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4440326"/>
            <a:ext cx="54864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80" b="1">
                <a:solidFill>
                  <a:srgbClr val="17202B"/>
                </a:solidFill>
                <a:latin typeface="Apple SD Gothic Neo"/>
              </a:rPr>
              <a:t>member-month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4582058"/>
            <a:ext cx="5486400" cy="268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45" b="0">
                <a:solidFill>
                  <a:srgbClr val="5A6B7D"/>
                </a:solidFill>
                <a:latin typeface="Apple SD Gothic Neo"/>
              </a:rPr>
              <a:t>한 사람이 한 달 보장받은 단위. 모든 비용 지표의 분모입니다. 월 중 입·퇴사가 있으면 일수로 쪼개므로 사람 수와 다릅니다.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4853635"/>
            <a:ext cx="54864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80" b="1">
                <a:solidFill>
                  <a:srgbClr val="17202B"/>
                </a:solidFill>
                <a:latin typeface="Apple SD Gothic Neo"/>
              </a:rPr>
              <a:t>PMPM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4995367"/>
            <a:ext cx="5486400" cy="268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45" b="0">
                <a:solidFill>
                  <a:srgbClr val="5A6B7D"/>
                </a:solidFill>
                <a:latin typeface="Apple SD Gothic Neo"/>
              </a:rPr>
              <a:t>per member per month. 금액 / member-months. 인원이 변해도 비교할 수 있게 만든 표준 단위입니다.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5312663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80" b="1">
                <a:solidFill>
                  <a:srgbClr val="29B5E8"/>
                </a:solidFill>
                <a:latin typeface="Apple SD Gothic Neo"/>
              </a:rPr>
              <a:t>청구의 시간 — 이 제품의 가장 큰 난점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5515660"/>
            <a:ext cx="54864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80" b="1">
                <a:solidFill>
                  <a:srgbClr val="C9880A"/>
                </a:solidFill>
                <a:latin typeface="Apple SD Gothic Neo"/>
              </a:rPr>
              <a:t>claims lag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5657392"/>
            <a:ext cx="5486400" cy="268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45" b="0">
                <a:solidFill>
                  <a:srgbClr val="5A6B7D"/>
                </a:solidFill>
                <a:latin typeface="Apple SD Gothic Neo"/>
              </a:rPr>
              <a:t>진료일과 청구 도착 사이의 시차. 고정값이 아니라 분포이고 치과·시술·시기마다 다릅니다. 화면의 60일은 데모 표시값이며, 실시간 조회로도 이 지연 전부를 없앨 수는 없습니다.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5928969"/>
            <a:ext cx="54864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80" b="1">
                <a:solidFill>
                  <a:srgbClr val="C9880A"/>
                </a:solidFill>
                <a:latin typeface="Apple SD Gothic Neo"/>
              </a:rPr>
              <a:t>run-out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" y="6070701"/>
            <a:ext cx="5486400" cy="268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45" b="0">
                <a:solidFill>
                  <a:srgbClr val="5A6B7D"/>
                </a:solidFill>
                <a:latin typeface="Apple SD Gothic Neo"/>
              </a:rPr>
              <a:t>자격이 끝난 뒤에도 청구가 계속 들어오는 기간. 퇴사자 청구가 몇 달 더 오므로, 사람이 빠질 때 데이터를 지우면 그 달 분모가 사라져 지표가 폭발합니다.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6342278"/>
            <a:ext cx="54864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80" b="1">
                <a:solidFill>
                  <a:srgbClr val="C9880A"/>
                </a:solidFill>
                <a:latin typeface="Apple SD Gothic Neo"/>
              </a:rPr>
              <a:t>IBNR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6484010"/>
            <a:ext cx="5486400" cy="268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45" b="0">
                <a:solidFill>
                  <a:srgbClr val="5A6B7D"/>
                </a:solidFill>
                <a:latin typeface="Apple SD Gothic Neo"/>
              </a:rPr>
              <a:t>incurred but not reported. 이미 발생했지만 아직 청구가 안 들어온 몫. 완결성 추정이 이 부분을 메웁니다.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1088136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80" b="1">
                <a:solidFill>
                  <a:srgbClr val="29B5E8"/>
                </a:solidFill>
                <a:latin typeface="Apple SD Gothic Neo"/>
              </a:rPr>
              <a:t>급여와 금액 — 본인부담이 어떻게 정해지나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1291132"/>
            <a:ext cx="54864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80" b="1">
                <a:solidFill>
                  <a:srgbClr val="17202B"/>
                </a:solidFill>
                <a:latin typeface="Apple SD Gothic Neo"/>
              </a:rPr>
              <a:t>allowed / plan paid / member OOP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1432864"/>
            <a:ext cx="5486400" cy="268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45" b="0">
                <a:solidFill>
                  <a:srgbClr val="5A6B7D"/>
                </a:solidFill>
                <a:latin typeface="Apple SD Gothic Neo"/>
              </a:rPr>
              <a:t>계약 인정액 / 플랜 지급액 / 본인부담. 치과 청구액이 아니라 네트워크 계약가가 기준이고, 셋이 따로 움직이므로 분리해 저장합니다.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1704441"/>
            <a:ext cx="54864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80" b="1">
                <a:solidFill>
                  <a:srgbClr val="17202B"/>
                </a:solidFill>
                <a:latin typeface="Apple SD Gothic Neo"/>
              </a:rPr>
              <a:t>deductible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1846173"/>
            <a:ext cx="5486400" cy="134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45" b="0">
                <a:solidFill>
                  <a:srgbClr val="5A6B7D"/>
                </a:solidFill>
                <a:latin typeface="Apple SD Gothic Neo"/>
              </a:rPr>
              <a:t>공제액. 이 금액까지는 본인이 먼저 냅니다. 예방진료는 공제 면제인 경우가 흔합니다.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1997049"/>
            <a:ext cx="54864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80" b="1">
                <a:solidFill>
                  <a:srgbClr val="17202B"/>
                </a:solidFill>
                <a:latin typeface="Apple SD Gothic Neo"/>
              </a:rPr>
              <a:t>coinsurance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2138781"/>
            <a:ext cx="5486400" cy="134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45" b="0">
                <a:solidFill>
                  <a:srgbClr val="5A6B7D"/>
                </a:solidFill>
                <a:latin typeface="Apple SD Gothic Neo"/>
              </a:rPr>
              <a:t>공제 충족 후 플랜과 나누는 비율. 예방 100% · 기본 80% · 주요 50%가 전형적입니다.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2289657"/>
            <a:ext cx="54864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80" b="1">
                <a:solidFill>
                  <a:srgbClr val="17202B"/>
                </a:solidFill>
                <a:latin typeface="Apple SD Gothic Neo"/>
              </a:rPr>
              <a:t>annual maximum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2431389"/>
            <a:ext cx="5486400" cy="134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45" b="0">
                <a:solidFill>
                  <a:srgbClr val="5A6B7D"/>
                </a:solidFill>
                <a:latin typeface="Apple SD Gothic Neo"/>
              </a:rPr>
              <a:t>연간 플랜 지급 상한. 통상 이월되지 않아 연말에 소진 러시가 생깁니다. 한국 실손과 가장 다른 부분입니다.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2582265"/>
            <a:ext cx="54864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80" b="1">
                <a:solidFill>
                  <a:srgbClr val="0B7A55"/>
                </a:solidFill>
                <a:latin typeface="Apple SD Gothic Neo"/>
              </a:rPr>
              <a:t>accumulator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2723997"/>
            <a:ext cx="5486400" cy="134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45" b="0">
                <a:solidFill>
                  <a:srgbClr val="5A6B7D"/>
                </a:solidFill>
                <a:latin typeface="Apple SD Gothic Neo"/>
              </a:rPr>
              <a:t>지금까지 쓴 누적액과 공제 충족 상태. 잔여 한도가 여기서 나오며, 271로만 정확히 알 수 있습니다.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2920593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80" b="1">
                <a:solidFill>
                  <a:srgbClr val="29B5E8"/>
                </a:solidFill>
                <a:latin typeface="Apple SD Gothic Neo"/>
              </a:rPr>
              <a:t>치과 · 규제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3123590"/>
            <a:ext cx="54864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80" b="1">
                <a:solidFill>
                  <a:srgbClr val="17202B"/>
                </a:solidFill>
                <a:latin typeface="Apple SD Gothic Neo"/>
              </a:rPr>
              <a:t>CDT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3265322"/>
            <a:ext cx="5486400" cy="268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45" b="0">
                <a:solidFill>
                  <a:srgbClr val="5A6B7D"/>
                </a:solidFill>
                <a:latin typeface="Apple SD Gothic Neo"/>
              </a:rPr>
              <a:t>치과 시술 코드 체계. D1110 성인 스케일링처럼 진료 하나하나에 코드가 붙습니다. 예방·기본·주요 구분과 부담률이 이 코드로 결정됩니다.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3536899"/>
            <a:ext cx="54864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80" b="1">
                <a:solidFill>
                  <a:srgbClr val="17202B"/>
                </a:solidFill>
                <a:latin typeface="Apple SD Gothic Neo"/>
              </a:rPr>
              <a:t>NPI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3678631"/>
            <a:ext cx="5486400" cy="268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45" b="0">
                <a:solidFill>
                  <a:srgbClr val="5A6B7D"/>
                </a:solidFill>
                <a:latin typeface="Apple SD Gothic Neo"/>
              </a:rPr>
              <a:t>의료제공자 고유번호. 837D에는 billing(청구 주체) · rendering(진료 의사) · service facility(진료 장소) 셋이 따로 있고 서로 다릅니다.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3950207"/>
            <a:ext cx="54864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80" b="1">
                <a:solidFill>
                  <a:srgbClr val="B3261E"/>
                </a:solidFill>
                <a:latin typeface="Apple SD Gothic Neo"/>
              </a:rPr>
              <a:t>PHI / HIPAA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4091939"/>
            <a:ext cx="5486400" cy="134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45" b="0">
                <a:solidFill>
                  <a:srgbClr val="5A6B7D"/>
                </a:solidFill>
                <a:latin typeface="Apple SD Gothic Neo"/>
              </a:rPr>
              <a:t>개인을 식별할 수 있는 건강정보와 그것을 규율하는 연방법. 이 문서의 거의 모든 통제가 여기서 나옵니다.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0" y="4242815"/>
            <a:ext cx="54864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80" b="1">
                <a:solidFill>
                  <a:srgbClr val="B3261E"/>
                </a:solidFill>
                <a:latin typeface="Apple SD Gothic Neo"/>
              </a:rPr>
              <a:t>BAA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0" y="4384547"/>
            <a:ext cx="5486400" cy="268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45" b="0">
                <a:solidFill>
                  <a:srgbClr val="5A6B7D"/>
                </a:solidFill>
                <a:latin typeface="Apple SD Gothic Neo"/>
              </a:rPr>
              <a:t>Business Associate Agreement. 남의 PHI를 대신 다루려면 반드시 맺어야 하는 계약. 없으면 데이터를 받을 수 없습니다.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9360" y="4701844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80" b="1">
                <a:solidFill>
                  <a:srgbClr val="29B5E8"/>
                </a:solidFill>
                <a:latin typeface="Apple SD Gothic Neo"/>
              </a:rPr>
              <a:t>데이터 인프라 · 거버넌스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0" y="4904841"/>
            <a:ext cx="54864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80" b="1">
                <a:solidFill>
                  <a:srgbClr val="17202B"/>
                </a:solidFill>
                <a:latin typeface="Apple SD Gothic Neo"/>
              </a:rPr>
              <a:t>RAW → EMPLOYER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0" y="5046573"/>
            <a:ext cx="5486400" cy="268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45" b="0">
                <a:solidFill>
                  <a:srgbClr val="5A6B7D"/>
                </a:solidFill>
                <a:latin typeface="Apple SD Gothic Neo"/>
              </a:rPr>
              <a:t>데이터가 거치는 5개 층(RAW·STAGED·CANONICAL·MART·EMPLOYER). 원본 보관에서 기업 집계로 갈수록 권한이 좁아지고, 기업 사용자는 마지막 층만 봅니다.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9360" y="5318150"/>
            <a:ext cx="54864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80" b="1">
                <a:solidFill>
                  <a:srgbClr val="B3261E"/>
                </a:solidFill>
                <a:latin typeface="Apple SD Gothic Neo"/>
              </a:rPr>
              <a:t>집계 정책 · ENTITY KEY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60" y="5459882"/>
            <a:ext cx="5486400" cy="134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45" b="0">
                <a:solidFill>
                  <a:srgbClr val="5A6B7D"/>
                </a:solidFill>
                <a:latin typeface="Apple SD Gothic Neo"/>
              </a:rPr>
              <a:t>20명 미만 그룹을 DB가 반환하지 않게 하는 Snowflake 기능. ENTITY KEY를 지정해야 '20명'을 셉니다.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09360" y="5610758"/>
            <a:ext cx="54864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80" b="1">
                <a:solidFill>
                  <a:srgbClr val="29B5E8"/>
                </a:solidFill>
                <a:latin typeface="Apple SD Gothic Neo"/>
              </a:rPr>
              <a:t>Secure Data Sharing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9360" y="5752490"/>
            <a:ext cx="5486400" cy="268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45" b="0">
                <a:solidFill>
                  <a:srgbClr val="5A6B7D"/>
                </a:solidFill>
                <a:latin typeface="Apple SD Gothic Neo"/>
              </a:rPr>
              <a:t>사본을 만들지 않고 다른 계정에 데이터를 열어주는 방식. TPA도 Snowflake를 쓰면 파일 전송이 필요 없어 데이터 권리 협상이 쉬워집니다.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56032"/>
            <a:ext cx="8778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17202B"/>
                </a:solidFill>
                <a:latin typeface="Apple SD Gothic Neo"/>
              </a:rPr>
              <a:t>부록 — X12 전자 문서 상세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621792"/>
            <a:ext cx="9692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30" b="0">
                <a:solidFill>
                  <a:srgbClr val="5A6B7D"/>
                </a:solidFill>
                <a:latin typeface="Apple SD Gothic Neo"/>
              </a:rPr>
              <a:t>미국 보험 데이터는 대부분 이 형식으로 오갑니다. 처음 보면 낯설지만 구조는 단순합니다.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29260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29B5E8"/>
                </a:solidFill>
                <a:latin typeface="Apple SD Gothic Neo"/>
              </a:rPr>
              <a:t>ICLO × Snowflake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77824"/>
            <a:ext cx="11420856" cy="15875"/>
          </a:xfrm>
          <a:prstGeom prst="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4048" y="1024128"/>
            <a:ext cx="5532120" cy="2231136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52144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840" b="0">
                <a:solidFill>
                  <a:srgbClr val="17202B"/>
                </a:solidFill>
                <a:latin typeface="Apple SD Gothic Neo"/>
              </a:rPr>
              <a:t>1970~80년대에 만들어진 산업용 EDI 규격입니다. 사람이 읽으라고 만든 형식이 아니라 기계가 주고받으라고 만든 것이고, HIPAA가 의료 거래에 이 형식을 의무화하면서 지금까지 표준으로 남았습니다. 보험사·TPA·HRIS가 서로 다른 시스템을 써도 같은 전문으로 대화할 수 있는 이유입니다.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84831"/>
            <a:ext cx="5212080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780" b="1">
                <a:solidFill>
                  <a:srgbClr val="29B5E8"/>
                </a:solidFill>
                <a:latin typeface="Apple SD Gothic Neo"/>
              </a:rPr>
              <a:t>구분자</a:t>
            </a:r>
            <a:r>
              <a:rPr sz="740">
                <a:solidFill>
                  <a:srgbClr val="5A6B7D"/>
                </a:solidFill>
                <a:latin typeface="Apple SD Gothic Neo"/>
              </a:rPr>
              <a:t>   *는 필드 구분, ~는 세그먼트 끝. 줄바꿈은 의미가 없습니다</a:t>
            </a:r>
          </a:p>
          <a:p>
            <a:pPr>
              <a:spcAft>
                <a:spcPts val="300"/>
              </a:spcAft>
            </a:pPr>
            <a:r>
              <a:rPr sz="780" b="1">
                <a:solidFill>
                  <a:srgbClr val="29B5E8"/>
                </a:solidFill>
                <a:latin typeface="Apple SD Gothic Neo"/>
              </a:rPr>
              <a:t>3중 봉투</a:t>
            </a:r>
            <a:r>
              <a:rPr sz="740">
                <a:solidFill>
                  <a:srgbClr val="5A6B7D"/>
                </a:solidFill>
                <a:latin typeface="Apple SD Gothic Neo"/>
              </a:rPr>
              <a:t>   ISA/IEA(교환) 안에 GS/GE(문서 그룹), 그 안에 ST/SE(문서 하나)</a:t>
            </a:r>
          </a:p>
          <a:p>
            <a:pPr>
              <a:spcAft>
                <a:spcPts val="300"/>
              </a:spcAft>
            </a:pPr>
            <a:r>
              <a:rPr sz="780" b="1">
                <a:solidFill>
                  <a:srgbClr val="29B5E8"/>
                </a:solidFill>
                <a:latin typeface="Apple SD Gothic Neo"/>
              </a:rPr>
              <a:t>버전</a:t>
            </a:r>
            <a:r>
              <a:rPr sz="740">
                <a:solidFill>
                  <a:srgbClr val="5A6B7D"/>
                </a:solidFill>
                <a:latin typeface="Apple SD Gothic Neo"/>
              </a:rPr>
              <a:t>   005010X220A1 같은 코드. 다르면 같은 834라도 파싱이 달라집니다</a:t>
            </a:r>
          </a:p>
          <a:p>
            <a:pPr>
              <a:spcAft>
                <a:spcPts val="300"/>
              </a:spcAft>
            </a:pPr>
            <a:r>
              <a:rPr sz="780" b="1">
                <a:solidFill>
                  <a:srgbClr val="29B5E8"/>
                </a:solidFill>
                <a:latin typeface="Apple SD Gothic Neo"/>
              </a:rPr>
              <a:t>companion guide</a:t>
            </a:r>
            <a:r>
              <a:rPr sz="740">
                <a:solidFill>
                  <a:srgbClr val="5A6B7D"/>
                </a:solidFill>
                <a:latin typeface="Apple SD Gothic Neo"/>
              </a:rPr>
              <a:t>   표준은 하나인데 TPA마다 자기 해석 문서가 따로 있습니다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024128"/>
            <a:ext cx="5678424" cy="2231136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2784" y="1133856"/>
            <a:ext cx="5394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860" b="1">
                <a:solidFill>
                  <a:srgbClr val="17202B"/>
                </a:solidFill>
                <a:latin typeface="Apple SD Gothic Neo"/>
              </a:rPr>
              <a:t>실제 834 파일은 이렇게 생겼습니다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2784" y="1335024"/>
            <a:ext cx="33101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630" b="0">
                <a:solidFill>
                  <a:srgbClr val="17202B"/>
                </a:solidFill>
                <a:latin typeface="Menlo"/>
              </a:rPr>
              <a:t>ISA*00*   *00*   *ZZ*ACMEHRIS *ZZ*TPA01 ...~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6064" y="1335024"/>
            <a:ext cx="2103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640" b="0">
                <a:solidFill>
                  <a:srgbClr val="5A6B7D"/>
                </a:solidFill>
                <a:latin typeface="Apple SD Gothic Neo"/>
              </a:rPr>
              <a:t>← 교환 봉투 시작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2784" y="1504188"/>
            <a:ext cx="33101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630" b="0">
                <a:solidFill>
                  <a:srgbClr val="17202B"/>
                </a:solidFill>
                <a:latin typeface="Menlo"/>
              </a:rPr>
              <a:t>GS*BE*ACMEHRIS*TPA01*20260801*1200*1*X*005010X220A1~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6064" y="1504188"/>
            <a:ext cx="2103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640" b="0">
                <a:solidFill>
                  <a:srgbClr val="5A6B7D"/>
                </a:solidFill>
                <a:latin typeface="Apple SD Gothic Neo"/>
              </a:rPr>
              <a:t>← 문서 그룹 · 버전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4" y="1673352"/>
            <a:ext cx="33101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630" b="0">
                <a:solidFill>
                  <a:srgbClr val="17202B"/>
                </a:solidFill>
                <a:latin typeface="Menlo"/>
              </a:rPr>
              <a:t>ST*834*0001*005010X220A1~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6064" y="1673352"/>
            <a:ext cx="2103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640" b="0">
                <a:solidFill>
                  <a:srgbClr val="5A6B7D"/>
                </a:solidFill>
                <a:latin typeface="Apple SD Gothic Neo"/>
              </a:rPr>
              <a:t>← 834 문서 시작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4" y="1842516"/>
            <a:ext cx="33101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630" b="0">
                <a:solidFill>
                  <a:srgbClr val="17202B"/>
                </a:solidFill>
                <a:latin typeface="Menlo"/>
              </a:rPr>
              <a:t>INS*Y*18*030*XN*A***FT~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56064" y="1842516"/>
            <a:ext cx="2103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640" b="0">
                <a:solidFill>
                  <a:srgbClr val="5A6B7D"/>
                </a:solidFill>
                <a:latin typeface="Apple SD Gothic Neo"/>
              </a:rPr>
              <a:t>← 본인(18) · 신규 등록(030)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4" y="2011680"/>
            <a:ext cx="33101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630" b="0">
                <a:solidFill>
                  <a:srgbClr val="17202B"/>
                </a:solidFill>
                <a:latin typeface="Menlo"/>
              </a:rPr>
              <a:t>REF*0F*100234~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4" y="2011680"/>
            <a:ext cx="2103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640" b="0">
                <a:solidFill>
                  <a:srgbClr val="5A6B7D"/>
                </a:solidFill>
                <a:latin typeface="Apple SD Gothic Neo"/>
              </a:rPr>
              <a:t>← subscriber 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2784" y="2180844"/>
            <a:ext cx="33101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630" b="0">
                <a:solidFill>
                  <a:srgbClr val="17202B"/>
                </a:solidFill>
                <a:latin typeface="Menlo"/>
              </a:rPr>
              <a:t>NM1*IL*1*KIM*JANGWOOK****MI*W1234567~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56064" y="2180844"/>
            <a:ext cx="2103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640" b="0">
                <a:solidFill>
                  <a:srgbClr val="5A6B7D"/>
                </a:solidFill>
                <a:latin typeface="Apple SD Gothic Neo"/>
              </a:rPr>
              <a:t>← 이름 · member 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784" y="2350008"/>
            <a:ext cx="33101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630" b="0">
                <a:solidFill>
                  <a:srgbClr val="17202B"/>
                </a:solidFill>
                <a:latin typeface="Menlo"/>
              </a:rPr>
              <a:t>DMG*D8*19850312*M~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56064" y="2350008"/>
            <a:ext cx="2103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640" b="0">
                <a:solidFill>
                  <a:srgbClr val="5A6B7D"/>
                </a:solidFill>
                <a:latin typeface="Apple SD Gothic Neo"/>
              </a:rPr>
              <a:t>← 생년월일 · 성별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784" y="2519172"/>
            <a:ext cx="33101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630" b="0">
                <a:solidFill>
                  <a:srgbClr val="17202B"/>
                </a:solidFill>
                <a:latin typeface="Menlo"/>
              </a:rPr>
              <a:t>HD*030**DEN*DENTAL-PPO~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6064" y="2519172"/>
            <a:ext cx="2103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640" b="0">
                <a:solidFill>
                  <a:srgbClr val="5A6B7D"/>
                </a:solidFill>
                <a:latin typeface="Apple SD Gothic Neo"/>
              </a:rPr>
              <a:t>← 치과 플랜 등록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2688336"/>
            <a:ext cx="33101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630" b="0">
                <a:solidFill>
                  <a:srgbClr val="17202B"/>
                </a:solidFill>
                <a:latin typeface="Menlo"/>
              </a:rPr>
              <a:t>DTP*348*D8*20260101~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6064" y="2688336"/>
            <a:ext cx="2103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640" b="0">
                <a:solidFill>
                  <a:srgbClr val="5A6B7D"/>
                </a:solidFill>
                <a:latin typeface="Apple SD Gothic Neo"/>
              </a:rPr>
              <a:t>← 보장 시작일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2784" y="2857500"/>
            <a:ext cx="33101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630" b="0">
                <a:solidFill>
                  <a:srgbClr val="17202B"/>
                </a:solidFill>
                <a:latin typeface="Menlo"/>
              </a:rPr>
              <a:t>SE*9*0001~ GE*1*1~ IEA*1*000000001~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56064" y="2857500"/>
            <a:ext cx="2103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640" b="0">
                <a:solidFill>
                  <a:srgbClr val="5A6B7D"/>
                </a:solidFill>
                <a:latin typeface="Apple SD Gothic Neo"/>
              </a:rPr>
              <a:t>← 문서 · 그룹 · 봉투 닫기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" y="3346704"/>
            <a:ext cx="2212848" cy="18105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29B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84048" y="3346704"/>
            <a:ext cx="2212848" cy="256032"/>
          </a:xfrm>
          <a:prstGeom prst="roundRect">
            <a:avLst>
              <a:gd name="adj" fmla="val 4000"/>
            </a:avLst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" y="3396996"/>
            <a:ext cx="19933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enlo"/>
              </a:rPr>
              <a:t>834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" y="3675888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730" b="1">
                <a:solidFill>
                  <a:srgbClr val="17202B"/>
                </a:solidFill>
                <a:latin typeface="Apple SD Gothic Neo"/>
              </a:rPr>
              <a:t>가입 자격  Benefit Enrollment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" y="4005072"/>
            <a:ext cx="1993391" cy="1042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670" b="0">
                <a:solidFill>
                  <a:srgbClr val="5A6B7D"/>
                </a:solidFill>
                <a:latin typeface="Apple SD Gothic Neo"/>
              </a:rPr>
              <a:t>보내는 쪽: 기업 HRIS → TPA / ICLO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670" b="0">
                <a:solidFill>
                  <a:srgbClr val="5A6B7D"/>
                </a:solidFill>
                <a:latin typeface="Apple SD Gothic Neo"/>
              </a:rPr>
              <a:t>주기: 월 1회. 전체 파일 또는 변경분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670" b="0">
                <a:solidFill>
                  <a:srgbClr val="5A6B7D"/>
                </a:solidFill>
                <a:latin typeface="Apple SD Gothic Neo"/>
              </a:rPr>
              <a:t>담는 것: 사람 · 플랜 · 보장 기간 · 관계코드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670" b="1">
                <a:solidFill>
                  <a:srgbClr val="B3261E"/>
                </a:solidFill>
                <a:latin typeface="Apple SD Gothic Neo"/>
              </a:rPr>
              <a:t>⚠ 급여 설계(한도·부담률)와 부서가 없습니다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670" b="1">
                <a:solidFill>
                  <a:srgbClr val="B3261E"/>
                </a:solidFill>
                <a:latin typeface="Apple SD Gothic Neo"/>
              </a:rPr>
              <a:t>⚠ 종료일을 30~60일 소급해 보내는 일이 흔합니다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670" b="1">
                <a:solidFill>
                  <a:srgbClr val="0B7A55"/>
                </a:solidFill>
                <a:latin typeface="Apple SD Gothic Neo"/>
              </a:rPr>
              <a:t>→ member-month. 모든 비용 지표의 분모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88336" y="3346704"/>
            <a:ext cx="2212848" cy="18105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29B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688336" y="3346704"/>
            <a:ext cx="2212848" cy="256032"/>
          </a:xfrm>
          <a:prstGeom prst="roundRect">
            <a:avLst>
              <a:gd name="adj" fmla="val 4000"/>
            </a:avLst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98064" y="3396996"/>
            <a:ext cx="19933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enlo"/>
              </a:rPr>
              <a:t>837D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98064" y="3675888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730" b="1">
                <a:solidFill>
                  <a:srgbClr val="17202B"/>
                </a:solidFill>
                <a:latin typeface="Apple SD Gothic Neo"/>
              </a:rPr>
              <a:t>치과 청구  Health Care Claim: Dental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98064" y="4005072"/>
            <a:ext cx="1993391" cy="1042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670" b="0">
                <a:solidFill>
                  <a:srgbClr val="5A6B7D"/>
                </a:solidFill>
                <a:latin typeface="Apple SD Gothic Neo"/>
              </a:rPr>
              <a:t>보내는 쪽: 치과 → TPA (→ 우리)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670" b="0">
                <a:solidFill>
                  <a:srgbClr val="5A6B7D"/>
                </a:solidFill>
                <a:latin typeface="Apple SD Gothic Neo"/>
              </a:rPr>
              <a:t>주기: 진료 후 며칠~몇 주. 편차가 큼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670" b="0">
                <a:solidFill>
                  <a:srgbClr val="5A6B7D"/>
                </a:solidFill>
                <a:latin typeface="Apple SD Gothic Neo"/>
              </a:rPr>
              <a:t>담는 것: 진료일 · CDT · 치식 · NPI · 청구액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670" b="1">
                <a:solidFill>
                  <a:srgbClr val="B3261E"/>
                </a:solidFill>
                <a:latin typeface="Apple SD Gothic Neo"/>
              </a:rPr>
              <a:t>⚠ NPI가 billing/rendering/facility로 여럿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670" b="1">
                <a:solidFill>
                  <a:srgbClr val="B3261E"/>
                </a:solidFill>
                <a:latin typeface="Apple SD Gothic Neo"/>
              </a:rPr>
              <a:t>⚠ 이건 '청구'이지 '지급'이 아닙니다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670" b="1">
                <a:solidFill>
                  <a:srgbClr val="0B7A55"/>
                </a:solidFill>
                <a:latin typeface="Apple SD Gothic Neo"/>
              </a:rPr>
              <a:t>→ PMPM 분자 · 청구로 확인된 완료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92624" y="3346704"/>
            <a:ext cx="2212848" cy="18105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29B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992624" y="3346704"/>
            <a:ext cx="2212848" cy="256032"/>
          </a:xfrm>
          <a:prstGeom prst="roundRect">
            <a:avLst>
              <a:gd name="adj" fmla="val 4000"/>
            </a:avLst>
          </a:prstGeom>
          <a:solidFill>
            <a:srgbClr val="29B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02352" y="3396996"/>
            <a:ext cx="19933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enlo"/>
              </a:rPr>
              <a:t>835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02352" y="3675888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730" b="1">
                <a:solidFill>
                  <a:srgbClr val="17202B"/>
                </a:solidFill>
                <a:latin typeface="Apple SD Gothic Neo"/>
              </a:rPr>
              <a:t>지급 명세  Payment / Advice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02352" y="4005072"/>
            <a:ext cx="1993391" cy="1042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670" b="0">
                <a:solidFill>
                  <a:srgbClr val="5A6B7D"/>
                </a:solidFill>
                <a:latin typeface="Apple SD Gothic Neo"/>
              </a:rPr>
              <a:t>보내는 쪽: TPA → 치과 (→ 우리)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670" b="0">
                <a:solidFill>
                  <a:srgbClr val="5A6B7D"/>
                </a:solidFill>
                <a:latin typeface="Apple SD Gothic Neo"/>
              </a:rPr>
              <a:t>주기: 심사 완료 후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670" b="0">
                <a:solidFill>
                  <a:srgbClr val="5A6B7D"/>
                </a:solidFill>
                <a:latin typeface="Apple SD Gothic Neo"/>
              </a:rPr>
              <a:t>담는 것: allowed · plan paid · 본인부담 · 사유 코드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670" b="1">
                <a:solidFill>
                  <a:srgbClr val="B3261E"/>
                </a:solidFill>
                <a:latin typeface="Apple SD Gothic Neo"/>
              </a:rPr>
              <a:t>⚠ 같은 청구에 조정·취소가 여러 번 옵니다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670" b="1">
                <a:solidFill>
                  <a:srgbClr val="B3261E"/>
                </a:solidFill>
                <a:latin typeface="Apple SD Gothic Neo"/>
              </a:rPr>
              <a:t>⚠ 금액이 대체값인지 증감분인지 TPA마다 다름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670" b="1">
                <a:solidFill>
                  <a:srgbClr val="0B7A55"/>
                </a:solidFill>
                <a:latin typeface="Apple SD Gothic Neo"/>
              </a:rPr>
              <a:t>→ 세 금액을 분리해 저장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96912" y="3346704"/>
            <a:ext cx="2212848" cy="18105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0B7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296912" y="3346704"/>
            <a:ext cx="2212848" cy="256032"/>
          </a:xfrm>
          <a:prstGeom prst="roundRect">
            <a:avLst>
              <a:gd name="adj" fmla="val 4000"/>
            </a:avLst>
          </a:prstGeom>
          <a:solidFill>
            <a:srgbClr val="0B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06640" y="3396996"/>
            <a:ext cx="19933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enlo"/>
              </a:rPr>
              <a:t>270 / 271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06640" y="3675888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730" b="1">
                <a:solidFill>
                  <a:srgbClr val="17202B"/>
                </a:solidFill>
                <a:latin typeface="Apple SD Gothic Neo"/>
              </a:rPr>
              <a:t>실시간 자격·급여 조회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06640" y="4005072"/>
            <a:ext cx="1993391" cy="1042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670" b="0">
                <a:solidFill>
                  <a:srgbClr val="5A6B7D"/>
                </a:solidFill>
                <a:latin typeface="Apple SD Gothic Neo"/>
              </a:rPr>
              <a:t>270 = 질문, 271 = 답. 파일이 아니라 실시간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670" b="0">
                <a:solidFill>
                  <a:srgbClr val="5A6B7D"/>
                </a:solidFill>
                <a:latin typeface="Apple SD Gothic Neo"/>
              </a:rPr>
              <a:t>주기: 사용자가 화면을 열 때마다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670" b="0">
                <a:solidFill>
                  <a:srgbClr val="5A6B7D"/>
                </a:solidFill>
                <a:latin typeface="Apple SD Gothic Neo"/>
              </a:rPr>
              <a:t>담는 것: 자격 유효 · 한도 잔여 · 공제 충족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670" b="1">
                <a:solidFill>
                  <a:srgbClr val="B3261E"/>
                </a:solidFill>
                <a:latin typeface="Apple SD Gothic Neo"/>
              </a:rPr>
              <a:t>⚠ 청구 라인을 안 줍니다. CDT도 진료일도 없음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670" b="1">
                <a:solidFill>
                  <a:srgbClr val="B3261E"/>
                </a:solidFill>
                <a:latin typeface="Apple SD Gothic Neo"/>
              </a:rPr>
              <a:t>⚠ 치과가 청구를 안 냈으면 TPA도 모릅니다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670" b="1">
                <a:solidFill>
                  <a:srgbClr val="0B7A55"/>
                </a:solidFill>
                <a:latin typeface="Apple SD Gothic Neo"/>
              </a:rPr>
              <a:t>→ 앱 잔여 한도. 창고 지연 우회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01200" y="3346704"/>
            <a:ext cx="2212848" cy="18105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C988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601200" y="3346704"/>
            <a:ext cx="2212848" cy="256032"/>
          </a:xfrm>
          <a:prstGeom prst="roundRect">
            <a:avLst>
              <a:gd name="adj" fmla="val 4000"/>
            </a:avLst>
          </a:prstGeom>
          <a:solidFill>
            <a:srgbClr val="C988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10928" y="3396996"/>
            <a:ext cx="19933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enlo"/>
              </a:rPr>
              <a:t>999 / TA1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10928" y="3675888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730" b="1">
                <a:solidFill>
                  <a:srgbClr val="17202B"/>
                </a:solidFill>
                <a:latin typeface="Apple SD Gothic Neo"/>
              </a:rPr>
              <a:t>수신 확인  Acknowledgement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10928" y="4005072"/>
            <a:ext cx="1993391" cy="1042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670" b="0">
                <a:solidFill>
                  <a:srgbClr val="5A6B7D"/>
                </a:solidFill>
                <a:latin typeface="Apple SD Gothic Neo"/>
              </a:rPr>
              <a:t>보내는 쪽: 받은 쪽 → 보낸 쪽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670" b="0">
                <a:solidFill>
                  <a:srgbClr val="5A6B7D"/>
                </a:solidFill>
                <a:latin typeface="Apple SD Gothic Neo"/>
              </a:rPr>
              <a:t>주기: 파일마다 즉시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670" b="0">
                <a:solidFill>
                  <a:srgbClr val="5A6B7D"/>
                </a:solidFill>
                <a:latin typeface="Apple SD Gothic Neo"/>
              </a:rPr>
              <a:t>담는 것: 받았는지 · 문법 오류가 있었는지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670" b="0">
                <a:solidFill>
                  <a:srgbClr val="5A6B7D"/>
                </a:solidFill>
                <a:latin typeface="Apple SD Gothic Neo"/>
              </a:rPr>
              <a:t>왜 중요한가: 없으면 '보냈는데 안 들어갔다'를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670" b="0">
                <a:solidFill>
                  <a:srgbClr val="5A6B7D"/>
                </a:solidFill>
                <a:latin typeface="Apple SD Gothic Neo"/>
              </a:rPr>
              <a:t>몇 주 뒤에 압니다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670" b="1">
                <a:solidFill>
                  <a:srgbClr val="0B7A55"/>
                </a:solidFill>
                <a:latin typeface="Apple SD Gothic Neo"/>
              </a:rPr>
              <a:t>→ 적재 실패를 그날 아는 것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4048" y="5138928"/>
            <a:ext cx="114208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60" b="1">
                <a:solidFill>
                  <a:srgbClr val="17202B"/>
                </a:solidFill>
                <a:latin typeface="Apple SD Gothic Neo"/>
              </a:rPr>
              <a:t>카드 색이 경로를 뜻합니다   </a:t>
            </a:r>
            <a:r>
              <a:rPr sz="760" b="0">
                <a:solidFill>
                  <a:srgbClr val="29B5E8"/>
                </a:solidFill>
                <a:latin typeface="Apple SD Gothic Neo"/>
              </a:rPr>
              <a:t>■ 파랑 = 월 1회 파일로 창고를 타는 것    </a:t>
            </a:r>
            <a:r>
              <a:rPr sz="760" b="0">
                <a:solidFill>
                  <a:srgbClr val="0B7A55"/>
                </a:solidFill>
                <a:latin typeface="Apple SD Gothic Neo"/>
              </a:rPr>
              <a:t>■ 초록 = 실시간. 창고를 안 거침    </a:t>
            </a:r>
            <a:r>
              <a:rPr sz="760" b="0">
                <a:solidFill>
                  <a:srgbClr val="C9880A"/>
                </a:solidFill>
                <a:latin typeface="Apple SD Gothic Neo"/>
              </a:rPr>
              <a:t>■ 주황 = 운영·확인용. 데이터가 아니라 신호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84048" y="5358384"/>
            <a:ext cx="11420856" cy="841248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5477256"/>
            <a:ext cx="11091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19" b="1">
                <a:solidFill>
                  <a:srgbClr val="17202B"/>
                </a:solidFill>
                <a:latin typeface="Apple SD Gothic Neo"/>
              </a:rPr>
              <a:t>실무에서 실제로 걸리는 것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5705856"/>
            <a:ext cx="26974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740" b="1">
                <a:solidFill>
                  <a:srgbClr val="29B5E8"/>
                </a:solidFill>
                <a:latin typeface="Apple SD Gothic Neo"/>
              </a:rPr>
              <a:t>trading partner 계약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690" b="0">
                <a:solidFill>
                  <a:srgbClr val="5A6B7D"/>
                </a:solidFill>
                <a:latin typeface="Apple SD Gothic Neo"/>
              </a:rPr>
              <a:t>기술 연결 전에 계약과 테스트 왕복이 먼저입니다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83280" y="5705856"/>
            <a:ext cx="26974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740" b="1">
                <a:solidFill>
                  <a:srgbClr val="29B5E8"/>
                </a:solidFill>
                <a:latin typeface="Apple SD Gothic Neo"/>
              </a:rPr>
              <a:t>전체 파일 vs 변경분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690" b="0">
                <a:solidFill>
                  <a:srgbClr val="5A6B7D"/>
                </a:solidFill>
                <a:latin typeface="Apple SD Gothic Neo"/>
              </a:rPr>
              <a:t>834를 변경분으로만 받으면 한 번 놓친 파일이 영구히 어긋납니다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17920" y="5705856"/>
            <a:ext cx="26974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740" b="1">
                <a:solidFill>
                  <a:srgbClr val="29B5E8"/>
                </a:solidFill>
                <a:latin typeface="Apple SD Gothic Neo"/>
              </a:rPr>
              <a:t>term_date 규약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690" b="0">
                <a:solidFill>
                  <a:srgbClr val="5A6B7D"/>
                </a:solidFill>
                <a:latin typeface="Apple SD Gothic Neo"/>
              </a:rPr>
              <a:t>마지막 보장일인지 첫 미보장일인지 다릅니다. 종료자 전원 하루씩 차이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0" y="5705856"/>
            <a:ext cx="26974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740" b="1">
                <a:solidFill>
                  <a:srgbClr val="29B5E8"/>
                </a:solidFill>
                <a:latin typeface="Apple SD Gothic Neo"/>
              </a:rPr>
              <a:t>SFTP vs Data Sharing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690" b="0">
                <a:solidFill>
                  <a:srgbClr val="5A6B7D"/>
                </a:solidFill>
                <a:latin typeface="Apple SD Gothic Neo"/>
              </a:rPr>
              <a:t>TPA가 Snowflake를 쓰면 파일 전송 없이 공유로 받을 수 있습니다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