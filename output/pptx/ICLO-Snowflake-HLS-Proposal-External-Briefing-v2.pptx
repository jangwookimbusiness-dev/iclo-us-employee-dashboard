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f383eb797a460d" /><Relationship Type="http://schemas.openxmlformats.org/officeDocument/2006/relationships/extended-properties" Target="/docProps/app.xml" Id="R4effd5e8fdd749a4" /><Relationship Type="http://schemas.openxmlformats.org/officeDocument/2006/relationships/officeDocument" Target="/ppt/presentation.xml" Id="R6f99b750ebfa4c1c" /></Relationships>
</file>

<file path=ppt/presentation.xml><?xml version="1.0" encoding="utf-8"?>
<p:presentation xmlns:p="http://schemas.openxmlformats.org/presentationml/2006/main">
  <p:sldMasterIdLst>
    <p:sldMasterId xmlns:r="http://schemas.openxmlformats.org/officeDocument/2006/relationships" id="2147483648" r:id="Rf368c7d803d1424e"/>
  </p:sldMasterIdLst>
  <p:notesMasterIdLst>
    <p:notesMasterId xmlns:r="http://schemas.openxmlformats.org/officeDocument/2006/relationships" r:id="Rdbf21b7b57b14f77"/>
  </p:notesMasterIdLst>
  <p:sldIdLst>
    <p:sldId xmlns:r="http://schemas.openxmlformats.org/officeDocument/2006/relationships" id="256" r:id="R0b9666447a684690"/>
    <p:sldId xmlns:r="http://schemas.openxmlformats.org/officeDocument/2006/relationships" id="257" r:id="R7ee50a3284d94a4e"/>
    <p:sldId xmlns:r="http://schemas.openxmlformats.org/officeDocument/2006/relationships" id="258" r:id="R1315305e6f1e4750"/>
    <p:sldId xmlns:r="http://schemas.openxmlformats.org/officeDocument/2006/relationships" id="259" r:id="R1608a64af01c43f4"/>
    <p:sldId xmlns:r="http://schemas.openxmlformats.org/officeDocument/2006/relationships" id="260" r:id="Rf7e7c0faec5347e2"/>
    <p:sldId xmlns:r="http://schemas.openxmlformats.org/officeDocument/2006/relationships" id="261" r:id="R29120b6a61684955"/>
    <p:sldId xmlns:r="http://schemas.openxmlformats.org/officeDocument/2006/relationships" id="262" r:id="R1c47d678913c4ca3"/>
    <p:sldId xmlns:r="http://schemas.openxmlformats.org/officeDocument/2006/relationships" id="263" r:id="R7c8449119a5b4ce0"/>
    <p:sldId xmlns:r="http://schemas.openxmlformats.org/officeDocument/2006/relationships" id="264" r:id="Rfa1e8595781c4a1b"/>
    <p:sldId xmlns:r="http://schemas.openxmlformats.org/officeDocument/2006/relationships" id="265" r:id="Rbec5814bff354e1e"/>
    <p:sldId xmlns:r="http://schemas.openxmlformats.org/officeDocument/2006/relationships" id="266" r:id="R520e26d843384288"/>
    <p:sldId xmlns:r="http://schemas.openxmlformats.org/officeDocument/2006/relationships" id="267" r:id="R34687b607136447a"/>
    <p:sldId xmlns:r="http://schemas.openxmlformats.org/officeDocument/2006/relationships" id="268" r:id="R910fb74f88294c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744f6540f347af" /><Relationship Type="http://schemas.openxmlformats.org/officeDocument/2006/relationships/slideMaster" Target="/ppt/slideMasters/slideMaster1.xml" Id="Rf368c7d803d1424e" /><Relationship Type="http://schemas.openxmlformats.org/officeDocument/2006/relationships/notesMaster" Target="/ppt/notesMasters/notesMaster1.xml" Id="Rdbf21b7b57b14f77" /><Relationship Type="http://schemas.openxmlformats.org/officeDocument/2006/relationships/presProps" Target="/ppt/presProps.xml" Id="Rf7a7ac9112694065" /><Relationship Type="http://schemas.openxmlformats.org/officeDocument/2006/relationships/tableStyles" Target="/ppt/tableStyles.xml" Id="R6da471bda479467d" /><Relationship Type="http://schemas.openxmlformats.org/officeDocument/2006/relationships/slide" Target="/ppt/slides/slide1.xml" Id="R0b9666447a684690" /><Relationship Type="http://schemas.openxmlformats.org/officeDocument/2006/relationships/slide" Target="/ppt/slides/slide2.xml" Id="R7ee50a3284d94a4e" /><Relationship Type="http://schemas.openxmlformats.org/officeDocument/2006/relationships/slide" Target="/ppt/slides/slide3.xml" Id="R1315305e6f1e4750" /><Relationship Type="http://schemas.openxmlformats.org/officeDocument/2006/relationships/slide" Target="/ppt/slides/slide4.xml" Id="R1608a64af01c43f4" /><Relationship Type="http://schemas.openxmlformats.org/officeDocument/2006/relationships/slide" Target="/ppt/slides/slide5.xml" Id="Rf7e7c0faec5347e2" /><Relationship Type="http://schemas.openxmlformats.org/officeDocument/2006/relationships/slide" Target="/ppt/slides/slide6.xml" Id="R29120b6a61684955" /><Relationship Type="http://schemas.openxmlformats.org/officeDocument/2006/relationships/slide" Target="/ppt/slides/slide7.xml" Id="R1c47d678913c4ca3" /><Relationship Type="http://schemas.openxmlformats.org/officeDocument/2006/relationships/slide" Target="/ppt/slides/slide8.xml" Id="R7c8449119a5b4ce0" /><Relationship Type="http://schemas.openxmlformats.org/officeDocument/2006/relationships/slide" Target="/ppt/slides/slide9.xml" Id="Rfa1e8595781c4a1b" /><Relationship Type="http://schemas.openxmlformats.org/officeDocument/2006/relationships/slide" Target="/ppt/slides/slide10.xml" Id="Rbec5814bff354e1e" /><Relationship Type="http://schemas.openxmlformats.org/officeDocument/2006/relationships/slide" Target="/ppt/slides/slide11.xml" Id="R520e26d843384288" /><Relationship Type="http://schemas.openxmlformats.org/officeDocument/2006/relationships/slide" Target="/ppt/slides/slide12.xml" Id="R34687b607136447a" /><Relationship Type="http://schemas.openxmlformats.org/officeDocument/2006/relationships/slide" Target="/ppt/slides/slide13.xml" Id="R910fb74f88294c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70711c09944a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53e98810654ab0" /><Relationship Type="http://schemas.openxmlformats.org/officeDocument/2006/relationships/notesMaster" Target="/ppt/notesMasters/notesMaster1.xml" Id="R89e73f58f3fe49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95bb78ef2a4130" /><Relationship Type="http://schemas.openxmlformats.org/officeDocument/2006/relationships/notesMaster" Target="/ppt/notesMasters/notesMaster1.xml" Id="R3b64e85a4c814f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1e5352e777404b" /><Relationship Type="http://schemas.openxmlformats.org/officeDocument/2006/relationships/notesMaster" Target="/ppt/notesMasters/notesMaster1.xml" Id="R5ce623f2a56b40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12f711435b74694" /><Relationship Type="http://schemas.openxmlformats.org/officeDocument/2006/relationships/notesMaster" Target="/ppt/notesMasters/notesMaster1.xml" Id="Rf217acff18b944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1458a5bc5d4758" /><Relationship Type="http://schemas.openxmlformats.org/officeDocument/2006/relationships/notesMaster" Target="/ppt/notesMasters/notesMaster1.xml" Id="R5e260c39f4c448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caea2429d04a46" /><Relationship Type="http://schemas.openxmlformats.org/officeDocument/2006/relationships/notesMaster" Target="/ppt/notesMasters/notesMaster1.xml" Id="Rb2897ef23e7049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9caad5f40c4641" /><Relationship Type="http://schemas.openxmlformats.org/officeDocument/2006/relationships/notesMaster" Target="/ppt/notesMasters/notesMaster1.xml" Id="R22b2b59ea00242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3c3da42b074907" /><Relationship Type="http://schemas.openxmlformats.org/officeDocument/2006/relationships/notesMaster" Target="/ppt/notesMasters/notesMaster1.xml" Id="R35564711663b40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36665400b94750" /><Relationship Type="http://schemas.openxmlformats.org/officeDocument/2006/relationships/notesMaster" Target="/ppt/notesMasters/notesMaster1.xml" Id="R027d0a01f7eb49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18bc029ab64c1b" /><Relationship Type="http://schemas.openxmlformats.org/officeDocument/2006/relationships/notesMaster" Target="/ppt/notesMasters/notesMaster1.xml" Id="R85ae1efdcf344f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87caf24438446f" /><Relationship Type="http://schemas.openxmlformats.org/officeDocument/2006/relationships/notesMaster" Target="/ppt/notesMasters/notesMaster1.xml" Id="R39568128d33741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add99badaa4c2a" /><Relationship Type="http://schemas.openxmlformats.org/officeDocument/2006/relationships/notesMaster" Target="/ppt/notesMasters/notesMaster1.xml" Id="R11048b9ee7794f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fe8c8fee434052" /><Relationship Type="http://schemas.openxmlformats.org/officeDocument/2006/relationships/notesMaster" Target="/ppt/notesMasters/notesMaster1.xml" Id="R2d1857cb6f574e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ICLO를 ' 치아 사진 AI '로 소개하지 않는다. 앞단은 직원의 치과복지 이해와 이용을 돕는 경험이고, 뒷단은 그 여정을 eligibility와 claims로 확인하는 evidence layer라는 점을 먼저 고정한다. 이번 미팅의 목적은 제품 판매가 아니라 Snowflake 내 sales play, 기술 검증 세션, account-level 검증 경로를 합의하는 것이다.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S-Brain/20_Business/25_iclo/01_strategy/2026-07-30-iclo-snowflake-korea-3pager-v2.md</a:t>
            </a:r>
          </a:p>
          <a:p xmlns:a="http://schemas.openxmlformats.org/drawingml/2006/main">
            <a:r>
              <a:t>- https://jangwookimbusiness-dev.github.io/iclo-us-employee-dashboard/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보험이 있어도 모든 직원에게 동일한 이용경험이 생기는 것은 아니라는 문제를 설명한다. 다만 '계약 치과만 갈 수 있다'처럼 절대화하지 않는다. friction의 크기와 구매 우선순위는 아직 고객 데이터와 인터뷰로 검증해야 하므로 hypothesis로 명시한다.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a:p xmlns:a="http://schemas.openxmlformats.org/drawingml/2006/main">
            <a:r>
              <a:t>- https://www.healthcare.gov/coverage/dental-coverage/</a:t>
            </a:r>
          </a:p>
          <a:p xmlns:a="http://schemas.openxmlformats.org/drawingml/2006/main">
            <a:r>
              <a:t>- https://www.deltadental.com/about-us/terms-of-use/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 Experience, Benefit and Provider Context, Action, Claims Evidence의 네 단계를 보여준다. 초기 이미지 모델 출력은 shadow mode에 두고 직원 행동, urgency, provider 또는 treatment pathway를 자동 결정하지 않는다. employee-initiated 또는 human-assisted navigation은 현재 ICLO의 잠정 product redline이며 미국 규제 자문을 거쳐 확정할 사안이다.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초기 preventive utilization과 발견 치료가 비용을 올릴 수 있음을 먼저 인정한다. 이후 mix 변화는 가설이며 고객 데이터로 검증해야 한다. Allowed, plan-paid, employee OOP를 분리하고 저이직 기업은 장기 회수 가능성, 고이직 기업은 employee experience와 retention 논리를 별도로 검토한다. 숫자를 실제 ICLO outcome처럼 제시하지 않는다.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S-Brain/20_Business/25_iclo/02_meetings/2026-08-04-unknown-re-미국-임직원-복지-프로그램-시안-대시보드-포함.md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Snowflake는 database hosting이 아니라 canonical model, data-quality reconciliation, policy-based access, lineage, outcome calculation과 account collaboration을 담당하는 evidence plane으로 설명한다. Raw oral image는 별도 controlled U.S. object storage 또는 PHI vault에 두고 Snowflake에는 URI, metadata, model version과 승인된 derived signal만 적재하는 경계를 제안한다. Business Critical과 적절한 BAA는 PHI 처리 시 플랫폼 전제이지 ICLO 전체 HIPAA 준수의 완성 조건이 아니다.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/Users/jk0307/Documents/obsidian_vault1/J-Dub S-Brain/20_Business/25_iclo/01_strategy/2026-07-30-iclo-snowflake-korea-3pager-v2.md</a:t>
            </a:r>
          </a:p>
          <a:p xmlns:a="http://schemas.openxmlformats.org/drawingml/2006/main">
            <a:r>
              <a:t>- https://docs.snowflake.com/en/user-guide/intro-editions</a:t>
            </a:r>
          </a:p>
          <a:p xmlns:a="http://schemas.openxmlformats.org/drawingml/2006/main">
            <a:r>
              <a:t>- https://docs.snowflake.com/en/user-guide/data-sharing-intro</a:t>
            </a:r>
          </a:p>
          <a:p xmlns:a="http://schemas.openxmlformats.org/drawingml/2006/main">
            <a:r>
              <a:t>- https://docs.snowflake.com/en/user-guide/security-row-intro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 수치는 ICLO 성과가 아니라 buyer가 metric 정의와 data quality를 검증하는 방식의 데모다. 직원 기준 참여 분모와 covered member-month 기준 비용 분모를 분리하고, 기준일, claims lag, completeness, suppression을 동시에 노출한다. employer는 개인 PHI나 개인별 routing 정보를 보지 않는다. 가로로 긴 원본 화면을 한 번만 크게 보여주고, 설명은 아래 가로 annotation strip으로 읽히게 배치했다.</a:t>
            </a:r>
          </a:p>
          <a:p xmlns:a="http://schemas.openxmlformats.org/drawingml/2006/main">
            <a:r>
              <a:t/>
            </a:r>
          </a:p>
          <a:p xmlns:a="http://schemas.openxmlformats.org/drawingml/2006/main">
            <a:r>
              <a:t>[Sources]</a:t>
            </a:r>
          </a:p>
          <a:p xmlns:a="http://schemas.openxmlformats.org/drawingml/2006/main">
            <a:r>
              <a:t>- /Users/jk0307/Documents/GitHub/iclo/iclo-us-employee-dashboard/index.html</a:t>
            </a:r>
          </a:p>
          <a:p xmlns:a="http://schemas.openxmlformats.org/drawingml/2006/main">
            <a:r>
              <a:t>- /Users/jk0307/Documents/GitHub/iclo/iclo-us-employee-dashboard/README.md</a:t>
            </a:r>
          </a:p>
          <a:p xmlns:a="http://schemas.openxmlformats.org/drawingml/2006/main">
            <a:r>
              <a:t>- https://jangwookimbusiness-dev.github.io/iclo-us-employee-dashboard/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Delta Dental은 39개 독립 회사, Blue는 33개 독립·지역 운영 회사 구조다. association 또는 parent 관계만으로 실제 procurement, dental workload, region, vendor 관계를 추정하지 않는다. 공개된 incumbent 사례는 account-specific signal일 뿐이며, 기능 범위와 ICLO whitespace는 diligence question으로 남긴다.</a:t>
            </a:r>
          </a:p>
          <a:p xmlns:a="http://schemas.openxmlformats.org/drawingml/2006/main">
            <a:r>
              <a:t/>
            </a:r>
          </a:p>
          <a:p xmlns:a="http://schemas.openxmlformats.org/drawingml/2006/main">
            <a:r>
              <a:t>[Sources]</a:t>
            </a:r>
          </a:p>
          <a:p xmlns:a="http://schemas.openxmlformats.org/drawingml/2006/main">
            <a:r>
              <a:t>- https://www.deltadental.com/about-us/delta-dental-member-companies/</a:t>
            </a:r>
          </a:p>
          <a:p xmlns:a="http://schemas.openxmlformats.org/drawingml/2006/main">
            <a:r>
              <a:t>- https://www.deltadental.com/about-us/terms-of-use/</a:t>
            </a:r>
          </a:p>
          <a:p xmlns:a="http://schemas.openxmlformats.org/drawingml/2006/main">
            <a:r>
              <a:t>- https://www.bcbs.com/about-us/blue-cross-blue-shield-system</a:t>
            </a:r>
          </a:p>
          <a:p xmlns:a="http://schemas.openxmlformats.org/drawingml/2006/main">
            <a:r>
              <a:t>- https://www.deltadentalwa.com/our-company/community/DentistryOne-Press-Release</a:t>
            </a:r>
          </a:p>
          <a:p xmlns:a="http://schemas.openxmlformats.org/drawingml/2006/main">
            <a:r>
              <a:t>- https://www.prnewswire.com/news-releases/quip-acquires-teledentistry-company-toothpic-to-become-first-360-degree-oral-health-service-and-improve-dental-care-access-for-over-40-million-people-301528398.html</a:t>
            </a:r>
          </a:p>
          <a:p xmlns:a="http://schemas.openxmlformats.org/drawingml/2006/main">
            <a:r>
              <a:t>- https://home.bluecrossma.com/collateral/sites/g/files/csphws1571/files/acquiadam-assets/55-003112164_Dental_Blue_Teledentistry.com_Member_Fact_Sheet.pdf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GTM specialist에게 구현을 맡기는 것이 아니라 industry fit, 내부 조정과 account-path sponsorship을 요청한다. 특히 '고객 소개'를 먼저 요구하지 않는다. 한 payer/TPA account team이 dental eligibility 또는 claim-line data의 실재, architecture 적합성과 unmet need를 확인하는 순서를 요청한다.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https://www.snowflake.com/en/why-snowflake/startup-program/</a:t>
            </a:r>
          </a:p>
          <a:p xmlns:a="http://schemas.openxmlformats.org/drawingml/2006/main">
            <a:r>
              <a:t>- https://www.snowflake.com/en/why-snowflake/startup-program/startup-accelerator/</a:t>
            </a:r>
          </a:p>
          <a:p xmlns:a="http://schemas.openxmlformats.org/drawingml/2006/main">
            <a:r>
              <a:t>- https://docs.snowflake.com/en/developer-guide/native-apps/native-apps-about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90일 후 남아야 하는 것은 소개 약속이 아니라 reference architecture, sizing, account matrix, one-account validation과 partner criteria다. Native App, Clean Room, federated learning과 공동 발표는 핵심 ingestion·governance 패턴과 고객 증거가 확인된 뒤에만 검토한다.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https://docs.snowflake.com/en/user-guide/data-sharing-intro</a:t>
            </a:r>
          </a:p>
          <a:p xmlns:a="http://schemas.openxmlformats.org/drawingml/2006/main">
            <a:r>
              <a:t>- https://docs.snowflake.com/en/user-guide/cleanrooms/introduction</a:t>
            </a:r>
          </a:p>
          <a:p xmlns:a="http://schemas.openxmlformats.org/drawingml/2006/main">
            <a:r>
              <a:t>- https://docs.snowflake.com/en/developer-guide/native-apps/native-apps-about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ICLO, employer/TPA/clinical partner, Snowflake, 외부 법률·규제 자문의 책임을 분리한다. Snowflake에 FDA status, consent sufficiency, data rights 또는 ICLO incident response 전체를 요구하지 않는다.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https://docs.snowflake.com/en/user-guide/intro-editions</a:t>
            </a:r>
          </a:p>
          <a:p xmlns:a="http://schemas.openxmlformats.org/drawingml/2006/main">
            <a:r>
              <a:t>- https://docs.snowflake.com/en/user-guide/security-row-intro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pilot의 우선순위는 ingestion, canonical data, aggregate views와 반복 가능한 TPA integration이다. Clean Room은 단일 employer/TPA pilot의 기본 구조가 아니며, federated learning도 복수 기관의 이미지 데이터 파트너가 생긴 뒤 검토할 future option이다. 정확한 질문: When Snowflake refers to federated learning for this use case, does it mean true local model training and parameter aggregation across institutions, or collaborative ML inside a Snowflake-controlled environment such as a Clean Room, Native App or customer-account execution pattern?</a:t>
            </a:r>
          </a:p>
          <a:p xmlns:a="http://schemas.openxmlformats.org/drawingml/2006/main">
            <a:r>
              <a:t/>
            </a:r>
          </a:p>
          <a:p xmlns:a="http://schemas.openxmlformats.org/drawingml/2006/main">
            <a:r>
              <a:t>[Sources]</a:t>
            </a:r>
          </a:p>
          <a:p xmlns:a="http://schemas.openxmlformats.org/drawingml/2006/main">
            <a:r>
              <a:t>- https://docs.snowflake.com/en/user-guide/intro-editions</a:t>
            </a:r>
          </a:p>
          <a:p xmlns:a="http://schemas.openxmlformats.org/drawingml/2006/main">
            <a:r>
              <a:t>- https://docs.snowflake.com/en/user-guide/data-sharing-intro</a:t>
            </a:r>
          </a:p>
          <a:p xmlns:a="http://schemas.openxmlformats.org/drawingml/2006/main">
            <a:r>
              <a:t>- https://docs.snowflake.com/en/user-guide/secure-data-sharing-across-regions-plaforms.html</a:t>
            </a:r>
          </a:p>
          <a:p xmlns:a="http://schemas.openxmlformats.org/drawingml/2006/main">
            <a:r>
              <a:t>- https://docs.snowflake.com/en/user-guide/cleanrooms/introduction</a:t>
            </a:r>
          </a:p>
          <a:p xmlns:a="http://schemas.openxmlformats.org/drawingml/2006/main">
            <a:r>
              <a:t>- https://docs.snowflake.com/en/developer-guide/native-apps/native-apps-about</a:t>
            </a:r>
          </a:p>
          <a:p xmlns:a="http://schemas.openxmlformats.org/drawingml/2006/main">
            <a:r>
              <a:t>- https://docs.snowflake.com/en/user-guide/cost-controlling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시뮬레이션은 고객별 planning heuristic이다. 초기 내부 가정이나 고정 상승률을 외부 예측으로 쓰지 않는다. Snowflake에서 입력 lineage, scenario version, uncertainty와 claims run-out을 추적하는 분석 use case로 제안한다.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S-Brain/20_Business/25_iclo/02_meetings/2026-08-04-unknown-re-미국-임직원-복지-프로그램-시안-대시보드-포함.md</a:t>
            </a:r>
          </a:p>
          <a:p xmlns:a="http://schemas.openxmlformats.org/drawingml/2006/main">
            <a:r>
              <a:t>- /Users/jk0307/Documents/obsidian_vault1/J-Dub S-Brain/20_Business/25_iclo/01_strategy/2026-07-30-iclo-us-employer-oral-health-report-v2.md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 고객인 TPA가 많다'는 추정 대신 account evidence를 쌓는 템플릿이다. 데이터 실재와 기술 검증 준비도가 먼저이며 customer introduction readiness는 별도 필드로 둔다.</a:t>
            </a:r>
          </a:p>
          <a:p xmlns:a="http://schemas.openxmlformats.org/drawingml/2006/main">
            <a:r>
              <a:t/>
            </a:r>
          </a:p>
          <a:p xmlns:a="http://schemas.openxmlformats.org/drawingml/2006/main">
            <a:r>
              <a:t>[Sources]</a:t>
            </a:r>
          </a:p>
          <a:p xmlns:a="http://schemas.openxmlformats.org/drawingml/2006/main">
            <a:r>
              <a:t>- /Users/jk0307/Documents/obsidian_vault1/J-Dub S-Brain/20_Business/25_iclo/01_strategy/2026-07-30-iclo-us-employer-oral-health-report-v2.md</a:t>
            </a:r>
          </a:p>
          <a:p xmlns:a="http://schemas.openxmlformats.org/drawingml/2006/main">
            <a:r>
              <a:t>- https://www.deltadental.com/about-us/delta-dental-member-companies/</a:t>
            </a:r>
          </a:p>
          <a:p xmlns:a="http://schemas.openxmlformats.org/drawingml/2006/main">
            <a:r>
              <a:t>- https://www.bcbs.com/about-us/blue-cross-blue-shield-system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88a249d13c4a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e3be0f16f14cd9" /><Relationship Type="http://schemas.openxmlformats.org/officeDocument/2006/relationships/slideLayout" Target="/ppt/slideLayouts/slideLayout1.xml" Id="R825ff83dd7d748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5ff83dd7d748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6294521f754ef1" /><Relationship Type="http://schemas.openxmlformats.org/officeDocument/2006/relationships/image" Target="/ppt/media/image.png" Id="R9375bf5b1fcb454c" /><Relationship Type="http://schemas.openxmlformats.org/officeDocument/2006/relationships/image" Target="/ppt/media/image2.png" Id="Rbff449a7f5b94fdc" /><Relationship Type="http://schemas.openxmlformats.org/officeDocument/2006/relationships/notesSlide" Target="/ppt/notesSlides/notesSlide1.xml" Id="R2bedd3eec2d142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12b1c64bd3445b" /><Relationship Type="http://schemas.openxmlformats.org/officeDocument/2006/relationships/image" Target="/ppt/media/image3.png" Id="R68bacf90a8b04c6a" /><Relationship Type="http://schemas.openxmlformats.org/officeDocument/2006/relationships/image" Target="/ppt/media/image4.png" Id="R28a75f0f1db54456" /><Relationship Type="http://schemas.openxmlformats.org/officeDocument/2006/relationships/notesSlide" Target="/ppt/notesSlides/notesSlide2.xml" Id="Rad36bd5901ef47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f403ca763642cd" /><Relationship Type="http://schemas.openxmlformats.org/officeDocument/2006/relationships/image" Target="/ppt/media/image5.png" Id="Rb0d2f37278c5452f" /><Relationship Type="http://schemas.openxmlformats.org/officeDocument/2006/relationships/image" Target="/ppt/media/image6.png" Id="R818176fc41a5402a" /><Relationship Type="http://schemas.openxmlformats.org/officeDocument/2006/relationships/notesSlide" Target="/ppt/notesSlides/notesSlide3.xml" Id="R01808d4793584b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8e6825ac4d4c2e" /><Relationship Type="http://schemas.openxmlformats.org/officeDocument/2006/relationships/image" Target="/ppt/media/image7.png" Id="R3ce68c5dc2254159" /><Relationship Type="http://schemas.openxmlformats.org/officeDocument/2006/relationships/image" Target="/ppt/media/image8.png" Id="Ra2e736a177b84256" /><Relationship Type="http://schemas.openxmlformats.org/officeDocument/2006/relationships/notesSlide" Target="/ppt/notesSlides/notesSlide4.xml" Id="Rfc26dcb1aad54b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37a73c798648ba" /><Relationship Type="http://schemas.openxmlformats.org/officeDocument/2006/relationships/image" Target="/ppt/media/image9.png" Id="Rabbe44bd5cd241d9" /><Relationship Type="http://schemas.openxmlformats.org/officeDocument/2006/relationships/image" Target="/ppt/media/image10.png" Id="Re0c0b17677b941f6" /><Relationship Type="http://schemas.openxmlformats.org/officeDocument/2006/relationships/notesSlide" Target="/ppt/notesSlides/notesSlide5.xml" Id="R3654ff09062845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e13c4a698654bae" /><Relationship Type="http://schemas.openxmlformats.org/officeDocument/2006/relationships/image" Target="/ppt/media/image11.png" Id="R36a021d1069c4eaa" /><Relationship Type="http://schemas.openxmlformats.org/officeDocument/2006/relationships/image" Target="/ppt/media/image12.png" Id="Ra2e14a192f9c4351" /><Relationship Type="http://schemas.openxmlformats.org/officeDocument/2006/relationships/image" Target="/ppt/media/image13.png" Id="Radad2f71f1264717" /><Relationship Type="http://schemas.openxmlformats.org/officeDocument/2006/relationships/image" Target="/ppt/media/image14.png" Id="R73b746b700b142ef" /><Relationship Type="http://schemas.openxmlformats.org/officeDocument/2006/relationships/notesSlide" Target="/ppt/notesSlides/notesSlide6.xml" Id="R5c35095fc66147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ccf57fda1c4881" /><Relationship Type="http://schemas.openxmlformats.org/officeDocument/2006/relationships/image" Target="/ppt/media/image15.png" Id="R1fb1a4c701894c79" /><Relationship Type="http://schemas.openxmlformats.org/officeDocument/2006/relationships/image" Target="/ppt/media/image16.png" Id="R703ed20831384499" /><Relationship Type="http://schemas.openxmlformats.org/officeDocument/2006/relationships/notesSlide" Target="/ppt/notesSlides/notesSlide7.xml" Id="Rfcca922775424d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958a4c115a4ebe" /><Relationship Type="http://schemas.openxmlformats.org/officeDocument/2006/relationships/image" Target="/ppt/media/image17.png" Id="R03f199826d444478" /><Relationship Type="http://schemas.openxmlformats.org/officeDocument/2006/relationships/image" Target="/ppt/media/image18.png" Id="Rb5ff26e85d2d4b58" /><Relationship Type="http://schemas.openxmlformats.org/officeDocument/2006/relationships/notesSlide" Target="/ppt/notesSlides/notesSlide8.xml" Id="R08b0212b842e4d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b03ec301514e20" /><Relationship Type="http://schemas.openxmlformats.org/officeDocument/2006/relationships/image" Target="/ppt/media/image19.png" Id="Ra882a173ab0f4ba6" /><Relationship Type="http://schemas.openxmlformats.org/officeDocument/2006/relationships/image" Target="/ppt/media/image20.png" Id="R38826ce1d7ce4ae4" /><Relationship Type="http://schemas.openxmlformats.org/officeDocument/2006/relationships/notesSlide" Target="/ppt/notesSlides/notesSlide9.xml" Id="Raa323736a94c45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97589000424f4e" /><Relationship Type="http://schemas.openxmlformats.org/officeDocument/2006/relationships/image" Target="/ppt/media/image21.png" Id="R9bdb002e499c4e1d" /><Relationship Type="http://schemas.openxmlformats.org/officeDocument/2006/relationships/image" Target="/ppt/media/image22.png" Id="R903d3b2789124f25" /><Relationship Type="http://schemas.openxmlformats.org/officeDocument/2006/relationships/notesSlide" Target="/ppt/notesSlides/notesSlide10.xml" Id="R4577cd9508734c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196bd4bdb54f1c" /><Relationship Type="http://schemas.openxmlformats.org/officeDocument/2006/relationships/image" Target="/ppt/media/image23.png" Id="R03e78a43c6e14bce" /><Relationship Type="http://schemas.openxmlformats.org/officeDocument/2006/relationships/image" Target="/ppt/media/image24.png" Id="Rc4229e4ea59049c8" /><Relationship Type="http://schemas.openxmlformats.org/officeDocument/2006/relationships/notesSlide" Target="/ppt/notesSlides/notesSlide11.xml" Id="Ra2fe6edf2bb942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04a2f3404341c7" /><Relationship Type="http://schemas.openxmlformats.org/officeDocument/2006/relationships/image" Target="/ppt/media/image25.png" Id="Rdf61f2b6d3634da3" /><Relationship Type="http://schemas.openxmlformats.org/officeDocument/2006/relationships/image" Target="/ppt/media/image26.png" Id="R519badec04ae4e70" /><Relationship Type="http://schemas.openxmlformats.org/officeDocument/2006/relationships/notesSlide" Target="/ppt/notesSlides/notesSlide12.xml" Id="Rc1d532b972df4e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fb8c177de9415c" /><Relationship Type="http://schemas.openxmlformats.org/officeDocument/2006/relationships/image" Target="/ppt/media/image27.png" Id="R13c25292284941b6" /><Relationship Type="http://schemas.openxmlformats.org/officeDocument/2006/relationships/image" Target="/ppt/media/image28.png" Id="R81a60eeb45d846bb" /><Relationship Type="http://schemas.openxmlformats.org/officeDocument/2006/relationships/notesSlide" Target="/ppt/notesSlides/notesSlide13.xml" Id="Rea449dd306414429" /></Relationships>
</file>

<file path=ppt/slides/slide1.xml><?xml version="1.0" encoding="utf-8"?>
<p:sld xmlns:p="http://schemas.openxmlformats.org/presentationml/2006/main">
  <p:cSld>
    <p:bg>
      <p:bgPr>
        <a:solidFill xmlns:a="http://schemas.openxmlformats.org/drawingml/2006/main">
          <a:srgbClr val="1B2A4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6BD1A60-53A0-4782-8C39-0B06DB1FAD3E}"/>
              </a:ext>
            </a:extLst>
          </p:cNvPr>
          <p:cNvSpPr>
            <a:spLocks xmlns:a="http://schemas.openxmlformats.org/drawingml/2006/main" noGrp="1"/>
          </p:cNvSpPr>
          <p:nvPr/>
        </p:nvSpPr>
        <p:spPr>
          <a:xfrm xmlns:a="http://schemas.openxmlformats.org/drawingml/2006/main">
            <a:off x="609600" y="495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HLS GTM &amp; ARCHITECTURE PROPOSAL</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375bf5b1fcb454c"/>
          <a:stretch xmlns:a="http://schemas.openxmlformats.org/drawingml/2006/main"/>
        </p:blipFill>
        <p:spPr>
          <a:xfrm xmlns:a="http://schemas.openxmlformats.org/drawingml/2006/main">
            <a:off x="8953500" y="343081"/>
            <a:ext cx="990600" cy="36158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CECFF9-4C0D-477F-8642-85E57708FA67}"/>
              </a:ext>
            </a:extLst>
          </p:cNvPr>
          <p:cNvSpPr>
            <a:spLocks xmlns:a="http://schemas.openxmlformats.org/drawingml/2006/main" noGrp="1"/>
          </p:cNvSpPr>
          <p:nvPr/>
        </p:nvSpPr>
        <p:spPr>
          <a:xfrm xmlns:a="http://schemas.openxmlformats.org/drawingml/2006/main">
            <a:off x="10039350" y="438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B8C4D8"/>
                </a:solidFill>
              </a:defRPr>
            </a:pPr>
            <a:r>
              <a:rPr sz="1275" b="1" i="0">
                <a:solidFill>
                  <a:srgbClr val="B8C4D8"/>
                </a:solidFill>
              </a:rPr>
              <a: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ff449a7f5b94fdc"/>
          <a:stretch xmlns:a="http://schemas.openxmlformats.org/drawingml/2006/main"/>
        </p:blipFill>
        <p:spPr>
          <a:xfrm xmlns:a="http://schemas.openxmlformats.org/drawingml/2006/main">
            <a:off x="10497856" y="285750"/>
            <a:ext cx="930838" cy="52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EA2424E-6EA1-4744-9C9A-94F82858B8B0}"/>
              </a:ext>
            </a:extLst>
          </p:cNvPr>
          <p:cNvSpPr>
            <a:spLocks xmlns:a="http://schemas.openxmlformats.org/drawingml/2006/main" noGrp="1"/>
          </p:cNvSpPr>
          <p:nvPr/>
        </p:nvSpPr>
        <p:spPr>
          <a:xfrm xmlns:a="http://schemas.openxmlformats.org/drawingml/2006/main">
            <a:off x="609600" y="1257300"/>
            <a:ext cx="8763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FFFFF"/>
                </a:solidFill>
              </a:defRPr>
            </a:pPr>
            <a:r>
              <a:rPr sz="3450" b="1" i="0">
                <a:solidFill>
                  <a:srgbClr val="FFFFFF"/>
                </a:solidFill>
              </a:rPr>
              <a:t>Building the Evidence Layer for</a:t>
            </a:r>
          </a:p>
          <a:p xmlns:a="http://schemas.openxmlformats.org/drawingml/2006/main">
            <a:pPr algn="l">
              <a:defRPr sz="3450" b="1" i="0">
                <a:solidFill>
                  <a:srgbClr val="FFFFFF"/>
                </a:solidFill>
              </a:defRPr>
            </a:pPr>
            <a:r>
              <a:rPr sz="3450" b="1" i="0">
                <a:solidFill>
                  <a:srgbClr val="FFFFFF"/>
                </a:solidFill>
              </a:rPr>
              <a:t>Employer Dental Benefits</a:t>
            </a:r>
          </a:p>
        </p:txBody>
      </p:sp>
      <p:sp>
        <p:nvSpPr>
          <p:cNvPr id="6" name="">
            <a:extLst xmlns:a="http://schemas.openxmlformats.org/drawingml/2006/main">
              <a:ext uri="{FF2B5EF4-FFF2-40B4-BE49-F238E27FC236}">
                <a16:creationId xmlns:a16="http://schemas.microsoft.com/office/drawing/2014/main" id="{EACC54D2-A507-487A-AD9E-ACD61E094229}"/>
              </a:ext>
            </a:extLst>
          </p:cNvPr>
          <p:cNvSpPr>
            <a:spLocks xmlns:a="http://schemas.openxmlformats.org/drawingml/2006/main" noGrp="1"/>
          </p:cNvSpPr>
          <p:nvPr/>
        </p:nvSpPr>
        <p:spPr>
          <a:xfrm xmlns:a="http://schemas.openxmlformats.org/drawingml/2006/main">
            <a:off x="609600" y="2628900"/>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D9E2F0"/>
                </a:solidFill>
              </a:defRPr>
            </a:pPr>
            <a:r>
              <a:rPr sz="1650" b="0" i="0">
                <a:solidFill>
                  <a:srgbClr val="D9E2F0"/>
                </a:solidFill>
              </a:rPr>
              <a:t>ICLO turns employee dental-benefit navigation into claims-confirmed, privacy-governed evidence.</a:t>
            </a:r>
          </a:p>
        </p:txBody>
      </p:sp>
      <p:sp>
        <p:nvSpPr>
          <p:cNvPr id="7" name="">
            <a:extLst xmlns:a="http://schemas.openxmlformats.org/drawingml/2006/main">
              <a:ext uri="{FF2B5EF4-FFF2-40B4-BE49-F238E27FC236}">
                <a16:creationId xmlns:a16="http://schemas.microsoft.com/office/drawing/2014/main" id="{AF881BFD-4071-4305-AC77-97D20025D125}"/>
              </a:ext>
            </a:extLst>
          </p:cNvPr>
          <p:cNvSpPr>
            <a:spLocks xmlns:a="http://schemas.openxmlformats.org/drawingml/2006/main" noGrp="1"/>
          </p:cNvSpPr>
          <p:nvPr/>
        </p:nvSpPr>
        <p:spPr>
          <a:xfrm xmlns:a="http://schemas.openxmlformats.org/drawingml/2006/main">
            <a:off x="609600" y="4095750"/>
            <a:ext cx="2838450" cy="1181100"/>
          </a:xfrm>
          <a:prstGeom xmlns:a="http://schemas.openxmlformats.org/drawingml/2006/main" prst="roundRect">
            <a:avLst>
              <a:gd name="adj" fmla="val 6452"/>
            </a:avLst>
          </a:prstGeom>
          <a:solidFill xmlns:a="http://schemas.openxmlformats.org/drawingml/2006/main">
            <a:srgbClr val="FFF0F0"/>
          </a:solidFill>
          <a:ln xmlns:a="http://schemas.openxmlformats.org/drawingml/2006/main" w="19050">
            <a:solidFill>
              <a:srgbClr val="FF7A79"/>
            </a:solidFill>
            <a:prstDash val="solid"/>
          </a:ln>
        </p:spPr>
      </p:sp>
      <p:sp>
        <p:nvSpPr>
          <p:cNvPr id="8" name="">
            <a:extLst xmlns:a="http://schemas.openxmlformats.org/drawingml/2006/main">
              <a:ext uri="{FF2B5EF4-FFF2-40B4-BE49-F238E27FC236}">
                <a16:creationId xmlns:a16="http://schemas.microsoft.com/office/drawing/2014/main" id="{D06ABC33-A306-4EAD-A73A-F3D9C153E3F8}"/>
              </a:ext>
            </a:extLst>
          </p:cNvPr>
          <p:cNvSpPr>
            <a:spLocks xmlns:a="http://schemas.openxmlformats.org/drawingml/2006/main" noGrp="1"/>
          </p:cNvSpPr>
          <p:nvPr/>
        </p:nvSpPr>
        <p:spPr>
          <a:xfrm xmlns:a="http://schemas.openxmlformats.org/drawingml/2006/main">
            <a:off x="4114800" y="4095750"/>
            <a:ext cx="3790950" cy="1181100"/>
          </a:xfrm>
          <a:prstGeom xmlns:a="http://schemas.openxmlformats.org/drawingml/2006/main" prst="roundRect">
            <a:avLst>
              <a:gd name="adj" fmla="val 6452"/>
            </a:avLst>
          </a:prstGeom>
          <a:solidFill xmlns:a="http://schemas.openxmlformats.org/drawingml/2006/main">
            <a:srgbClr val="EAF7FC"/>
          </a:solidFill>
          <a:ln xmlns:a="http://schemas.openxmlformats.org/drawingml/2006/main" w="19050">
            <a:solidFill>
              <a:srgbClr val="29B5E8"/>
            </a:solidFill>
            <a:prstDash val="solid"/>
          </a:ln>
        </p:spPr>
      </p:sp>
      <p:sp>
        <p:nvSpPr>
          <p:cNvPr id="9" name="">
            <a:extLst xmlns:a="http://schemas.openxmlformats.org/drawingml/2006/main">
              <a:ext uri="{FF2B5EF4-FFF2-40B4-BE49-F238E27FC236}">
                <a16:creationId xmlns:a16="http://schemas.microsoft.com/office/drawing/2014/main" id="{875B8EBC-8F48-4C73-9C12-E5CBCA9653B2}"/>
              </a:ext>
            </a:extLst>
          </p:cNvPr>
          <p:cNvSpPr>
            <a:spLocks xmlns:a="http://schemas.openxmlformats.org/drawingml/2006/main" noGrp="1"/>
          </p:cNvSpPr>
          <p:nvPr/>
        </p:nvSpPr>
        <p:spPr>
          <a:xfrm xmlns:a="http://schemas.openxmlformats.org/drawingml/2006/main">
            <a:off x="8572500" y="4095750"/>
            <a:ext cx="3009900" cy="1181100"/>
          </a:xfrm>
          <a:prstGeom xmlns:a="http://schemas.openxmlformats.org/drawingml/2006/main" prst="roundRect">
            <a:avLst>
              <a:gd name="adj" fmla="val 6452"/>
            </a:avLst>
          </a:prstGeom>
          <a:solidFill xmlns:a="http://schemas.openxmlformats.org/drawingml/2006/main">
            <a:srgbClr val="E8F5F5"/>
          </a:solidFill>
          <a:ln xmlns:a="http://schemas.openxmlformats.org/drawingml/2006/main" w="19050">
            <a:solidFill>
              <a:srgbClr val="007A87"/>
            </a:solidFill>
            <a:prstDash val="solid"/>
          </a:ln>
        </p:spPr>
      </p: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3448050" y="4686300"/>
            <a:ext cx="666750" cy="0"/>
          </a:xfrm>
          <a:prstGeom xmlns:a="http://schemas.openxmlformats.org/drawingml/2006/main" prst="straightConnector1">
            <a:avLst/>
          </a:prstGeom>
          <a:ln xmlns:a="http://schemas.openxmlformats.org/drawingml/2006/main" w="19050">
            <a:solidFill>
              <a:srgbClr val="FFFFFF"/>
            </a:solidFill>
            <a:prstDash val="solid"/>
            <a:headEnd type="none" w="med" len="med"/>
            <a:tailEnd type="arrow" w="med" len="med"/>
          </a:ln>
        </p:spPr>
      </p:cxnSp>
      <p:cxnSp>
        <p:nvCxnSpPr>
          <p:cNvPr id="37" name=""/>
          <p:cNvCxnSpPr>
            <a:stCxn xmlns:a="http://schemas.openxmlformats.org/drawingml/2006/main" id="8" idx="3"/>
            <a:endCxn xmlns:a="http://schemas.openxmlformats.org/drawingml/2006/main" id="9" idx="1"/>
          </p:cNvCxnSpPr>
          <p:nvPr/>
        </p:nvCxnSpPr>
        <p:spPr>
          <a:xfrm xmlns:a="http://schemas.openxmlformats.org/drawingml/2006/main">
            <a:off x="7905750" y="4686300"/>
            <a:ext cx="666750" cy="0"/>
          </a:xfrm>
          <a:prstGeom xmlns:a="http://schemas.openxmlformats.org/drawingml/2006/main" prst="straightConnector1">
            <a:avLst/>
          </a:prstGeom>
          <a:ln xmlns:a="http://schemas.openxmlformats.org/drawingml/2006/main" w="19050">
            <a:solidFill>
              <a:srgbClr val="FFFFFF"/>
            </a:solidFill>
            <a:prstDash val="solid"/>
            <a:headEnd type="none" w="med" len="med"/>
            <a:tailEnd type="arrow" w="med" len="med"/>
          </a:ln>
        </p:spPr>
      </p:cxnSp>
      <p:sp>
        <p:nvSpPr>
          <p:cNvPr id="12" name="">
            <a:extLst xmlns:a="http://schemas.openxmlformats.org/drawingml/2006/main">
              <a:ext uri="{FF2B5EF4-FFF2-40B4-BE49-F238E27FC236}">
                <a16:creationId xmlns:a16="http://schemas.microsoft.com/office/drawing/2014/main" id="{6CF53515-821E-43C3-83C5-5D6F6E9B61FC}"/>
              </a:ext>
            </a:extLst>
          </p:cNvPr>
          <p:cNvSpPr>
            <a:spLocks xmlns:a="http://schemas.openxmlformats.org/drawingml/2006/main" noGrp="1"/>
          </p:cNvSpPr>
          <p:nvPr/>
        </p:nvSpPr>
        <p:spPr>
          <a:xfrm xmlns:a="http://schemas.openxmlformats.org/drawingml/2006/main">
            <a:off x="781050" y="4267200"/>
            <a:ext cx="2495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Employee navigation</a:t>
            </a:r>
          </a:p>
        </p:txBody>
      </p:sp>
      <p:sp>
        <p:nvSpPr>
          <p:cNvPr id="13" name="">
            <a:extLst xmlns:a="http://schemas.openxmlformats.org/drawingml/2006/main">
              <a:ext uri="{FF2B5EF4-FFF2-40B4-BE49-F238E27FC236}">
                <a16:creationId xmlns:a16="http://schemas.microsoft.com/office/drawing/2014/main" id="{049D6A62-8475-44A0-9D4A-65CFAABEA53B}"/>
              </a:ext>
            </a:extLst>
          </p:cNvPr>
          <p:cNvSpPr>
            <a:spLocks xmlns:a="http://schemas.openxmlformats.org/drawingml/2006/main" noGrp="1"/>
          </p:cNvSpPr>
          <p:nvPr/>
        </p:nvSpPr>
        <p:spPr>
          <a:xfrm xmlns:a="http://schemas.openxmlformats.org/drawingml/2006/main">
            <a:off x="781050" y="4600575"/>
            <a:ext cx="24955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Understand benefits</a:t>
            </a:r>
          </a:p>
          <a:p xmlns:a="http://schemas.openxmlformats.org/drawingml/2006/main">
            <a:pPr algn="l">
              <a:defRPr sz="1125" b="0" i="0">
                <a:solidFill>
                  <a:srgbClr val="5B6B82"/>
                </a:solidFill>
              </a:defRPr>
            </a:pPr>
            <a:r>
              <a:rPr sz="1125" b="0" i="0">
                <a:solidFill>
                  <a:srgbClr val="5B6B82"/>
                </a:solidFill>
              </a:rPr>
              <a:t>Request support</a:t>
            </a:r>
          </a:p>
        </p:txBody>
      </p:sp>
      <p:sp>
        <p:nvSpPr>
          <p:cNvPr id="14" name="">
            <a:extLst xmlns:a="http://schemas.openxmlformats.org/drawingml/2006/main">
              <a:ext uri="{FF2B5EF4-FFF2-40B4-BE49-F238E27FC236}">
                <a16:creationId xmlns:a16="http://schemas.microsoft.com/office/drawing/2014/main" id="{C9D606C3-E05F-41E0-A1E3-597B5C21E510}"/>
              </a:ext>
            </a:extLst>
          </p:cNvPr>
          <p:cNvSpPr>
            <a:spLocks xmlns:a="http://schemas.openxmlformats.org/drawingml/2006/main" noGrp="1"/>
          </p:cNvSpPr>
          <p:nvPr/>
        </p:nvSpPr>
        <p:spPr>
          <a:xfrm xmlns:a="http://schemas.openxmlformats.org/drawingml/2006/main">
            <a:off x="4286250" y="4267200"/>
            <a:ext cx="3448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Governed evidence plane</a:t>
            </a:r>
          </a:p>
        </p:txBody>
      </p:sp>
      <p:sp>
        <p:nvSpPr>
          <p:cNvPr id="15" name="">
            <a:extLst xmlns:a="http://schemas.openxmlformats.org/drawingml/2006/main">
              <a:ext uri="{FF2B5EF4-FFF2-40B4-BE49-F238E27FC236}">
                <a16:creationId xmlns:a16="http://schemas.microsoft.com/office/drawing/2014/main" id="{704DEAC1-247A-4767-BA64-0C516AE88712}"/>
              </a:ext>
            </a:extLst>
          </p:cNvPr>
          <p:cNvSpPr>
            <a:spLocks xmlns:a="http://schemas.openxmlformats.org/drawingml/2006/main" noGrp="1"/>
          </p:cNvSpPr>
          <p:nvPr/>
        </p:nvSpPr>
        <p:spPr>
          <a:xfrm xmlns:a="http://schemas.openxmlformats.org/drawingml/2006/main">
            <a:off x="4286250" y="4600575"/>
            <a:ext cx="3448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Eligibility + plan + events + claims</a:t>
            </a:r>
          </a:p>
        </p:txBody>
      </p:sp>
      <p:sp>
        <p:nvSpPr>
          <p:cNvPr id="16" name="">
            <a:extLst xmlns:a="http://schemas.openxmlformats.org/drawingml/2006/main">
              <a:ext uri="{FF2B5EF4-FFF2-40B4-BE49-F238E27FC236}">
                <a16:creationId xmlns:a16="http://schemas.microsoft.com/office/drawing/2014/main" id="{67E05B25-9CF9-4A59-AE6A-B1A6051108F5}"/>
              </a:ext>
            </a:extLst>
          </p:cNvPr>
          <p:cNvSpPr>
            <a:spLocks xmlns:a="http://schemas.openxmlformats.org/drawingml/2006/main" noGrp="1"/>
          </p:cNvSpPr>
          <p:nvPr/>
        </p:nvSpPr>
        <p:spPr>
          <a:xfrm xmlns:a="http://schemas.openxmlformats.org/drawingml/2006/main">
            <a:off x="8743950" y="426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Employer evidence</a:t>
            </a:r>
          </a:p>
        </p:txBody>
      </p:sp>
      <p:sp>
        <p:nvSpPr>
          <p:cNvPr id="17" name="">
            <a:extLst xmlns:a="http://schemas.openxmlformats.org/drawingml/2006/main">
              <a:ext uri="{FF2B5EF4-FFF2-40B4-BE49-F238E27FC236}">
                <a16:creationId xmlns:a16="http://schemas.microsoft.com/office/drawing/2014/main" id="{31639BC5-0DB8-467F-91F3-745CD9D8D56D}"/>
              </a:ext>
            </a:extLst>
          </p:cNvPr>
          <p:cNvSpPr>
            <a:spLocks xmlns:a="http://schemas.openxmlformats.org/drawingml/2006/main" noGrp="1"/>
          </p:cNvSpPr>
          <p:nvPr/>
        </p:nvSpPr>
        <p:spPr>
          <a:xfrm xmlns:a="http://schemas.openxmlformats.org/drawingml/2006/main">
            <a:off x="8743950" y="4600575"/>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Aggregate outcomes</a:t>
            </a:r>
          </a:p>
          <a:p xmlns:a="http://schemas.openxmlformats.org/drawingml/2006/main">
            <a:pPr algn="l">
              <a:defRPr sz="1125" b="0" i="0">
                <a:solidFill>
                  <a:srgbClr val="5B6B82"/>
                </a:solidFill>
              </a:defRPr>
            </a:pPr>
            <a:r>
              <a:rPr sz="1125" b="0" i="0">
                <a:solidFill>
                  <a:srgbClr val="5B6B82"/>
                </a:solidFill>
              </a:rPr>
              <a:t>No individual PHI</a:t>
            </a:r>
          </a:p>
        </p:txBody>
      </p:sp>
      <p:sp>
        <p:nvSpPr>
          <p:cNvPr id="18" name="">
            <a:extLst xmlns:a="http://schemas.openxmlformats.org/drawingml/2006/main">
              <a:ext uri="{FF2B5EF4-FFF2-40B4-BE49-F238E27FC236}">
                <a16:creationId xmlns:a16="http://schemas.microsoft.com/office/drawing/2014/main" id="{E7DB4D78-42DB-4417-9830-A5A60CA0D949}"/>
              </a:ext>
            </a:extLst>
          </p:cNvPr>
          <p:cNvSpPr>
            <a:spLocks xmlns:a="http://schemas.openxmlformats.org/drawingml/2006/main" noGrp="1"/>
          </p:cNvSpPr>
          <p:nvPr/>
        </p:nvSpPr>
        <p:spPr>
          <a:xfrm xmlns:a="http://schemas.openxmlformats.org/drawingml/2006/main">
            <a:off x="609600" y="5981700"/>
            <a:ext cx="95250" cy="95250"/>
          </a:xfrm>
          <a:prstGeom xmlns:a="http://schemas.openxmlformats.org/drawingml/2006/main" prst="rect">
            <a:avLst/>
          </a:prstGeom>
          <a:solidFill xmlns:a="http://schemas.openxmlformats.org/drawingml/2006/main">
            <a:srgbClr val="253A63"/>
          </a:solidFill>
          <a:ln xmlns:a="http://schemas.openxmlformats.org/drawingml/2006/main" w="0">
            <a:solidFill>
              <a:srgbClr val="253A63"/>
            </a:solidFill>
            <a:prstDash val="solid"/>
          </a:ln>
        </p:spPr>
      </p:sp>
      <p:sp>
        <p:nvSpPr>
          <p:cNvPr id="19" name="">
            <a:extLst xmlns:a="http://schemas.openxmlformats.org/drawingml/2006/main">
              <a:ext uri="{FF2B5EF4-FFF2-40B4-BE49-F238E27FC236}">
                <a16:creationId xmlns:a16="http://schemas.microsoft.com/office/drawing/2014/main" id="{20A3519E-3304-47E2-8D05-ABDE3B43D78C}"/>
              </a:ext>
            </a:extLst>
          </p:cNvPr>
          <p:cNvSpPr>
            <a:spLocks xmlns:a="http://schemas.openxmlformats.org/drawingml/2006/main" noGrp="1"/>
          </p:cNvSpPr>
          <p:nvPr/>
        </p:nvSpPr>
        <p:spPr>
          <a:xfrm xmlns:a="http://schemas.openxmlformats.org/drawingml/2006/main">
            <a:off x="78105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CONFIRMED DIRECTION</a:t>
            </a:r>
          </a:p>
        </p:txBody>
      </p:sp>
      <p:sp>
        <p:nvSpPr>
          <p:cNvPr id="20" name="">
            <a:extLst xmlns:a="http://schemas.openxmlformats.org/drawingml/2006/main">
              <a:ext uri="{FF2B5EF4-FFF2-40B4-BE49-F238E27FC236}">
                <a16:creationId xmlns:a16="http://schemas.microsoft.com/office/drawing/2014/main" id="{6F1839E3-446C-43A3-BA02-D74027C9DF92}"/>
              </a:ext>
            </a:extLst>
          </p:cNvPr>
          <p:cNvSpPr>
            <a:spLocks xmlns:a="http://schemas.openxmlformats.org/drawingml/2006/main" noGrp="1"/>
          </p:cNvSpPr>
          <p:nvPr/>
        </p:nvSpPr>
        <p:spPr>
          <a:xfrm xmlns:a="http://schemas.openxmlformats.org/drawingml/2006/main">
            <a:off x="2657475" y="5981700"/>
            <a:ext cx="95250" cy="952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21" name="">
            <a:extLst xmlns:a="http://schemas.openxmlformats.org/drawingml/2006/main">
              <a:ext uri="{FF2B5EF4-FFF2-40B4-BE49-F238E27FC236}">
                <a16:creationId xmlns:a16="http://schemas.microsoft.com/office/drawing/2014/main" id="{181BE37A-8C71-4A22-87A4-1A2FB3F3996B}"/>
              </a:ext>
            </a:extLst>
          </p:cNvPr>
          <p:cNvSpPr>
            <a:spLocks xmlns:a="http://schemas.openxmlformats.org/drawingml/2006/main" noGrp="1"/>
          </p:cNvSpPr>
          <p:nvPr/>
        </p:nvSpPr>
        <p:spPr>
          <a:xfrm xmlns:a="http://schemas.openxmlformats.org/drawingml/2006/main">
            <a:off x="282892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DESIGN PRINCIPLE</a:t>
            </a:r>
          </a:p>
        </p:txBody>
      </p:sp>
      <p:sp>
        <p:nvSpPr>
          <p:cNvPr id="22" name="">
            <a:extLst xmlns:a="http://schemas.openxmlformats.org/drawingml/2006/main">
              <a:ext uri="{FF2B5EF4-FFF2-40B4-BE49-F238E27FC236}">
                <a16:creationId xmlns:a16="http://schemas.microsoft.com/office/drawing/2014/main" id="{E406B330-0CAA-4BFD-B0C2-779FCF9CF267}"/>
              </a:ext>
            </a:extLst>
          </p:cNvPr>
          <p:cNvSpPr>
            <a:spLocks xmlns:a="http://schemas.openxmlformats.org/drawingml/2006/main" noGrp="1"/>
          </p:cNvSpPr>
          <p:nvPr/>
        </p:nvSpPr>
        <p:spPr>
          <a:xfrm xmlns:a="http://schemas.openxmlformats.org/drawingml/2006/main">
            <a:off x="4705350" y="5981700"/>
            <a:ext cx="95250" cy="952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23" name="">
            <a:extLst xmlns:a="http://schemas.openxmlformats.org/drawingml/2006/main">
              <a:ext uri="{FF2B5EF4-FFF2-40B4-BE49-F238E27FC236}">
                <a16:creationId xmlns:a16="http://schemas.microsoft.com/office/drawing/2014/main" id="{F3E5821E-9B8E-4654-9CA4-B74CF9AB0A4B}"/>
              </a:ext>
            </a:extLst>
          </p:cNvPr>
          <p:cNvSpPr>
            <a:spLocks xmlns:a="http://schemas.openxmlformats.org/drawingml/2006/main" noGrp="1"/>
          </p:cNvSpPr>
          <p:nvPr/>
        </p:nvSpPr>
        <p:spPr>
          <a:xfrm xmlns:a="http://schemas.openxmlformats.org/drawingml/2006/main">
            <a:off x="4876800"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TO VALIDATE</a:t>
            </a:r>
          </a:p>
        </p:txBody>
      </p:sp>
      <p:sp>
        <p:nvSpPr>
          <p:cNvPr id="24" name="">
            <a:extLst xmlns:a="http://schemas.openxmlformats.org/drawingml/2006/main">
              <a:ext uri="{FF2B5EF4-FFF2-40B4-BE49-F238E27FC236}">
                <a16:creationId xmlns:a16="http://schemas.microsoft.com/office/drawing/2014/main" id="{3770C807-07FB-4739-8E77-6FA0ACB71D87}"/>
              </a:ext>
            </a:extLst>
          </p:cNvPr>
          <p:cNvSpPr>
            <a:spLocks xmlns:a="http://schemas.openxmlformats.org/drawingml/2006/main" noGrp="1"/>
          </p:cNvSpPr>
          <p:nvPr/>
        </p:nvSpPr>
        <p:spPr>
          <a:xfrm xmlns:a="http://schemas.openxmlformats.org/drawingml/2006/main">
            <a:off x="6753225" y="5981700"/>
            <a:ext cx="95250" cy="952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5" name="">
            <a:extLst xmlns:a="http://schemas.openxmlformats.org/drawingml/2006/main">
              <a:ext uri="{FF2B5EF4-FFF2-40B4-BE49-F238E27FC236}">
                <a16:creationId xmlns:a16="http://schemas.microsoft.com/office/drawing/2014/main" id="{5AC20F87-46CF-4822-9ECC-B12B32DE2AF3}"/>
              </a:ext>
            </a:extLst>
          </p:cNvPr>
          <p:cNvSpPr>
            <a:spLocks xmlns:a="http://schemas.openxmlformats.org/drawingml/2006/main" noGrp="1"/>
          </p:cNvSpPr>
          <p:nvPr/>
        </p:nvSpPr>
        <p:spPr>
          <a:xfrm xmlns:a="http://schemas.openxmlformats.org/drawingml/2006/main">
            <a:off x="6924675" y="5943600"/>
            <a:ext cx="1762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D9E2F0"/>
                </a:solidFill>
              </a:defRPr>
            </a:pPr>
            <a:r>
              <a:rPr sz="825" b="1" i="0">
                <a:solidFill>
                  <a:srgbClr val="D9E2F0"/>
                </a:solidFill>
              </a:rPr>
              <a:t>SNOWFLAKE ASK</a:t>
            </a:r>
          </a:p>
        </p:txBody>
      </p:sp>
      <p:sp>
        <p:nvSpPr>
          <p:cNvPr id="26" name="">
            <a:extLst xmlns:a="http://schemas.openxmlformats.org/drawingml/2006/main">
              <a:ext uri="{FF2B5EF4-FFF2-40B4-BE49-F238E27FC236}">
                <a16:creationId xmlns:a16="http://schemas.microsoft.com/office/drawing/2014/main" id="{922D8A67-066C-4846-B5B0-E8744B039B38}"/>
              </a:ext>
            </a:extLst>
          </p:cNvPr>
          <p:cNvSpPr>
            <a:spLocks xmlns:a="http://schemas.openxmlformats.org/drawingml/2006/main" noGrp="1"/>
          </p:cNvSpPr>
          <p:nvPr/>
        </p:nvSpPr>
        <p:spPr>
          <a:xfrm xmlns:a="http://schemas.openxmlformats.org/drawingml/2006/main">
            <a:off x="11125200" y="641032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B8C4D8"/>
                </a:solidFill>
              </a:defRPr>
            </a:pPr>
            <a:r>
              <a:rPr sz="788" b="0" i="0">
                <a:solidFill>
                  <a:srgbClr val="B8C4D8"/>
                </a:solidFill>
              </a:rPr>
              <a:t>01</a:t>
            </a:r>
          </a:p>
        </p:txBody>
      </p:sp>
    </p:spTree>
    <p:extLst>
      <p:ext uri="{BB962C8B-B14F-4D97-AF65-F5344CB8AC3E}">
        <p14:creationId xmlns:p14="http://schemas.microsoft.com/office/powerpoint/2010/main" val="46415038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D717378-3767-4E2D-842B-6A16D0004826}"/>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DD7009FA-6F1A-41A9-A044-D775C3EDE6D2}"/>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08D6BC28-E743-4A0D-A2FD-BE5B27A87DFE}"/>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24AD5680-237C-4D62-B98B-BB2F7941E8E1}"/>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A3D90039-EB45-4D6A-BDC5-8692C7257E0A}"/>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1B2A4A"/>
                </a:solidFill>
              </a:defRPr>
            </a:pPr>
            <a:r>
              <a:rPr sz="2325" b="1" i="0">
                <a:solidFill>
                  <a:srgbClr val="1B2A4A"/>
                </a:solidFill>
              </a:rPr>
              <a:t>The Employee Problem Is Not Coverage Alone - It Is Navigation</a:t>
            </a:r>
          </a:p>
        </p:txBody>
      </p:sp>
      <p:sp>
        <p:nvSpPr>
          <p:cNvPr id="6" name="">
            <a:extLst xmlns:a="http://schemas.openxmlformats.org/drawingml/2006/main">
              <a:ext uri="{FF2B5EF4-FFF2-40B4-BE49-F238E27FC236}">
                <a16:creationId xmlns:a16="http://schemas.microsoft.com/office/drawing/2014/main" id="{8F1128D7-C01A-476D-9D73-B81D39D66735}"/>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Plan, network and operational context shape whether coverage becomes usable care.</a:t>
            </a:r>
          </a:p>
        </p:txBody>
      </p:sp>
      <p:sp>
        <p:nvSpPr>
          <p:cNvPr id="7" name="">
            <a:extLst xmlns:a="http://schemas.openxmlformats.org/drawingml/2006/main">
              <a:ext uri="{FF2B5EF4-FFF2-40B4-BE49-F238E27FC236}">
                <a16:creationId xmlns:a16="http://schemas.microsoft.com/office/drawing/2014/main" id="{9F1618A8-851E-4081-8B34-BB81A51E4344}"/>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36002397-3D6B-4061-9F08-E091E8DE65C3}"/>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5B2FA311-0AF5-4B4E-A53C-1F3B5DB18F0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68bacf90a8b04c6a"/>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4DF7A8F-2A12-44DE-98B6-DD4D626C76A0}"/>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28a75f0f1db54456"/>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53EFD75-9ED8-4F75-90B2-8BDE90D9BDBC}"/>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EDC69776-0A2D-4891-BCD9-60F8137C75D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02</a:t>
            </a:r>
          </a:p>
        </p:txBody>
      </p:sp>
      <p:sp>
        <p:nvSpPr>
          <p:cNvPr id="15" name="">
            <a:extLst xmlns:a="http://schemas.openxmlformats.org/drawingml/2006/main">
              <a:ext uri="{FF2B5EF4-FFF2-40B4-BE49-F238E27FC236}">
                <a16:creationId xmlns:a16="http://schemas.microsoft.com/office/drawing/2014/main" id="{827DA61C-A3D2-4D30-97E1-241C2BE4B5AD}"/>
              </a:ext>
            </a:extLst>
          </p:cNvPr>
          <p:cNvSpPr>
            <a:spLocks xmlns:a="http://schemas.openxmlformats.org/drawingml/2006/main" noGrp="1"/>
          </p:cNvSpPr>
          <p:nvPr/>
        </p:nvSpPr>
        <p:spPr>
          <a:xfrm xmlns:a="http://schemas.openxmlformats.org/drawingml/2006/main">
            <a:off x="609600" y="2286000"/>
            <a:ext cx="1809750" cy="1066800"/>
          </a:xfrm>
          <a:prstGeom xmlns:a="http://schemas.openxmlformats.org/drawingml/2006/main" prst="roundRect">
            <a:avLst>
              <a:gd name="adj" fmla="val 7143"/>
            </a:avLst>
          </a:prstGeom>
          <a:solidFill xmlns:a="http://schemas.openxmlformats.org/drawingml/2006/main">
            <a:srgbClr val="EEF1F7"/>
          </a:solidFill>
          <a:ln xmlns:a="http://schemas.openxmlformats.org/drawingml/2006/main" w="19050">
            <a:solidFill>
              <a:srgbClr val="1B2A4A"/>
            </a:solidFill>
            <a:prstDash val="solid"/>
          </a:ln>
        </p:spPr>
      </p:sp>
      <p:sp>
        <p:nvSpPr>
          <p:cNvPr id="16" name="">
            <a:extLst xmlns:a="http://schemas.openxmlformats.org/drawingml/2006/main">
              <a:ext uri="{FF2B5EF4-FFF2-40B4-BE49-F238E27FC236}">
                <a16:creationId xmlns:a16="http://schemas.microsoft.com/office/drawing/2014/main" id="{1CE276BE-5754-4EE6-91D0-5D9C7ED3426C}"/>
              </a:ext>
            </a:extLst>
          </p:cNvPr>
          <p:cNvSpPr>
            <a:spLocks xmlns:a="http://schemas.openxmlformats.org/drawingml/2006/main" noGrp="1"/>
          </p:cNvSpPr>
          <p:nvPr/>
        </p:nvSpPr>
        <p:spPr>
          <a:xfrm xmlns:a="http://schemas.openxmlformats.org/drawingml/2006/main">
            <a:off x="2790825" y="2705100"/>
            <a:ext cx="1809750" cy="1066800"/>
          </a:xfrm>
          <a:prstGeom xmlns:a="http://schemas.openxmlformats.org/drawingml/2006/main" prst="roundRect">
            <a:avLst>
              <a:gd name="adj" fmla="val 7143"/>
            </a:avLst>
          </a:prstGeom>
          <a:solidFill xmlns:a="http://schemas.openxmlformats.org/drawingml/2006/main">
            <a:srgbClr val="EAF7FC"/>
          </a:solidFill>
          <a:ln xmlns:a="http://schemas.openxmlformats.org/drawingml/2006/main" w="19050">
            <a:solidFill>
              <a:srgbClr val="29B5E8"/>
            </a:solidFill>
            <a:prstDash val="solid"/>
          </a:ln>
        </p:spPr>
      </p:sp>
      <p:sp>
        <p:nvSpPr>
          <p:cNvPr id="17" name="">
            <a:extLst xmlns:a="http://schemas.openxmlformats.org/drawingml/2006/main">
              <a:ext uri="{FF2B5EF4-FFF2-40B4-BE49-F238E27FC236}">
                <a16:creationId xmlns:a16="http://schemas.microsoft.com/office/drawing/2014/main" id="{5AE71A51-1532-4EE4-8B84-D47C26BD8565}"/>
              </a:ext>
            </a:extLst>
          </p:cNvPr>
          <p:cNvSpPr>
            <a:spLocks xmlns:a="http://schemas.openxmlformats.org/drawingml/2006/main" noGrp="1"/>
          </p:cNvSpPr>
          <p:nvPr/>
        </p:nvSpPr>
        <p:spPr>
          <a:xfrm xmlns:a="http://schemas.openxmlformats.org/drawingml/2006/main">
            <a:off x="4972050" y="2286000"/>
            <a:ext cx="1809750" cy="1066800"/>
          </a:xfrm>
          <a:prstGeom xmlns:a="http://schemas.openxmlformats.org/drawingml/2006/main" prst="roundRect">
            <a:avLst>
              <a:gd name="adj" fmla="val 7143"/>
            </a:avLst>
          </a:prstGeom>
          <a:solidFill xmlns:a="http://schemas.openxmlformats.org/drawingml/2006/main">
            <a:srgbClr val="FFF7E8"/>
          </a:solidFill>
          <a:ln xmlns:a="http://schemas.openxmlformats.org/drawingml/2006/main" w="19050">
            <a:solidFill>
              <a:srgbClr val="D99A24"/>
            </a:solidFill>
            <a:prstDash val="solid"/>
          </a:ln>
        </p:spPr>
      </p:sp>
      <p:sp>
        <p:nvSpPr>
          <p:cNvPr id="18" name="">
            <a:extLst xmlns:a="http://schemas.openxmlformats.org/drawingml/2006/main">
              <a:ext uri="{FF2B5EF4-FFF2-40B4-BE49-F238E27FC236}">
                <a16:creationId xmlns:a16="http://schemas.microsoft.com/office/drawing/2014/main" id="{D050AA9E-D08C-424F-8A79-12EFDC71EDA4}"/>
              </a:ext>
            </a:extLst>
          </p:cNvPr>
          <p:cNvSpPr>
            <a:spLocks xmlns:a="http://schemas.openxmlformats.org/drawingml/2006/main" noGrp="1"/>
          </p:cNvSpPr>
          <p:nvPr/>
        </p:nvSpPr>
        <p:spPr>
          <a:xfrm xmlns:a="http://schemas.openxmlformats.org/drawingml/2006/main">
            <a:off x="7153275" y="2705100"/>
            <a:ext cx="1809750" cy="1066800"/>
          </a:xfrm>
          <a:prstGeom xmlns:a="http://schemas.openxmlformats.org/drawingml/2006/main" prst="roundRect">
            <a:avLst>
              <a:gd name="adj" fmla="val 7143"/>
            </a:avLst>
          </a:prstGeom>
          <a:solidFill xmlns:a="http://schemas.openxmlformats.org/drawingml/2006/main">
            <a:srgbClr val="FFF0F0"/>
          </a:solidFill>
          <a:ln xmlns:a="http://schemas.openxmlformats.org/drawingml/2006/main" w="19050">
            <a:solidFill>
              <a:srgbClr val="FF7A79"/>
            </a:solidFill>
            <a:prstDash val="solid"/>
          </a:ln>
        </p:spPr>
      </p:sp>
      <p:sp>
        <p:nvSpPr>
          <p:cNvPr id="19" name="">
            <a:extLst xmlns:a="http://schemas.openxmlformats.org/drawingml/2006/main">
              <a:ext uri="{FF2B5EF4-FFF2-40B4-BE49-F238E27FC236}">
                <a16:creationId xmlns:a16="http://schemas.microsoft.com/office/drawing/2014/main" id="{19DBCB5B-76B0-4E95-8344-6A8E56657D50}"/>
              </a:ext>
            </a:extLst>
          </p:cNvPr>
          <p:cNvSpPr>
            <a:spLocks xmlns:a="http://schemas.openxmlformats.org/drawingml/2006/main" noGrp="1"/>
          </p:cNvSpPr>
          <p:nvPr/>
        </p:nvSpPr>
        <p:spPr>
          <a:xfrm xmlns:a="http://schemas.openxmlformats.org/drawingml/2006/main">
            <a:off x="9334500" y="2286000"/>
            <a:ext cx="1809750" cy="1066800"/>
          </a:xfrm>
          <a:prstGeom xmlns:a="http://schemas.openxmlformats.org/drawingml/2006/main" prst="roundRect">
            <a:avLst>
              <a:gd name="adj" fmla="val 7143"/>
            </a:avLst>
          </a:prstGeom>
          <a:solidFill xmlns:a="http://schemas.openxmlformats.org/drawingml/2006/main">
            <a:srgbClr val="E8F5F5"/>
          </a:solidFill>
          <a:ln xmlns:a="http://schemas.openxmlformats.org/drawingml/2006/main" w="19050">
            <a:solidFill>
              <a:srgbClr val="007A87"/>
            </a:solidFill>
            <a:prstDash val="solid"/>
          </a:ln>
        </p:spPr>
      </p:sp>
      <p:cxnSp>
        <p:nvCxnSpPr>
          <p:cNvPr id="62" name=""/>
          <p:cNvCxnSpPr>
            <a:stCxn xmlns:a="http://schemas.openxmlformats.org/drawingml/2006/main" id="15" idx="3"/>
            <a:endCxn xmlns:a="http://schemas.openxmlformats.org/drawingml/2006/main" id="16" idx="1"/>
          </p:cNvCxnSpPr>
          <p:nvPr/>
        </p:nvCxnSpPr>
        <p:spPr>
          <a:xfrm xmlns:a="http://schemas.openxmlformats.org/drawingml/2006/main">
            <a:off x="2419350"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none" w="med" len="med"/>
            <a:tailEnd type="arrow" w="med" len="med"/>
          </a:ln>
        </p:spPr>
      </p:cxnSp>
      <p:cxnSp>
        <p:nvCxnSpPr>
          <p:cNvPr id="63" name=""/>
          <p:cNvCxnSpPr>
            <a:stCxn xmlns:a="http://schemas.openxmlformats.org/drawingml/2006/main" id="16" idx="3"/>
            <a:endCxn xmlns:a="http://schemas.openxmlformats.org/drawingml/2006/main" id="17" idx="1"/>
          </p:cNvCxnSpPr>
          <p:nvPr/>
        </p:nvCxnSpPr>
        <p:spPr>
          <a:xfrm xmlns:a="http://schemas.openxmlformats.org/drawingml/2006/main" flipV="1">
            <a:off x="4600575"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none" w="med" len="med"/>
            <a:tailEnd type="arrow" w="med" len="med"/>
          </a:ln>
        </p:spPr>
      </p:cxnSp>
      <p:cxnSp>
        <p:nvCxnSpPr>
          <p:cNvPr id="64" name=""/>
          <p:cNvCxnSpPr>
            <a:stCxn xmlns:a="http://schemas.openxmlformats.org/drawingml/2006/main" id="17" idx="3"/>
            <a:endCxn xmlns:a="http://schemas.openxmlformats.org/drawingml/2006/main" id="18" idx="1"/>
          </p:cNvCxnSpPr>
          <p:nvPr/>
        </p:nvCxnSpPr>
        <p:spPr>
          <a:xfrm xmlns:a="http://schemas.openxmlformats.org/drawingml/2006/main">
            <a:off x="6781800"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none" w="med" len="med"/>
            <a:tailEnd type="arrow" w="med" len="med"/>
          </a:ln>
        </p:spPr>
      </p:cxnSp>
      <p:cxnSp>
        <p:nvCxnSpPr>
          <p:cNvPr id="65" name=""/>
          <p:cNvCxnSpPr>
            <a:stCxn xmlns:a="http://schemas.openxmlformats.org/drawingml/2006/main" id="18" idx="3"/>
            <a:endCxn xmlns:a="http://schemas.openxmlformats.org/drawingml/2006/main" id="19" idx="1"/>
          </p:cNvCxnSpPr>
          <p:nvPr/>
        </p:nvCxnSpPr>
        <p:spPr>
          <a:xfrm xmlns:a="http://schemas.openxmlformats.org/drawingml/2006/main" flipV="1">
            <a:off x="8963025" y="2819400"/>
            <a:ext cx="371475" cy="419100"/>
          </a:xfrm>
          <a:prstGeom xmlns:a="http://schemas.openxmlformats.org/drawingml/2006/main" prst="bentConnector3">
            <a:avLst>
              <a:gd name="adj1" fmla="val 50000"/>
            </a:avLst>
          </a:prstGeom>
          <a:ln xmlns:a="http://schemas.openxmlformats.org/drawingml/2006/main" w="19050">
            <a:solidFill>
              <a:srgbClr val="5B6B82"/>
            </a:solidFill>
            <a:prstDash val="solid"/>
            <a:headEnd type="none" w="med" len="med"/>
            <a:tailEnd type="arrow" w="med" len="med"/>
          </a:ln>
        </p:spPr>
      </p:cxnSp>
      <p:sp>
        <p:nvSpPr>
          <p:cNvPr id="24" name="">
            <a:extLst xmlns:a="http://schemas.openxmlformats.org/drawingml/2006/main">
              <a:ext uri="{FF2B5EF4-FFF2-40B4-BE49-F238E27FC236}">
                <a16:creationId xmlns:a16="http://schemas.microsoft.com/office/drawing/2014/main" id="{49AE1A88-4C11-49EC-AF86-24CB889B5447}"/>
              </a:ext>
            </a:extLst>
          </p:cNvPr>
          <p:cNvSpPr>
            <a:spLocks xmlns:a="http://schemas.openxmlformats.org/drawingml/2006/main" noGrp="1"/>
          </p:cNvSpPr>
          <p:nvPr/>
        </p:nvSpPr>
        <p:spPr>
          <a:xfrm xmlns:a="http://schemas.openxmlformats.org/drawingml/2006/main">
            <a:off x="76200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Coverage</a:t>
            </a:r>
          </a:p>
        </p:txBody>
      </p:sp>
      <p:sp>
        <p:nvSpPr>
          <p:cNvPr id="25" name="">
            <a:extLst xmlns:a="http://schemas.openxmlformats.org/drawingml/2006/main">
              <a:ext uri="{FF2B5EF4-FFF2-40B4-BE49-F238E27FC236}">
                <a16:creationId xmlns:a16="http://schemas.microsoft.com/office/drawing/2014/main" id="{B8C5C42B-D4A9-4334-BC9D-C30D2A312F5F}"/>
              </a:ext>
            </a:extLst>
          </p:cNvPr>
          <p:cNvSpPr>
            <a:spLocks xmlns:a="http://schemas.openxmlformats.org/drawingml/2006/main" noGrp="1"/>
          </p:cNvSpPr>
          <p:nvPr/>
        </p:nvSpPr>
        <p:spPr>
          <a:xfrm xmlns:a="http://schemas.openxmlformats.org/drawingml/2006/main">
            <a:off x="76200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Eligible employee</a:t>
            </a:r>
          </a:p>
        </p:txBody>
      </p:sp>
      <p:sp>
        <p:nvSpPr>
          <p:cNvPr id="26" name="">
            <a:extLst xmlns:a="http://schemas.openxmlformats.org/drawingml/2006/main">
              <a:ext uri="{FF2B5EF4-FFF2-40B4-BE49-F238E27FC236}">
                <a16:creationId xmlns:a16="http://schemas.microsoft.com/office/drawing/2014/main" id="{279B234A-651C-4C29-96B1-39A66CCA9816}"/>
              </a:ext>
            </a:extLst>
          </p:cNvPr>
          <p:cNvSpPr>
            <a:spLocks xmlns:a="http://schemas.openxmlformats.org/drawingml/2006/main" noGrp="1"/>
          </p:cNvSpPr>
          <p:nvPr/>
        </p:nvSpPr>
        <p:spPr>
          <a:xfrm xmlns:a="http://schemas.openxmlformats.org/drawingml/2006/main">
            <a:off x="2943225" y="28956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Network</a:t>
            </a:r>
          </a:p>
        </p:txBody>
      </p:sp>
      <p:sp>
        <p:nvSpPr>
          <p:cNvPr id="27" name="">
            <a:extLst xmlns:a="http://schemas.openxmlformats.org/drawingml/2006/main">
              <a:ext uri="{FF2B5EF4-FFF2-40B4-BE49-F238E27FC236}">
                <a16:creationId xmlns:a16="http://schemas.microsoft.com/office/drawing/2014/main" id="{6BE23719-6F1C-487F-8644-5A6DD4F79509}"/>
              </a:ext>
            </a:extLst>
          </p:cNvPr>
          <p:cNvSpPr>
            <a:spLocks xmlns:a="http://schemas.openxmlformats.org/drawingml/2006/main" noGrp="1"/>
          </p:cNvSpPr>
          <p:nvPr/>
        </p:nvSpPr>
        <p:spPr>
          <a:xfrm xmlns:a="http://schemas.openxmlformats.org/drawingml/2006/main">
            <a:off x="2943225" y="32480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Provider economics</a:t>
            </a:r>
          </a:p>
        </p:txBody>
      </p:sp>
      <p:sp>
        <p:nvSpPr>
          <p:cNvPr id="28" name="">
            <a:extLst xmlns:a="http://schemas.openxmlformats.org/drawingml/2006/main">
              <a:ext uri="{FF2B5EF4-FFF2-40B4-BE49-F238E27FC236}">
                <a16:creationId xmlns:a16="http://schemas.microsoft.com/office/drawing/2014/main" id="{ABCE71CF-D941-48B0-B3C9-6346DED405BB}"/>
              </a:ext>
            </a:extLst>
          </p:cNvPr>
          <p:cNvSpPr>
            <a:spLocks xmlns:a="http://schemas.openxmlformats.org/drawingml/2006/main" noGrp="1"/>
          </p:cNvSpPr>
          <p:nvPr/>
        </p:nvSpPr>
        <p:spPr>
          <a:xfrm xmlns:a="http://schemas.openxmlformats.org/drawingml/2006/main">
            <a:off x="512445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Plan rules</a:t>
            </a:r>
          </a:p>
        </p:txBody>
      </p:sp>
      <p:sp>
        <p:nvSpPr>
          <p:cNvPr id="29" name="">
            <a:extLst xmlns:a="http://schemas.openxmlformats.org/drawingml/2006/main">
              <a:ext uri="{FF2B5EF4-FFF2-40B4-BE49-F238E27FC236}">
                <a16:creationId xmlns:a16="http://schemas.microsoft.com/office/drawing/2014/main" id="{BBC3F099-45E8-43FF-80AE-6AC476FCCFB6}"/>
              </a:ext>
            </a:extLst>
          </p:cNvPr>
          <p:cNvSpPr>
            <a:spLocks xmlns:a="http://schemas.openxmlformats.org/drawingml/2006/main" noGrp="1"/>
          </p:cNvSpPr>
          <p:nvPr/>
        </p:nvSpPr>
        <p:spPr>
          <a:xfrm xmlns:a="http://schemas.openxmlformats.org/drawingml/2006/main">
            <a:off x="512445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Deductible + max</a:t>
            </a:r>
          </a:p>
        </p:txBody>
      </p:sp>
      <p:sp>
        <p:nvSpPr>
          <p:cNvPr id="30" name="">
            <a:extLst xmlns:a="http://schemas.openxmlformats.org/drawingml/2006/main">
              <a:ext uri="{FF2B5EF4-FFF2-40B4-BE49-F238E27FC236}">
                <a16:creationId xmlns:a16="http://schemas.microsoft.com/office/drawing/2014/main" id="{7A9BACAE-4824-4FD9-81E1-ECC29BB1536D}"/>
              </a:ext>
            </a:extLst>
          </p:cNvPr>
          <p:cNvSpPr>
            <a:spLocks xmlns:a="http://schemas.openxmlformats.org/drawingml/2006/main" noGrp="1"/>
          </p:cNvSpPr>
          <p:nvPr/>
        </p:nvSpPr>
        <p:spPr>
          <a:xfrm xmlns:a="http://schemas.openxmlformats.org/drawingml/2006/main">
            <a:off x="7305675" y="28956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Availability</a:t>
            </a:r>
          </a:p>
        </p:txBody>
      </p:sp>
      <p:sp>
        <p:nvSpPr>
          <p:cNvPr id="31" name="">
            <a:extLst xmlns:a="http://schemas.openxmlformats.org/drawingml/2006/main">
              <a:ext uri="{FF2B5EF4-FFF2-40B4-BE49-F238E27FC236}">
                <a16:creationId xmlns:a16="http://schemas.microsoft.com/office/drawing/2014/main" id="{6D9AAFE9-E05B-4D82-92F5-C3FA03B51CF8}"/>
              </a:ext>
            </a:extLst>
          </p:cNvPr>
          <p:cNvSpPr>
            <a:spLocks xmlns:a="http://schemas.openxmlformats.org/drawingml/2006/main" noGrp="1"/>
          </p:cNvSpPr>
          <p:nvPr/>
        </p:nvSpPr>
        <p:spPr>
          <a:xfrm xmlns:a="http://schemas.openxmlformats.org/drawingml/2006/main">
            <a:off x="7305675" y="32480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Directory + booking</a:t>
            </a:r>
          </a:p>
        </p:txBody>
      </p:sp>
      <p:sp>
        <p:nvSpPr>
          <p:cNvPr id="32" name="">
            <a:extLst xmlns:a="http://schemas.openxmlformats.org/drawingml/2006/main">
              <a:ext uri="{FF2B5EF4-FFF2-40B4-BE49-F238E27FC236}">
                <a16:creationId xmlns:a16="http://schemas.microsoft.com/office/drawing/2014/main" id="{53506D82-6557-44CC-A03B-83F10FBD533A}"/>
              </a:ext>
            </a:extLst>
          </p:cNvPr>
          <p:cNvSpPr>
            <a:spLocks xmlns:a="http://schemas.openxmlformats.org/drawingml/2006/main" noGrp="1"/>
          </p:cNvSpPr>
          <p:nvPr/>
        </p:nvSpPr>
        <p:spPr>
          <a:xfrm xmlns:a="http://schemas.openxmlformats.org/drawingml/2006/main">
            <a:off x="9486900" y="24765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1B2A4A"/>
                </a:solidFill>
              </a:defRPr>
            </a:pPr>
            <a:r>
              <a:rPr sz="1425" b="1" i="0">
                <a:solidFill>
                  <a:srgbClr val="1B2A4A"/>
                </a:solidFill>
              </a:rPr>
              <a:t>Usable care</a:t>
            </a:r>
          </a:p>
        </p:txBody>
      </p:sp>
      <p:sp>
        <p:nvSpPr>
          <p:cNvPr id="33" name="">
            <a:extLst xmlns:a="http://schemas.openxmlformats.org/drawingml/2006/main">
              <a:ext uri="{FF2B5EF4-FFF2-40B4-BE49-F238E27FC236}">
                <a16:creationId xmlns:a16="http://schemas.microsoft.com/office/drawing/2014/main" id="{3F3B6FC4-E292-4654-B948-A975A638D9FE}"/>
              </a:ext>
            </a:extLst>
          </p:cNvPr>
          <p:cNvSpPr>
            <a:spLocks xmlns:a="http://schemas.openxmlformats.org/drawingml/2006/main" noGrp="1"/>
          </p:cNvSpPr>
          <p:nvPr/>
        </p:nvSpPr>
        <p:spPr>
          <a:xfrm xmlns:a="http://schemas.openxmlformats.org/drawingml/2006/main">
            <a:off x="9486900" y="2828925"/>
            <a:ext cx="1504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5B6B82"/>
                </a:solidFill>
              </a:defRPr>
            </a:pPr>
            <a:r>
              <a:rPr sz="1125" b="0" i="0">
                <a:solidFill>
                  <a:srgbClr val="5B6B82"/>
                </a:solidFill>
              </a:rPr>
              <a:t>Understood OOP</a:t>
            </a:r>
          </a:p>
        </p:txBody>
      </p:sp>
      <p:sp>
        <p:nvSpPr>
          <p:cNvPr id="34" name="">
            <a:extLst xmlns:a="http://schemas.openxmlformats.org/drawingml/2006/main">
              <a:ext uri="{FF2B5EF4-FFF2-40B4-BE49-F238E27FC236}">
                <a16:creationId xmlns:a16="http://schemas.microsoft.com/office/drawing/2014/main" id="{3FD13685-6D75-4A69-B349-08BF2F8873A8}"/>
              </a:ext>
            </a:extLst>
          </p:cNvPr>
          <p:cNvSpPr>
            <a:spLocks xmlns:a="http://schemas.openxmlformats.org/drawingml/2006/main" noGrp="1"/>
          </p:cNvSpPr>
          <p:nvPr/>
        </p:nvSpPr>
        <p:spPr>
          <a:xfrm xmlns:a="http://schemas.openxmlformats.org/drawingml/2006/main">
            <a:off x="609600" y="495300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35" name="">
            <a:extLst xmlns:a="http://schemas.openxmlformats.org/drawingml/2006/main">
              <a:ext uri="{FF2B5EF4-FFF2-40B4-BE49-F238E27FC236}">
                <a16:creationId xmlns:a16="http://schemas.microsoft.com/office/drawing/2014/main" id="{84C08418-0FC9-4AB8-AC0E-7639C70DE936}"/>
              </a:ext>
            </a:extLst>
          </p:cNvPr>
          <p:cNvSpPr>
            <a:spLocks xmlns:a="http://schemas.openxmlformats.org/drawingml/2006/main" noGrp="1"/>
          </p:cNvSpPr>
          <p:nvPr/>
        </p:nvSpPr>
        <p:spPr>
          <a:xfrm xmlns:a="http://schemas.openxmlformats.org/drawingml/2006/main">
            <a:off x="7429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NETWORK</a:t>
            </a:r>
          </a:p>
        </p:txBody>
      </p:sp>
      <p:sp>
        <p:nvSpPr>
          <p:cNvPr id="36" name="">
            <a:extLst xmlns:a="http://schemas.openxmlformats.org/drawingml/2006/main">
              <a:ext uri="{FF2B5EF4-FFF2-40B4-BE49-F238E27FC236}">
                <a16:creationId xmlns:a16="http://schemas.microsoft.com/office/drawing/2014/main" id="{D3429FB6-FC1A-452A-9942-FEAD24CC3145}"/>
              </a:ext>
            </a:extLst>
          </p:cNvPr>
          <p:cNvSpPr>
            <a:spLocks xmlns:a="http://schemas.openxmlformats.org/drawingml/2006/main" noGrp="1"/>
          </p:cNvSpPr>
          <p:nvPr/>
        </p:nvSpPr>
        <p:spPr>
          <a:xfrm xmlns:a="http://schemas.openxmlformats.org/drawingml/2006/main">
            <a:off x="7429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Provider choice may be constrained or economically penalized by plan rules.</a:t>
            </a:r>
          </a:p>
        </p:txBody>
      </p:sp>
      <p:sp>
        <p:nvSpPr>
          <p:cNvPr id="37" name="">
            <a:extLst xmlns:a="http://schemas.openxmlformats.org/drawingml/2006/main">
              <a:ext uri="{FF2B5EF4-FFF2-40B4-BE49-F238E27FC236}">
                <a16:creationId xmlns:a16="http://schemas.microsoft.com/office/drawing/2014/main" id="{DDB6E6FA-EF69-4F3C-955B-82F268A0A0F6}"/>
              </a:ext>
            </a:extLst>
          </p:cNvPr>
          <p:cNvSpPr>
            <a:spLocks xmlns:a="http://schemas.openxmlformats.org/drawingml/2006/main" noGrp="1"/>
          </p:cNvSpPr>
          <p:nvPr/>
        </p:nvSpPr>
        <p:spPr>
          <a:xfrm xmlns:a="http://schemas.openxmlformats.org/drawingml/2006/main">
            <a:off x="4343400" y="4953000"/>
            <a:ext cx="38100" cy="87630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38" name="">
            <a:extLst xmlns:a="http://schemas.openxmlformats.org/drawingml/2006/main">
              <a:ext uri="{FF2B5EF4-FFF2-40B4-BE49-F238E27FC236}">
                <a16:creationId xmlns:a16="http://schemas.microsoft.com/office/drawing/2014/main" id="{9EDF74AA-64D1-4F18-9BD5-C9A1CF64D22B}"/>
              </a:ext>
            </a:extLst>
          </p:cNvPr>
          <p:cNvSpPr>
            <a:spLocks xmlns:a="http://schemas.openxmlformats.org/drawingml/2006/main" noGrp="1"/>
          </p:cNvSpPr>
          <p:nvPr/>
        </p:nvSpPr>
        <p:spPr>
          <a:xfrm xmlns:a="http://schemas.openxmlformats.org/drawingml/2006/main">
            <a:off x="44767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BENEFIT DESIGN</a:t>
            </a:r>
          </a:p>
        </p:txBody>
      </p:sp>
      <p:sp>
        <p:nvSpPr>
          <p:cNvPr id="39" name="">
            <a:extLst xmlns:a="http://schemas.openxmlformats.org/drawingml/2006/main">
              <a:ext uri="{FF2B5EF4-FFF2-40B4-BE49-F238E27FC236}">
                <a16:creationId xmlns:a16="http://schemas.microsoft.com/office/drawing/2014/main" id="{704739A5-B369-46C8-A57F-A5AEC325ED38}"/>
              </a:ext>
            </a:extLst>
          </p:cNvPr>
          <p:cNvSpPr>
            <a:spLocks xmlns:a="http://schemas.openxmlformats.org/drawingml/2006/main" noGrp="1"/>
          </p:cNvSpPr>
          <p:nvPr/>
        </p:nvSpPr>
        <p:spPr>
          <a:xfrm xmlns:a="http://schemas.openxmlformats.org/drawingml/2006/main">
            <a:off x="44767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Deductible, coinsurance, annual maximum and covered procedures vary.</a:t>
            </a:r>
          </a:p>
        </p:txBody>
      </p:sp>
      <p:sp>
        <p:nvSpPr>
          <p:cNvPr id="40" name="">
            <a:extLst xmlns:a="http://schemas.openxmlformats.org/drawingml/2006/main">
              <a:ext uri="{FF2B5EF4-FFF2-40B4-BE49-F238E27FC236}">
                <a16:creationId xmlns:a16="http://schemas.microsoft.com/office/drawing/2014/main" id="{0330C153-00FB-4E6C-ACDC-391B9E5DD1E0}"/>
              </a:ext>
            </a:extLst>
          </p:cNvPr>
          <p:cNvSpPr>
            <a:spLocks xmlns:a="http://schemas.openxmlformats.org/drawingml/2006/main" noGrp="1"/>
          </p:cNvSpPr>
          <p:nvPr/>
        </p:nvSpPr>
        <p:spPr>
          <a:xfrm xmlns:a="http://schemas.openxmlformats.org/drawingml/2006/main">
            <a:off x="8077200" y="495300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41" name="">
            <a:extLst xmlns:a="http://schemas.openxmlformats.org/drawingml/2006/main">
              <a:ext uri="{FF2B5EF4-FFF2-40B4-BE49-F238E27FC236}">
                <a16:creationId xmlns:a16="http://schemas.microsoft.com/office/drawing/2014/main" id="{6E9981AE-961F-4E6A-9040-6527E5CECAD1}"/>
              </a:ext>
            </a:extLst>
          </p:cNvPr>
          <p:cNvSpPr>
            <a:spLocks xmlns:a="http://schemas.openxmlformats.org/drawingml/2006/main" noGrp="1"/>
          </p:cNvSpPr>
          <p:nvPr/>
        </p:nvSpPr>
        <p:spPr>
          <a:xfrm xmlns:a="http://schemas.openxmlformats.org/drawingml/2006/main">
            <a:off x="8210550" y="49720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OPERATIONS</a:t>
            </a:r>
          </a:p>
        </p:txBody>
      </p:sp>
      <p:sp>
        <p:nvSpPr>
          <p:cNvPr id="42" name="">
            <a:extLst xmlns:a="http://schemas.openxmlformats.org/drawingml/2006/main">
              <a:ext uri="{FF2B5EF4-FFF2-40B4-BE49-F238E27FC236}">
                <a16:creationId xmlns:a16="http://schemas.microsoft.com/office/drawing/2014/main" id="{EA0DEF29-C769-4829-BD8A-E506360372FF}"/>
              </a:ext>
            </a:extLst>
          </p:cNvPr>
          <p:cNvSpPr>
            <a:spLocks xmlns:a="http://schemas.openxmlformats.org/drawingml/2006/main" noGrp="1"/>
          </p:cNvSpPr>
          <p:nvPr/>
        </p:nvSpPr>
        <p:spPr>
          <a:xfrm xmlns:a="http://schemas.openxmlformats.org/drawingml/2006/main">
            <a:off x="8210550" y="52292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Directory status, appointment availability and final EOB may differ from expectations.</a:t>
            </a:r>
          </a:p>
        </p:txBody>
      </p:sp>
    </p:spTree>
    <p:extLst>
      <p:ext uri="{BB962C8B-B14F-4D97-AF65-F5344CB8AC3E}">
        <p14:creationId xmlns:p14="http://schemas.microsoft.com/office/powerpoint/2010/main" val="13390962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9C3058C-2072-4D6E-B6E0-A2BA2C228613}"/>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9E0532E9-0E04-49EA-AED5-7BA00D06A45F}"/>
              </a:ext>
            </a:extLst>
          </p:cNvPr>
          <p:cNvSpPr>
            <a:spLocks xmlns:a="http://schemas.openxmlformats.org/drawingml/2006/main" noGrp="1"/>
          </p:cNvSpPr>
          <p:nvPr/>
        </p:nvSpPr>
        <p:spPr>
          <a:xfrm xmlns:a="http://schemas.openxmlformats.org/drawingml/2006/main">
            <a:off x="7010400" y="209550"/>
            <a:ext cx="2057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1B2A4A"/>
            </a:solidFill>
            <a:prstDash val="solid"/>
          </a:ln>
        </p:spPr>
      </p:sp>
      <p:sp>
        <p:nvSpPr>
          <p:cNvPr id="3" name="">
            <a:extLst xmlns:a="http://schemas.openxmlformats.org/drawingml/2006/main">
              <a:ext uri="{FF2B5EF4-FFF2-40B4-BE49-F238E27FC236}">
                <a16:creationId xmlns:a16="http://schemas.microsoft.com/office/drawing/2014/main" id="{A0594DAA-8B84-48D9-AD76-6A9BFE753AB5}"/>
              </a:ext>
            </a:extLst>
          </p:cNvPr>
          <p:cNvSpPr>
            <a:spLocks xmlns:a="http://schemas.openxmlformats.org/drawingml/2006/main" noGrp="1"/>
          </p:cNvSpPr>
          <p:nvPr/>
        </p:nvSpPr>
        <p:spPr>
          <a:xfrm xmlns:a="http://schemas.openxmlformats.org/drawingml/2006/main">
            <a:off x="7010400" y="209550"/>
            <a:ext cx="57150" cy="28575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 name="">
            <a:extLst xmlns:a="http://schemas.openxmlformats.org/drawingml/2006/main">
              <a:ext uri="{FF2B5EF4-FFF2-40B4-BE49-F238E27FC236}">
                <a16:creationId xmlns:a16="http://schemas.microsoft.com/office/drawing/2014/main" id="{43ED21FC-6312-42A2-BC70-D46F7AFD07DE}"/>
              </a:ext>
            </a:extLst>
          </p:cNvPr>
          <p:cNvSpPr>
            <a:spLocks xmlns:a="http://schemas.openxmlformats.org/drawingml/2006/main" noGrp="1"/>
          </p:cNvSpPr>
          <p:nvPr/>
        </p:nvSpPr>
        <p:spPr>
          <a:xfrm xmlns:a="http://schemas.openxmlformats.org/drawingml/2006/main">
            <a:off x="7124700" y="25717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1B2A4A"/>
                </a:solidFill>
              </a:defRPr>
            </a:pPr>
            <a:r>
              <a:rPr sz="713" b="1" i="0">
                <a:solidFill>
                  <a:srgbClr val="1B2A4A"/>
                </a:solidFill>
              </a:rPr>
              <a:t>CONFIRMED ICLO DIRECTION</a:t>
            </a:r>
          </a:p>
        </p:txBody>
      </p:sp>
      <p:sp>
        <p:nvSpPr>
          <p:cNvPr id="5" name="">
            <a:extLst xmlns:a="http://schemas.openxmlformats.org/drawingml/2006/main">
              <a:ext uri="{FF2B5EF4-FFF2-40B4-BE49-F238E27FC236}">
                <a16:creationId xmlns:a16="http://schemas.microsoft.com/office/drawing/2014/main" id="{4154FF6B-EACC-4057-8220-58DD23537C88}"/>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6" name="">
            <a:extLst xmlns:a="http://schemas.openxmlformats.org/drawingml/2006/main">
              <a:ext uri="{FF2B5EF4-FFF2-40B4-BE49-F238E27FC236}">
                <a16:creationId xmlns:a16="http://schemas.microsoft.com/office/drawing/2014/main" id="{C0B1C29F-140D-435F-AEFC-FB04E9D5A710}"/>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7" name="">
            <a:extLst xmlns:a="http://schemas.openxmlformats.org/drawingml/2006/main">
              <a:ext uri="{FF2B5EF4-FFF2-40B4-BE49-F238E27FC236}">
                <a16:creationId xmlns:a16="http://schemas.microsoft.com/office/drawing/2014/main" id="{87A40492-6AE5-48C9-92E7-A1180DCA2EAC}"/>
              </a:ext>
            </a:extLst>
          </p:cNvPr>
          <p:cNvSpPr>
            <a:spLocks xmlns:a="http://schemas.openxmlformats.org/drawingml/2006/main" noGrp="1"/>
          </p:cNvSpPr>
          <p:nvPr/>
        </p:nvSpPr>
        <p:spPr>
          <a:xfrm xmlns:a="http://schemas.openxmlformats.org/drawingml/2006/main">
            <a:off x="92583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8" name="">
            <a:extLst xmlns:a="http://schemas.openxmlformats.org/drawingml/2006/main">
              <a:ext uri="{FF2B5EF4-FFF2-40B4-BE49-F238E27FC236}">
                <a16:creationId xmlns:a16="http://schemas.microsoft.com/office/drawing/2014/main" id="{6818221E-358A-4A9D-A817-5E9B50DA6049}"/>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ICLO Connects Plan Context to Employee-Initiated Action</a:t>
            </a:r>
          </a:p>
        </p:txBody>
      </p:sp>
      <p:sp>
        <p:nvSpPr>
          <p:cNvPr id="9" name="">
            <a:extLst xmlns:a="http://schemas.openxmlformats.org/drawingml/2006/main">
              <a:ext uri="{FF2B5EF4-FFF2-40B4-BE49-F238E27FC236}">
                <a16:creationId xmlns:a16="http://schemas.microsoft.com/office/drawing/2014/main" id="{BD918149-A801-45FE-B9C7-D15F92D823CA}"/>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Employee dental-benefit navigation in the front; a governed evidence layer in the back.</a:t>
            </a:r>
          </a:p>
        </p:txBody>
      </p:sp>
      <p:sp>
        <p:nvSpPr>
          <p:cNvPr id="10" name="">
            <a:extLst xmlns:a="http://schemas.openxmlformats.org/drawingml/2006/main">
              <a:ext uri="{FF2B5EF4-FFF2-40B4-BE49-F238E27FC236}">
                <a16:creationId xmlns:a16="http://schemas.microsoft.com/office/drawing/2014/main" id="{7A780B9B-1A79-4563-B2D0-B0820870697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C083E782-ACDF-46C2-BF2E-F136AC4969E2}"/>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E65EA7B9-0CA3-4294-BFC8-4E76BEB8DBF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b0d2f37278c5452f"/>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36E075F-A039-4A4E-8482-71495E79D70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818176fc41a5402a"/>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8AD1018-10B4-4780-81FF-7D3C0E6FDCE4}"/>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7" name="">
            <a:extLst xmlns:a="http://schemas.openxmlformats.org/drawingml/2006/main">
              <a:ext uri="{FF2B5EF4-FFF2-40B4-BE49-F238E27FC236}">
                <a16:creationId xmlns:a16="http://schemas.microsoft.com/office/drawing/2014/main" id="{C5E282AA-E589-4F7F-AFC3-49021C77400F}"/>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03</a:t>
            </a:r>
          </a:p>
        </p:txBody>
      </p:sp>
      <p:sp>
        <p:nvSpPr>
          <p:cNvPr id="18" name="">
            <a:extLst xmlns:a="http://schemas.openxmlformats.org/drawingml/2006/main">
              <a:ext uri="{FF2B5EF4-FFF2-40B4-BE49-F238E27FC236}">
                <a16:creationId xmlns:a16="http://schemas.microsoft.com/office/drawing/2014/main" id="{C471BF24-F93D-4EF8-B587-B32F8FBFCE23}"/>
              </a:ext>
            </a:extLst>
          </p:cNvPr>
          <p:cNvSpPr>
            <a:spLocks xmlns:a="http://schemas.openxmlformats.org/drawingml/2006/main" noGrp="1"/>
          </p:cNvSpPr>
          <p:nvPr/>
        </p:nvSpPr>
        <p:spPr>
          <a:xfrm xmlns:a="http://schemas.openxmlformats.org/drawingml/2006/main">
            <a:off x="609600" y="2190750"/>
            <a:ext cx="2400300" cy="1714500"/>
          </a:xfrm>
          <a:prstGeom xmlns:a="http://schemas.openxmlformats.org/drawingml/2006/main" prst="roundRect">
            <a:avLst>
              <a:gd name="adj" fmla="val 4444"/>
            </a:avLst>
          </a:prstGeom>
          <a:solidFill xmlns:a="http://schemas.openxmlformats.org/drawingml/2006/main">
            <a:srgbClr val="FFF0F0"/>
          </a:solidFill>
          <a:ln xmlns:a="http://schemas.openxmlformats.org/drawingml/2006/main" w="19050">
            <a:solidFill>
              <a:srgbClr val="FF7A79"/>
            </a:solidFill>
            <a:prstDash val="solid"/>
          </a:ln>
        </p:spPr>
      </p:sp>
      <p:sp>
        <p:nvSpPr>
          <p:cNvPr id="19" name="">
            <a:extLst xmlns:a="http://schemas.openxmlformats.org/drawingml/2006/main">
              <a:ext uri="{FF2B5EF4-FFF2-40B4-BE49-F238E27FC236}">
                <a16:creationId xmlns:a16="http://schemas.microsoft.com/office/drawing/2014/main" id="{FD9F4B29-CD23-47F2-8EB1-6ACF7FE2711F}"/>
              </a:ext>
            </a:extLst>
          </p:cNvPr>
          <p:cNvSpPr>
            <a:spLocks xmlns:a="http://schemas.openxmlformats.org/drawingml/2006/main" noGrp="1"/>
          </p:cNvSpPr>
          <p:nvPr/>
        </p:nvSpPr>
        <p:spPr>
          <a:xfrm xmlns:a="http://schemas.openxmlformats.org/drawingml/2006/main">
            <a:off x="3381375" y="2190750"/>
            <a:ext cx="2400300" cy="1714500"/>
          </a:xfrm>
          <a:prstGeom xmlns:a="http://schemas.openxmlformats.org/drawingml/2006/main" prst="roundRect">
            <a:avLst>
              <a:gd name="adj" fmla="val 4444"/>
            </a:avLst>
          </a:prstGeom>
          <a:solidFill xmlns:a="http://schemas.openxmlformats.org/drawingml/2006/main">
            <a:srgbClr val="EAF7FC"/>
          </a:solidFill>
          <a:ln xmlns:a="http://schemas.openxmlformats.org/drawingml/2006/main" w="19050">
            <a:solidFill>
              <a:srgbClr val="29B5E8"/>
            </a:solidFill>
            <a:prstDash val="solid"/>
          </a:ln>
        </p:spPr>
      </p:sp>
      <p:sp>
        <p:nvSpPr>
          <p:cNvPr id="20" name="">
            <a:extLst xmlns:a="http://schemas.openxmlformats.org/drawingml/2006/main">
              <a:ext uri="{FF2B5EF4-FFF2-40B4-BE49-F238E27FC236}">
                <a16:creationId xmlns:a16="http://schemas.microsoft.com/office/drawing/2014/main" id="{0914E6EC-49DF-4C98-9F25-0C99E3DFC0EA}"/>
              </a:ext>
            </a:extLst>
          </p:cNvPr>
          <p:cNvSpPr>
            <a:spLocks xmlns:a="http://schemas.openxmlformats.org/drawingml/2006/main" noGrp="1"/>
          </p:cNvSpPr>
          <p:nvPr/>
        </p:nvSpPr>
        <p:spPr>
          <a:xfrm xmlns:a="http://schemas.openxmlformats.org/drawingml/2006/main">
            <a:off x="6153150" y="2190750"/>
            <a:ext cx="2400300" cy="1714500"/>
          </a:xfrm>
          <a:prstGeom xmlns:a="http://schemas.openxmlformats.org/drawingml/2006/main" prst="roundRect">
            <a:avLst>
              <a:gd name="adj" fmla="val 4444"/>
            </a:avLst>
          </a:prstGeom>
          <a:solidFill xmlns:a="http://schemas.openxmlformats.org/drawingml/2006/main">
            <a:srgbClr val="FFF7E8"/>
          </a:solidFill>
          <a:ln xmlns:a="http://schemas.openxmlformats.org/drawingml/2006/main" w="19050">
            <a:solidFill>
              <a:srgbClr val="D99A24"/>
            </a:solidFill>
            <a:prstDash val="solid"/>
          </a:ln>
        </p:spPr>
      </p:sp>
      <p:sp>
        <p:nvSpPr>
          <p:cNvPr id="21" name="">
            <a:extLst xmlns:a="http://schemas.openxmlformats.org/drawingml/2006/main">
              <a:ext uri="{FF2B5EF4-FFF2-40B4-BE49-F238E27FC236}">
                <a16:creationId xmlns:a16="http://schemas.microsoft.com/office/drawing/2014/main" id="{3ED6D6D4-60BD-4095-8457-B718B3B3A9EA}"/>
              </a:ext>
            </a:extLst>
          </p:cNvPr>
          <p:cNvSpPr>
            <a:spLocks xmlns:a="http://schemas.openxmlformats.org/drawingml/2006/main" noGrp="1"/>
          </p:cNvSpPr>
          <p:nvPr/>
        </p:nvSpPr>
        <p:spPr>
          <a:xfrm xmlns:a="http://schemas.openxmlformats.org/drawingml/2006/main">
            <a:off x="8924925" y="2190750"/>
            <a:ext cx="2400300" cy="1714500"/>
          </a:xfrm>
          <a:prstGeom xmlns:a="http://schemas.openxmlformats.org/drawingml/2006/main" prst="roundRect">
            <a:avLst>
              <a:gd name="adj" fmla="val 4444"/>
            </a:avLst>
          </a:prstGeom>
          <a:solidFill xmlns:a="http://schemas.openxmlformats.org/drawingml/2006/main">
            <a:srgbClr val="E8F5F5"/>
          </a:solidFill>
          <a:ln xmlns:a="http://schemas.openxmlformats.org/drawingml/2006/main" w="19050">
            <a:solidFill>
              <a:srgbClr val="007A87"/>
            </a:solidFill>
            <a:prstDash val="solid"/>
          </a:ln>
        </p:spPr>
      </p:sp>
      <p:cxnSp>
        <p:nvCxnSpPr>
          <p:cNvPr id="71" name=""/>
          <p:cNvCxnSpPr>
            <a:stCxn xmlns:a="http://schemas.openxmlformats.org/drawingml/2006/main" id="18" idx="3"/>
            <a:endCxn xmlns:a="http://schemas.openxmlformats.org/drawingml/2006/main" id="19" idx="1"/>
          </p:cNvCxnSpPr>
          <p:nvPr/>
        </p:nvCxnSpPr>
        <p:spPr>
          <a:xfrm xmlns:a="http://schemas.openxmlformats.org/drawingml/2006/main">
            <a:off x="3009900"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72" name=""/>
          <p:cNvCxnSpPr>
            <a:stCxn xmlns:a="http://schemas.openxmlformats.org/drawingml/2006/main" id="19" idx="3"/>
            <a:endCxn xmlns:a="http://schemas.openxmlformats.org/drawingml/2006/main" id="20" idx="1"/>
          </p:cNvCxnSpPr>
          <p:nvPr/>
        </p:nvCxnSpPr>
        <p:spPr>
          <a:xfrm xmlns:a="http://schemas.openxmlformats.org/drawingml/2006/main">
            <a:off x="5781675"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73" name=""/>
          <p:cNvCxnSpPr>
            <a:stCxn xmlns:a="http://schemas.openxmlformats.org/drawingml/2006/main" id="20" idx="3"/>
            <a:endCxn xmlns:a="http://schemas.openxmlformats.org/drawingml/2006/main" id="21" idx="1"/>
          </p:cNvCxnSpPr>
          <p:nvPr/>
        </p:nvCxnSpPr>
        <p:spPr>
          <a:xfrm xmlns:a="http://schemas.openxmlformats.org/drawingml/2006/main">
            <a:off x="8553450" y="3048000"/>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25" name="">
            <a:extLst xmlns:a="http://schemas.openxmlformats.org/drawingml/2006/main">
              <a:ext uri="{FF2B5EF4-FFF2-40B4-BE49-F238E27FC236}">
                <a16:creationId xmlns:a16="http://schemas.microsoft.com/office/drawing/2014/main" id="{DB043ABA-DF18-4A7B-8800-43B6A06F082B}"/>
              </a:ext>
            </a:extLst>
          </p:cNvPr>
          <p:cNvSpPr>
            <a:spLocks xmlns:a="http://schemas.openxmlformats.org/drawingml/2006/main" noGrp="1"/>
          </p:cNvSpPr>
          <p:nvPr/>
        </p:nvSpPr>
        <p:spPr>
          <a:xfrm xmlns:a="http://schemas.openxmlformats.org/drawingml/2006/main">
            <a:off x="78105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7A79"/>
                </a:solidFill>
              </a:defRPr>
            </a:pPr>
            <a:r>
              <a:rPr sz="1200" b="1" i="0">
                <a:solidFill>
                  <a:srgbClr val="FF7A79"/>
                </a:solidFill>
              </a:rPr>
              <a:t>01</a:t>
            </a:r>
          </a:p>
        </p:txBody>
      </p:sp>
      <p:sp>
        <p:nvSpPr>
          <p:cNvPr id="26" name="">
            <a:extLst xmlns:a="http://schemas.openxmlformats.org/drawingml/2006/main">
              <a:ext uri="{FF2B5EF4-FFF2-40B4-BE49-F238E27FC236}">
                <a16:creationId xmlns:a16="http://schemas.microsoft.com/office/drawing/2014/main" id="{C06EAD77-0077-4E18-9068-981C7EAE1482}"/>
              </a:ext>
            </a:extLst>
          </p:cNvPr>
          <p:cNvSpPr>
            <a:spLocks xmlns:a="http://schemas.openxmlformats.org/drawingml/2006/main" noGrp="1"/>
          </p:cNvSpPr>
          <p:nvPr/>
        </p:nvSpPr>
        <p:spPr>
          <a:xfrm xmlns:a="http://schemas.openxmlformats.org/drawingml/2006/main">
            <a:off x="78105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Employee experience</a:t>
            </a:r>
          </a:p>
        </p:txBody>
      </p:sp>
      <p:sp>
        <p:nvSpPr>
          <p:cNvPr id="27" name="">
            <a:extLst xmlns:a="http://schemas.openxmlformats.org/drawingml/2006/main">
              <a:ext uri="{FF2B5EF4-FFF2-40B4-BE49-F238E27FC236}">
                <a16:creationId xmlns:a16="http://schemas.microsoft.com/office/drawing/2014/main" id="{A419CC96-EC9C-490F-B4BE-E0748B187D1E}"/>
              </a:ext>
            </a:extLst>
          </p:cNvPr>
          <p:cNvSpPr>
            <a:spLocks xmlns:a="http://schemas.openxmlformats.org/drawingml/2006/main" noGrp="1"/>
          </p:cNvSpPr>
          <p:nvPr/>
        </p:nvSpPr>
        <p:spPr>
          <a:xfrm xmlns:a="http://schemas.openxmlformats.org/drawingml/2006/main">
            <a:off x="78105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Concern + benefit understanding</a:t>
            </a:r>
          </a:p>
          <a:p xmlns:a="http://schemas.openxmlformats.org/drawingml/2006/main">
            <a:pPr algn="l">
              <a:defRPr sz="1163" b="0" i="0">
                <a:solidFill>
                  <a:srgbClr val="5B6B82"/>
                </a:solidFill>
              </a:defRPr>
            </a:pPr>
            <a:r>
              <a:rPr sz="1163" b="0" i="0">
                <a:solidFill>
                  <a:srgbClr val="5B6B82"/>
                </a:solidFill>
              </a:rPr>
              <a:t>Optional oral-image capture</a:t>
            </a:r>
          </a:p>
        </p:txBody>
      </p:sp>
      <p:sp>
        <p:nvSpPr>
          <p:cNvPr id="28" name="">
            <a:extLst xmlns:a="http://schemas.openxmlformats.org/drawingml/2006/main">
              <a:ext uri="{FF2B5EF4-FFF2-40B4-BE49-F238E27FC236}">
                <a16:creationId xmlns:a16="http://schemas.microsoft.com/office/drawing/2014/main" id="{6A4021AD-51CA-416C-BFF2-A488F8BB7134}"/>
              </a:ext>
            </a:extLst>
          </p:cNvPr>
          <p:cNvSpPr>
            <a:spLocks xmlns:a="http://schemas.openxmlformats.org/drawingml/2006/main" noGrp="1"/>
          </p:cNvSpPr>
          <p:nvPr/>
        </p:nvSpPr>
        <p:spPr>
          <a:xfrm xmlns:a="http://schemas.openxmlformats.org/drawingml/2006/main">
            <a:off x="355282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29B5E8"/>
                </a:solidFill>
              </a:defRPr>
            </a:pPr>
            <a:r>
              <a:rPr sz="1200" b="1" i="0">
                <a:solidFill>
                  <a:srgbClr val="29B5E8"/>
                </a:solidFill>
              </a:rPr>
              <a:t>02</a:t>
            </a:r>
          </a:p>
        </p:txBody>
      </p:sp>
      <p:sp>
        <p:nvSpPr>
          <p:cNvPr id="29" name="">
            <a:extLst xmlns:a="http://schemas.openxmlformats.org/drawingml/2006/main">
              <a:ext uri="{FF2B5EF4-FFF2-40B4-BE49-F238E27FC236}">
                <a16:creationId xmlns:a16="http://schemas.microsoft.com/office/drawing/2014/main" id="{12B37805-61A7-48C5-807C-79F6568EF722}"/>
              </a:ext>
            </a:extLst>
          </p:cNvPr>
          <p:cNvSpPr>
            <a:spLocks xmlns:a="http://schemas.openxmlformats.org/drawingml/2006/main" noGrp="1"/>
          </p:cNvSpPr>
          <p:nvPr/>
        </p:nvSpPr>
        <p:spPr>
          <a:xfrm xmlns:a="http://schemas.openxmlformats.org/drawingml/2006/main">
            <a:off x="355282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Benefit + provider context</a:t>
            </a:r>
          </a:p>
        </p:txBody>
      </p:sp>
      <p:sp>
        <p:nvSpPr>
          <p:cNvPr id="30" name="">
            <a:extLst xmlns:a="http://schemas.openxmlformats.org/drawingml/2006/main">
              <a:ext uri="{FF2B5EF4-FFF2-40B4-BE49-F238E27FC236}">
                <a16:creationId xmlns:a16="http://schemas.microsoft.com/office/drawing/2014/main" id="{07D8D3CF-7446-4562-992A-85079DB87359}"/>
              </a:ext>
            </a:extLst>
          </p:cNvPr>
          <p:cNvSpPr>
            <a:spLocks xmlns:a="http://schemas.openxmlformats.org/drawingml/2006/main" noGrp="1"/>
          </p:cNvSpPr>
          <p:nvPr/>
        </p:nvSpPr>
        <p:spPr>
          <a:xfrm xmlns:a="http://schemas.openxmlformats.org/drawingml/2006/main">
            <a:off x="355282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Eligibility + network</a:t>
            </a:r>
          </a:p>
          <a:p xmlns:a="http://schemas.openxmlformats.org/drawingml/2006/main">
            <a:pPr algn="l">
              <a:defRPr sz="1163" b="0" i="0">
                <a:solidFill>
                  <a:srgbClr val="5B6B82"/>
                </a:solidFill>
              </a:defRPr>
            </a:pPr>
            <a:r>
              <a:rPr sz="1163" b="0" i="0">
                <a:solidFill>
                  <a:srgbClr val="5B6B82"/>
                </a:solidFill>
              </a:rPr>
              <a:t>Plan rules + availability</a:t>
            </a:r>
          </a:p>
        </p:txBody>
      </p:sp>
      <p:sp>
        <p:nvSpPr>
          <p:cNvPr id="31" name="">
            <a:extLst xmlns:a="http://schemas.openxmlformats.org/drawingml/2006/main">
              <a:ext uri="{FF2B5EF4-FFF2-40B4-BE49-F238E27FC236}">
                <a16:creationId xmlns:a16="http://schemas.microsoft.com/office/drawing/2014/main" id="{12504E87-C2D6-46FA-B585-414760FAF1E6}"/>
              </a:ext>
            </a:extLst>
          </p:cNvPr>
          <p:cNvSpPr>
            <a:spLocks xmlns:a="http://schemas.openxmlformats.org/drawingml/2006/main" noGrp="1"/>
          </p:cNvSpPr>
          <p:nvPr/>
        </p:nvSpPr>
        <p:spPr>
          <a:xfrm xmlns:a="http://schemas.openxmlformats.org/drawingml/2006/main">
            <a:off x="6324600"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9A24"/>
                </a:solidFill>
              </a:defRPr>
            </a:pPr>
            <a:r>
              <a:rPr sz="1200" b="1" i="0">
                <a:solidFill>
                  <a:srgbClr val="D99A24"/>
                </a:solidFill>
              </a:rPr>
              <a:t>03</a:t>
            </a:r>
          </a:p>
        </p:txBody>
      </p:sp>
      <p:sp>
        <p:nvSpPr>
          <p:cNvPr id="32" name="">
            <a:extLst xmlns:a="http://schemas.openxmlformats.org/drawingml/2006/main">
              <a:ext uri="{FF2B5EF4-FFF2-40B4-BE49-F238E27FC236}">
                <a16:creationId xmlns:a16="http://schemas.microsoft.com/office/drawing/2014/main" id="{2CFE9B1A-A479-4636-9539-79BFD87AC8E8}"/>
              </a:ext>
            </a:extLst>
          </p:cNvPr>
          <p:cNvSpPr>
            <a:spLocks xmlns:a="http://schemas.openxmlformats.org/drawingml/2006/main" noGrp="1"/>
          </p:cNvSpPr>
          <p:nvPr/>
        </p:nvSpPr>
        <p:spPr>
          <a:xfrm xmlns:a="http://schemas.openxmlformats.org/drawingml/2006/main">
            <a:off x="6324600"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Employee-initiated action</a:t>
            </a:r>
          </a:p>
        </p:txBody>
      </p:sp>
      <p:sp>
        <p:nvSpPr>
          <p:cNvPr id="33" name="">
            <a:extLst xmlns:a="http://schemas.openxmlformats.org/drawingml/2006/main">
              <a:ext uri="{FF2B5EF4-FFF2-40B4-BE49-F238E27FC236}">
                <a16:creationId xmlns:a16="http://schemas.microsoft.com/office/drawing/2014/main" id="{D2191F7A-371D-4BE9-820D-E93BFA457522}"/>
              </a:ext>
            </a:extLst>
          </p:cNvPr>
          <p:cNvSpPr>
            <a:spLocks xmlns:a="http://schemas.openxmlformats.org/drawingml/2006/main" noGrp="1"/>
          </p:cNvSpPr>
          <p:nvPr/>
        </p:nvSpPr>
        <p:spPr>
          <a:xfrm xmlns:a="http://schemas.openxmlformats.org/drawingml/2006/main">
            <a:off x="6324600"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Provider search</a:t>
            </a:r>
          </a:p>
          <a:p xmlns:a="http://schemas.openxmlformats.org/drawingml/2006/main">
            <a:pPr algn="l">
              <a:defRPr sz="1163" b="0" i="0">
                <a:solidFill>
                  <a:srgbClr val="5B6B82"/>
                </a:solidFill>
              </a:defRPr>
            </a:pPr>
            <a:r>
              <a:rPr sz="1163" b="0" i="0">
                <a:solidFill>
                  <a:srgbClr val="5B6B82"/>
                </a:solidFill>
              </a:rPr>
              <a:t>Appointment support</a:t>
            </a:r>
          </a:p>
        </p:txBody>
      </p:sp>
      <p:sp>
        <p:nvSpPr>
          <p:cNvPr id="34" name="">
            <a:extLst xmlns:a="http://schemas.openxmlformats.org/drawingml/2006/main">
              <a:ext uri="{FF2B5EF4-FFF2-40B4-BE49-F238E27FC236}">
                <a16:creationId xmlns:a16="http://schemas.microsoft.com/office/drawing/2014/main" id="{CEE226CE-C225-41C5-AF62-9BA0525BF9E1}"/>
              </a:ext>
            </a:extLst>
          </p:cNvPr>
          <p:cNvSpPr>
            <a:spLocks xmlns:a="http://schemas.openxmlformats.org/drawingml/2006/main" noGrp="1"/>
          </p:cNvSpPr>
          <p:nvPr/>
        </p:nvSpPr>
        <p:spPr>
          <a:xfrm xmlns:a="http://schemas.openxmlformats.org/drawingml/2006/main">
            <a:off x="9096375" y="23431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04</a:t>
            </a:r>
          </a:p>
        </p:txBody>
      </p:sp>
      <p:sp>
        <p:nvSpPr>
          <p:cNvPr id="35" name="">
            <a:extLst xmlns:a="http://schemas.openxmlformats.org/drawingml/2006/main">
              <a:ext uri="{FF2B5EF4-FFF2-40B4-BE49-F238E27FC236}">
                <a16:creationId xmlns:a16="http://schemas.microsoft.com/office/drawing/2014/main" id="{715F076F-8F31-4A21-BD1B-27D6CBCE45FE}"/>
              </a:ext>
            </a:extLst>
          </p:cNvPr>
          <p:cNvSpPr>
            <a:spLocks xmlns:a="http://schemas.openxmlformats.org/drawingml/2006/main" noGrp="1"/>
          </p:cNvSpPr>
          <p:nvPr/>
        </p:nvSpPr>
        <p:spPr>
          <a:xfrm xmlns:a="http://schemas.openxmlformats.org/drawingml/2006/main">
            <a:off x="9096375" y="26955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B2A4A"/>
                </a:solidFill>
              </a:defRPr>
            </a:pPr>
            <a:r>
              <a:rPr sz="1425" b="1" i="0">
                <a:solidFill>
                  <a:srgbClr val="1B2A4A"/>
                </a:solidFill>
              </a:rPr>
              <a:t>Claims evidence</a:t>
            </a:r>
          </a:p>
        </p:txBody>
      </p:sp>
      <p:sp>
        <p:nvSpPr>
          <p:cNvPr id="36" name="">
            <a:extLst xmlns:a="http://schemas.openxmlformats.org/drawingml/2006/main">
              <a:ext uri="{FF2B5EF4-FFF2-40B4-BE49-F238E27FC236}">
                <a16:creationId xmlns:a16="http://schemas.microsoft.com/office/drawing/2014/main" id="{DB08342C-80C5-49AC-BE36-29945969DC5D}"/>
              </a:ext>
            </a:extLst>
          </p:cNvPr>
          <p:cNvSpPr>
            <a:spLocks xmlns:a="http://schemas.openxmlformats.org/drawingml/2006/main" noGrp="1"/>
          </p:cNvSpPr>
          <p:nvPr/>
        </p:nvSpPr>
        <p:spPr>
          <a:xfrm xmlns:a="http://schemas.openxmlformats.org/drawingml/2006/main">
            <a:off x="9096375" y="3257550"/>
            <a:ext cx="2047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Completion + claim line</a:t>
            </a:r>
          </a:p>
          <a:p xmlns:a="http://schemas.openxmlformats.org/drawingml/2006/main">
            <a:pPr algn="l">
              <a:defRPr sz="1163" b="0" i="0">
                <a:solidFill>
                  <a:srgbClr val="5B6B82"/>
                </a:solidFill>
              </a:defRPr>
            </a:pPr>
            <a:r>
              <a:rPr sz="1163" b="0" i="0">
                <a:solidFill>
                  <a:srgbClr val="5B6B82"/>
                </a:solidFill>
              </a:rPr>
              <a:t>Employer aggregate only</a:t>
            </a:r>
          </a:p>
        </p:txBody>
      </p:sp>
      <p:sp>
        <p:nvSpPr>
          <p:cNvPr id="37" name="">
            <a:extLst xmlns:a="http://schemas.openxmlformats.org/drawingml/2006/main">
              <a:ext uri="{FF2B5EF4-FFF2-40B4-BE49-F238E27FC236}">
                <a16:creationId xmlns:a16="http://schemas.microsoft.com/office/drawing/2014/main" id="{6374F131-B797-4FE3-BFD8-0E3B30A3E0F9}"/>
              </a:ext>
            </a:extLst>
          </p:cNvPr>
          <p:cNvSpPr>
            <a:spLocks xmlns:a="http://schemas.openxmlformats.org/drawingml/2006/main" noGrp="1"/>
          </p:cNvSpPr>
          <p:nvPr/>
        </p:nvSpPr>
        <p:spPr>
          <a:xfrm xmlns:a="http://schemas.openxmlformats.org/drawingml/2006/main">
            <a:off x="609600" y="4333875"/>
            <a:ext cx="10972800" cy="990600"/>
          </a:xfrm>
          <a:prstGeom xmlns:a="http://schemas.openxmlformats.org/drawingml/2006/main" prst="roundRect">
            <a:avLst>
              <a:gd name="adj" fmla="val 7692"/>
            </a:avLst>
          </a:prstGeom>
          <a:solidFill xmlns:a="http://schemas.openxmlformats.org/drawingml/2006/main">
            <a:srgbClr val="FFF7E8"/>
          </a:solidFill>
          <a:ln xmlns:a="http://schemas.openxmlformats.org/drawingml/2006/main" w="14288">
            <a:solidFill>
              <a:srgbClr val="D99A24"/>
            </a:solidFill>
            <a:prstDash val="solid"/>
          </a:ln>
        </p:spPr>
      </p:sp>
      <p:sp>
        <p:nvSpPr>
          <p:cNvPr id="38" name="">
            <a:extLst xmlns:a="http://schemas.openxmlformats.org/drawingml/2006/main">
              <a:ext uri="{FF2B5EF4-FFF2-40B4-BE49-F238E27FC236}">
                <a16:creationId xmlns:a16="http://schemas.microsoft.com/office/drawing/2014/main" id="{CD743DC2-6D77-41EA-BC28-6A64AE9ED53F}"/>
              </a:ext>
            </a:extLst>
          </p:cNvPr>
          <p:cNvSpPr>
            <a:spLocks xmlns:a="http://schemas.openxmlformats.org/drawingml/2006/main" noGrp="1"/>
          </p:cNvSpPr>
          <p:nvPr/>
        </p:nvSpPr>
        <p:spPr>
          <a:xfrm xmlns:a="http://schemas.openxmlformats.org/drawingml/2006/main">
            <a:off x="800100" y="45148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9A24"/>
                </a:solidFill>
              </a:defRPr>
            </a:pPr>
            <a:r>
              <a:rPr sz="1050" b="1" i="0">
                <a:solidFill>
                  <a:srgbClr val="D99A24"/>
                </a:solidFill>
              </a:rPr>
              <a:t>SHADOW SIGNAL</a:t>
            </a:r>
          </a:p>
        </p:txBody>
      </p:sp>
      <p:sp>
        <p:nvSpPr>
          <p:cNvPr id="39" name="">
            <a:extLst xmlns:a="http://schemas.openxmlformats.org/drawingml/2006/main">
              <a:ext uri="{FF2B5EF4-FFF2-40B4-BE49-F238E27FC236}">
                <a16:creationId xmlns:a16="http://schemas.microsoft.com/office/drawing/2014/main" id="{638CAF69-8F1F-45E1-8DB3-341AA53F3022}"/>
              </a:ext>
            </a:extLst>
          </p:cNvPr>
          <p:cNvSpPr>
            <a:spLocks xmlns:a="http://schemas.openxmlformats.org/drawingml/2006/main" noGrp="1"/>
          </p:cNvSpPr>
          <p:nvPr/>
        </p:nvSpPr>
        <p:spPr>
          <a:xfrm xmlns:a="http://schemas.openxmlformats.org/drawingml/2006/main">
            <a:off x="2571750" y="4476750"/>
            <a:ext cx="876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Raw disease probabilities are not shown to employees or employers. Model-derived signals do not automatically determine provider, urgency or treatment pathway.</a:t>
            </a:r>
          </a:p>
        </p:txBody>
      </p:sp>
      <p:sp>
        <p:nvSpPr>
          <p:cNvPr id="40" name="">
            <a:extLst xmlns:a="http://schemas.openxmlformats.org/drawingml/2006/main">
              <a:ext uri="{FF2B5EF4-FFF2-40B4-BE49-F238E27FC236}">
                <a16:creationId xmlns:a16="http://schemas.microsoft.com/office/drawing/2014/main" id="{724DFAAA-D474-405B-9FD3-9F26EA23F80B}"/>
              </a:ext>
            </a:extLst>
          </p:cNvPr>
          <p:cNvSpPr>
            <a:spLocks xmlns:a="http://schemas.openxmlformats.org/drawingml/2006/main" noGrp="1"/>
          </p:cNvSpPr>
          <p:nvPr/>
        </p:nvSpPr>
        <p:spPr>
          <a:xfrm xmlns:a="http://schemas.openxmlformats.org/drawingml/2006/main">
            <a:off x="2571750" y="4972050"/>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5B6B82"/>
                </a:solidFill>
              </a:defRPr>
            </a:pPr>
            <a:r>
              <a:rPr sz="1050" b="0" i="0">
                <a:solidFill>
                  <a:srgbClr val="5B6B82"/>
                </a:solidFill>
              </a:rPr>
              <a:t>Design redline: separate signal, navigation and referral tables; timestamp employee action and consent.</a:t>
            </a:r>
          </a:p>
        </p:txBody>
      </p:sp>
      <p:sp>
        <p:nvSpPr>
          <p:cNvPr id="41" name="">
            <a:extLst xmlns:a="http://schemas.openxmlformats.org/drawingml/2006/main">
              <a:ext uri="{FF2B5EF4-FFF2-40B4-BE49-F238E27FC236}">
                <a16:creationId xmlns:a16="http://schemas.microsoft.com/office/drawing/2014/main" id="{265A554E-14C9-432E-B0A7-A447B7555BDF}"/>
              </a:ext>
            </a:extLst>
          </p:cNvPr>
          <p:cNvSpPr>
            <a:spLocks xmlns:a="http://schemas.openxmlformats.org/drawingml/2006/main" noGrp="1"/>
          </p:cNvSpPr>
          <p:nvPr/>
        </p:nvSpPr>
        <p:spPr>
          <a:xfrm xmlns:a="http://schemas.openxmlformats.org/drawingml/2006/main">
            <a:off x="609600" y="542925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42" name="">
            <a:extLst xmlns:a="http://schemas.openxmlformats.org/drawingml/2006/main">
              <a:ext uri="{FF2B5EF4-FFF2-40B4-BE49-F238E27FC236}">
                <a16:creationId xmlns:a16="http://schemas.microsoft.com/office/drawing/2014/main" id="{98EEA2BA-027C-4176-916F-6307EC7C01AF}"/>
              </a:ext>
            </a:extLst>
          </p:cNvPr>
          <p:cNvSpPr>
            <a:spLocks xmlns:a="http://schemas.openxmlformats.org/drawingml/2006/main" noGrp="1"/>
          </p:cNvSpPr>
          <p:nvPr/>
        </p:nvSpPr>
        <p:spPr>
          <a:xfrm xmlns:a="http://schemas.openxmlformats.org/drawingml/2006/main">
            <a:off x="7429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UNDERSTAND</a:t>
            </a:r>
          </a:p>
        </p:txBody>
      </p:sp>
      <p:sp>
        <p:nvSpPr>
          <p:cNvPr id="43" name="">
            <a:extLst xmlns:a="http://schemas.openxmlformats.org/drawingml/2006/main">
              <a:ext uri="{FF2B5EF4-FFF2-40B4-BE49-F238E27FC236}">
                <a16:creationId xmlns:a16="http://schemas.microsoft.com/office/drawing/2014/main" id="{C977B459-D7E7-44AA-B089-700DF11B21EE}"/>
              </a:ext>
            </a:extLst>
          </p:cNvPr>
          <p:cNvSpPr>
            <a:spLocks xmlns:a="http://schemas.openxmlformats.org/drawingml/2006/main" noGrp="1"/>
          </p:cNvSpPr>
          <p:nvPr/>
        </p:nvSpPr>
        <p:spPr>
          <a:xfrm xmlns:a="http://schemas.openxmlformats.org/drawingml/2006/main">
            <a:off x="7429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Concerns, benefits and optional image capture.</a:t>
            </a:r>
          </a:p>
        </p:txBody>
      </p:sp>
      <p:sp>
        <p:nvSpPr>
          <p:cNvPr id="44" name="">
            <a:extLst xmlns:a="http://schemas.openxmlformats.org/drawingml/2006/main">
              <a:ext uri="{FF2B5EF4-FFF2-40B4-BE49-F238E27FC236}">
                <a16:creationId xmlns:a16="http://schemas.microsoft.com/office/drawing/2014/main" id="{DC7E2FDB-96D8-45CD-8A75-5BB2DD9B5BC2}"/>
              </a:ext>
            </a:extLst>
          </p:cNvPr>
          <p:cNvSpPr>
            <a:spLocks xmlns:a="http://schemas.openxmlformats.org/drawingml/2006/main" noGrp="1"/>
          </p:cNvSpPr>
          <p:nvPr/>
        </p:nvSpPr>
        <p:spPr>
          <a:xfrm xmlns:a="http://schemas.openxmlformats.org/drawingml/2006/main">
            <a:off x="4343400" y="542925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5" name="">
            <a:extLst xmlns:a="http://schemas.openxmlformats.org/drawingml/2006/main">
              <a:ext uri="{FF2B5EF4-FFF2-40B4-BE49-F238E27FC236}">
                <a16:creationId xmlns:a16="http://schemas.microsoft.com/office/drawing/2014/main" id="{B3110D16-8AA9-4CBE-986D-C501B4E97544}"/>
              </a:ext>
            </a:extLst>
          </p:cNvPr>
          <p:cNvSpPr>
            <a:spLocks xmlns:a="http://schemas.openxmlformats.org/drawingml/2006/main" noGrp="1"/>
          </p:cNvSpPr>
          <p:nvPr/>
        </p:nvSpPr>
        <p:spPr>
          <a:xfrm xmlns:a="http://schemas.openxmlformats.org/drawingml/2006/main">
            <a:off x="44767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MATCH</a:t>
            </a:r>
          </a:p>
        </p:txBody>
      </p:sp>
      <p:sp>
        <p:nvSpPr>
          <p:cNvPr id="46" name="">
            <a:extLst xmlns:a="http://schemas.openxmlformats.org/drawingml/2006/main">
              <a:ext uri="{FF2B5EF4-FFF2-40B4-BE49-F238E27FC236}">
                <a16:creationId xmlns:a16="http://schemas.microsoft.com/office/drawing/2014/main" id="{113BB470-EA1A-498D-9C38-BEA5EB67E8E0}"/>
              </a:ext>
            </a:extLst>
          </p:cNvPr>
          <p:cNvSpPr>
            <a:spLocks xmlns:a="http://schemas.openxmlformats.org/drawingml/2006/main" noGrp="1"/>
          </p:cNvSpPr>
          <p:nvPr/>
        </p:nvSpPr>
        <p:spPr>
          <a:xfrm xmlns:a="http://schemas.openxmlformats.org/drawingml/2006/main">
            <a:off x="44767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Eligibility, plan, network and operational context.</a:t>
            </a:r>
          </a:p>
        </p:txBody>
      </p:sp>
      <p:sp>
        <p:nvSpPr>
          <p:cNvPr id="47" name="">
            <a:extLst xmlns:a="http://schemas.openxmlformats.org/drawingml/2006/main">
              <a:ext uri="{FF2B5EF4-FFF2-40B4-BE49-F238E27FC236}">
                <a16:creationId xmlns:a16="http://schemas.microsoft.com/office/drawing/2014/main" id="{40317347-4097-4EC4-B2AF-1A9EB3791080}"/>
              </a:ext>
            </a:extLst>
          </p:cNvPr>
          <p:cNvSpPr>
            <a:spLocks xmlns:a="http://schemas.openxmlformats.org/drawingml/2006/main" noGrp="1"/>
          </p:cNvSpPr>
          <p:nvPr/>
        </p:nvSpPr>
        <p:spPr>
          <a:xfrm xmlns:a="http://schemas.openxmlformats.org/drawingml/2006/main">
            <a:off x="8077200" y="5429250"/>
            <a:ext cx="38100" cy="87630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8" name="">
            <a:extLst xmlns:a="http://schemas.openxmlformats.org/drawingml/2006/main">
              <a:ext uri="{FF2B5EF4-FFF2-40B4-BE49-F238E27FC236}">
                <a16:creationId xmlns:a16="http://schemas.microsoft.com/office/drawing/2014/main" id="{0F2D496D-7467-48A4-B3E2-D5C539DA64FC}"/>
              </a:ext>
            </a:extLst>
          </p:cNvPr>
          <p:cNvSpPr>
            <a:spLocks xmlns:a="http://schemas.openxmlformats.org/drawingml/2006/main" noGrp="1"/>
          </p:cNvSpPr>
          <p:nvPr/>
        </p:nvSpPr>
        <p:spPr>
          <a:xfrm xmlns:a="http://schemas.openxmlformats.org/drawingml/2006/main">
            <a:off x="8210550" y="544830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VERIFY</a:t>
            </a:r>
          </a:p>
        </p:txBody>
      </p:sp>
      <p:sp>
        <p:nvSpPr>
          <p:cNvPr id="49" name="">
            <a:extLst xmlns:a="http://schemas.openxmlformats.org/drawingml/2006/main">
              <a:ext uri="{FF2B5EF4-FFF2-40B4-BE49-F238E27FC236}">
                <a16:creationId xmlns:a16="http://schemas.microsoft.com/office/drawing/2014/main" id="{9D3174F9-2FFD-489C-BC99-07CB903433C0}"/>
              </a:ext>
            </a:extLst>
          </p:cNvPr>
          <p:cNvSpPr>
            <a:spLocks xmlns:a="http://schemas.openxmlformats.org/drawingml/2006/main" noGrp="1"/>
          </p:cNvSpPr>
          <p:nvPr/>
        </p:nvSpPr>
        <p:spPr>
          <a:xfrm xmlns:a="http://schemas.openxmlformats.org/drawingml/2006/main">
            <a:off x="8210550" y="570547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Preventive visits and claims at aggregate employer level.</a:t>
            </a:r>
          </a:p>
        </p:txBody>
      </p:sp>
    </p:spTree>
    <p:extLst>
      <p:ext uri="{BB962C8B-B14F-4D97-AF65-F5344CB8AC3E}">
        <p14:creationId xmlns:p14="http://schemas.microsoft.com/office/powerpoint/2010/main" val="18763290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A80BB2E7-8FCF-412F-A4E6-0A2EDCE61379}"/>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D36DC5DA-5F31-4F1E-84D8-D7A695F75E6B}"/>
              </a:ext>
            </a:extLst>
          </p:cNvPr>
          <p:cNvSpPr>
            <a:spLocks xmlns:a="http://schemas.openxmlformats.org/drawingml/2006/main" noGrp="1"/>
          </p:cNvSpPr>
          <p:nvPr/>
        </p:nvSpPr>
        <p:spPr>
          <a:xfrm xmlns:a="http://schemas.openxmlformats.org/drawingml/2006/main">
            <a:off x="7086600" y="209550"/>
            <a:ext cx="2057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1B2A4A"/>
            </a:solidFill>
            <a:prstDash val="solid"/>
          </a:ln>
        </p:spPr>
      </p:sp>
      <p:sp>
        <p:nvSpPr>
          <p:cNvPr id="3" name="">
            <a:extLst xmlns:a="http://schemas.openxmlformats.org/drawingml/2006/main">
              <a:ext uri="{FF2B5EF4-FFF2-40B4-BE49-F238E27FC236}">
                <a16:creationId xmlns:a16="http://schemas.microsoft.com/office/drawing/2014/main" id="{AA7D60F5-64FB-48B3-89DF-3480B812CC0C}"/>
              </a:ext>
            </a:extLst>
          </p:cNvPr>
          <p:cNvSpPr>
            <a:spLocks xmlns:a="http://schemas.openxmlformats.org/drawingml/2006/main" noGrp="1"/>
          </p:cNvSpPr>
          <p:nvPr/>
        </p:nvSpPr>
        <p:spPr>
          <a:xfrm xmlns:a="http://schemas.openxmlformats.org/drawingml/2006/main">
            <a:off x="7086600" y="209550"/>
            <a:ext cx="57150" cy="28575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 name="">
            <a:extLst xmlns:a="http://schemas.openxmlformats.org/drawingml/2006/main">
              <a:ext uri="{FF2B5EF4-FFF2-40B4-BE49-F238E27FC236}">
                <a16:creationId xmlns:a16="http://schemas.microsoft.com/office/drawing/2014/main" id="{E90C8995-BBCF-4AD8-B2D7-BFA01D357071}"/>
              </a:ext>
            </a:extLst>
          </p:cNvPr>
          <p:cNvSpPr>
            <a:spLocks xmlns:a="http://schemas.openxmlformats.org/drawingml/2006/main" noGrp="1"/>
          </p:cNvSpPr>
          <p:nvPr/>
        </p:nvSpPr>
        <p:spPr>
          <a:xfrm xmlns:a="http://schemas.openxmlformats.org/drawingml/2006/main">
            <a:off x="7200900" y="257175"/>
            <a:ext cx="1885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1B2A4A"/>
                </a:solidFill>
              </a:defRPr>
            </a:pPr>
            <a:r>
              <a:rPr sz="713" b="1" i="0">
                <a:solidFill>
                  <a:srgbClr val="1B2A4A"/>
                </a:solidFill>
              </a:rPr>
              <a:t>CONFIRMED ICLO DIRECTION</a:t>
            </a:r>
          </a:p>
        </p:txBody>
      </p:sp>
      <p:sp>
        <p:nvSpPr>
          <p:cNvPr id="5" name="">
            <a:extLst xmlns:a="http://schemas.openxmlformats.org/drawingml/2006/main">
              <a:ext uri="{FF2B5EF4-FFF2-40B4-BE49-F238E27FC236}">
                <a16:creationId xmlns:a16="http://schemas.microsoft.com/office/drawing/2014/main" id="{BD4453F1-A330-4FF7-B2E8-A15BEB6DCB0A}"/>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6" name="">
            <a:extLst xmlns:a="http://schemas.openxmlformats.org/drawingml/2006/main">
              <a:ext uri="{FF2B5EF4-FFF2-40B4-BE49-F238E27FC236}">
                <a16:creationId xmlns:a16="http://schemas.microsoft.com/office/drawing/2014/main" id="{95ECF822-81F9-4462-A6D5-D1669116CB7A}"/>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7" name="">
            <a:extLst xmlns:a="http://schemas.openxmlformats.org/drawingml/2006/main">
              <a:ext uri="{FF2B5EF4-FFF2-40B4-BE49-F238E27FC236}">
                <a16:creationId xmlns:a16="http://schemas.microsoft.com/office/drawing/2014/main" id="{6D7F0697-801A-4F21-AF04-1484526975D1}"/>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8" name="">
            <a:extLst xmlns:a="http://schemas.openxmlformats.org/drawingml/2006/main">
              <a:ext uri="{FF2B5EF4-FFF2-40B4-BE49-F238E27FC236}">
                <a16:creationId xmlns:a16="http://schemas.microsoft.com/office/drawing/2014/main" id="{9EFD3DB2-94C8-4996-9737-E24855B8C1C1}"/>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B2A4A"/>
                </a:solidFill>
              </a:defRPr>
            </a:pPr>
            <a:r>
              <a:rPr sz="2100" b="1" i="0">
                <a:solidFill>
                  <a:srgbClr val="1B2A4A"/>
                </a:solidFill>
              </a:rPr>
              <a:t>The Economics Begin with a J-Curve, Not a Year-One Savings Promise</a:t>
            </a:r>
          </a:p>
        </p:txBody>
      </p:sp>
      <p:sp>
        <p:nvSpPr>
          <p:cNvPr id="9" name="">
            <a:extLst xmlns:a="http://schemas.openxmlformats.org/drawingml/2006/main">
              <a:ext uri="{FF2B5EF4-FFF2-40B4-BE49-F238E27FC236}">
                <a16:creationId xmlns:a16="http://schemas.microsoft.com/office/drawing/2014/main" id="{AEC52710-4DB3-45A2-9926-53861CAA10E0}"/>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Year-one utilization and plan-paid claims may rise before treatment-mix change becomes measurable.</a:t>
            </a:r>
          </a:p>
        </p:txBody>
      </p:sp>
      <p:sp>
        <p:nvSpPr>
          <p:cNvPr id="10" name="">
            <a:extLst xmlns:a="http://schemas.openxmlformats.org/drawingml/2006/main">
              <a:ext uri="{FF2B5EF4-FFF2-40B4-BE49-F238E27FC236}">
                <a16:creationId xmlns:a16="http://schemas.microsoft.com/office/drawing/2014/main" id="{90B5A0F0-2610-4DF2-A619-5DF5FD139441}"/>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662DFC58-EDF0-448C-A186-338B6D301BB2}"/>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9CA2DA94-5ACD-4F8D-9CE0-14E8D578F98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3ce68c5dc2254159"/>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65BDE81-B501-48D3-9EC2-6EB7C86E632F}"/>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a2e736a177b84256"/>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7C3244D-E274-4789-9588-9933E887B6C0}"/>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7" name="">
            <a:extLst xmlns:a="http://schemas.openxmlformats.org/drawingml/2006/main">
              <a:ext uri="{FF2B5EF4-FFF2-40B4-BE49-F238E27FC236}">
                <a16:creationId xmlns:a16="http://schemas.microsoft.com/office/drawing/2014/main" id="{00C97F63-510D-4B77-92DD-DF00167B973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04</a:t>
            </a:r>
          </a:p>
        </p:txBody>
      </p:sp>
      <p:sp>
        <p:nvSpPr>
          <p:cNvPr id="18" name="">
            <a:extLst xmlns:a="http://schemas.openxmlformats.org/drawingml/2006/main">
              <a:ext uri="{FF2B5EF4-FFF2-40B4-BE49-F238E27FC236}">
                <a16:creationId xmlns:a16="http://schemas.microsoft.com/office/drawing/2014/main" id="{7E49C0CF-EE0A-4E1A-938B-3C48CD0F4265}"/>
              </a:ext>
            </a:extLst>
          </p:cNvPr>
          <p:cNvSpPr>
            <a:spLocks xmlns:a="http://schemas.openxmlformats.org/drawingml/2006/main" noGrp="1"/>
          </p:cNvSpPr>
          <p:nvPr/>
        </p:nvSpPr>
        <p:spPr>
          <a:xfrm xmlns:a="http://schemas.openxmlformats.org/drawingml/2006/main">
            <a:off x="609600" y="190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9A24"/>
                </a:solidFill>
              </a:defRPr>
            </a:pPr>
            <a:r>
              <a:rPr sz="975" b="1" i="0">
                <a:solidFill>
                  <a:srgbClr val="D99A24"/>
                </a:solidFill>
              </a:rPr>
              <a:t>Illustrative shape only - not an ICLO outcome</a:t>
            </a:r>
          </a:p>
        </p:txBody>
      </p:sp>
      <p:sp>
        <p:nvSpPr>
          <p:cNvPr id="19" name="">
            <a:extLst xmlns:a="http://schemas.openxmlformats.org/drawingml/2006/main">
              <a:ext uri="{FF2B5EF4-FFF2-40B4-BE49-F238E27FC236}">
                <a16:creationId xmlns:a16="http://schemas.microsoft.com/office/drawing/2014/main" id="{447A79FC-98C8-4992-A8C4-8536DC8D0B2B}"/>
              </a:ext>
            </a:extLst>
          </p:cNvPr>
          <p:cNvSpPr>
            <a:spLocks xmlns:a="http://schemas.openxmlformats.org/drawingml/2006/main" noGrp="1"/>
          </p:cNvSpPr>
          <p:nvPr/>
        </p:nvSpPr>
        <p:spPr>
          <a:xfrm xmlns:a="http://schemas.openxmlformats.org/drawingml/2006/main">
            <a:off x="609600" y="3257550"/>
            <a:ext cx="1714500" cy="742950"/>
          </a:xfrm>
          <a:prstGeom xmlns:a="http://schemas.openxmlformats.org/drawingml/2006/main" prst="roundRect">
            <a:avLst>
              <a:gd name="adj" fmla="val 10256"/>
            </a:avLst>
          </a:prstGeom>
          <a:solidFill xmlns:a="http://schemas.openxmlformats.org/drawingml/2006/main">
            <a:srgbClr val="EEF1F7"/>
          </a:solidFill>
          <a:ln xmlns:a="http://schemas.openxmlformats.org/drawingml/2006/main" w="19050">
            <a:solidFill>
              <a:srgbClr val="1B2A4A"/>
            </a:solidFill>
            <a:prstDash val="solid"/>
          </a:ln>
        </p:spPr>
      </p:sp>
      <p:sp>
        <p:nvSpPr>
          <p:cNvPr id="20" name="">
            <a:extLst xmlns:a="http://schemas.openxmlformats.org/drawingml/2006/main">
              <a:ext uri="{FF2B5EF4-FFF2-40B4-BE49-F238E27FC236}">
                <a16:creationId xmlns:a16="http://schemas.microsoft.com/office/drawing/2014/main" id="{D5348F7C-5418-41AE-A362-1F943D0A5D52}"/>
              </a:ext>
            </a:extLst>
          </p:cNvPr>
          <p:cNvSpPr>
            <a:spLocks xmlns:a="http://schemas.openxmlformats.org/drawingml/2006/main" noGrp="1"/>
          </p:cNvSpPr>
          <p:nvPr/>
        </p:nvSpPr>
        <p:spPr>
          <a:xfrm xmlns:a="http://schemas.openxmlformats.org/drawingml/2006/main">
            <a:off x="2762250" y="2333625"/>
            <a:ext cx="2362200" cy="1181100"/>
          </a:xfrm>
          <a:prstGeom xmlns:a="http://schemas.openxmlformats.org/drawingml/2006/main" prst="roundRect">
            <a:avLst>
              <a:gd name="adj" fmla="val 6452"/>
            </a:avLst>
          </a:prstGeom>
          <a:solidFill xmlns:a="http://schemas.openxmlformats.org/drawingml/2006/main">
            <a:srgbClr val="FFF0F0"/>
          </a:solidFill>
          <a:ln xmlns:a="http://schemas.openxmlformats.org/drawingml/2006/main" w="19050">
            <a:solidFill>
              <a:srgbClr val="FF7A79"/>
            </a:solidFill>
            <a:prstDash val="solid"/>
          </a:ln>
        </p:spPr>
      </p:sp>
      <p:sp>
        <p:nvSpPr>
          <p:cNvPr id="21" name="">
            <a:extLst xmlns:a="http://schemas.openxmlformats.org/drawingml/2006/main">
              <a:ext uri="{FF2B5EF4-FFF2-40B4-BE49-F238E27FC236}">
                <a16:creationId xmlns:a16="http://schemas.microsoft.com/office/drawing/2014/main" id="{A2D2168F-3C5B-48B4-A56B-84C4088C119B}"/>
              </a:ext>
            </a:extLst>
          </p:cNvPr>
          <p:cNvSpPr>
            <a:spLocks xmlns:a="http://schemas.openxmlformats.org/drawingml/2006/main" noGrp="1"/>
          </p:cNvSpPr>
          <p:nvPr/>
        </p:nvSpPr>
        <p:spPr>
          <a:xfrm xmlns:a="http://schemas.openxmlformats.org/drawingml/2006/main">
            <a:off x="5562600" y="2762250"/>
            <a:ext cx="2343150" cy="1066800"/>
          </a:xfrm>
          <a:prstGeom xmlns:a="http://schemas.openxmlformats.org/drawingml/2006/main" prst="roundRect">
            <a:avLst>
              <a:gd name="adj" fmla="val 7143"/>
            </a:avLst>
          </a:prstGeom>
          <a:solidFill xmlns:a="http://schemas.openxmlformats.org/drawingml/2006/main">
            <a:srgbClr val="EAF7FC"/>
          </a:solidFill>
          <a:ln xmlns:a="http://schemas.openxmlformats.org/drawingml/2006/main" w="19050">
            <a:solidFill>
              <a:srgbClr val="29B5E8"/>
            </a:solidFill>
            <a:prstDash val="solid"/>
          </a:ln>
        </p:spPr>
      </p:sp>
      <p:sp>
        <p:nvSpPr>
          <p:cNvPr id="22" name="">
            <a:extLst xmlns:a="http://schemas.openxmlformats.org/drawingml/2006/main">
              <a:ext uri="{FF2B5EF4-FFF2-40B4-BE49-F238E27FC236}">
                <a16:creationId xmlns:a16="http://schemas.microsoft.com/office/drawing/2014/main" id="{7DF982D1-B75B-40A1-B3AD-52B685D94F35}"/>
              </a:ext>
            </a:extLst>
          </p:cNvPr>
          <p:cNvSpPr>
            <a:spLocks xmlns:a="http://schemas.openxmlformats.org/drawingml/2006/main" noGrp="1"/>
          </p:cNvSpPr>
          <p:nvPr/>
        </p:nvSpPr>
        <p:spPr>
          <a:xfrm xmlns:a="http://schemas.openxmlformats.org/drawingml/2006/main">
            <a:off x="8343900" y="3086100"/>
            <a:ext cx="1752600" cy="895350"/>
          </a:xfrm>
          <a:prstGeom xmlns:a="http://schemas.openxmlformats.org/drawingml/2006/main" prst="roundRect">
            <a:avLst>
              <a:gd name="adj" fmla="val 8511"/>
            </a:avLst>
          </a:prstGeom>
          <a:solidFill xmlns:a="http://schemas.openxmlformats.org/drawingml/2006/main">
            <a:srgbClr val="E8F5F5"/>
          </a:solidFill>
          <a:ln xmlns:a="http://schemas.openxmlformats.org/drawingml/2006/main" w="19050">
            <a:solidFill>
              <a:srgbClr val="007A87"/>
            </a:solidFill>
            <a:prstDash val="solid"/>
          </a:ln>
        </p:spPr>
      </p:sp>
      <p:cxnSp>
        <p:nvCxnSpPr>
          <p:cNvPr id="71" name=""/>
          <p:cNvCxnSpPr>
            <a:stCxn xmlns:a="http://schemas.openxmlformats.org/drawingml/2006/main" id="19" idx="3"/>
            <a:endCxn xmlns:a="http://schemas.openxmlformats.org/drawingml/2006/main" id="20" idx="1"/>
          </p:cNvCxnSpPr>
          <p:nvPr/>
        </p:nvCxnSpPr>
        <p:spPr>
          <a:xfrm xmlns:a="http://schemas.openxmlformats.org/drawingml/2006/main" flipV="1">
            <a:off x="2324100" y="2924175"/>
            <a:ext cx="438150" cy="70485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72" name=""/>
          <p:cNvCxnSpPr>
            <a:stCxn xmlns:a="http://schemas.openxmlformats.org/drawingml/2006/main" id="20" idx="3"/>
            <a:endCxn xmlns:a="http://schemas.openxmlformats.org/drawingml/2006/main" id="21" idx="1"/>
          </p:cNvCxnSpPr>
          <p:nvPr/>
        </p:nvCxnSpPr>
        <p:spPr>
          <a:xfrm xmlns:a="http://schemas.openxmlformats.org/drawingml/2006/main">
            <a:off x="5124450" y="2924175"/>
            <a:ext cx="438150" cy="371475"/>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73" name=""/>
          <p:cNvCxnSpPr>
            <a:stCxn xmlns:a="http://schemas.openxmlformats.org/drawingml/2006/main" id="21" idx="3"/>
            <a:endCxn xmlns:a="http://schemas.openxmlformats.org/drawingml/2006/main" id="22" idx="1"/>
          </p:cNvCxnSpPr>
          <p:nvPr/>
        </p:nvCxnSpPr>
        <p:spPr>
          <a:xfrm xmlns:a="http://schemas.openxmlformats.org/drawingml/2006/main">
            <a:off x="7905750" y="3295650"/>
            <a:ext cx="438150" cy="238125"/>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26" name="">
            <a:extLst xmlns:a="http://schemas.openxmlformats.org/drawingml/2006/main">
              <a:ext uri="{FF2B5EF4-FFF2-40B4-BE49-F238E27FC236}">
                <a16:creationId xmlns:a16="http://schemas.microsoft.com/office/drawing/2014/main" id="{EFDA0625-D2FD-467E-B605-014DEAFF3C37}"/>
              </a:ext>
            </a:extLst>
          </p:cNvPr>
          <p:cNvSpPr>
            <a:spLocks xmlns:a="http://schemas.openxmlformats.org/drawingml/2006/main" noGrp="1"/>
          </p:cNvSpPr>
          <p:nvPr/>
        </p:nvSpPr>
        <p:spPr>
          <a:xfrm xmlns:a="http://schemas.openxmlformats.org/drawingml/2006/main">
            <a:off x="742950" y="3400425"/>
            <a:ext cx="1447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Baseline</a:t>
            </a:r>
          </a:p>
        </p:txBody>
      </p:sp>
      <p:sp>
        <p:nvSpPr>
          <p:cNvPr id="27" name="">
            <a:extLst xmlns:a="http://schemas.openxmlformats.org/drawingml/2006/main">
              <a:ext uri="{FF2B5EF4-FFF2-40B4-BE49-F238E27FC236}">
                <a16:creationId xmlns:a16="http://schemas.microsoft.com/office/drawing/2014/main" id="{938B1F5A-FD72-40FF-986D-457847E2B9C8}"/>
              </a:ext>
            </a:extLst>
          </p:cNvPr>
          <p:cNvSpPr>
            <a:spLocks xmlns:a="http://schemas.openxmlformats.org/drawingml/2006/main" noGrp="1"/>
          </p:cNvSpPr>
          <p:nvPr/>
        </p:nvSpPr>
        <p:spPr>
          <a:xfrm xmlns:a="http://schemas.openxmlformats.org/drawingml/2006/main">
            <a:off x="742950" y="3695700"/>
            <a:ext cx="1447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Plan-year start</a:t>
            </a:r>
          </a:p>
        </p:txBody>
      </p:sp>
      <p:sp>
        <p:nvSpPr>
          <p:cNvPr id="28" name="">
            <a:extLst xmlns:a="http://schemas.openxmlformats.org/drawingml/2006/main">
              <a:ext uri="{FF2B5EF4-FFF2-40B4-BE49-F238E27FC236}">
                <a16:creationId xmlns:a16="http://schemas.microsoft.com/office/drawing/2014/main" id="{8B76707A-A0E7-4F4F-AF6E-B9F9C9D30A5F}"/>
              </a:ext>
            </a:extLst>
          </p:cNvPr>
          <p:cNvSpPr>
            <a:spLocks xmlns:a="http://schemas.openxmlformats.org/drawingml/2006/main" noGrp="1"/>
          </p:cNvSpPr>
          <p:nvPr/>
        </p:nvSpPr>
        <p:spPr>
          <a:xfrm xmlns:a="http://schemas.openxmlformats.org/drawingml/2006/main">
            <a:off x="2895600" y="24765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Year 1</a:t>
            </a:r>
          </a:p>
        </p:txBody>
      </p:sp>
      <p:sp>
        <p:nvSpPr>
          <p:cNvPr id="29" name="">
            <a:extLst xmlns:a="http://schemas.openxmlformats.org/drawingml/2006/main">
              <a:ext uri="{FF2B5EF4-FFF2-40B4-BE49-F238E27FC236}">
                <a16:creationId xmlns:a16="http://schemas.microsoft.com/office/drawing/2014/main" id="{92FF8D53-8E9F-4DF0-B90B-015943D4474B}"/>
              </a:ext>
            </a:extLst>
          </p:cNvPr>
          <p:cNvSpPr>
            <a:spLocks xmlns:a="http://schemas.openxmlformats.org/drawingml/2006/main" noGrp="1"/>
          </p:cNvSpPr>
          <p:nvPr/>
        </p:nvSpPr>
        <p:spPr>
          <a:xfrm xmlns:a="http://schemas.openxmlformats.org/drawingml/2006/main">
            <a:off x="2895600" y="2771775"/>
            <a:ext cx="209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Preventive use rises</a:t>
            </a:r>
          </a:p>
          <a:p xmlns:a="http://schemas.openxmlformats.org/drawingml/2006/main">
            <a:pPr algn="ctr">
              <a:defRPr sz="1088" b="0" i="0">
                <a:solidFill>
                  <a:srgbClr val="5B6B82"/>
                </a:solidFill>
              </a:defRPr>
            </a:pPr>
            <a:r>
              <a:rPr sz="1088" b="0" i="0">
                <a:solidFill>
                  <a:srgbClr val="5B6B82"/>
                </a:solidFill>
              </a:rPr>
              <a:t>New treatment is discovered</a:t>
            </a:r>
          </a:p>
        </p:txBody>
      </p:sp>
      <p:sp>
        <p:nvSpPr>
          <p:cNvPr id="30" name="">
            <a:extLst xmlns:a="http://schemas.openxmlformats.org/drawingml/2006/main">
              <a:ext uri="{FF2B5EF4-FFF2-40B4-BE49-F238E27FC236}">
                <a16:creationId xmlns:a16="http://schemas.microsoft.com/office/drawing/2014/main" id="{7098BD7E-58FA-496F-BF48-C77D2DA221E0}"/>
              </a:ext>
            </a:extLst>
          </p:cNvPr>
          <p:cNvSpPr>
            <a:spLocks xmlns:a="http://schemas.openxmlformats.org/drawingml/2006/main" noGrp="1"/>
          </p:cNvSpPr>
          <p:nvPr/>
        </p:nvSpPr>
        <p:spPr>
          <a:xfrm xmlns:a="http://schemas.openxmlformats.org/drawingml/2006/main">
            <a:off x="5695950" y="2905125"/>
            <a:ext cx="2076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Years 2-3</a:t>
            </a:r>
          </a:p>
        </p:txBody>
      </p:sp>
      <p:sp>
        <p:nvSpPr>
          <p:cNvPr id="31" name="">
            <a:extLst xmlns:a="http://schemas.openxmlformats.org/drawingml/2006/main">
              <a:ext uri="{FF2B5EF4-FFF2-40B4-BE49-F238E27FC236}">
                <a16:creationId xmlns:a16="http://schemas.microsoft.com/office/drawing/2014/main" id="{B64610C4-5FA4-4F14-9A01-4D03EA5FA5A7}"/>
              </a:ext>
            </a:extLst>
          </p:cNvPr>
          <p:cNvSpPr>
            <a:spLocks xmlns:a="http://schemas.openxmlformats.org/drawingml/2006/main" noGrp="1"/>
          </p:cNvSpPr>
          <p:nvPr/>
        </p:nvSpPr>
        <p:spPr>
          <a:xfrm xmlns:a="http://schemas.openxmlformats.org/drawingml/2006/main">
            <a:off x="5695950" y="3200400"/>
            <a:ext cx="20764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Treatment mix + run-out</a:t>
            </a:r>
          </a:p>
          <a:p xmlns:a="http://schemas.openxmlformats.org/drawingml/2006/main">
            <a:pPr algn="ctr">
              <a:defRPr sz="1088" b="0" i="0">
                <a:solidFill>
                  <a:srgbClr val="5B6B82"/>
                </a:solidFill>
              </a:defRPr>
            </a:pPr>
            <a:r>
              <a:rPr sz="1088" b="0" i="0">
                <a:solidFill>
                  <a:srgbClr val="5B6B82"/>
                </a:solidFill>
              </a:rPr>
              <a:t>become measurable</a:t>
            </a:r>
          </a:p>
        </p:txBody>
      </p:sp>
      <p:sp>
        <p:nvSpPr>
          <p:cNvPr id="32" name="">
            <a:extLst xmlns:a="http://schemas.openxmlformats.org/drawingml/2006/main">
              <a:ext uri="{FF2B5EF4-FFF2-40B4-BE49-F238E27FC236}">
                <a16:creationId xmlns:a16="http://schemas.microsoft.com/office/drawing/2014/main" id="{D64E71EA-791B-4F3E-A617-D10998DF2A4D}"/>
              </a:ext>
            </a:extLst>
          </p:cNvPr>
          <p:cNvSpPr>
            <a:spLocks xmlns:a="http://schemas.openxmlformats.org/drawingml/2006/main" noGrp="1"/>
          </p:cNvSpPr>
          <p:nvPr/>
        </p:nvSpPr>
        <p:spPr>
          <a:xfrm xmlns:a="http://schemas.openxmlformats.org/drawingml/2006/main">
            <a:off x="8477250" y="3228975"/>
            <a:ext cx="1485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B2A4A"/>
                </a:solidFill>
              </a:defRPr>
            </a:pPr>
            <a:r>
              <a:rPr sz="1350" b="1" i="0">
                <a:solidFill>
                  <a:srgbClr val="1B2A4A"/>
                </a:solidFill>
              </a:rPr>
              <a:t>Validate</a:t>
            </a:r>
          </a:p>
        </p:txBody>
      </p:sp>
      <p:sp>
        <p:nvSpPr>
          <p:cNvPr id="33" name="">
            <a:extLst xmlns:a="http://schemas.openxmlformats.org/drawingml/2006/main">
              <a:ext uri="{FF2B5EF4-FFF2-40B4-BE49-F238E27FC236}">
                <a16:creationId xmlns:a16="http://schemas.microsoft.com/office/drawing/2014/main" id="{1778F50C-BA9A-4D83-9519-40A9DDD62C7E}"/>
              </a:ext>
            </a:extLst>
          </p:cNvPr>
          <p:cNvSpPr>
            <a:spLocks xmlns:a="http://schemas.openxmlformats.org/drawingml/2006/main" noGrp="1"/>
          </p:cNvSpPr>
          <p:nvPr/>
        </p:nvSpPr>
        <p:spPr>
          <a:xfrm xmlns:a="http://schemas.openxmlformats.org/drawingml/2006/main">
            <a:off x="8477250" y="3524250"/>
            <a:ext cx="148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88" b="0" i="0">
                <a:solidFill>
                  <a:srgbClr val="5B6B82"/>
                </a:solidFill>
              </a:defRPr>
            </a:pPr>
            <a:r>
              <a:rPr sz="1088" b="0" i="0">
                <a:solidFill>
                  <a:srgbClr val="5B6B82"/>
                </a:solidFill>
              </a:rPr>
              <a:t>Direction unknown</a:t>
            </a:r>
          </a:p>
        </p:txBody>
      </p:sp>
      <p:sp>
        <p:nvSpPr>
          <p:cNvPr id="34" name="">
            <a:extLst xmlns:a="http://schemas.openxmlformats.org/drawingml/2006/main">
              <a:ext uri="{FF2B5EF4-FFF2-40B4-BE49-F238E27FC236}">
                <a16:creationId xmlns:a16="http://schemas.microsoft.com/office/drawing/2014/main" id="{6BA91FF4-D709-4ACF-A97F-41D73D6B0444}"/>
              </a:ext>
            </a:extLst>
          </p:cNvPr>
          <p:cNvSpPr>
            <a:spLocks xmlns:a="http://schemas.openxmlformats.org/drawingml/2006/main" noGrp="1"/>
          </p:cNvSpPr>
          <p:nvPr/>
        </p:nvSpPr>
        <p:spPr>
          <a:xfrm xmlns:a="http://schemas.openxmlformats.org/drawingml/2006/main">
            <a:off x="10210800" y="2190750"/>
            <a:ext cx="1371600" cy="971550"/>
          </a:xfrm>
          <a:prstGeom xmlns:a="http://schemas.openxmlformats.org/drawingml/2006/main" prst="roundRect">
            <a:avLst>
              <a:gd name="adj" fmla="val 7843"/>
            </a:avLst>
          </a:prstGeom>
          <a:solidFill xmlns:a="http://schemas.openxmlformats.org/drawingml/2006/main">
            <a:srgbClr val="E8F5F5"/>
          </a:solidFill>
          <a:ln xmlns:a="http://schemas.openxmlformats.org/drawingml/2006/main" w="14288">
            <a:solidFill>
              <a:srgbClr val="007A87"/>
            </a:solidFill>
            <a:prstDash val="solid"/>
          </a:ln>
        </p:spPr>
      </p:sp>
      <p:sp>
        <p:nvSpPr>
          <p:cNvPr id="35" name="">
            <a:extLst xmlns:a="http://schemas.openxmlformats.org/drawingml/2006/main">
              <a:ext uri="{FF2B5EF4-FFF2-40B4-BE49-F238E27FC236}">
                <a16:creationId xmlns:a16="http://schemas.microsoft.com/office/drawing/2014/main" id="{497ED0B0-C470-477B-9DAD-7969BFD85F22}"/>
              </a:ext>
            </a:extLst>
          </p:cNvPr>
          <p:cNvSpPr>
            <a:spLocks xmlns:a="http://schemas.openxmlformats.org/drawingml/2006/main" noGrp="1"/>
          </p:cNvSpPr>
          <p:nvPr/>
        </p:nvSpPr>
        <p:spPr>
          <a:xfrm xmlns:a="http://schemas.openxmlformats.org/drawingml/2006/main">
            <a:off x="10325100" y="2390775"/>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1" i="0">
                <a:solidFill>
                  <a:srgbClr val="007A87"/>
                </a:solidFill>
              </a:defRPr>
            </a:pPr>
            <a:r>
              <a:rPr sz="1013" b="1" i="0">
                <a:solidFill>
                  <a:srgbClr val="007A87"/>
                </a:solidFill>
              </a:rPr>
              <a:t>LOW</a:t>
            </a:r>
          </a:p>
          <a:p xmlns:a="http://schemas.openxmlformats.org/drawingml/2006/main">
            <a:pPr algn="ctr">
              <a:defRPr sz="1013" b="1" i="0">
                <a:solidFill>
                  <a:srgbClr val="007A87"/>
                </a:solidFill>
              </a:defRPr>
            </a:pPr>
            <a:r>
              <a:rPr sz="1013" b="1" i="0">
                <a:solidFill>
                  <a:srgbClr val="007A87"/>
                </a:solidFill>
              </a:rPr>
              <a:t>TURNOVER</a:t>
            </a:r>
          </a:p>
        </p:txBody>
      </p:sp>
      <p:sp>
        <p:nvSpPr>
          <p:cNvPr id="36" name="">
            <a:extLst xmlns:a="http://schemas.openxmlformats.org/drawingml/2006/main">
              <a:ext uri="{FF2B5EF4-FFF2-40B4-BE49-F238E27FC236}">
                <a16:creationId xmlns:a16="http://schemas.microsoft.com/office/drawing/2014/main" id="{C3E2FFA9-9F8A-4ABD-ABAA-29994980726B}"/>
              </a:ext>
            </a:extLst>
          </p:cNvPr>
          <p:cNvSpPr>
            <a:spLocks xmlns:a="http://schemas.openxmlformats.org/drawingml/2006/main" noGrp="1"/>
          </p:cNvSpPr>
          <p:nvPr/>
        </p:nvSpPr>
        <p:spPr>
          <a:xfrm xmlns:a="http://schemas.openxmlformats.org/drawingml/2006/main">
            <a:off x="10210800" y="3390900"/>
            <a:ext cx="1371600" cy="971550"/>
          </a:xfrm>
          <a:prstGeom xmlns:a="http://schemas.openxmlformats.org/drawingml/2006/main" prst="roundRect">
            <a:avLst>
              <a:gd name="adj" fmla="val 7843"/>
            </a:avLst>
          </a:prstGeom>
          <a:solidFill xmlns:a="http://schemas.openxmlformats.org/drawingml/2006/main">
            <a:srgbClr val="FFF7E8"/>
          </a:solidFill>
          <a:ln xmlns:a="http://schemas.openxmlformats.org/drawingml/2006/main" w="14288">
            <a:solidFill>
              <a:srgbClr val="D99A24"/>
            </a:solidFill>
            <a:prstDash val="solid"/>
          </a:ln>
        </p:spPr>
      </p:sp>
      <p:sp>
        <p:nvSpPr>
          <p:cNvPr id="37" name="">
            <a:extLst xmlns:a="http://schemas.openxmlformats.org/drawingml/2006/main">
              <a:ext uri="{FF2B5EF4-FFF2-40B4-BE49-F238E27FC236}">
                <a16:creationId xmlns:a16="http://schemas.microsoft.com/office/drawing/2014/main" id="{E97100BC-31F3-4D5F-B146-07A2BE2373F3}"/>
              </a:ext>
            </a:extLst>
          </p:cNvPr>
          <p:cNvSpPr>
            <a:spLocks xmlns:a="http://schemas.openxmlformats.org/drawingml/2006/main" noGrp="1"/>
          </p:cNvSpPr>
          <p:nvPr/>
        </p:nvSpPr>
        <p:spPr>
          <a:xfrm xmlns:a="http://schemas.openxmlformats.org/drawingml/2006/main">
            <a:off x="10325100" y="3590925"/>
            <a:ext cx="114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1" i="0">
                <a:solidFill>
                  <a:srgbClr val="D99A24"/>
                </a:solidFill>
              </a:defRPr>
            </a:pPr>
            <a:r>
              <a:rPr sz="1013" b="1" i="0">
                <a:solidFill>
                  <a:srgbClr val="D99A24"/>
                </a:solidFill>
              </a:rPr>
              <a:t>HIGH</a:t>
            </a:r>
          </a:p>
          <a:p xmlns:a="http://schemas.openxmlformats.org/drawingml/2006/main">
            <a:pPr algn="ctr">
              <a:defRPr sz="1013" b="1" i="0">
                <a:solidFill>
                  <a:srgbClr val="D99A24"/>
                </a:solidFill>
              </a:defRPr>
            </a:pPr>
            <a:r>
              <a:rPr sz="1013" b="1" i="0">
                <a:solidFill>
                  <a:srgbClr val="D99A24"/>
                </a:solidFill>
              </a:rPr>
              <a:t>TURNOVER</a:t>
            </a:r>
          </a:p>
        </p:txBody>
      </p:sp>
      <p:sp>
        <p:nvSpPr>
          <p:cNvPr id="38" name="">
            <a:extLst xmlns:a="http://schemas.openxmlformats.org/drawingml/2006/main">
              <a:ext uri="{FF2B5EF4-FFF2-40B4-BE49-F238E27FC236}">
                <a16:creationId xmlns:a16="http://schemas.microsoft.com/office/drawing/2014/main" id="{05D49970-B9A2-49E1-B517-CAB2EE82B771}"/>
              </a:ext>
            </a:extLst>
          </p:cNvPr>
          <p:cNvSpPr>
            <a:spLocks xmlns:a="http://schemas.openxmlformats.org/drawingml/2006/main" noGrp="1"/>
          </p:cNvSpPr>
          <p:nvPr/>
        </p:nvSpPr>
        <p:spPr>
          <a:xfrm xmlns:a="http://schemas.openxmlformats.org/drawingml/2006/main">
            <a:off x="10134600" y="44767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007A87"/>
                </a:solidFill>
              </a:defRPr>
            </a:pPr>
            <a:r>
              <a:rPr sz="1013" b="0" i="0">
                <a:solidFill>
                  <a:srgbClr val="007A87"/>
                </a:solidFill>
              </a:rPr>
              <a:t>Multi-year value lens</a:t>
            </a:r>
          </a:p>
        </p:txBody>
      </p:sp>
      <p:sp>
        <p:nvSpPr>
          <p:cNvPr id="39" name="">
            <a:extLst xmlns:a="http://schemas.openxmlformats.org/drawingml/2006/main">
              <a:ext uri="{FF2B5EF4-FFF2-40B4-BE49-F238E27FC236}">
                <a16:creationId xmlns:a16="http://schemas.microsoft.com/office/drawing/2014/main" id="{5B2606F9-BD9A-4DED-89F7-7FFEAD4737C0}"/>
              </a:ext>
            </a:extLst>
          </p:cNvPr>
          <p:cNvSpPr>
            <a:spLocks xmlns:a="http://schemas.openxmlformats.org/drawingml/2006/main" noGrp="1"/>
          </p:cNvSpPr>
          <p:nvPr/>
        </p:nvSpPr>
        <p:spPr>
          <a:xfrm xmlns:a="http://schemas.openxmlformats.org/drawingml/2006/main">
            <a:off x="10134600" y="47339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D99A24"/>
                </a:solidFill>
              </a:defRPr>
            </a:pPr>
            <a:r>
              <a:rPr sz="1013" b="0" i="0">
                <a:solidFill>
                  <a:srgbClr val="D99A24"/>
                </a:solidFill>
              </a:rPr>
              <a:t>Employee experience lens</a:t>
            </a:r>
          </a:p>
        </p:txBody>
      </p:sp>
      <p:sp>
        <p:nvSpPr>
          <p:cNvPr id="40" name="">
            <a:extLst xmlns:a="http://schemas.openxmlformats.org/drawingml/2006/main">
              <a:ext uri="{FF2B5EF4-FFF2-40B4-BE49-F238E27FC236}">
                <a16:creationId xmlns:a16="http://schemas.microsoft.com/office/drawing/2014/main" id="{1A1AC42C-D747-42A1-9BB5-9069190A3E8C}"/>
              </a:ext>
            </a:extLst>
          </p:cNvPr>
          <p:cNvSpPr>
            <a:spLocks xmlns:a="http://schemas.openxmlformats.org/drawingml/2006/main" noGrp="1"/>
          </p:cNvSpPr>
          <p:nvPr/>
        </p:nvSpPr>
        <p:spPr>
          <a:xfrm xmlns:a="http://schemas.openxmlformats.org/drawingml/2006/main">
            <a:off x="609600" y="5219700"/>
            <a:ext cx="38100" cy="87630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41" name="">
            <a:extLst xmlns:a="http://schemas.openxmlformats.org/drawingml/2006/main">
              <a:ext uri="{FF2B5EF4-FFF2-40B4-BE49-F238E27FC236}">
                <a16:creationId xmlns:a16="http://schemas.microsoft.com/office/drawing/2014/main" id="{0C26ABCE-0523-4F97-A41E-4FD2E36C2958}"/>
              </a:ext>
            </a:extLst>
          </p:cNvPr>
          <p:cNvSpPr>
            <a:spLocks xmlns:a="http://schemas.openxmlformats.org/drawingml/2006/main" noGrp="1"/>
          </p:cNvSpPr>
          <p:nvPr/>
        </p:nvSpPr>
        <p:spPr>
          <a:xfrm xmlns:a="http://schemas.openxmlformats.org/drawingml/2006/main">
            <a:off x="7429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UTILIZATION</a:t>
            </a:r>
          </a:p>
        </p:txBody>
      </p:sp>
      <p:sp>
        <p:nvSpPr>
          <p:cNvPr id="42" name="">
            <a:extLst xmlns:a="http://schemas.openxmlformats.org/drawingml/2006/main">
              <a:ext uri="{FF2B5EF4-FFF2-40B4-BE49-F238E27FC236}">
                <a16:creationId xmlns:a16="http://schemas.microsoft.com/office/drawing/2014/main" id="{3C6DFAF9-83A1-47F5-9080-FF969FCC2C39}"/>
              </a:ext>
            </a:extLst>
          </p:cNvPr>
          <p:cNvSpPr>
            <a:spLocks xmlns:a="http://schemas.openxmlformats.org/drawingml/2006/main" noGrp="1"/>
          </p:cNvSpPr>
          <p:nvPr/>
        </p:nvSpPr>
        <p:spPr>
          <a:xfrm xmlns:a="http://schemas.openxmlformats.org/drawingml/2006/main">
            <a:off x="7429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Preventive use can raise plan-paid claims.</a:t>
            </a:r>
          </a:p>
        </p:txBody>
      </p:sp>
      <p:sp>
        <p:nvSpPr>
          <p:cNvPr id="43" name="">
            <a:extLst xmlns:a="http://schemas.openxmlformats.org/drawingml/2006/main">
              <a:ext uri="{FF2B5EF4-FFF2-40B4-BE49-F238E27FC236}">
                <a16:creationId xmlns:a16="http://schemas.microsoft.com/office/drawing/2014/main" id="{7F1E8DE7-EBCD-40DE-83DA-D7C6E6AAF63D}"/>
              </a:ext>
            </a:extLst>
          </p:cNvPr>
          <p:cNvSpPr>
            <a:spLocks xmlns:a="http://schemas.openxmlformats.org/drawingml/2006/main" noGrp="1"/>
          </p:cNvSpPr>
          <p:nvPr/>
        </p:nvSpPr>
        <p:spPr>
          <a:xfrm xmlns:a="http://schemas.openxmlformats.org/drawingml/2006/main">
            <a:off x="4343400" y="5219700"/>
            <a:ext cx="38100" cy="8763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4" name="">
            <a:extLst xmlns:a="http://schemas.openxmlformats.org/drawingml/2006/main">
              <a:ext uri="{FF2B5EF4-FFF2-40B4-BE49-F238E27FC236}">
                <a16:creationId xmlns:a16="http://schemas.microsoft.com/office/drawing/2014/main" id="{22C52BD8-47F0-4932-8C62-6D2402937320}"/>
              </a:ext>
            </a:extLst>
          </p:cNvPr>
          <p:cNvSpPr>
            <a:spLocks xmlns:a="http://schemas.openxmlformats.org/drawingml/2006/main" noGrp="1"/>
          </p:cNvSpPr>
          <p:nvPr/>
        </p:nvSpPr>
        <p:spPr>
          <a:xfrm xmlns:a="http://schemas.openxmlformats.org/drawingml/2006/main">
            <a:off x="44767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COST ALLOCATION</a:t>
            </a:r>
          </a:p>
        </p:txBody>
      </p:sp>
      <p:sp>
        <p:nvSpPr>
          <p:cNvPr id="45" name="">
            <a:extLst xmlns:a="http://schemas.openxmlformats.org/drawingml/2006/main">
              <a:ext uri="{FF2B5EF4-FFF2-40B4-BE49-F238E27FC236}">
                <a16:creationId xmlns:a16="http://schemas.microsoft.com/office/drawing/2014/main" id="{8FB6CEE3-9AFF-4B9E-98C5-6DC5D35AF335}"/>
              </a:ext>
            </a:extLst>
          </p:cNvPr>
          <p:cNvSpPr>
            <a:spLocks xmlns:a="http://schemas.openxmlformats.org/drawingml/2006/main" noGrp="1"/>
          </p:cNvSpPr>
          <p:nvPr/>
        </p:nvSpPr>
        <p:spPr>
          <a:xfrm xmlns:a="http://schemas.openxmlformats.org/drawingml/2006/main">
            <a:off x="44767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Allowed, plan-paid and employee OOP can move differently.</a:t>
            </a:r>
          </a:p>
        </p:txBody>
      </p:sp>
      <p:sp>
        <p:nvSpPr>
          <p:cNvPr id="46" name="">
            <a:extLst xmlns:a="http://schemas.openxmlformats.org/drawingml/2006/main">
              <a:ext uri="{FF2B5EF4-FFF2-40B4-BE49-F238E27FC236}">
                <a16:creationId xmlns:a16="http://schemas.microsoft.com/office/drawing/2014/main" id="{C29E9ABD-319C-4492-95B1-ED651133DEBC}"/>
              </a:ext>
            </a:extLst>
          </p:cNvPr>
          <p:cNvSpPr>
            <a:spLocks xmlns:a="http://schemas.openxmlformats.org/drawingml/2006/main" noGrp="1"/>
          </p:cNvSpPr>
          <p:nvPr/>
        </p:nvSpPr>
        <p:spPr>
          <a:xfrm xmlns:a="http://schemas.openxmlformats.org/drawingml/2006/main">
            <a:off x="8077200" y="5219700"/>
            <a:ext cx="38100" cy="87630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47" name="">
            <a:extLst xmlns:a="http://schemas.openxmlformats.org/drawingml/2006/main">
              <a:ext uri="{FF2B5EF4-FFF2-40B4-BE49-F238E27FC236}">
                <a16:creationId xmlns:a16="http://schemas.microsoft.com/office/drawing/2014/main" id="{F87C333F-8940-4F20-812E-0B290ADB4645}"/>
              </a:ext>
            </a:extLst>
          </p:cNvPr>
          <p:cNvSpPr>
            <a:spLocks xmlns:a="http://schemas.openxmlformats.org/drawingml/2006/main" noGrp="1"/>
          </p:cNvSpPr>
          <p:nvPr/>
        </p:nvSpPr>
        <p:spPr>
          <a:xfrm xmlns:a="http://schemas.openxmlformats.org/drawingml/2006/main">
            <a:off x="8210550" y="5238750"/>
            <a:ext cx="3371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52238"/>
                </a:solidFill>
              </a:defRPr>
            </a:pPr>
            <a:r>
              <a:rPr sz="1200" b="1" i="0">
                <a:solidFill>
                  <a:srgbClr val="152238"/>
                </a:solidFill>
              </a:rPr>
              <a:t>CONTRACT PRINCIPLE</a:t>
            </a:r>
          </a:p>
        </p:txBody>
      </p:sp>
      <p:sp>
        <p:nvSpPr>
          <p:cNvPr id="48" name="">
            <a:extLst xmlns:a="http://schemas.openxmlformats.org/drawingml/2006/main">
              <a:ext uri="{FF2B5EF4-FFF2-40B4-BE49-F238E27FC236}">
                <a16:creationId xmlns:a16="http://schemas.microsoft.com/office/drawing/2014/main" id="{D923F76C-6314-4921-93D7-626D5BE0BFD4}"/>
              </a:ext>
            </a:extLst>
          </p:cNvPr>
          <p:cNvSpPr>
            <a:spLocks xmlns:a="http://schemas.openxmlformats.org/drawingml/2006/main" noGrp="1"/>
          </p:cNvSpPr>
          <p:nvPr/>
        </p:nvSpPr>
        <p:spPr>
          <a:xfrm xmlns:a="http://schemas.openxmlformats.org/drawingml/2006/main">
            <a:off x="8210550" y="5495925"/>
            <a:ext cx="3371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5B6B82"/>
                </a:solidFill>
              </a:defRPr>
            </a:pPr>
            <a:r>
              <a:rPr sz="1163" b="0" i="0">
                <a:solidFill>
                  <a:srgbClr val="5B6B82"/>
                </a:solidFill>
              </a:rPr>
              <a:t>ICLO will not contract on a year-one savings guarantee.</a:t>
            </a:r>
          </a:p>
        </p:txBody>
      </p:sp>
    </p:spTree>
    <p:extLst>
      <p:ext uri="{BB962C8B-B14F-4D97-AF65-F5344CB8AC3E}">
        <p14:creationId xmlns:p14="http://schemas.microsoft.com/office/powerpoint/2010/main" val="15705669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F9CE1836-8B27-4A6A-B244-02DB89820280}"/>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24E86CF1-F25E-4E33-BCEE-B9FAEA6F73B9}"/>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B6C8FCA4-6357-44E8-8477-58B577017B3A}"/>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58143395-539E-41EB-8E53-4C8AF2BBC025}"/>
              </a:ext>
            </a:extLst>
          </p:cNvPr>
          <p:cNvSpPr>
            <a:spLocks xmlns:a="http://schemas.openxmlformats.org/drawingml/2006/main" noGrp="1"/>
          </p:cNvSpPr>
          <p:nvPr/>
        </p:nvSpPr>
        <p:spPr>
          <a:xfrm xmlns:a="http://schemas.openxmlformats.org/drawingml/2006/main">
            <a:off x="74295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9C5D9C13-AEC1-4DCD-B582-945D4C89B95C}"/>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D31DC32E-DB30-4481-B8F1-2459FB2608EE}"/>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48BB3700-3B07-4D45-BE91-DBFAB043678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242ECB0A-A066-488A-BE40-F4DDFAA8141D}"/>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Snowflake Is the Governed Evidence Plane</a:t>
            </a:r>
          </a:p>
        </p:txBody>
      </p:sp>
      <p:sp>
        <p:nvSpPr>
          <p:cNvPr id="9" name="">
            <a:extLst xmlns:a="http://schemas.openxmlformats.org/drawingml/2006/main">
              <a:ext uri="{FF2B5EF4-FFF2-40B4-BE49-F238E27FC236}">
                <a16:creationId xmlns:a16="http://schemas.microsoft.com/office/drawing/2014/main" id="{3245EDD3-523E-4D07-B6E0-9D8C40D169CD}"/>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Structured evidence is governed in Snowflake; raw images and employee-level routing remain outside employer views.</a:t>
            </a:r>
          </a:p>
        </p:txBody>
      </p:sp>
      <p:sp>
        <p:nvSpPr>
          <p:cNvPr id="10" name="">
            <a:extLst xmlns:a="http://schemas.openxmlformats.org/drawingml/2006/main">
              <a:ext uri="{FF2B5EF4-FFF2-40B4-BE49-F238E27FC236}">
                <a16:creationId xmlns:a16="http://schemas.microsoft.com/office/drawing/2014/main" id="{16E9B8BD-58DC-4FDC-B8F3-4F55D9D3C98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15279F21-AE65-468B-9839-78449C61A9BC}"/>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6414B804-E09D-4A9F-ABB9-3BA609AB9A5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abbe44bd5cd241d9"/>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7047387-F6A6-4A4B-B4DB-13E42B98087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e0c0b17677b941f6"/>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08928C4D-4716-4F52-B401-8186C3C45B76}"/>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7" name="">
            <a:extLst xmlns:a="http://schemas.openxmlformats.org/drawingml/2006/main">
              <a:ext uri="{FF2B5EF4-FFF2-40B4-BE49-F238E27FC236}">
                <a16:creationId xmlns:a16="http://schemas.microsoft.com/office/drawing/2014/main" id="{8D2F5E33-7A47-4541-AD35-9EC5661690A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05</a:t>
            </a:r>
          </a:p>
        </p:txBody>
      </p:sp>
      <p:sp>
        <p:nvSpPr>
          <p:cNvPr id="18" name="">
            <a:extLst xmlns:a="http://schemas.openxmlformats.org/drawingml/2006/main">
              <a:ext uri="{FF2B5EF4-FFF2-40B4-BE49-F238E27FC236}">
                <a16:creationId xmlns:a16="http://schemas.microsoft.com/office/drawing/2014/main" id="{8A0EA7F3-17A7-4000-9F40-10A32970587D}"/>
              </a:ext>
            </a:extLst>
          </p:cNvPr>
          <p:cNvSpPr>
            <a:spLocks xmlns:a="http://schemas.openxmlformats.org/drawingml/2006/main" noGrp="1"/>
          </p:cNvSpPr>
          <p:nvPr/>
        </p:nvSpPr>
        <p:spPr>
          <a:xfrm xmlns:a="http://schemas.openxmlformats.org/drawingml/2006/main">
            <a:off x="609600" y="192405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FF7A79"/>
                </a:solidFill>
              </a:defRPr>
            </a:pPr>
            <a:r>
              <a:rPr sz="900" b="1" i="0">
                <a:solidFill>
                  <a:srgbClr val="FF7A79"/>
                </a:solidFill>
              </a:rPr>
              <a:t>RAW-IMAGE PATH</a:t>
            </a:r>
          </a:p>
        </p:txBody>
      </p:sp>
      <p:sp>
        <p:nvSpPr>
          <p:cNvPr id="19" name="">
            <a:extLst xmlns:a="http://schemas.openxmlformats.org/drawingml/2006/main">
              <a:ext uri="{FF2B5EF4-FFF2-40B4-BE49-F238E27FC236}">
                <a16:creationId xmlns:a16="http://schemas.microsoft.com/office/drawing/2014/main" id="{10065338-A514-4C2E-87AD-A9B0604875D9}"/>
              </a:ext>
            </a:extLst>
          </p:cNvPr>
          <p:cNvSpPr>
            <a:spLocks xmlns:a="http://schemas.openxmlformats.org/drawingml/2006/main" noGrp="1"/>
          </p:cNvSpPr>
          <p:nvPr/>
        </p:nvSpPr>
        <p:spPr>
          <a:xfrm xmlns:a="http://schemas.openxmlformats.org/drawingml/2006/main">
            <a:off x="609600" y="2266950"/>
            <a:ext cx="2095500" cy="628650"/>
          </a:xfrm>
          <a:prstGeom xmlns:a="http://schemas.openxmlformats.org/drawingml/2006/main" prst="roundRect">
            <a:avLst>
              <a:gd name="adj" fmla="val 12121"/>
            </a:avLst>
          </a:prstGeom>
          <a:solidFill xmlns:a="http://schemas.openxmlformats.org/drawingml/2006/main">
            <a:srgbClr val="FFF0F0"/>
          </a:solidFill>
          <a:ln xmlns:a="http://schemas.openxmlformats.org/drawingml/2006/main" w="14288">
            <a:solidFill>
              <a:srgbClr val="FF7A79"/>
            </a:solidFill>
            <a:prstDash val="solid"/>
          </a:ln>
        </p:spPr>
      </p:sp>
      <p:sp>
        <p:nvSpPr>
          <p:cNvPr id="20" name="">
            <a:extLst xmlns:a="http://schemas.openxmlformats.org/drawingml/2006/main">
              <a:ext uri="{FF2B5EF4-FFF2-40B4-BE49-F238E27FC236}">
                <a16:creationId xmlns:a16="http://schemas.microsoft.com/office/drawing/2014/main" id="{BEF8A95E-7F79-4026-95A8-5B8ADA44B6BF}"/>
              </a:ext>
            </a:extLst>
          </p:cNvPr>
          <p:cNvSpPr>
            <a:spLocks xmlns:a="http://schemas.openxmlformats.org/drawingml/2006/main" noGrp="1"/>
          </p:cNvSpPr>
          <p:nvPr/>
        </p:nvSpPr>
        <p:spPr>
          <a:xfrm xmlns:a="http://schemas.openxmlformats.org/drawingml/2006/main">
            <a:off x="609600" y="3124200"/>
            <a:ext cx="2095500" cy="781050"/>
          </a:xfrm>
          <a:prstGeom xmlns:a="http://schemas.openxmlformats.org/drawingml/2006/main" prst="roundRect">
            <a:avLst>
              <a:gd name="adj" fmla="val 9756"/>
            </a:avLst>
          </a:prstGeom>
          <a:solidFill xmlns:a="http://schemas.openxmlformats.org/drawingml/2006/main">
            <a:srgbClr val="EEF1F7"/>
          </a:solidFill>
          <a:ln xmlns:a="http://schemas.openxmlformats.org/drawingml/2006/main" w="14288">
            <a:solidFill>
              <a:srgbClr val="1B2A4A"/>
            </a:solidFill>
            <a:prstDash val="solid"/>
          </a:ln>
        </p:spPr>
      </p:sp>
      <p:sp>
        <p:nvSpPr>
          <p:cNvPr id="21" name="">
            <a:extLst xmlns:a="http://schemas.openxmlformats.org/drawingml/2006/main">
              <a:ext uri="{FF2B5EF4-FFF2-40B4-BE49-F238E27FC236}">
                <a16:creationId xmlns:a16="http://schemas.microsoft.com/office/drawing/2014/main" id="{D5655577-B1FD-438C-9219-CE8C48A5E4B8}"/>
              </a:ext>
            </a:extLst>
          </p:cNvPr>
          <p:cNvSpPr>
            <a:spLocks xmlns:a="http://schemas.openxmlformats.org/drawingml/2006/main" noGrp="1"/>
          </p:cNvSpPr>
          <p:nvPr/>
        </p:nvSpPr>
        <p:spPr>
          <a:xfrm xmlns:a="http://schemas.openxmlformats.org/drawingml/2006/main">
            <a:off x="609600" y="4133850"/>
            <a:ext cx="2095500" cy="685800"/>
          </a:xfrm>
          <a:prstGeom xmlns:a="http://schemas.openxmlformats.org/drawingml/2006/main" prst="roundRect">
            <a:avLst>
              <a:gd name="adj" fmla="val 11111"/>
            </a:avLst>
          </a:prstGeom>
          <a:solidFill xmlns:a="http://schemas.openxmlformats.org/drawingml/2006/main">
            <a:srgbClr val="FFF7E8"/>
          </a:solidFill>
          <a:ln xmlns:a="http://schemas.openxmlformats.org/drawingml/2006/main" w="14288">
            <a:solidFill>
              <a:srgbClr val="D99A24"/>
            </a:solidFill>
            <a:prstDash val="solid"/>
          </a:ln>
        </p:spPr>
      </p:sp>
      <p:cxnSp>
        <p:nvCxnSpPr>
          <p:cNvPr id="77" name=""/>
          <p:cNvCxnSpPr>
            <a:stCxn xmlns:a="http://schemas.openxmlformats.org/drawingml/2006/main" id="19" idx="2"/>
            <a:endCxn xmlns:a="http://schemas.openxmlformats.org/drawingml/2006/main" id="20" idx="0"/>
          </p:cNvCxnSpPr>
          <p:nvPr/>
        </p:nvCxnSpPr>
        <p:spPr>
          <a:xfrm xmlns:a="http://schemas.openxmlformats.org/drawingml/2006/main">
            <a:off x="1657350" y="2895600"/>
            <a:ext cx="0" cy="22860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78" name=""/>
          <p:cNvCxnSpPr>
            <a:stCxn xmlns:a="http://schemas.openxmlformats.org/drawingml/2006/main" id="20" idx="2"/>
            <a:endCxn xmlns:a="http://schemas.openxmlformats.org/drawingml/2006/main" id="21" idx="0"/>
          </p:cNvCxnSpPr>
          <p:nvPr/>
        </p:nvCxnSpPr>
        <p:spPr>
          <a:xfrm xmlns:a="http://schemas.openxmlformats.org/drawingml/2006/main">
            <a:off x="1657350" y="3905250"/>
            <a:ext cx="0" cy="22860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24" name="">
            <a:extLst xmlns:a="http://schemas.openxmlformats.org/drawingml/2006/main">
              <a:ext uri="{FF2B5EF4-FFF2-40B4-BE49-F238E27FC236}">
                <a16:creationId xmlns:a16="http://schemas.microsoft.com/office/drawing/2014/main" id="{7B03DB28-4173-4CEF-9C10-7484C9DF97A7}"/>
              </a:ext>
            </a:extLst>
          </p:cNvPr>
          <p:cNvSpPr>
            <a:spLocks xmlns:a="http://schemas.openxmlformats.org/drawingml/2006/main" noGrp="1"/>
          </p:cNvSpPr>
          <p:nvPr/>
        </p:nvSpPr>
        <p:spPr>
          <a:xfrm xmlns:a="http://schemas.openxmlformats.org/drawingml/2006/main">
            <a:off x="781050" y="24765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B2A4A"/>
                </a:solidFill>
              </a:defRPr>
            </a:pPr>
            <a:r>
              <a:rPr sz="1275" b="1" i="0">
                <a:solidFill>
                  <a:srgbClr val="1B2A4A"/>
                </a:solidFill>
              </a:rPr>
              <a:t>Raw oral image</a:t>
            </a:r>
          </a:p>
        </p:txBody>
      </p:sp>
      <p:sp>
        <p:nvSpPr>
          <p:cNvPr id="25" name="">
            <a:extLst xmlns:a="http://schemas.openxmlformats.org/drawingml/2006/main">
              <a:ext uri="{FF2B5EF4-FFF2-40B4-BE49-F238E27FC236}">
                <a16:creationId xmlns:a16="http://schemas.microsoft.com/office/drawing/2014/main" id="{872F0D41-692C-4C27-A214-15934453B80F}"/>
              </a:ext>
            </a:extLst>
          </p:cNvPr>
          <p:cNvSpPr>
            <a:spLocks xmlns:a="http://schemas.openxmlformats.org/drawingml/2006/main" noGrp="1"/>
          </p:cNvSpPr>
          <p:nvPr/>
        </p:nvSpPr>
        <p:spPr>
          <a:xfrm xmlns:a="http://schemas.openxmlformats.org/drawingml/2006/main">
            <a:off x="781050" y="3333750"/>
            <a:ext cx="1752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63" b="1" i="0">
                <a:solidFill>
                  <a:srgbClr val="1B2A4A"/>
                </a:solidFill>
              </a:defRPr>
            </a:pPr>
            <a:r>
              <a:rPr sz="1163" b="1" i="0">
                <a:solidFill>
                  <a:srgbClr val="1B2A4A"/>
                </a:solidFill>
              </a:rPr>
              <a:t>Controlled U.S. object storage / PHI vault</a:t>
            </a:r>
          </a:p>
        </p:txBody>
      </p:sp>
      <p:sp>
        <p:nvSpPr>
          <p:cNvPr id="26" name="">
            <a:extLst xmlns:a="http://schemas.openxmlformats.org/drawingml/2006/main">
              <a:ext uri="{FF2B5EF4-FFF2-40B4-BE49-F238E27FC236}">
                <a16:creationId xmlns:a16="http://schemas.microsoft.com/office/drawing/2014/main" id="{ECF76D92-456B-4685-9BEB-631805C84C30}"/>
              </a:ext>
            </a:extLst>
          </p:cNvPr>
          <p:cNvSpPr>
            <a:spLocks xmlns:a="http://schemas.openxmlformats.org/drawingml/2006/main" noGrp="1"/>
          </p:cNvSpPr>
          <p:nvPr/>
        </p:nvSpPr>
        <p:spPr>
          <a:xfrm xmlns:a="http://schemas.openxmlformats.org/drawingml/2006/main">
            <a:off x="781050" y="436245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D99A24"/>
                </a:solidFill>
              </a:defRPr>
            </a:pPr>
            <a:r>
              <a:rPr sz="1200" b="1" i="0">
                <a:solidFill>
                  <a:srgbClr val="D99A24"/>
                </a:solidFill>
              </a:rPr>
              <a:t>Shadow inference</a:t>
            </a:r>
          </a:p>
        </p:txBody>
      </p:sp>
      <p:sp>
        <p:nvSpPr>
          <p:cNvPr id="27" name="">
            <a:extLst xmlns:a="http://schemas.openxmlformats.org/drawingml/2006/main">
              <a:ext uri="{FF2B5EF4-FFF2-40B4-BE49-F238E27FC236}">
                <a16:creationId xmlns:a16="http://schemas.microsoft.com/office/drawing/2014/main" id="{7CA393C3-6AD3-41CD-B109-514F7DA7BC0B}"/>
              </a:ext>
            </a:extLst>
          </p:cNvPr>
          <p:cNvSpPr>
            <a:spLocks xmlns:a="http://schemas.openxmlformats.org/drawingml/2006/main" noGrp="1"/>
          </p:cNvSpPr>
          <p:nvPr/>
        </p:nvSpPr>
        <p:spPr>
          <a:xfrm xmlns:a="http://schemas.openxmlformats.org/drawingml/2006/main">
            <a:off x="3086100" y="19240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STRUCTURED EVIDENCE PATH</a:t>
            </a:r>
          </a:p>
        </p:txBody>
      </p:sp>
      <p:sp>
        <p:nvSpPr>
          <p:cNvPr id="28" name="">
            <a:extLst xmlns:a="http://schemas.openxmlformats.org/drawingml/2006/main">
              <a:ext uri="{FF2B5EF4-FFF2-40B4-BE49-F238E27FC236}">
                <a16:creationId xmlns:a16="http://schemas.microsoft.com/office/drawing/2014/main" id="{EC620CEB-59F2-4FE5-8706-39D792516B6B}"/>
              </a:ext>
            </a:extLst>
          </p:cNvPr>
          <p:cNvSpPr>
            <a:spLocks xmlns:a="http://schemas.openxmlformats.org/drawingml/2006/main" noGrp="1"/>
          </p:cNvSpPr>
          <p:nvPr/>
        </p:nvSpPr>
        <p:spPr>
          <a:xfrm xmlns:a="http://schemas.openxmlformats.org/drawingml/2006/main">
            <a:off x="308610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29" name="">
            <a:extLst xmlns:a="http://schemas.openxmlformats.org/drawingml/2006/main">
              <a:ext uri="{FF2B5EF4-FFF2-40B4-BE49-F238E27FC236}">
                <a16:creationId xmlns:a16="http://schemas.microsoft.com/office/drawing/2014/main" id="{B5B473AC-14A9-49C2-82DF-343B16745880}"/>
              </a:ext>
            </a:extLst>
          </p:cNvPr>
          <p:cNvSpPr>
            <a:spLocks xmlns:a="http://schemas.openxmlformats.org/drawingml/2006/main" noGrp="1"/>
          </p:cNvSpPr>
          <p:nvPr/>
        </p:nvSpPr>
        <p:spPr>
          <a:xfrm xmlns:a="http://schemas.openxmlformats.org/drawingml/2006/main">
            <a:off x="520065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30" name="">
            <a:extLst xmlns:a="http://schemas.openxmlformats.org/drawingml/2006/main">
              <a:ext uri="{FF2B5EF4-FFF2-40B4-BE49-F238E27FC236}">
                <a16:creationId xmlns:a16="http://schemas.microsoft.com/office/drawing/2014/main" id="{6871750D-57FE-4415-9CD5-E05C3643738C}"/>
              </a:ext>
            </a:extLst>
          </p:cNvPr>
          <p:cNvSpPr>
            <a:spLocks xmlns:a="http://schemas.openxmlformats.org/drawingml/2006/main" noGrp="1"/>
          </p:cNvSpPr>
          <p:nvPr/>
        </p:nvSpPr>
        <p:spPr>
          <a:xfrm xmlns:a="http://schemas.openxmlformats.org/drawingml/2006/main">
            <a:off x="731520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31" name="">
            <a:extLst xmlns:a="http://schemas.openxmlformats.org/drawingml/2006/main">
              <a:ext uri="{FF2B5EF4-FFF2-40B4-BE49-F238E27FC236}">
                <a16:creationId xmlns:a16="http://schemas.microsoft.com/office/drawing/2014/main" id="{65AF408A-6E67-4D31-BA94-2CF698932B81}"/>
              </a:ext>
            </a:extLst>
          </p:cNvPr>
          <p:cNvSpPr>
            <a:spLocks xmlns:a="http://schemas.openxmlformats.org/drawingml/2006/main" noGrp="1"/>
          </p:cNvSpPr>
          <p:nvPr/>
        </p:nvSpPr>
        <p:spPr>
          <a:xfrm xmlns:a="http://schemas.openxmlformats.org/drawingml/2006/main">
            <a:off x="9429750" y="2209800"/>
            <a:ext cx="1885950" cy="628650"/>
          </a:xfrm>
          <a:prstGeom xmlns:a="http://schemas.openxmlformats.org/drawingml/2006/main" prst="roundRect">
            <a:avLst>
              <a:gd name="adj" fmla="val 12121"/>
            </a:avLst>
          </a:prstGeom>
          <a:solidFill xmlns:a="http://schemas.openxmlformats.org/drawingml/2006/main">
            <a:srgbClr val="EAF7FC"/>
          </a:solidFill>
          <a:ln xmlns:a="http://schemas.openxmlformats.org/drawingml/2006/main" w="12383">
            <a:solidFill>
              <a:srgbClr val="29B5E8"/>
            </a:solidFill>
            <a:prstDash val="solid"/>
          </a:ln>
        </p:spPr>
      </p:sp>
      <p:sp>
        <p:nvSpPr>
          <p:cNvPr id="32" name="">
            <a:extLst xmlns:a="http://schemas.openxmlformats.org/drawingml/2006/main">
              <a:ext uri="{FF2B5EF4-FFF2-40B4-BE49-F238E27FC236}">
                <a16:creationId xmlns:a16="http://schemas.microsoft.com/office/drawing/2014/main" id="{5B158E11-55E4-46DF-BC2D-EE27F1C0B581}"/>
              </a:ext>
            </a:extLst>
          </p:cNvPr>
          <p:cNvSpPr>
            <a:spLocks xmlns:a="http://schemas.openxmlformats.org/drawingml/2006/main" noGrp="1"/>
          </p:cNvSpPr>
          <p:nvPr/>
        </p:nvSpPr>
        <p:spPr>
          <a:xfrm xmlns:a="http://schemas.openxmlformats.org/drawingml/2006/main">
            <a:off x="32004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App events</a:t>
            </a:r>
          </a:p>
        </p:txBody>
      </p:sp>
      <p:sp>
        <p:nvSpPr>
          <p:cNvPr id="33" name="">
            <a:extLst xmlns:a="http://schemas.openxmlformats.org/drawingml/2006/main">
              <a:ext uri="{FF2B5EF4-FFF2-40B4-BE49-F238E27FC236}">
                <a16:creationId xmlns:a16="http://schemas.microsoft.com/office/drawing/2014/main" id="{8AE101E1-4F84-4584-B942-35E6C5F22317}"/>
              </a:ext>
            </a:extLst>
          </p:cNvPr>
          <p:cNvSpPr>
            <a:spLocks xmlns:a="http://schemas.openxmlformats.org/drawingml/2006/main" noGrp="1"/>
          </p:cNvSpPr>
          <p:nvPr/>
        </p:nvSpPr>
        <p:spPr>
          <a:xfrm xmlns:a="http://schemas.openxmlformats.org/drawingml/2006/main">
            <a:off x="53149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HRIS eligibility</a:t>
            </a:r>
          </a:p>
        </p:txBody>
      </p:sp>
      <p:sp>
        <p:nvSpPr>
          <p:cNvPr id="34" name="">
            <a:extLst xmlns:a="http://schemas.openxmlformats.org/drawingml/2006/main">
              <a:ext uri="{FF2B5EF4-FFF2-40B4-BE49-F238E27FC236}">
                <a16:creationId xmlns:a16="http://schemas.microsoft.com/office/drawing/2014/main" id="{8EF04802-F1FA-4246-9105-DBED8221EE1E}"/>
              </a:ext>
            </a:extLst>
          </p:cNvPr>
          <p:cNvSpPr>
            <a:spLocks xmlns:a="http://schemas.openxmlformats.org/drawingml/2006/main" noGrp="1"/>
          </p:cNvSpPr>
          <p:nvPr/>
        </p:nvSpPr>
        <p:spPr>
          <a:xfrm xmlns:a="http://schemas.openxmlformats.org/drawingml/2006/main">
            <a:off x="742950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Plan + provider context</a:t>
            </a:r>
          </a:p>
        </p:txBody>
      </p:sp>
      <p:sp>
        <p:nvSpPr>
          <p:cNvPr id="35" name="">
            <a:extLst xmlns:a="http://schemas.openxmlformats.org/drawingml/2006/main">
              <a:ext uri="{FF2B5EF4-FFF2-40B4-BE49-F238E27FC236}">
                <a16:creationId xmlns:a16="http://schemas.microsoft.com/office/drawing/2014/main" id="{E975898B-8324-42BF-8F56-B7E8705253D5}"/>
              </a:ext>
            </a:extLst>
          </p:cNvPr>
          <p:cNvSpPr>
            <a:spLocks xmlns:a="http://schemas.openxmlformats.org/drawingml/2006/main" noGrp="1"/>
          </p:cNvSpPr>
          <p:nvPr/>
        </p:nvSpPr>
        <p:spPr>
          <a:xfrm xmlns:a="http://schemas.openxmlformats.org/drawingml/2006/main">
            <a:off x="9544050" y="2409825"/>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B2A4A"/>
                </a:solidFill>
              </a:defRPr>
            </a:pPr>
            <a:r>
              <a:rPr sz="1125" b="1" i="0">
                <a:solidFill>
                  <a:srgbClr val="1B2A4A"/>
                </a:solidFill>
              </a:rPr>
              <a:t>TPA / carrier claims</a:t>
            </a:r>
          </a:p>
        </p:txBody>
      </p:sp>
      <p:sp>
        <p:nvSpPr>
          <p:cNvPr id="36" name="">
            <a:extLst xmlns:a="http://schemas.openxmlformats.org/drawingml/2006/main">
              <a:ext uri="{FF2B5EF4-FFF2-40B4-BE49-F238E27FC236}">
                <a16:creationId xmlns:a16="http://schemas.microsoft.com/office/drawing/2014/main" id="{D6E2778A-1DAF-411C-8BB8-F387EFFE67F4}"/>
              </a:ext>
            </a:extLst>
          </p:cNvPr>
          <p:cNvSpPr>
            <a:spLocks xmlns:a="http://schemas.openxmlformats.org/drawingml/2006/main" noGrp="1"/>
          </p:cNvSpPr>
          <p:nvPr/>
        </p:nvSpPr>
        <p:spPr>
          <a:xfrm xmlns:a="http://schemas.openxmlformats.org/drawingml/2006/main">
            <a:off x="3086100" y="3257550"/>
            <a:ext cx="8229600" cy="1657350"/>
          </a:xfrm>
          <a:prstGeom xmlns:a="http://schemas.openxmlformats.org/drawingml/2006/main" prst="roundRect">
            <a:avLst>
              <a:gd name="adj" fmla="val 4598"/>
            </a:avLst>
          </a:prstGeom>
          <a:solidFill xmlns:a="http://schemas.openxmlformats.org/drawingml/2006/main">
            <a:srgbClr val="1B2A4A"/>
          </a:solidFill>
          <a:ln xmlns:a="http://schemas.openxmlformats.org/drawingml/2006/main" w="0">
            <a:solidFill>
              <a:srgbClr val="1B2A4A"/>
            </a:solidFill>
            <a:prstDash val="solid"/>
          </a:ln>
        </p:spPr>
      </p:sp>
      <p:cxnSp>
        <p:nvCxnSpPr>
          <p:cNvPr id="92" name=""/>
          <p:cNvCxnSpPr>
            <a:stCxn xmlns:a="http://schemas.openxmlformats.org/drawingml/2006/main" id="28" idx="2"/>
            <a:endCxn xmlns:a="http://schemas.openxmlformats.org/drawingml/2006/main" id="36" idx="0"/>
          </p:cNvCxnSpPr>
          <p:nvPr/>
        </p:nvCxnSpPr>
        <p:spPr>
          <a:xfrm xmlns:a="http://schemas.openxmlformats.org/drawingml/2006/main">
            <a:off x="4029075" y="2838450"/>
            <a:ext cx="317182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none" w="med" len="med"/>
            <a:tailEnd type="arrow" w="med" len="med"/>
          </a:ln>
        </p:spPr>
      </p:cxnSp>
      <p:cxnSp>
        <p:nvCxnSpPr>
          <p:cNvPr id="93" name=""/>
          <p:cNvCxnSpPr>
            <a:stCxn xmlns:a="http://schemas.openxmlformats.org/drawingml/2006/main" id="29" idx="2"/>
            <a:endCxn xmlns:a="http://schemas.openxmlformats.org/drawingml/2006/main" id="36" idx="0"/>
          </p:cNvCxnSpPr>
          <p:nvPr/>
        </p:nvCxnSpPr>
        <p:spPr>
          <a:xfrm xmlns:a="http://schemas.openxmlformats.org/drawingml/2006/main">
            <a:off x="6143625" y="2838450"/>
            <a:ext cx="105727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none" w="med" len="med"/>
            <a:tailEnd type="arrow" w="med" len="med"/>
          </a:ln>
        </p:spPr>
      </p:cxnSp>
      <p:cxnSp>
        <p:nvCxnSpPr>
          <p:cNvPr id="94" name=""/>
          <p:cNvCxnSpPr>
            <a:stCxn xmlns:a="http://schemas.openxmlformats.org/drawingml/2006/main" id="30" idx="2"/>
            <a:endCxn xmlns:a="http://schemas.openxmlformats.org/drawingml/2006/main" id="36" idx="0"/>
          </p:cNvCxnSpPr>
          <p:nvPr/>
        </p:nvCxnSpPr>
        <p:spPr>
          <a:xfrm xmlns:a="http://schemas.openxmlformats.org/drawingml/2006/main" flipH="1">
            <a:off x="7200900" y="2838450"/>
            <a:ext cx="105727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none" w="med" len="med"/>
            <a:tailEnd type="arrow" w="med" len="med"/>
          </a:ln>
        </p:spPr>
      </p:cxnSp>
      <p:cxnSp>
        <p:nvCxnSpPr>
          <p:cNvPr id="95" name=""/>
          <p:cNvCxnSpPr>
            <a:stCxn xmlns:a="http://schemas.openxmlformats.org/drawingml/2006/main" id="31" idx="2"/>
            <a:endCxn xmlns:a="http://schemas.openxmlformats.org/drawingml/2006/main" id="36" idx="0"/>
          </p:cNvCxnSpPr>
          <p:nvPr/>
        </p:nvCxnSpPr>
        <p:spPr>
          <a:xfrm xmlns:a="http://schemas.openxmlformats.org/drawingml/2006/main" flipH="1">
            <a:off x="7200900" y="2838450"/>
            <a:ext cx="3171825" cy="419100"/>
          </a:xfrm>
          <a:prstGeom xmlns:a="http://schemas.openxmlformats.org/drawingml/2006/main" prst="bentConnector4">
            <a:avLst>
              <a:gd name="adj1" fmla="val 0"/>
              <a:gd name="adj2" fmla="val 50000"/>
            </a:avLst>
          </a:prstGeom>
          <a:ln xmlns:a="http://schemas.openxmlformats.org/drawingml/2006/main" w="14288">
            <a:solidFill>
              <a:srgbClr val="29B5E8"/>
            </a:solidFill>
            <a:prstDash val="solid"/>
            <a:headEnd type="none" w="med" len="med"/>
            <a:tailEnd type="arrow" w="med" len="med"/>
          </a:ln>
        </p:spPr>
      </p:cxnSp>
      <p:cxnSp>
        <p:nvCxnSpPr>
          <p:cNvPr id="96" name=""/>
          <p:cNvCxnSpPr>
            <a:stCxn xmlns:a="http://schemas.openxmlformats.org/drawingml/2006/main" id="21" idx="3"/>
            <a:endCxn xmlns:a="http://schemas.openxmlformats.org/drawingml/2006/main" id="36" idx="1"/>
          </p:cNvCxnSpPr>
          <p:nvPr/>
        </p:nvCxnSpPr>
        <p:spPr>
          <a:xfrm xmlns:a="http://schemas.openxmlformats.org/drawingml/2006/main" flipV="1">
            <a:off x="2705100" y="4086225"/>
            <a:ext cx="381000" cy="390525"/>
          </a:xfrm>
          <a:prstGeom xmlns:a="http://schemas.openxmlformats.org/drawingml/2006/main" prst="bentConnector3">
            <a:avLst>
              <a:gd name="adj1" fmla="val 50000"/>
            </a:avLst>
          </a:prstGeom>
          <a:ln xmlns:a="http://schemas.openxmlformats.org/drawingml/2006/main" w="19050">
            <a:solidFill>
              <a:srgbClr val="D99A24"/>
            </a:solidFill>
            <a:prstDash val="dash"/>
            <a:headEnd type="none" w="med" len="med"/>
            <a:tailEnd type="arrow" w="med" len="med"/>
          </a:ln>
        </p:spPr>
      </p:cxnSp>
      <p:sp>
        <p:nvSpPr>
          <p:cNvPr id="42" name="">
            <a:extLst xmlns:a="http://schemas.openxmlformats.org/drawingml/2006/main">
              <a:ext uri="{FF2B5EF4-FFF2-40B4-BE49-F238E27FC236}">
                <a16:creationId xmlns:a16="http://schemas.microsoft.com/office/drawing/2014/main" id="{1F8564F5-D4EF-466C-B75A-28FA93CEE825}"/>
              </a:ext>
            </a:extLst>
          </p:cNvPr>
          <p:cNvSpPr>
            <a:spLocks xmlns:a="http://schemas.openxmlformats.org/drawingml/2006/main" noGrp="1"/>
          </p:cNvSpPr>
          <p:nvPr/>
        </p:nvSpPr>
        <p:spPr>
          <a:xfrm xmlns:a="http://schemas.openxmlformats.org/drawingml/2006/main">
            <a:off x="3333750" y="34480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FFFF"/>
                </a:solidFill>
              </a:defRPr>
            </a:pPr>
            <a:r>
              <a:rPr sz="1650" b="1" i="0">
                <a:solidFill>
                  <a:srgbClr val="FFFFFF"/>
                </a:solidFill>
              </a:rPr>
              <a:t>Snowflake U.S. governed evidence layer</a:t>
            </a:r>
          </a:p>
        </p:txBody>
      </p:sp>
      <p:sp>
        <p:nvSpPr>
          <p:cNvPr id="43" name="">
            <a:extLst xmlns:a="http://schemas.openxmlformats.org/drawingml/2006/main">
              <a:ext uri="{FF2B5EF4-FFF2-40B4-BE49-F238E27FC236}">
                <a16:creationId xmlns:a16="http://schemas.microsoft.com/office/drawing/2014/main" id="{38DAA77B-F7E8-45C0-95E0-4F61A3C8EFD6}"/>
              </a:ext>
            </a:extLst>
          </p:cNvPr>
          <p:cNvSpPr>
            <a:spLocks xmlns:a="http://schemas.openxmlformats.org/drawingml/2006/main" noGrp="1"/>
          </p:cNvSpPr>
          <p:nvPr/>
        </p:nvSpPr>
        <p:spPr>
          <a:xfrm xmlns:a="http://schemas.openxmlformats.org/drawingml/2006/main">
            <a:off x="33337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29B5E8"/>
                </a:solidFill>
              </a:defRPr>
            </a:pPr>
            <a:r>
              <a:rPr sz="1200" b="1" i="0">
                <a:solidFill>
                  <a:srgbClr val="29B5E8"/>
                </a:solidFill>
              </a:rPr>
              <a:t>Canonical model</a:t>
            </a:r>
          </a:p>
        </p:txBody>
      </p:sp>
      <p:sp>
        <p:nvSpPr>
          <p:cNvPr id="44" name="">
            <a:extLst xmlns:a="http://schemas.openxmlformats.org/drawingml/2006/main">
              <a:ext uri="{FF2B5EF4-FFF2-40B4-BE49-F238E27FC236}">
                <a16:creationId xmlns:a16="http://schemas.microsoft.com/office/drawing/2014/main" id="{9D37BAF7-2889-4248-970D-BDB2CCF03718}"/>
              </a:ext>
            </a:extLst>
          </p:cNvPr>
          <p:cNvSpPr>
            <a:spLocks xmlns:a="http://schemas.openxmlformats.org/drawingml/2006/main" noGrp="1"/>
          </p:cNvSpPr>
          <p:nvPr/>
        </p:nvSpPr>
        <p:spPr>
          <a:xfrm xmlns:a="http://schemas.openxmlformats.org/drawingml/2006/main">
            <a:off x="3333750" y="421957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member-month + plan + event + claim</a:t>
            </a:r>
          </a:p>
        </p:txBody>
      </p:sp>
      <p:sp>
        <p:nvSpPr>
          <p:cNvPr id="45" name="">
            <a:extLst xmlns:a="http://schemas.openxmlformats.org/drawingml/2006/main">
              <a:ext uri="{FF2B5EF4-FFF2-40B4-BE49-F238E27FC236}">
                <a16:creationId xmlns:a16="http://schemas.microsoft.com/office/drawing/2014/main" id="{52673420-E381-4E51-9ADD-66360EB5262B}"/>
              </a:ext>
            </a:extLst>
          </p:cNvPr>
          <p:cNvSpPr>
            <a:spLocks xmlns:a="http://schemas.openxmlformats.org/drawingml/2006/main" noGrp="1"/>
          </p:cNvSpPr>
          <p:nvPr/>
        </p:nvSpPr>
        <p:spPr>
          <a:xfrm xmlns:a="http://schemas.openxmlformats.org/drawingml/2006/main">
            <a:off x="58102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7A79"/>
                </a:solidFill>
              </a:defRPr>
            </a:pPr>
            <a:r>
              <a:rPr sz="1200" b="1" i="0">
                <a:solidFill>
                  <a:srgbClr val="FF7A79"/>
                </a:solidFill>
              </a:rPr>
              <a:t>Quality + controls</a:t>
            </a:r>
          </a:p>
        </p:txBody>
      </p:sp>
      <p:sp>
        <p:nvSpPr>
          <p:cNvPr id="46" name="">
            <a:extLst xmlns:a="http://schemas.openxmlformats.org/drawingml/2006/main">
              <a:ext uri="{FF2B5EF4-FFF2-40B4-BE49-F238E27FC236}">
                <a16:creationId xmlns:a16="http://schemas.microsoft.com/office/drawing/2014/main" id="{7989B2BE-E37A-4F13-819B-8A61E2DDB54F}"/>
              </a:ext>
            </a:extLst>
          </p:cNvPr>
          <p:cNvSpPr>
            <a:spLocks xmlns:a="http://schemas.openxmlformats.org/drawingml/2006/main" noGrp="1"/>
          </p:cNvSpPr>
          <p:nvPr/>
        </p:nvSpPr>
        <p:spPr>
          <a:xfrm xmlns:a="http://schemas.openxmlformats.org/drawingml/2006/main">
            <a:off x="5810250" y="4219575"/>
            <a:ext cx="2152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reconciliation + purpose access + lineage</a:t>
            </a:r>
          </a:p>
        </p:txBody>
      </p:sp>
      <p:sp>
        <p:nvSpPr>
          <p:cNvPr id="47" name="">
            <a:extLst xmlns:a="http://schemas.openxmlformats.org/drawingml/2006/main">
              <a:ext uri="{FF2B5EF4-FFF2-40B4-BE49-F238E27FC236}">
                <a16:creationId xmlns:a16="http://schemas.microsoft.com/office/drawing/2014/main" id="{8B2DF981-30CA-4951-AB19-F2D5DCC186BB}"/>
              </a:ext>
            </a:extLst>
          </p:cNvPr>
          <p:cNvSpPr>
            <a:spLocks xmlns:a="http://schemas.openxmlformats.org/drawingml/2006/main" noGrp="1"/>
          </p:cNvSpPr>
          <p:nvPr/>
        </p:nvSpPr>
        <p:spPr>
          <a:xfrm xmlns:a="http://schemas.openxmlformats.org/drawingml/2006/main">
            <a:off x="8362950" y="3943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87D7D7"/>
                </a:solidFill>
              </a:defRPr>
            </a:pPr>
            <a:r>
              <a:rPr sz="1200" b="1" i="0">
                <a:solidFill>
                  <a:srgbClr val="87D7D7"/>
                </a:solidFill>
              </a:rPr>
              <a:t>Outcome layer</a:t>
            </a:r>
          </a:p>
        </p:txBody>
      </p:sp>
      <p:sp>
        <p:nvSpPr>
          <p:cNvPr id="48" name="">
            <a:extLst xmlns:a="http://schemas.openxmlformats.org/drawingml/2006/main">
              <a:ext uri="{FF2B5EF4-FFF2-40B4-BE49-F238E27FC236}">
                <a16:creationId xmlns:a16="http://schemas.microsoft.com/office/drawing/2014/main" id="{33A3E90F-A726-4E76-92A0-F31D7A6A66B8}"/>
              </a:ext>
            </a:extLst>
          </p:cNvPr>
          <p:cNvSpPr>
            <a:spLocks xmlns:a="http://schemas.openxmlformats.org/drawingml/2006/main" noGrp="1"/>
          </p:cNvSpPr>
          <p:nvPr/>
        </p:nvSpPr>
        <p:spPr>
          <a:xfrm xmlns:a="http://schemas.openxmlformats.org/drawingml/2006/main">
            <a:off x="8362950" y="42195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D9E2F0"/>
                </a:solidFill>
              </a:defRPr>
            </a:pPr>
            <a:r>
              <a:rPr sz="1088" b="0" i="0">
                <a:solidFill>
                  <a:srgbClr val="D9E2F0"/>
                </a:solidFill>
              </a:rPr>
              <a:t>experiment assignment + claims-confirmed outcomes</a:t>
            </a:r>
          </a:p>
        </p:txBody>
      </p:sp>
      <p:sp>
        <p:nvSpPr>
          <p:cNvPr id="49" name="">
            <a:extLst xmlns:a="http://schemas.openxmlformats.org/drawingml/2006/main">
              <a:ext uri="{FF2B5EF4-FFF2-40B4-BE49-F238E27FC236}">
                <a16:creationId xmlns:a16="http://schemas.microsoft.com/office/drawing/2014/main" id="{484F342B-3F61-44EB-8E24-49033E18B91F}"/>
              </a:ext>
            </a:extLst>
          </p:cNvPr>
          <p:cNvSpPr>
            <a:spLocks xmlns:a="http://schemas.openxmlformats.org/drawingml/2006/main" noGrp="1"/>
          </p:cNvSpPr>
          <p:nvPr/>
        </p:nvSpPr>
        <p:spPr>
          <a:xfrm xmlns:a="http://schemas.openxmlformats.org/drawingml/2006/main">
            <a:off x="723900" y="49911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13" b="0" i="0">
                <a:solidFill>
                  <a:srgbClr val="D99A24"/>
                </a:solidFill>
              </a:defRPr>
            </a:pPr>
            <a:r>
              <a:rPr sz="1013" b="0" i="0">
                <a:solidFill>
                  <a:srgbClr val="D99A24"/>
                </a:solidFill>
              </a:rPr>
              <a:t>URI + metadata + model version + approved derived signal only</a:t>
            </a:r>
          </a:p>
        </p:txBody>
      </p:sp>
      <p:sp>
        <p:nvSpPr>
          <p:cNvPr id="50" name="">
            <a:extLst xmlns:a="http://schemas.openxmlformats.org/drawingml/2006/main">
              <a:ext uri="{FF2B5EF4-FFF2-40B4-BE49-F238E27FC236}">
                <a16:creationId xmlns:a16="http://schemas.microsoft.com/office/drawing/2014/main" id="{D2F7A318-3829-4430-A654-2062F4F14A24}"/>
              </a:ext>
            </a:extLst>
          </p:cNvPr>
          <p:cNvSpPr>
            <a:spLocks xmlns:a="http://schemas.openxmlformats.org/drawingml/2006/main" noGrp="1"/>
          </p:cNvSpPr>
          <p:nvPr/>
        </p:nvSpPr>
        <p:spPr>
          <a:xfrm xmlns:a="http://schemas.openxmlformats.org/drawingml/2006/main">
            <a:off x="7010400" y="5257800"/>
            <a:ext cx="4305300" cy="685800"/>
          </a:xfrm>
          <a:prstGeom xmlns:a="http://schemas.openxmlformats.org/drawingml/2006/main" prst="roundRect">
            <a:avLst>
              <a:gd name="adj" fmla="val 11111"/>
            </a:avLst>
          </a:prstGeom>
          <a:solidFill xmlns:a="http://schemas.openxmlformats.org/drawingml/2006/main">
            <a:srgbClr val="E8F5F5"/>
          </a:solidFill>
          <a:ln xmlns:a="http://schemas.openxmlformats.org/drawingml/2006/main" w="19050">
            <a:solidFill>
              <a:srgbClr val="007A87"/>
            </a:solidFill>
            <a:prstDash val="solid"/>
          </a:ln>
        </p:spPr>
      </p:sp>
      <p:cxnSp>
        <p:nvCxnSpPr>
          <p:cNvPr id="106" name=""/>
          <p:cNvCxnSpPr>
            <a:stCxn xmlns:a="http://schemas.openxmlformats.org/drawingml/2006/main" id="36" idx="2"/>
            <a:endCxn xmlns:a="http://schemas.openxmlformats.org/drawingml/2006/main" id="50" idx="0"/>
          </p:cNvCxnSpPr>
          <p:nvPr/>
        </p:nvCxnSpPr>
        <p:spPr>
          <a:xfrm xmlns:a="http://schemas.openxmlformats.org/drawingml/2006/main">
            <a:off x="7200900" y="4914900"/>
            <a:ext cx="1962150" cy="3429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52" name="">
            <a:extLst xmlns:a="http://schemas.openxmlformats.org/drawingml/2006/main">
              <a:ext uri="{FF2B5EF4-FFF2-40B4-BE49-F238E27FC236}">
                <a16:creationId xmlns:a16="http://schemas.microsoft.com/office/drawing/2014/main" id="{92B42551-4DAB-4DB7-8E68-2E10F04DDE16}"/>
              </a:ext>
            </a:extLst>
          </p:cNvPr>
          <p:cNvSpPr>
            <a:spLocks xmlns:a="http://schemas.openxmlformats.org/drawingml/2006/main" noGrp="1"/>
          </p:cNvSpPr>
          <p:nvPr/>
        </p:nvSpPr>
        <p:spPr>
          <a:xfrm xmlns:a="http://schemas.openxmlformats.org/drawingml/2006/main">
            <a:off x="7200900" y="5438775"/>
            <a:ext cx="3924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007A87"/>
                </a:solidFill>
              </a:defRPr>
            </a:pPr>
            <a:r>
              <a:rPr sz="1350" b="1" i="0">
                <a:solidFill>
                  <a:srgbClr val="007A87"/>
                </a:solidFill>
              </a:rPr>
              <a:t>Employer aggregate dashboard</a:t>
            </a:r>
          </a:p>
        </p:txBody>
      </p:sp>
      <p:sp>
        <p:nvSpPr>
          <p:cNvPr id="53" name="">
            <a:extLst xmlns:a="http://schemas.openxmlformats.org/drawingml/2006/main">
              <a:ext uri="{FF2B5EF4-FFF2-40B4-BE49-F238E27FC236}">
                <a16:creationId xmlns:a16="http://schemas.microsoft.com/office/drawing/2014/main" id="{FFB52863-3F33-4B04-9EAB-BF7F5698508F}"/>
              </a:ext>
            </a:extLst>
          </p:cNvPr>
          <p:cNvSpPr>
            <a:spLocks xmlns:a="http://schemas.openxmlformats.org/drawingml/2006/main" noGrp="1"/>
          </p:cNvSpPr>
          <p:nvPr/>
        </p:nvSpPr>
        <p:spPr>
          <a:xfrm xmlns:a="http://schemas.openxmlformats.org/drawingml/2006/main">
            <a:off x="7200900" y="5695950"/>
            <a:ext cx="392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5B6B82"/>
                </a:solidFill>
              </a:defRPr>
            </a:pPr>
            <a:r>
              <a:rPr sz="1013" b="0" i="0">
                <a:solidFill>
                  <a:srgbClr val="5B6B82"/>
                </a:solidFill>
              </a:rPr>
              <a:t>No employee-level health signals or routing</a:t>
            </a:r>
          </a:p>
        </p:txBody>
      </p:sp>
      <p:sp>
        <p:nvSpPr>
          <p:cNvPr id="54" name="">
            <a:extLst xmlns:a="http://schemas.openxmlformats.org/drawingml/2006/main">
              <a:ext uri="{FF2B5EF4-FFF2-40B4-BE49-F238E27FC236}">
                <a16:creationId xmlns:a16="http://schemas.microsoft.com/office/drawing/2014/main" id="{6045B50E-53AC-4EBA-961C-EA01CD0D7F73}"/>
              </a:ext>
            </a:extLst>
          </p:cNvPr>
          <p:cNvSpPr>
            <a:spLocks xmlns:a="http://schemas.openxmlformats.org/drawingml/2006/main" noGrp="1"/>
          </p:cNvSpPr>
          <p:nvPr/>
        </p:nvSpPr>
        <p:spPr>
          <a:xfrm xmlns:a="http://schemas.openxmlformats.org/drawingml/2006/main">
            <a:off x="3086100" y="6057900"/>
            <a:ext cx="8229600" cy="285750"/>
          </a:xfrm>
          <a:prstGeom xmlns:a="http://schemas.openxmlformats.org/drawingml/2006/main" prst="roundRect">
            <a:avLst>
              <a:gd name="adj" fmla="val 26667"/>
            </a:avLst>
          </a:prstGeom>
          <a:solidFill xmlns:a="http://schemas.openxmlformats.org/drawingml/2006/main">
            <a:srgbClr val="FFF7E8"/>
          </a:solidFill>
          <a:ln xmlns:a="http://schemas.openxmlformats.org/drawingml/2006/main" w="9525">
            <a:solidFill>
              <a:srgbClr val="D99A24"/>
            </a:solidFill>
            <a:prstDash val="solid"/>
          </a:ln>
        </p:spPr>
      </p:sp>
      <p:sp>
        <p:nvSpPr>
          <p:cNvPr id="55" name="">
            <a:extLst xmlns:a="http://schemas.openxmlformats.org/drawingml/2006/main">
              <a:ext uri="{FF2B5EF4-FFF2-40B4-BE49-F238E27FC236}">
                <a16:creationId xmlns:a16="http://schemas.microsoft.com/office/drawing/2014/main" id="{352E8C9F-F863-46D0-91DE-92A985A17613}"/>
              </a:ext>
            </a:extLst>
          </p:cNvPr>
          <p:cNvSpPr>
            <a:spLocks xmlns:a="http://schemas.openxmlformats.org/drawingml/2006/main" noGrp="1"/>
          </p:cNvSpPr>
          <p:nvPr/>
        </p:nvSpPr>
        <p:spPr>
          <a:xfrm xmlns:a="http://schemas.openxmlformats.org/drawingml/2006/main">
            <a:off x="3219450" y="6115050"/>
            <a:ext cx="796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38" b="1" i="0">
                <a:solidFill>
                  <a:srgbClr val="D99A24"/>
                </a:solidFill>
              </a:defRPr>
            </a:pPr>
            <a:r>
              <a:rPr sz="938" b="1" i="0">
                <a:solidFill>
                  <a:srgbClr val="D99A24"/>
                </a:solidFill>
              </a:rPr>
              <a:t>PHI platform prerequisite: Business Critical + appropriate Snowflake BAA. This does not make ICLO as a whole HIPAA-compliant.</a:t>
            </a:r>
          </a:p>
        </p:txBody>
      </p:sp>
    </p:spTree>
    <p:extLst>
      <p:ext uri="{BB962C8B-B14F-4D97-AF65-F5344CB8AC3E}">
        <p14:creationId xmlns:p14="http://schemas.microsoft.com/office/powerpoint/2010/main" val="130743955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686F58E-63A5-4A62-BEEC-D46FD279A1E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B55C551E-4BAA-4ED9-B1C6-2516B963DA3C}"/>
              </a:ext>
            </a:extLst>
          </p:cNvPr>
          <p:cNvSpPr>
            <a:spLocks xmlns:a="http://schemas.openxmlformats.org/drawingml/2006/main" noGrp="1"/>
          </p:cNvSpPr>
          <p:nvPr/>
        </p:nvSpPr>
        <p:spPr>
          <a:xfrm xmlns:a="http://schemas.openxmlformats.org/drawingml/2006/main">
            <a:off x="91440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88ECBEB0-025B-4CF1-A773-4AD9CAF2BA22}"/>
              </a:ext>
            </a:extLst>
          </p:cNvPr>
          <p:cNvSpPr>
            <a:spLocks xmlns:a="http://schemas.openxmlformats.org/drawingml/2006/main" noGrp="1"/>
          </p:cNvSpPr>
          <p:nvPr/>
        </p:nvSpPr>
        <p:spPr>
          <a:xfrm xmlns:a="http://schemas.openxmlformats.org/drawingml/2006/main">
            <a:off x="91440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69F45675-40CB-4F8E-93CC-2AA1C9A561AA}"/>
              </a:ext>
            </a:extLst>
          </p:cNvPr>
          <p:cNvSpPr>
            <a:spLocks xmlns:a="http://schemas.openxmlformats.org/drawingml/2006/main" noGrp="1"/>
          </p:cNvSpPr>
          <p:nvPr/>
        </p:nvSpPr>
        <p:spPr>
          <a:xfrm xmlns:a="http://schemas.openxmlformats.org/drawingml/2006/main">
            <a:off x="92583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6BE1A311-A5D1-45AB-AE8A-BA3B4BFD359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The Dashboard Makes Privacy and Data Quality Visible</a:t>
            </a:r>
          </a:p>
        </p:txBody>
      </p:sp>
      <p:sp>
        <p:nvSpPr>
          <p:cNvPr id="6" name="">
            <a:extLst xmlns:a="http://schemas.openxmlformats.org/drawingml/2006/main">
              <a:ext uri="{FF2B5EF4-FFF2-40B4-BE49-F238E27FC236}">
                <a16:creationId xmlns:a16="http://schemas.microsoft.com/office/drawing/2014/main" id="{C1D111BD-5DA6-4B27-ACEB-A9F52C798C9E}"/>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This is not a performance claim. It shows how denominator, freshness, privacy and claims completeness become visible to the buyer.</a:t>
            </a:r>
          </a:p>
        </p:txBody>
      </p:sp>
      <p:sp>
        <p:nvSpPr>
          <p:cNvPr id="7" name="">
            <a:extLst xmlns:a="http://schemas.openxmlformats.org/drawingml/2006/main">
              <a:ext uri="{FF2B5EF4-FFF2-40B4-BE49-F238E27FC236}">
                <a16:creationId xmlns:a16="http://schemas.microsoft.com/office/drawing/2014/main" id="{B2FA4A41-39E8-40FE-A44E-BFC705BE593B}"/>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6BED935D-5551-4786-AEA9-F9E496343FCE}"/>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D745167D-E3AA-4B69-870D-BC9ED652A981}"/>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6a021d1069c4eaa"/>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AAD0A5A-8C1E-4910-8386-6F61E6A98301}"/>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a2e14a192f9c4351"/>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BD970E98-E810-4F81-8D48-937434032B70}"/>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1733FF1F-58F2-4A69-95FC-A014D5E68BFA}"/>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06</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dad2f71f1264717"/>
          <a:stretch xmlns:a="http://schemas.openxmlformats.org/drawingml/2006/main"/>
        </p:blipFill>
        <p:spPr>
          <a:xfrm xmlns:a="http://schemas.openxmlformats.org/drawingml/2006/main">
            <a:off x="609600" y="1952625"/>
            <a:ext cx="10972800" cy="3505200"/>
          </a:xfrm>
          <a:prstGeom xmlns:a="http://schemas.openxmlformats.org/drawingml/2006/main" prst="roundRect">
            <a:avLst>
              <a:gd name="adj" fmla="val 2174"/>
            </a:avLst>
          </a:prstGeom>
        </p:spPr>
      </p:pic>
      <p:sp>
        <p:nvSpPr>
          <p:cNvPr id="16" name="">
            <a:extLst xmlns:a="http://schemas.openxmlformats.org/drawingml/2006/main">
              <a:ext uri="{FF2B5EF4-FFF2-40B4-BE49-F238E27FC236}">
                <a16:creationId xmlns:a16="http://schemas.microsoft.com/office/drawing/2014/main" id="{B7EB3741-99F7-4698-B8F0-7AA756201E08}"/>
              </a:ext>
            </a:extLst>
          </p:cNvPr>
          <p:cNvSpPr>
            <a:spLocks xmlns:a="http://schemas.openxmlformats.org/drawingml/2006/main" noGrp="1"/>
          </p:cNvSpPr>
          <p:nvPr/>
        </p:nvSpPr>
        <p:spPr>
          <a:xfrm xmlns:a="http://schemas.openxmlformats.org/drawingml/2006/main">
            <a:off x="609600" y="1952625"/>
            <a:ext cx="10972800" cy="3505200"/>
          </a:xfrm>
          <a:prstGeom xmlns:a="http://schemas.openxmlformats.org/drawingml/2006/main" prst="roundRect">
            <a:avLst>
              <a:gd name="adj" fmla="val 2174"/>
            </a:avLst>
          </a:prstGeom>
          <a:noFill xmlns:a="http://schemas.openxmlformats.org/drawingml/2006/main"/>
          <a:ln xmlns:a="http://schemas.openxmlformats.org/drawingml/2006/main" w="14288">
            <a:solidFill>
              <a:srgbClr val="DCE3EC"/>
            </a:solidFill>
            <a:prstDash val="solid"/>
          </a:ln>
        </p:spPr>
      </p:sp>
      <p:sp>
        <p:nvSpPr>
          <p:cNvPr id="17" name="">
            <a:extLst xmlns:a="http://schemas.openxmlformats.org/drawingml/2006/main">
              <a:ext uri="{FF2B5EF4-FFF2-40B4-BE49-F238E27FC236}">
                <a16:creationId xmlns:a16="http://schemas.microsoft.com/office/drawing/2014/main" id="{CAB708C8-CED3-4916-BA07-0EB740AD432C}"/>
              </a:ext>
            </a:extLst>
          </p:cNvPr>
          <p:cNvSpPr>
            <a:spLocks xmlns:a="http://schemas.openxmlformats.org/drawingml/2006/main" noGrp="1"/>
          </p:cNvSpPr>
          <p:nvPr/>
        </p:nvSpPr>
        <p:spPr>
          <a:xfrm xmlns:a="http://schemas.openxmlformats.org/drawingml/2006/main">
            <a:off x="609600" y="5657850"/>
            <a:ext cx="38100" cy="5143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18" name="">
            <a:extLst xmlns:a="http://schemas.openxmlformats.org/drawingml/2006/main">
              <a:ext uri="{FF2B5EF4-FFF2-40B4-BE49-F238E27FC236}">
                <a16:creationId xmlns:a16="http://schemas.microsoft.com/office/drawing/2014/main" id="{AECD7E1E-B4FB-406E-9F78-ADB1080BDA73}"/>
              </a:ext>
            </a:extLst>
          </p:cNvPr>
          <p:cNvSpPr>
            <a:spLocks xmlns:a="http://schemas.openxmlformats.org/drawingml/2006/main" noGrp="1"/>
          </p:cNvSpPr>
          <p:nvPr/>
        </p:nvSpPr>
        <p:spPr>
          <a:xfrm xmlns:a="http://schemas.openxmlformats.org/drawingml/2006/main">
            <a:off x="7429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38" b="1" i="0">
                <a:solidFill>
                  <a:srgbClr val="FF7A79"/>
                </a:solidFill>
              </a:defRPr>
            </a:pPr>
            <a:r>
              <a:rPr sz="938" b="1" i="0">
                <a:solidFill>
                  <a:srgbClr val="FF7A79"/>
                </a:solidFill>
              </a:rPr>
              <a:t>SYNTHETIC</a:t>
            </a:r>
          </a:p>
        </p:txBody>
      </p:sp>
      <p:sp>
        <p:nvSpPr>
          <p:cNvPr id="19" name="">
            <a:extLst xmlns:a="http://schemas.openxmlformats.org/drawingml/2006/main">
              <a:ext uri="{FF2B5EF4-FFF2-40B4-BE49-F238E27FC236}">
                <a16:creationId xmlns:a16="http://schemas.microsoft.com/office/drawing/2014/main" id="{FE931C40-E96B-4F38-A96E-82858B764C4B}"/>
              </a:ext>
            </a:extLst>
          </p:cNvPr>
          <p:cNvSpPr>
            <a:spLocks xmlns:a="http://schemas.openxmlformats.org/drawingml/2006/main" noGrp="1"/>
          </p:cNvSpPr>
          <p:nvPr/>
        </p:nvSpPr>
        <p:spPr>
          <a:xfrm xmlns:a="http://schemas.openxmlformats.org/drawingml/2006/main">
            <a:off x="7429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52238"/>
                </a:solidFill>
              </a:defRPr>
            </a:pPr>
            <a:r>
              <a:rPr sz="1050" b="0" i="0">
                <a:solidFill>
                  <a:srgbClr val="152238"/>
                </a:solidFill>
              </a:rPr>
              <a:t>Illustrative only</a:t>
            </a:r>
          </a:p>
        </p:txBody>
      </p:sp>
      <p:sp>
        <p:nvSpPr>
          <p:cNvPr id="20" name="">
            <a:extLst xmlns:a="http://schemas.openxmlformats.org/drawingml/2006/main">
              <a:ext uri="{FF2B5EF4-FFF2-40B4-BE49-F238E27FC236}">
                <a16:creationId xmlns:a16="http://schemas.microsoft.com/office/drawing/2014/main" id="{15FA9A6F-EA63-4E85-8DAE-9E19AC280D13}"/>
              </a:ext>
            </a:extLst>
          </p:cNvPr>
          <p:cNvSpPr>
            <a:spLocks xmlns:a="http://schemas.openxmlformats.org/drawingml/2006/main" noGrp="1"/>
          </p:cNvSpPr>
          <p:nvPr/>
        </p:nvSpPr>
        <p:spPr>
          <a:xfrm xmlns:a="http://schemas.openxmlformats.org/drawingml/2006/main">
            <a:off x="2819400" y="5657850"/>
            <a:ext cx="38100" cy="514350"/>
          </a:xfrm>
          <a:prstGeom xmlns:a="http://schemas.openxmlformats.org/drawingml/2006/main" prst="rect">
            <a:avLst/>
          </a:prstGeom>
          <a:solidFill xmlns:a="http://schemas.openxmlformats.org/drawingml/2006/main">
            <a:srgbClr val="1B2A4A"/>
          </a:solidFill>
          <a:ln xmlns:a="http://schemas.openxmlformats.org/drawingml/2006/main" w="0">
            <a:solidFill>
              <a:srgbClr val="1B2A4A"/>
            </a:solidFill>
            <a:prstDash val="solid"/>
          </a:ln>
        </p:spPr>
      </p:sp>
      <p:sp>
        <p:nvSpPr>
          <p:cNvPr id="21" name="">
            <a:extLst xmlns:a="http://schemas.openxmlformats.org/drawingml/2006/main">
              <a:ext uri="{FF2B5EF4-FFF2-40B4-BE49-F238E27FC236}">
                <a16:creationId xmlns:a16="http://schemas.microsoft.com/office/drawing/2014/main" id="{285708E2-EBC1-4828-9A59-44B15A516D7F}"/>
              </a:ext>
            </a:extLst>
          </p:cNvPr>
          <p:cNvSpPr>
            <a:spLocks xmlns:a="http://schemas.openxmlformats.org/drawingml/2006/main" noGrp="1"/>
          </p:cNvSpPr>
          <p:nvPr/>
        </p:nvSpPr>
        <p:spPr>
          <a:xfrm xmlns:a="http://schemas.openxmlformats.org/drawingml/2006/main">
            <a:off x="29527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38" b="1" i="0">
                <a:solidFill>
                  <a:srgbClr val="1B2A4A"/>
                </a:solidFill>
              </a:defRPr>
            </a:pPr>
            <a:r>
              <a:rPr sz="938" b="1" i="0">
                <a:solidFill>
                  <a:srgbClr val="1B2A4A"/>
                </a:solidFill>
              </a:rPr>
              <a:t>DENOMINATOR</a:t>
            </a:r>
          </a:p>
        </p:txBody>
      </p:sp>
      <p:sp>
        <p:nvSpPr>
          <p:cNvPr id="22" name="">
            <a:extLst xmlns:a="http://schemas.openxmlformats.org/drawingml/2006/main">
              <a:ext uri="{FF2B5EF4-FFF2-40B4-BE49-F238E27FC236}">
                <a16:creationId xmlns:a16="http://schemas.microsoft.com/office/drawing/2014/main" id="{660A97AB-2957-4AB6-8E73-8307B2B9317B}"/>
              </a:ext>
            </a:extLst>
          </p:cNvPr>
          <p:cNvSpPr>
            <a:spLocks xmlns:a="http://schemas.openxmlformats.org/drawingml/2006/main" noGrp="1"/>
          </p:cNvSpPr>
          <p:nvPr/>
        </p:nvSpPr>
        <p:spPr>
          <a:xfrm xmlns:a="http://schemas.openxmlformats.org/drawingml/2006/main">
            <a:off x="29527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52238"/>
                </a:solidFill>
              </a:defRPr>
            </a:pPr>
            <a:r>
              <a:rPr sz="1050" b="0" i="0">
                <a:solidFill>
                  <a:srgbClr val="152238"/>
                </a:solidFill>
              </a:rPr>
              <a:t>Employees / members</a:t>
            </a:r>
          </a:p>
        </p:txBody>
      </p:sp>
      <p:sp>
        <p:nvSpPr>
          <p:cNvPr id="23" name="">
            <a:extLst xmlns:a="http://schemas.openxmlformats.org/drawingml/2006/main">
              <a:ext uri="{FF2B5EF4-FFF2-40B4-BE49-F238E27FC236}">
                <a16:creationId xmlns:a16="http://schemas.microsoft.com/office/drawing/2014/main" id="{73AACE43-00F5-477D-A3B3-71B5417A29A0}"/>
              </a:ext>
            </a:extLst>
          </p:cNvPr>
          <p:cNvSpPr>
            <a:spLocks xmlns:a="http://schemas.openxmlformats.org/drawingml/2006/main" noGrp="1"/>
          </p:cNvSpPr>
          <p:nvPr/>
        </p:nvSpPr>
        <p:spPr>
          <a:xfrm xmlns:a="http://schemas.openxmlformats.org/drawingml/2006/main">
            <a:off x="5029200" y="5657850"/>
            <a:ext cx="38100" cy="5143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4" name="">
            <a:extLst xmlns:a="http://schemas.openxmlformats.org/drawingml/2006/main">
              <a:ext uri="{FF2B5EF4-FFF2-40B4-BE49-F238E27FC236}">
                <a16:creationId xmlns:a16="http://schemas.microsoft.com/office/drawing/2014/main" id="{FD3F71D5-055F-44F3-BF82-79F0C095A655}"/>
              </a:ext>
            </a:extLst>
          </p:cNvPr>
          <p:cNvSpPr>
            <a:spLocks xmlns:a="http://schemas.openxmlformats.org/drawingml/2006/main" noGrp="1"/>
          </p:cNvSpPr>
          <p:nvPr/>
        </p:nvSpPr>
        <p:spPr>
          <a:xfrm xmlns:a="http://schemas.openxmlformats.org/drawingml/2006/main">
            <a:off x="51625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38" b="1" i="0">
                <a:solidFill>
                  <a:srgbClr val="29B5E8"/>
                </a:solidFill>
              </a:defRPr>
            </a:pPr>
            <a:r>
              <a:rPr sz="938" b="1" i="0">
                <a:solidFill>
                  <a:srgbClr val="29B5E8"/>
                </a:solidFill>
              </a:rPr>
              <a:t>FRESHNESS</a:t>
            </a:r>
          </a:p>
        </p:txBody>
      </p:sp>
      <p:sp>
        <p:nvSpPr>
          <p:cNvPr id="25" name="">
            <a:extLst xmlns:a="http://schemas.openxmlformats.org/drawingml/2006/main">
              <a:ext uri="{FF2B5EF4-FFF2-40B4-BE49-F238E27FC236}">
                <a16:creationId xmlns:a16="http://schemas.microsoft.com/office/drawing/2014/main" id="{42285C86-08B8-40F4-9B75-C6C478650A71}"/>
              </a:ext>
            </a:extLst>
          </p:cNvPr>
          <p:cNvSpPr>
            <a:spLocks xmlns:a="http://schemas.openxmlformats.org/drawingml/2006/main" noGrp="1"/>
          </p:cNvSpPr>
          <p:nvPr/>
        </p:nvSpPr>
        <p:spPr>
          <a:xfrm xmlns:a="http://schemas.openxmlformats.org/drawingml/2006/main">
            <a:off x="51625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52238"/>
                </a:solidFill>
              </a:defRPr>
            </a:pPr>
            <a:r>
              <a:rPr sz="1050" b="0" i="0">
                <a:solidFill>
                  <a:srgbClr val="152238"/>
                </a:solidFill>
              </a:rPr>
              <a:t>Dates + claims lag</a:t>
            </a:r>
          </a:p>
        </p:txBody>
      </p:sp>
      <p:sp>
        <p:nvSpPr>
          <p:cNvPr id="26" name="">
            <a:extLst xmlns:a="http://schemas.openxmlformats.org/drawingml/2006/main">
              <a:ext uri="{FF2B5EF4-FFF2-40B4-BE49-F238E27FC236}">
                <a16:creationId xmlns:a16="http://schemas.microsoft.com/office/drawing/2014/main" id="{9B9D5D62-6240-4F77-AF6A-3E7693A3B4E2}"/>
              </a:ext>
            </a:extLst>
          </p:cNvPr>
          <p:cNvSpPr>
            <a:spLocks xmlns:a="http://schemas.openxmlformats.org/drawingml/2006/main" noGrp="1"/>
          </p:cNvSpPr>
          <p:nvPr/>
        </p:nvSpPr>
        <p:spPr>
          <a:xfrm xmlns:a="http://schemas.openxmlformats.org/drawingml/2006/main">
            <a:off x="7239000" y="5657850"/>
            <a:ext cx="38100" cy="5143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27" name="">
            <a:extLst xmlns:a="http://schemas.openxmlformats.org/drawingml/2006/main">
              <a:ext uri="{FF2B5EF4-FFF2-40B4-BE49-F238E27FC236}">
                <a16:creationId xmlns:a16="http://schemas.microsoft.com/office/drawing/2014/main" id="{97A673FE-9C95-4154-9284-1DC3A7D9AB41}"/>
              </a:ext>
            </a:extLst>
          </p:cNvPr>
          <p:cNvSpPr>
            <a:spLocks xmlns:a="http://schemas.openxmlformats.org/drawingml/2006/main" noGrp="1"/>
          </p:cNvSpPr>
          <p:nvPr/>
        </p:nvSpPr>
        <p:spPr>
          <a:xfrm xmlns:a="http://schemas.openxmlformats.org/drawingml/2006/main">
            <a:off x="7372350" y="5657850"/>
            <a:ext cx="1924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38" b="1" i="0">
                <a:solidFill>
                  <a:srgbClr val="007A87"/>
                </a:solidFill>
              </a:defRPr>
            </a:pPr>
            <a:r>
              <a:rPr sz="938" b="1" i="0">
                <a:solidFill>
                  <a:srgbClr val="007A87"/>
                </a:solidFill>
              </a:rPr>
              <a:t>PRIVACY</a:t>
            </a:r>
          </a:p>
        </p:txBody>
      </p:sp>
      <p:sp>
        <p:nvSpPr>
          <p:cNvPr id="28" name="">
            <a:extLst xmlns:a="http://schemas.openxmlformats.org/drawingml/2006/main">
              <a:ext uri="{FF2B5EF4-FFF2-40B4-BE49-F238E27FC236}">
                <a16:creationId xmlns:a16="http://schemas.microsoft.com/office/drawing/2014/main" id="{07FF0931-82AC-420C-A213-4F0349FB45D5}"/>
              </a:ext>
            </a:extLst>
          </p:cNvPr>
          <p:cNvSpPr>
            <a:spLocks xmlns:a="http://schemas.openxmlformats.org/drawingml/2006/main" noGrp="1"/>
          </p:cNvSpPr>
          <p:nvPr/>
        </p:nvSpPr>
        <p:spPr>
          <a:xfrm xmlns:a="http://schemas.openxmlformats.org/drawingml/2006/main">
            <a:off x="7372350" y="5905500"/>
            <a:ext cx="1924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152238"/>
                </a:solidFill>
              </a:defRPr>
            </a:pPr>
            <a:r>
              <a:rPr sz="1050" b="0" i="0">
                <a:solidFill>
                  <a:srgbClr val="152238"/>
                </a:solidFill>
              </a:rPr>
              <a:t>Aggregate · n ≥ 20 · no PHI</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73b746b700b142ef"/>
          <a:stretch xmlns:a="http://schemas.openxmlformats.org/drawingml/2006/main"/>
        </p:blipFill>
        <p:spPr>
          <a:xfrm xmlns:a="http://schemas.openxmlformats.org/drawingml/2006/main">
            <a:off x="9715500" y="5543550"/>
            <a:ext cx="685800" cy="685800"/>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EDD184D9-5890-4D90-AFA8-6F1E2C901D0A}"/>
              </a:ext>
            </a:extLst>
          </p:cNvPr>
          <p:cNvSpPr>
            <a:spLocks xmlns:a="http://schemas.openxmlformats.org/drawingml/2006/main" noGrp="1"/>
          </p:cNvSpPr>
          <p:nvPr/>
        </p:nvSpPr>
        <p:spPr>
          <a:xfrm xmlns:a="http://schemas.openxmlformats.org/drawingml/2006/main">
            <a:off x="10477500" y="5629275"/>
            <a:ext cx="110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38" b="1" i="0">
                <a:solidFill>
                  <a:srgbClr val="007A87"/>
                </a:solidFill>
              </a:defRPr>
            </a:pPr>
            <a:r>
              <a:rPr sz="938" b="1" i="0">
                <a:solidFill>
                  <a:srgbClr val="007A87"/>
                </a:solidFill>
              </a:rPr>
              <a:t>LIVE DEMO</a:t>
            </a:r>
          </a:p>
        </p:txBody>
      </p:sp>
      <p:sp>
        <p:nvSpPr>
          <p:cNvPr id="31" name="">
            <a:extLst xmlns:a="http://schemas.openxmlformats.org/drawingml/2006/main">
              <a:ext uri="{FF2B5EF4-FFF2-40B4-BE49-F238E27FC236}">
                <a16:creationId xmlns:a16="http://schemas.microsoft.com/office/drawing/2014/main" id="{A5FF74B0-711A-4F9E-9313-F479EFF151A4}"/>
              </a:ext>
            </a:extLst>
          </p:cNvPr>
          <p:cNvSpPr>
            <a:spLocks xmlns:a="http://schemas.openxmlformats.org/drawingml/2006/main" noGrp="1"/>
          </p:cNvSpPr>
          <p:nvPr/>
        </p:nvSpPr>
        <p:spPr>
          <a:xfrm xmlns:a="http://schemas.openxmlformats.org/drawingml/2006/main">
            <a:off x="10477500" y="5867400"/>
            <a:ext cx="110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13" b="0" i="0">
                <a:solidFill>
                  <a:srgbClr val="152238"/>
                </a:solidFill>
              </a:defRPr>
            </a:pPr>
            <a:r>
              <a:rPr sz="1013" b="0" i="0">
                <a:solidFill>
                  <a:srgbClr val="152238"/>
                </a:solidFill>
              </a:rPr>
              <a:t>Synthetic dashboard</a:t>
            </a:r>
          </a:p>
        </p:txBody>
      </p:sp>
    </p:spTree>
    <p:extLst>
      <p:ext uri="{BB962C8B-B14F-4D97-AF65-F5344CB8AC3E}">
        <p14:creationId xmlns:p14="http://schemas.microsoft.com/office/powerpoint/2010/main" val="11308724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34AEDFE-528A-4568-BD3F-746127A1121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4B715068-14D4-4388-A69D-11A74307B2E3}"/>
              </a:ext>
            </a:extLst>
          </p:cNvPr>
          <p:cNvSpPr>
            <a:spLocks xmlns:a="http://schemas.openxmlformats.org/drawingml/2006/main" noGrp="1"/>
          </p:cNvSpPr>
          <p:nvPr/>
        </p:nvSpPr>
        <p:spPr>
          <a:xfrm xmlns:a="http://schemas.openxmlformats.org/drawingml/2006/main">
            <a:off x="73914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1E0105F5-9979-4BDF-A598-C2BCAFBC36ED}"/>
              </a:ext>
            </a:extLst>
          </p:cNvPr>
          <p:cNvSpPr>
            <a:spLocks xmlns:a="http://schemas.openxmlformats.org/drawingml/2006/main" noGrp="1"/>
          </p:cNvSpPr>
          <p:nvPr/>
        </p:nvSpPr>
        <p:spPr>
          <a:xfrm xmlns:a="http://schemas.openxmlformats.org/drawingml/2006/main">
            <a:off x="73914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6AD4BFA0-D752-4B56-9874-D7CA7C866201}"/>
              </a:ext>
            </a:extLst>
          </p:cNvPr>
          <p:cNvSpPr>
            <a:spLocks xmlns:a="http://schemas.openxmlformats.org/drawingml/2006/main" noGrp="1"/>
          </p:cNvSpPr>
          <p:nvPr/>
        </p:nvSpPr>
        <p:spPr>
          <a:xfrm xmlns:a="http://schemas.openxmlformats.org/drawingml/2006/main">
            <a:off x="75057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B5164CD9-15CC-4E08-AD00-2AFCAAB1742F}"/>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60320ABB-612F-4421-B5DE-08525D1388B8}"/>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7C9F3DA7-3D6C-49A8-888F-29A85F3C1ABF}"/>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5C06995D-E18D-4A4C-B91F-213AFBF38B2A}"/>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B2A4A"/>
                </a:solidFill>
              </a:defRPr>
            </a:pPr>
            <a:r>
              <a:rPr sz="2100" b="1" i="0">
                <a:solidFill>
                  <a:srgbClr val="1B2A4A"/>
                </a:solidFill>
              </a:rPr>
              <a:t>The Opportunity Is Account-Specific - Not "Delta" or "Blue" as a Whole</a:t>
            </a:r>
          </a:p>
        </p:txBody>
      </p:sp>
      <p:sp>
        <p:nvSpPr>
          <p:cNvPr id="9" name="">
            <a:extLst xmlns:a="http://schemas.openxmlformats.org/drawingml/2006/main">
              <a:ext uri="{FF2B5EF4-FFF2-40B4-BE49-F238E27FC236}">
                <a16:creationId xmlns:a16="http://schemas.microsoft.com/office/drawing/2014/main" id="{1D7AB1F6-B33F-4084-85B1-FE49A0D62F0E}"/>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Procurement, workloads and incumbents must be validated at the legal-entity and business-unit level.</a:t>
            </a:r>
          </a:p>
        </p:txBody>
      </p:sp>
      <p:sp>
        <p:nvSpPr>
          <p:cNvPr id="10" name="">
            <a:extLst xmlns:a="http://schemas.openxmlformats.org/drawingml/2006/main">
              <a:ext uri="{FF2B5EF4-FFF2-40B4-BE49-F238E27FC236}">
                <a16:creationId xmlns:a16="http://schemas.microsoft.com/office/drawing/2014/main" id="{5D5BB14E-32AC-48B5-B87C-7344631EE143}"/>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229C56FC-39F8-4F49-B91C-35C04A24480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12" name="">
            <a:extLst xmlns:a="http://schemas.openxmlformats.org/drawingml/2006/main">
              <a:ext uri="{FF2B5EF4-FFF2-40B4-BE49-F238E27FC236}">
                <a16:creationId xmlns:a16="http://schemas.microsoft.com/office/drawing/2014/main" id="{64874CB5-1D7E-4363-A82B-01C09E3AADE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1fb1a4c701894c79"/>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E442D3E0-C8D4-490B-9522-FAB6D264C23C}"/>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03ed20831384499"/>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CC01C9D-2B55-4FBA-842E-0D02570F1DF2}"/>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7" name="">
            <a:extLst xmlns:a="http://schemas.openxmlformats.org/drawingml/2006/main">
              <a:ext uri="{FF2B5EF4-FFF2-40B4-BE49-F238E27FC236}">
                <a16:creationId xmlns:a16="http://schemas.microsoft.com/office/drawing/2014/main" id="{96FCE957-498A-480A-AB90-6BF0630EA9F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07</a:t>
            </a:r>
          </a:p>
        </p:txBody>
      </p:sp>
      <p:sp>
        <p:nvSpPr>
          <p:cNvPr id="18" name="">
            <a:extLst xmlns:a="http://schemas.openxmlformats.org/drawingml/2006/main">
              <a:ext uri="{FF2B5EF4-FFF2-40B4-BE49-F238E27FC236}">
                <a16:creationId xmlns:a16="http://schemas.microsoft.com/office/drawing/2014/main" id="{CE9F7E44-177A-46DA-A5C3-5AA211B4A452}"/>
              </a:ext>
            </a:extLst>
          </p:cNvPr>
          <p:cNvSpPr>
            <a:spLocks xmlns:a="http://schemas.openxmlformats.org/drawingml/2006/main" noGrp="1"/>
          </p:cNvSpPr>
          <p:nvPr/>
        </p:nvSpPr>
        <p:spPr>
          <a:xfrm xmlns:a="http://schemas.openxmlformats.org/drawingml/2006/main">
            <a:off x="609600" y="1914525"/>
            <a:ext cx="5143500" cy="514350"/>
          </a:xfrm>
          <a:prstGeom xmlns:a="http://schemas.openxmlformats.org/drawingml/2006/main" prst="roundRect">
            <a:avLst>
              <a:gd name="adj" fmla="val 14815"/>
            </a:avLst>
          </a:prstGeom>
          <a:solidFill xmlns:a="http://schemas.openxmlformats.org/drawingml/2006/main">
            <a:srgbClr val="E8F5F5"/>
          </a:solidFill>
          <a:ln xmlns:a="http://schemas.openxmlformats.org/drawingml/2006/main" w="14288">
            <a:solidFill>
              <a:srgbClr val="007A87"/>
            </a:solidFill>
            <a:prstDash val="solid"/>
          </a:ln>
        </p:spPr>
      </p:sp>
      <p:sp>
        <p:nvSpPr>
          <p:cNvPr id="19" name="">
            <a:extLst xmlns:a="http://schemas.openxmlformats.org/drawingml/2006/main">
              <a:ext uri="{FF2B5EF4-FFF2-40B4-BE49-F238E27FC236}">
                <a16:creationId xmlns:a16="http://schemas.microsoft.com/office/drawing/2014/main" id="{047A615E-F5DC-4592-AFB3-F167B271973C}"/>
              </a:ext>
            </a:extLst>
          </p:cNvPr>
          <p:cNvSpPr>
            <a:spLocks xmlns:a="http://schemas.openxmlformats.org/drawingml/2006/main" noGrp="1"/>
          </p:cNvSpPr>
          <p:nvPr/>
        </p:nvSpPr>
        <p:spPr>
          <a:xfrm xmlns:a="http://schemas.openxmlformats.org/drawingml/2006/main">
            <a:off x="800100" y="20574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07A87"/>
                </a:solidFill>
              </a:defRPr>
            </a:pPr>
            <a:r>
              <a:rPr sz="1275" b="1" i="0">
                <a:solidFill>
                  <a:srgbClr val="007A87"/>
                </a:solidFill>
              </a:rPr>
              <a:t>Delta Dental: 39 independent companies</a:t>
            </a:r>
          </a:p>
        </p:txBody>
      </p:sp>
      <p:sp>
        <p:nvSpPr>
          <p:cNvPr id="20" name="">
            <a:extLst xmlns:a="http://schemas.openxmlformats.org/drawingml/2006/main">
              <a:ext uri="{FF2B5EF4-FFF2-40B4-BE49-F238E27FC236}">
                <a16:creationId xmlns:a16="http://schemas.microsoft.com/office/drawing/2014/main" id="{48FC6179-2750-4C05-AE5D-7626EDBF40C3}"/>
              </a:ext>
            </a:extLst>
          </p:cNvPr>
          <p:cNvSpPr>
            <a:spLocks xmlns:a="http://schemas.openxmlformats.org/drawingml/2006/main" noGrp="1"/>
          </p:cNvSpPr>
          <p:nvPr/>
        </p:nvSpPr>
        <p:spPr>
          <a:xfrm xmlns:a="http://schemas.openxmlformats.org/drawingml/2006/main">
            <a:off x="5981700" y="1914525"/>
            <a:ext cx="5600700" cy="514350"/>
          </a:xfrm>
          <a:prstGeom xmlns:a="http://schemas.openxmlformats.org/drawingml/2006/main" prst="roundRect">
            <a:avLst>
              <a:gd name="adj" fmla="val 14815"/>
            </a:avLst>
          </a:prstGeom>
          <a:solidFill xmlns:a="http://schemas.openxmlformats.org/drawingml/2006/main">
            <a:srgbClr val="EAF7FC"/>
          </a:solidFill>
          <a:ln xmlns:a="http://schemas.openxmlformats.org/drawingml/2006/main" w="14288">
            <a:solidFill>
              <a:srgbClr val="29B5E8"/>
            </a:solidFill>
            <a:prstDash val="solid"/>
          </a:ln>
        </p:spPr>
      </p:sp>
      <p:sp>
        <p:nvSpPr>
          <p:cNvPr id="21" name="">
            <a:extLst xmlns:a="http://schemas.openxmlformats.org/drawingml/2006/main">
              <a:ext uri="{FF2B5EF4-FFF2-40B4-BE49-F238E27FC236}">
                <a16:creationId xmlns:a16="http://schemas.microsoft.com/office/drawing/2014/main" id="{50D93079-0175-42E9-AB02-6AA6D143BB5F}"/>
              </a:ext>
            </a:extLst>
          </p:cNvPr>
          <p:cNvSpPr>
            <a:spLocks xmlns:a="http://schemas.openxmlformats.org/drawingml/2006/main" noGrp="1"/>
          </p:cNvSpPr>
          <p:nvPr/>
        </p:nvSpPr>
        <p:spPr>
          <a:xfrm xmlns:a="http://schemas.openxmlformats.org/drawingml/2006/main">
            <a:off x="6172200" y="2057400"/>
            <a:ext cx="5219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i="0">
                <a:solidFill>
                  <a:srgbClr val="1B2A4A"/>
                </a:solidFill>
              </a:defRPr>
            </a:pPr>
            <a:r>
              <a:rPr sz="1238" b="1" i="0">
                <a:solidFill>
                  <a:srgbClr val="1B2A4A"/>
                </a:solidFill>
              </a:rPr>
              <a:t>BCBS: 33 independent, locally operated companies</a:t>
            </a:r>
          </a:p>
        </p:txBody>
      </p:sp>
      <p:graphicFrame>
        <p:nvGraphicFramePr>
          <p:cNvPr id="46" name=""/>
          <p:cNvGraphicFramePr/>
          <p:nvPr/>
        </p:nvGraphicFramePr>
        <p:xfrm>
          <a:off xmlns:a="http://schemas.openxmlformats.org/drawingml/2006/main" x="609600" y="2686050"/>
          <a:ext xmlns:a="http://schemas.openxmlformats.org/drawingml/2006/main" cx="10972800" cy="2609850"/>
        </p:xfrm>
        <a:graphic xmlns:a="http://schemas.openxmlformats.org/drawingml/2006/main">
          <a:graphicData uri="http://schemas.openxmlformats.org/drawingml/2006/table">
            <a:tbl>
              <a:tblPr/>
              <a:tblGrid>
                <a:gridCol w="2762250"/>
                <a:gridCol w="3143250"/>
                <a:gridCol w="2286000"/>
                <a:gridCol w="2781300"/>
              </a:tblGrid>
              <a:tr h="652463">
                <a:tc>
                  <a:txBody>
                    <a:bodyPr/>
                    <a:lstStyle/>
                    <a:p>
                      <a:r>
                        <a:rPr sz="1050" b="1">
                          <a:solidFill>
                            <a:srgbClr val="FFFFFF"/>
                          </a:solidFill>
                        </a:rPr>
                        <a:t>Organization / unit</a:t>
                      </a:r>
                    </a:p>
                  </a:txBody>
                  <a:tcPr marL="76200" marR="76200" marT="66675" marB="66675" anchor="ctr">
                    <a:solidFill>
                      <a:srgbClr val="1B2A4A"/>
                    </a:solidFill>
                  </a:tcPr>
                </a:tc>
                <a:tc>
                  <a:txBody>
                    <a:bodyPr/>
                    <a:lstStyle/>
                    <a:p>
                      <a:r>
                        <a:rPr sz="1050" b="1">
                          <a:solidFill>
                            <a:srgbClr val="FFFFFF"/>
                          </a:solidFill>
                        </a:rPr>
                        <a:t>Public incumbent signal</a:t>
                      </a:r>
                    </a:p>
                  </a:txBody>
                  <a:tcPr marL="76200" marR="76200" marT="66675" marB="66675" anchor="ctr">
                    <a:solidFill>
                      <a:srgbClr val="1B2A4A"/>
                    </a:solidFill>
                  </a:tcPr>
                </a:tc>
                <a:tc>
                  <a:txBody>
                    <a:bodyPr/>
                    <a:lstStyle/>
                    <a:p>
                      <a:r>
                        <a:rPr sz="1050" b="1">
                          <a:solidFill>
                            <a:srgbClr val="FFFFFF"/>
                          </a:solidFill>
                        </a:rPr>
                        <a:t>Dental data in Snowflake</a:t>
                      </a:r>
                    </a:p>
                  </a:txBody>
                  <a:tcPr marL="76200" marR="76200" marT="66675" marB="66675" anchor="ctr">
                    <a:solidFill>
                      <a:srgbClr val="1B2A4A"/>
                    </a:solidFill>
                  </a:tcPr>
                </a:tc>
                <a:tc>
                  <a:txBody>
                    <a:bodyPr/>
                    <a:lstStyle/>
                    <a:p>
                      <a:r>
                        <a:rPr sz="1050" b="1">
                          <a:solidFill>
                            <a:srgbClr val="FFFFFF"/>
                          </a:solidFill>
                        </a:rPr>
                        <a:t>Potential ICLO whitespace</a:t>
                      </a:r>
                    </a:p>
                  </a:txBody>
                  <a:tcPr marL="76200" marR="76200" marT="66675" marB="66675" anchor="ctr">
                    <a:solidFill>
                      <a:srgbClr val="1B2A4A"/>
                    </a:solidFill>
                  </a:tcPr>
                </a:tc>
              </a:tr>
              <a:tr h="652463">
                <a:tc>
                  <a:txBody>
                    <a:bodyPr/>
                    <a:lstStyle/>
                    <a:p>
                      <a:r>
                        <a:rPr sz="1013">
                          <a:solidFill>
                            <a:srgbClr val="152238"/>
                          </a:solidFill>
                        </a:rPr>
                        <a:t>Delta Dental of Washington</a:t>
                      </a:r>
                    </a:p>
                  </a:txBody>
                  <a:tcPr marL="76200" marR="76200" marT="66675" marB="66675" anchor="ctr">
                    <a:solidFill>
                      <a:srgbClr val="FFFFFF"/>
                    </a:solidFill>
                  </a:tcPr>
                </a:tc>
                <a:tc>
                  <a:txBody>
                    <a:bodyPr/>
                    <a:lstStyle/>
                    <a:p>
                      <a:r>
                        <a:rPr sz="1013">
                          <a:solidFill>
                            <a:srgbClr val="152238"/>
                          </a:solidFill>
                        </a:rPr>
                        <a:t>Dentistry.One</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r h="652463">
                <a:tc>
                  <a:txBody>
                    <a:bodyPr/>
                    <a:lstStyle/>
                    <a:p>
                      <a:r>
                        <a:rPr sz="1013">
                          <a:solidFill>
                            <a:srgbClr val="152238"/>
                          </a:solidFill>
                        </a:rPr>
                        <a:t>Parts of the Delta ecosystem</a:t>
                      </a:r>
                    </a:p>
                  </a:txBody>
                  <a:tcPr marL="76200" marR="76200" marT="66675" marB="66675" anchor="ctr">
                    <a:solidFill>
                      <a:srgbClr val="FFFFFF"/>
                    </a:solidFill>
                  </a:tcPr>
                </a:tc>
                <a:tc>
                  <a:txBody>
                    <a:bodyPr/>
                    <a:lstStyle/>
                    <a:p>
                      <a:r>
                        <a:rPr sz="1013">
                          <a:solidFill>
                            <a:srgbClr val="152238"/>
                          </a:solidFill>
                        </a:rPr>
                        <a:t>Toothpic / quip (historical)</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r h="652463">
                <a:tc>
                  <a:txBody>
                    <a:bodyPr/>
                    <a:lstStyle/>
                    <a:p>
                      <a:r>
                        <a:rPr sz="1013">
                          <a:solidFill>
                            <a:srgbClr val="152238"/>
                          </a:solidFill>
                        </a:rPr>
                        <a:t>BCBS Massachusetts</a:t>
                      </a:r>
                    </a:p>
                  </a:txBody>
                  <a:tcPr marL="76200" marR="76200" marT="66675" marB="66675" anchor="ctr">
                    <a:solidFill>
                      <a:srgbClr val="FFFFFF"/>
                    </a:solidFill>
                  </a:tcPr>
                </a:tc>
                <a:tc>
                  <a:txBody>
                    <a:bodyPr/>
                    <a:lstStyle/>
                    <a:p>
                      <a:r>
                        <a:rPr sz="1013">
                          <a:solidFill>
                            <a:srgbClr val="152238"/>
                          </a:solidFill>
                        </a:rPr>
                        <a:t>Teledentistry.com; Toothpic (historical)</a:t>
                      </a:r>
                    </a:p>
                  </a:txBody>
                  <a:tcPr marL="76200" marR="76200" marT="66675" marB="66675" anchor="ctr">
                    <a:solidFill>
                      <a:srgbClr val="FFFFFF"/>
                    </a:solidFill>
                  </a:tcPr>
                </a:tc>
                <a:tc>
                  <a:txBody>
                    <a:bodyPr/>
                    <a:lstStyle/>
                    <a:p>
                      <a:r>
                        <a:rPr sz="1050" b="1">
                          <a:solidFill>
                            <a:srgbClr val="D99A24"/>
                          </a:solidFill>
                        </a:rPr>
                        <a:t>VALIDATE</a:t>
                      </a:r>
                    </a:p>
                  </a:txBody>
                  <a:tcPr marL="76200" marR="76200" marT="66675" marB="66675" anchor="ctr">
                    <a:solidFill>
                      <a:srgbClr val="FFF7E8"/>
                    </a:solidFill>
                  </a:tcPr>
                </a:tc>
                <a:tc>
                  <a:txBody>
                    <a:bodyPr/>
                    <a:lstStyle/>
                    <a:p>
                      <a:r>
                        <a:rPr sz="1050" b="1">
                          <a:solidFill>
                            <a:srgbClr val="D99A24"/>
                          </a:solidFill>
                        </a:rPr>
                        <a:t>VALIDATE</a:t>
                      </a:r>
                    </a:p>
                  </a:txBody>
                  <a:tcPr marL="76200" marR="76200" marT="66675" marB="66675" anchor="ctr">
                    <a:solidFill>
                      <a:srgbClr val="FFF7E8"/>
                    </a:solidFill>
                  </a:tcPr>
                </a:tc>
              </a:tr>
            </a:tbl>
          </a:graphicData>
        </a:graphic>
      </p:graphicFrame>
      <p:sp>
        <p:nvSpPr>
          <p:cNvPr id="23" name="">
            <a:extLst xmlns:a="http://schemas.openxmlformats.org/drawingml/2006/main">
              <a:ext uri="{FF2B5EF4-FFF2-40B4-BE49-F238E27FC236}">
                <a16:creationId xmlns:a16="http://schemas.microsoft.com/office/drawing/2014/main" id="{757EE5C0-A24D-4B00-9B7D-9E683CFACE69}"/>
              </a:ext>
            </a:extLst>
          </p:cNvPr>
          <p:cNvSpPr>
            <a:spLocks xmlns:a="http://schemas.openxmlformats.org/drawingml/2006/main" noGrp="1"/>
          </p:cNvSpPr>
          <p:nvPr/>
        </p:nvSpPr>
        <p:spPr>
          <a:xfrm xmlns:a="http://schemas.openxmlformats.org/drawingml/2006/main">
            <a:off x="609600" y="5514975"/>
            <a:ext cx="10972800" cy="628650"/>
          </a:xfrm>
          <a:prstGeom xmlns:a="http://schemas.openxmlformats.org/drawingml/2006/main" prst="roundRect">
            <a:avLst>
              <a:gd name="adj" fmla="val 12121"/>
            </a:avLst>
          </a:prstGeom>
          <a:solidFill xmlns:a="http://schemas.openxmlformats.org/drawingml/2006/main">
            <a:srgbClr val="FFF0F0"/>
          </a:solidFill>
          <a:ln xmlns:a="http://schemas.openxmlformats.org/drawingml/2006/main" w="14288">
            <a:solidFill>
              <a:srgbClr val="FF7A79"/>
            </a:solidFill>
            <a:prstDash val="solid"/>
          </a:ln>
        </p:spPr>
      </p:sp>
      <p:sp>
        <p:nvSpPr>
          <p:cNvPr id="24" name="">
            <a:extLst xmlns:a="http://schemas.openxmlformats.org/drawingml/2006/main">
              <a:ext uri="{FF2B5EF4-FFF2-40B4-BE49-F238E27FC236}">
                <a16:creationId xmlns:a16="http://schemas.microsoft.com/office/drawing/2014/main" id="{90B7406C-CFC9-4046-BB8E-55D449186F75}"/>
              </a:ext>
            </a:extLst>
          </p:cNvPr>
          <p:cNvSpPr>
            <a:spLocks xmlns:a="http://schemas.openxmlformats.org/drawingml/2006/main" noGrp="1"/>
          </p:cNvSpPr>
          <p:nvPr/>
        </p:nvSpPr>
        <p:spPr>
          <a:xfrm xmlns:a="http://schemas.openxmlformats.org/drawingml/2006/main">
            <a:off x="800100" y="5676900"/>
            <a:ext cx="1059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38" b="1" i="0">
                <a:solidFill>
                  <a:srgbClr val="FF7A79"/>
                </a:solidFill>
              </a:defRPr>
            </a:pPr>
            <a:r>
              <a:rPr sz="1238" b="1" i="0">
                <a:solidFill>
                  <a:srgbClr val="FF7A79"/>
                </a:solidFill>
              </a:rPr>
              <a:t>No Snowflake dental workload is assumed. Public vendor presence does not prove enterprise-wide capability or eliminate ICLO whitespace.</a:t>
            </a:r>
          </a:p>
        </p:txBody>
      </p:sp>
    </p:spTree>
    <p:extLst>
      <p:ext uri="{BB962C8B-B14F-4D97-AF65-F5344CB8AC3E}">
        <p14:creationId xmlns:p14="http://schemas.microsoft.com/office/powerpoint/2010/main" val="17399332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DF6987F-604E-455D-B138-304BD79A684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7719E825-D8B0-4D06-B66F-78AE5E4D547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0B7132EB-86D3-4097-9251-7AF8275877E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5FFF6359-FE2B-4A47-8215-CE652F1B901C}"/>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4C8124E9-9F74-4F8B-8573-C7C2201264A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What We Need from Snowflake GTM</a:t>
            </a:r>
          </a:p>
        </p:txBody>
      </p:sp>
      <p:sp>
        <p:nvSpPr>
          <p:cNvPr id="6" name="">
            <a:extLst xmlns:a="http://schemas.openxmlformats.org/drawingml/2006/main">
              <a:ext uri="{FF2B5EF4-FFF2-40B4-BE49-F238E27FC236}">
                <a16:creationId xmlns:a16="http://schemas.microsoft.com/office/drawing/2014/main" id="{1159739B-B051-4796-AB3E-1A14C4617D95}"/>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We need industry fit, internal coordination and account-path sponsorship - not generic introductions.</a:t>
            </a:r>
          </a:p>
        </p:txBody>
      </p:sp>
      <p:sp>
        <p:nvSpPr>
          <p:cNvPr id="7" name="">
            <a:extLst xmlns:a="http://schemas.openxmlformats.org/drawingml/2006/main">
              <a:ext uri="{FF2B5EF4-FFF2-40B4-BE49-F238E27FC236}">
                <a16:creationId xmlns:a16="http://schemas.microsoft.com/office/drawing/2014/main" id="{53EE2654-AEE6-4A80-900C-4E860E54923C}"/>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1ABCE0D6-1FC9-45C9-8A55-2A9A93398A63}"/>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FBEF9EAD-DAA4-4D30-9021-2400E507DA2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3f199826d444478"/>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C95F6FD-4EF8-4704-8BD3-00738331D5ED}"/>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b5ff26e85d2d4b58"/>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52C4922F-4844-4E2E-98D5-5B2C8B0AF354}"/>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75AC5B0B-5FA3-4BA8-9AE6-CE4C9A6BD6F9}"/>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08</a:t>
            </a:r>
          </a:p>
        </p:txBody>
      </p:sp>
      <p:sp>
        <p:nvSpPr>
          <p:cNvPr id="15" name="">
            <a:extLst xmlns:a="http://schemas.openxmlformats.org/drawingml/2006/main">
              <a:ext uri="{FF2B5EF4-FFF2-40B4-BE49-F238E27FC236}">
                <a16:creationId xmlns:a16="http://schemas.microsoft.com/office/drawing/2014/main" id="{6E88E753-CF64-445F-988C-1603ACF35173}"/>
              </a:ext>
            </a:extLst>
          </p:cNvPr>
          <p:cNvSpPr>
            <a:spLocks xmlns:a="http://schemas.openxmlformats.org/drawingml/2006/main" noGrp="1"/>
          </p:cNvSpPr>
          <p:nvPr/>
        </p:nvSpPr>
        <p:spPr>
          <a:xfrm xmlns:a="http://schemas.openxmlformats.org/drawingml/2006/main">
            <a:off x="609600" y="2095500"/>
            <a:ext cx="10972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CE3EC"/>
            </a:solidFill>
            <a:prstDash val="solid"/>
          </a:ln>
        </p:spPr>
      </p:sp>
      <p:sp>
        <p:nvSpPr>
          <p:cNvPr id="16" name="">
            <a:extLst xmlns:a="http://schemas.openxmlformats.org/drawingml/2006/main">
              <a:ext uri="{FF2B5EF4-FFF2-40B4-BE49-F238E27FC236}">
                <a16:creationId xmlns:a16="http://schemas.microsoft.com/office/drawing/2014/main" id="{5C54DDB7-6130-44FA-866B-1DB949AE61E2}"/>
              </a:ext>
            </a:extLst>
          </p:cNvPr>
          <p:cNvSpPr>
            <a:spLocks xmlns:a="http://schemas.openxmlformats.org/drawingml/2006/main" noGrp="1"/>
          </p:cNvSpPr>
          <p:nvPr/>
        </p:nvSpPr>
        <p:spPr>
          <a:xfrm xmlns:a="http://schemas.openxmlformats.org/drawingml/2006/main">
            <a:off x="609600" y="20955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17" name="">
            <a:extLst xmlns:a="http://schemas.openxmlformats.org/drawingml/2006/main">
              <a:ext uri="{FF2B5EF4-FFF2-40B4-BE49-F238E27FC236}">
                <a16:creationId xmlns:a16="http://schemas.microsoft.com/office/drawing/2014/main" id="{167F8E07-A7DA-434C-AFEC-A9D297C65A66}"/>
              </a:ext>
            </a:extLst>
          </p:cNvPr>
          <p:cNvSpPr>
            <a:spLocks xmlns:a="http://schemas.openxmlformats.org/drawingml/2006/main" noGrp="1"/>
          </p:cNvSpPr>
          <p:nvPr/>
        </p:nvSpPr>
        <p:spPr>
          <a:xfrm xmlns:a="http://schemas.openxmlformats.org/drawingml/2006/main">
            <a:off x="876300" y="22574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01</a:t>
            </a:r>
          </a:p>
        </p:txBody>
      </p:sp>
      <p:sp>
        <p:nvSpPr>
          <p:cNvPr id="18" name="">
            <a:extLst xmlns:a="http://schemas.openxmlformats.org/drawingml/2006/main">
              <a:ext uri="{FF2B5EF4-FFF2-40B4-BE49-F238E27FC236}">
                <a16:creationId xmlns:a16="http://schemas.microsoft.com/office/drawing/2014/main" id="{FE158F54-E882-4BBA-89DB-C08774AABA5C}"/>
              </a:ext>
            </a:extLst>
          </p:cNvPr>
          <p:cNvSpPr>
            <a:spLocks xmlns:a="http://schemas.openxmlformats.org/drawingml/2006/main" noGrp="1"/>
          </p:cNvSpPr>
          <p:nvPr/>
        </p:nvSpPr>
        <p:spPr>
          <a:xfrm xmlns:a="http://schemas.openxmlformats.org/drawingml/2006/main">
            <a:off x="1524000" y="22764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FIT</a:t>
            </a:r>
          </a:p>
        </p:txBody>
      </p:sp>
      <p:sp>
        <p:nvSpPr>
          <p:cNvPr id="19" name="">
            <a:extLst xmlns:a="http://schemas.openxmlformats.org/drawingml/2006/main">
              <a:ext uri="{FF2B5EF4-FFF2-40B4-BE49-F238E27FC236}">
                <a16:creationId xmlns:a16="http://schemas.microsoft.com/office/drawing/2014/main" id="{6A023E60-267D-4ACC-B864-66AAB80C8F08}"/>
              </a:ext>
            </a:extLst>
          </p:cNvPr>
          <p:cNvSpPr>
            <a:spLocks xmlns:a="http://schemas.openxmlformats.org/drawingml/2006/main" noGrp="1"/>
          </p:cNvSpPr>
          <p:nvPr/>
        </p:nvSpPr>
        <p:spPr>
          <a:xfrm xmlns:a="http://schemas.openxmlformats.org/drawingml/2006/main">
            <a:off x="2933700" y="22479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Which HLS sales play fits naturally: payer claims analytics, benefits navigation, healthtech applications or secure collaboration?</a:t>
            </a:r>
          </a:p>
        </p:txBody>
      </p:sp>
      <p:sp>
        <p:nvSpPr>
          <p:cNvPr id="20" name="">
            <a:extLst xmlns:a="http://schemas.openxmlformats.org/drawingml/2006/main">
              <a:ext uri="{FF2B5EF4-FFF2-40B4-BE49-F238E27FC236}">
                <a16:creationId xmlns:a16="http://schemas.microsoft.com/office/drawing/2014/main" id="{E2684447-A75F-416D-88AA-4D3A9BC16618}"/>
              </a:ext>
            </a:extLst>
          </p:cNvPr>
          <p:cNvSpPr>
            <a:spLocks xmlns:a="http://schemas.openxmlformats.org/drawingml/2006/main" noGrp="1"/>
          </p:cNvSpPr>
          <p:nvPr/>
        </p:nvSpPr>
        <p:spPr>
          <a:xfrm xmlns:a="http://schemas.openxmlformats.org/drawingml/2006/main">
            <a:off x="609600" y="2990850"/>
            <a:ext cx="10972800" cy="685800"/>
          </a:xfrm>
          <a:prstGeom xmlns:a="http://schemas.openxmlformats.org/drawingml/2006/main" prst="roundRect">
            <a:avLst>
              <a:gd name="adj" fmla="val 11111"/>
            </a:avLst>
          </a:prstGeom>
          <a:solidFill xmlns:a="http://schemas.openxmlformats.org/drawingml/2006/main">
            <a:srgbClr val="FAFBFC"/>
          </a:solidFill>
          <a:ln xmlns:a="http://schemas.openxmlformats.org/drawingml/2006/main" w="9525">
            <a:solidFill>
              <a:srgbClr val="DCE3EC"/>
            </a:solidFill>
            <a:prstDash val="solid"/>
          </a:ln>
        </p:spPr>
      </p:sp>
      <p:sp>
        <p:nvSpPr>
          <p:cNvPr id="21" name="">
            <a:extLst xmlns:a="http://schemas.openxmlformats.org/drawingml/2006/main">
              <a:ext uri="{FF2B5EF4-FFF2-40B4-BE49-F238E27FC236}">
                <a16:creationId xmlns:a16="http://schemas.microsoft.com/office/drawing/2014/main" id="{F16408CC-50C4-4128-B2D2-4C705D835891}"/>
              </a:ext>
            </a:extLst>
          </p:cNvPr>
          <p:cNvSpPr>
            <a:spLocks xmlns:a="http://schemas.openxmlformats.org/drawingml/2006/main" noGrp="1"/>
          </p:cNvSpPr>
          <p:nvPr/>
        </p:nvSpPr>
        <p:spPr>
          <a:xfrm xmlns:a="http://schemas.openxmlformats.org/drawingml/2006/main">
            <a:off x="609600" y="29908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2" name="">
            <a:extLst xmlns:a="http://schemas.openxmlformats.org/drawingml/2006/main">
              <a:ext uri="{FF2B5EF4-FFF2-40B4-BE49-F238E27FC236}">
                <a16:creationId xmlns:a16="http://schemas.microsoft.com/office/drawing/2014/main" id="{C13222C7-4AC0-45F3-A261-491FAE805D79}"/>
              </a:ext>
            </a:extLst>
          </p:cNvPr>
          <p:cNvSpPr>
            <a:spLocks xmlns:a="http://schemas.openxmlformats.org/drawingml/2006/main" noGrp="1"/>
          </p:cNvSpPr>
          <p:nvPr/>
        </p:nvSpPr>
        <p:spPr>
          <a:xfrm xmlns:a="http://schemas.openxmlformats.org/drawingml/2006/main">
            <a:off x="876300" y="31527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02</a:t>
            </a:r>
          </a:p>
        </p:txBody>
      </p:sp>
      <p:sp>
        <p:nvSpPr>
          <p:cNvPr id="23" name="">
            <a:extLst xmlns:a="http://schemas.openxmlformats.org/drawingml/2006/main">
              <a:ext uri="{FF2B5EF4-FFF2-40B4-BE49-F238E27FC236}">
                <a16:creationId xmlns:a16="http://schemas.microsoft.com/office/drawing/2014/main" id="{BCDF6B21-EB41-430B-AE24-651542E1D54A}"/>
              </a:ext>
            </a:extLst>
          </p:cNvPr>
          <p:cNvSpPr>
            <a:spLocks xmlns:a="http://schemas.openxmlformats.org/drawingml/2006/main" noGrp="1"/>
          </p:cNvSpPr>
          <p:nvPr/>
        </p:nvSpPr>
        <p:spPr>
          <a:xfrm xmlns:a="http://schemas.openxmlformats.org/drawingml/2006/main">
            <a:off x="1524000" y="31718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PEOPLE</a:t>
            </a:r>
          </a:p>
        </p:txBody>
      </p:sp>
      <p:sp>
        <p:nvSpPr>
          <p:cNvPr id="24" name="">
            <a:extLst xmlns:a="http://schemas.openxmlformats.org/drawingml/2006/main">
              <a:ext uri="{FF2B5EF4-FFF2-40B4-BE49-F238E27FC236}">
                <a16:creationId xmlns:a16="http://schemas.microsoft.com/office/drawing/2014/main" id="{24CA1E18-59D8-40F6-A54F-04544B32C8BF}"/>
              </a:ext>
            </a:extLst>
          </p:cNvPr>
          <p:cNvSpPr>
            <a:spLocks xmlns:a="http://schemas.openxmlformats.org/drawingml/2006/main" noGrp="1"/>
          </p:cNvSpPr>
          <p:nvPr/>
        </p:nvSpPr>
        <p:spPr>
          <a:xfrm xmlns:a="http://schemas.openxmlformats.org/drawingml/2006/main">
            <a:off x="2933700" y="31432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Name the HLS architect, solution engineer, security/compliance owner and startup/partner lead.</a:t>
            </a:r>
          </a:p>
        </p:txBody>
      </p:sp>
      <p:sp>
        <p:nvSpPr>
          <p:cNvPr id="25" name="">
            <a:extLst xmlns:a="http://schemas.openxmlformats.org/drawingml/2006/main">
              <a:ext uri="{FF2B5EF4-FFF2-40B4-BE49-F238E27FC236}">
                <a16:creationId xmlns:a16="http://schemas.microsoft.com/office/drawing/2014/main" id="{6998096E-3187-445E-A969-B7EB9D7AB170}"/>
              </a:ext>
            </a:extLst>
          </p:cNvPr>
          <p:cNvSpPr>
            <a:spLocks xmlns:a="http://schemas.openxmlformats.org/drawingml/2006/main" noGrp="1"/>
          </p:cNvSpPr>
          <p:nvPr/>
        </p:nvSpPr>
        <p:spPr>
          <a:xfrm xmlns:a="http://schemas.openxmlformats.org/drawingml/2006/main">
            <a:off x="609600" y="3886200"/>
            <a:ext cx="1097280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CE3EC"/>
            </a:solidFill>
            <a:prstDash val="solid"/>
          </a:ln>
        </p:spPr>
      </p:sp>
      <p:sp>
        <p:nvSpPr>
          <p:cNvPr id="26" name="">
            <a:extLst xmlns:a="http://schemas.openxmlformats.org/drawingml/2006/main">
              <a:ext uri="{FF2B5EF4-FFF2-40B4-BE49-F238E27FC236}">
                <a16:creationId xmlns:a16="http://schemas.microsoft.com/office/drawing/2014/main" id="{7D41C6D9-C409-4EBF-B0C5-CC918A417FCA}"/>
              </a:ext>
            </a:extLst>
          </p:cNvPr>
          <p:cNvSpPr>
            <a:spLocks xmlns:a="http://schemas.openxmlformats.org/drawingml/2006/main" noGrp="1"/>
          </p:cNvSpPr>
          <p:nvPr/>
        </p:nvSpPr>
        <p:spPr>
          <a:xfrm xmlns:a="http://schemas.openxmlformats.org/drawingml/2006/main">
            <a:off x="609600" y="388620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27" name="">
            <a:extLst xmlns:a="http://schemas.openxmlformats.org/drawingml/2006/main">
              <a:ext uri="{FF2B5EF4-FFF2-40B4-BE49-F238E27FC236}">
                <a16:creationId xmlns:a16="http://schemas.microsoft.com/office/drawing/2014/main" id="{7B71AFDB-4CD5-4CFB-B0E5-2BB9B9D83DAB}"/>
              </a:ext>
            </a:extLst>
          </p:cNvPr>
          <p:cNvSpPr>
            <a:spLocks xmlns:a="http://schemas.openxmlformats.org/drawingml/2006/main" noGrp="1"/>
          </p:cNvSpPr>
          <p:nvPr/>
        </p:nvSpPr>
        <p:spPr>
          <a:xfrm xmlns:a="http://schemas.openxmlformats.org/drawingml/2006/main">
            <a:off x="876300" y="404812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03</a:t>
            </a:r>
          </a:p>
        </p:txBody>
      </p:sp>
      <p:sp>
        <p:nvSpPr>
          <p:cNvPr id="28" name="">
            <a:extLst xmlns:a="http://schemas.openxmlformats.org/drawingml/2006/main">
              <a:ext uri="{FF2B5EF4-FFF2-40B4-BE49-F238E27FC236}">
                <a16:creationId xmlns:a16="http://schemas.microsoft.com/office/drawing/2014/main" id="{526552BC-641A-4F99-B1FE-B996772F38D4}"/>
              </a:ext>
            </a:extLst>
          </p:cNvPr>
          <p:cNvSpPr>
            <a:spLocks xmlns:a="http://schemas.openxmlformats.org/drawingml/2006/main" noGrp="1"/>
          </p:cNvSpPr>
          <p:nvPr/>
        </p:nvSpPr>
        <p:spPr>
          <a:xfrm xmlns:a="http://schemas.openxmlformats.org/drawingml/2006/main">
            <a:off x="1524000" y="406717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ACCOUNTS</a:t>
            </a:r>
          </a:p>
        </p:txBody>
      </p:sp>
      <p:sp>
        <p:nvSpPr>
          <p:cNvPr id="29" name="">
            <a:extLst xmlns:a="http://schemas.openxmlformats.org/drawingml/2006/main">
              <a:ext uri="{FF2B5EF4-FFF2-40B4-BE49-F238E27FC236}">
                <a16:creationId xmlns:a16="http://schemas.microsoft.com/office/drawing/2014/main" id="{2395D098-8FB3-49F6-980F-113B072E2C0F}"/>
              </a:ext>
            </a:extLst>
          </p:cNvPr>
          <p:cNvSpPr>
            <a:spLocks xmlns:a="http://schemas.openxmlformats.org/drawingml/2006/main" noGrp="1"/>
          </p:cNvSpPr>
          <p:nvPr/>
        </p:nvSpPr>
        <p:spPr>
          <a:xfrm xmlns:a="http://schemas.openxmlformats.org/drawingml/2006/main">
            <a:off x="2933700" y="403860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Select one payer/TPA account team to validate dental data and unmet need before any introduction.</a:t>
            </a:r>
          </a:p>
        </p:txBody>
      </p:sp>
      <p:sp>
        <p:nvSpPr>
          <p:cNvPr id="30" name="">
            <a:extLst xmlns:a="http://schemas.openxmlformats.org/drawingml/2006/main">
              <a:ext uri="{FF2B5EF4-FFF2-40B4-BE49-F238E27FC236}">
                <a16:creationId xmlns:a16="http://schemas.microsoft.com/office/drawing/2014/main" id="{ED7A55EB-76C2-4CD0-8782-8573356551F3}"/>
              </a:ext>
            </a:extLst>
          </p:cNvPr>
          <p:cNvSpPr>
            <a:spLocks xmlns:a="http://schemas.openxmlformats.org/drawingml/2006/main" noGrp="1"/>
          </p:cNvSpPr>
          <p:nvPr/>
        </p:nvSpPr>
        <p:spPr>
          <a:xfrm xmlns:a="http://schemas.openxmlformats.org/drawingml/2006/main">
            <a:off x="609600" y="4781550"/>
            <a:ext cx="10972800" cy="685800"/>
          </a:xfrm>
          <a:prstGeom xmlns:a="http://schemas.openxmlformats.org/drawingml/2006/main" prst="roundRect">
            <a:avLst>
              <a:gd name="adj" fmla="val 11111"/>
            </a:avLst>
          </a:prstGeom>
          <a:solidFill xmlns:a="http://schemas.openxmlformats.org/drawingml/2006/main">
            <a:srgbClr val="FAFBFC"/>
          </a:solidFill>
          <a:ln xmlns:a="http://schemas.openxmlformats.org/drawingml/2006/main" w="9525">
            <a:solidFill>
              <a:srgbClr val="DCE3EC"/>
            </a:solidFill>
            <a:prstDash val="solid"/>
          </a:ln>
        </p:spPr>
      </p:sp>
      <p:sp>
        <p:nvSpPr>
          <p:cNvPr id="31" name="">
            <a:extLst xmlns:a="http://schemas.openxmlformats.org/drawingml/2006/main">
              <a:ext uri="{FF2B5EF4-FFF2-40B4-BE49-F238E27FC236}">
                <a16:creationId xmlns:a16="http://schemas.microsoft.com/office/drawing/2014/main" id="{FB1C01D5-8F5C-47F1-822D-7154211B3DBD}"/>
              </a:ext>
            </a:extLst>
          </p:cNvPr>
          <p:cNvSpPr>
            <a:spLocks xmlns:a="http://schemas.openxmlformats.org/drawingml/2006/main" noGrp="1"/>
          </p:cNvSpPr>
          <p:nvPr/>
        </p:nvSpPr>
        <p:spPr>
          <a:xfrm xmlns:a="http://schemas.openxmlformats.org/drawingml/2006/main">
            <a:off x="609600" y="4781550"/>
            <a:ext cx="76200" cy="68580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32" name="">
            <a:extLst xmlns:a="http://schemas.openxmlformats.org/drawingml/2006/main">
              <a:ext uri="{FF2B5EF4-FFF2-40B4-BE49-F238E27FC236}">
                <a16:creationId xmlns:a16="http://schemas.microsoft.com/office/drawing/2014/main" id="{20821F09-4953-46AF-925B-365418C8BB64}"/>
              </a:ext>
            </a:extLst>
          </p:cNvPr>
          <p:cNvSpPr>
            <a:spLocks xmlns:a="http://schemas.openxmlformats.org/drawingml/2006/main" noGrp="1"/>
          </p:cNvSpPr>
          <p:nvPr/>
        </p:nvSpPr>
        <p:spPr>
          <a:xfrm xmlns:a="http://schemas.openxmlformats.org/drawingml/2006/main">
            <a:off x="876300" y="4943475"/>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29B5E8"/>
                </a:solidFill>
              </a:defRPr>
            </a:pPr>
            <a:r>
              <a:rPr sz="1650" b="1" i="0">
                <a:solidFill>
                  <a:srgbClr val="29B5E8"/>
                </a:solidFill>
              </a:rPr>
              <a:t>04</a:t>
            </a:r>
          </a:p>
        </p:txBody>
      </p:sp>
      <p:sp>
        <p:nvSpPr>
          <p:cNvPr id="33" name="">
            <a:extLst xmlns:a="http://schemas.openxmlformats.org/drawingml/2006/main">
              <a:ext uri="{FF2B5EF4-FFF2-40B4-BE49-F238E27FC236}">
                <a16:creationId xmlns:a16="http://schemas.microsoft.com/office/drawing/2014/main" id="{126074E1-2E14-48AB-97F3-F8BC89569FB3}"/>
              </a:ext>
            </a:extLst>
          </p:cNvPr>
          <p:cNvSpPr>
            <a:spLocks xmlns:a="http://schemas.openxmlformats.org/drawingml/2006/main" noGrp="1"/>
          </p:cNvSpPr>
          <p:nvPr/>
        </p:nvSpPr>
        <p:spPr>
          <a:xfrm xmlns:a="http://schemas.openxmlformats.org/drawingml/2006/main">
            <a:off x="1524000" y="4962525"/>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B2A4A"/>
                </a:solidFill>
              </a:defRPr>
            </a:pPr>
            <a:r>
              <a:rPr sz="1350" b="1" i="0">
                <a:solidFill>
                  <a:srgbClr val="1B2A4A"/>
                </a:solidFill>
              </a:rPr>
              <a:t>PATH</a:t>
            </a:r>
          </a:p>
        </p:txBody>
      </p:sp>
      <p:sp>
        <p:nvSpPr>
          <p:cNvPr id="34" name="">
            <a:extLst xmlns:a="http://schemas.openxmlformats.org/drawingml/2006/main">
              <a:ext uri="{FF2B5EF4-FFF2-40B4-BE49-F238E27FC236}">
                <a16:creationId xmlns:a16="http://schemas.microsoft.com/office/drawing/2014/main" id="{97BC0DBD-2B6F-4AC4-9768-8F76EEFF58ED}"/>
              </a:ext>
            </a:extLst>
          </p:cNvPr>
          <p:cNvSpPr>
            <a:spLocks xmlns:a="http://schemas.openxmlformats.org/drawingml/2006/main" noGrp="1"/>
          </p:cNvSpPr>
          <p:nvPr/>
        </p:nvSpPr>
        <p:spPr>
          <a:xfrm xmlns:a="http://schemas.openxmlformats.org/drawingml/2006/main">
            <a:off x="2933700" y="4933950"/>
            <a:ext cx="834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38" b="0" i="0">
                <a:solidFill>
                  <a:srgbClr val="152238"/>
                </a:solidFill>
              </a:defRPr>
            </a:pPr>
            <a:r>
              <a:rPr sz="1238" b="0" i="0">
                <a:solidFill>
                  <a:srgbClr val="152238"/>
                </a:solidFill>
              </a:rPr>
              <a:t>Provide written credits/support scope and readiness criteria for partner, co-sell and application paths.</a:t>
            </a:r>
          </a:p>
        </p:txBody>
      </p:sp>
      <p:sp>
        <p:nvSpPr>
          <p:cNvPr id="35" name="">
            <a:extLst xmlns:a="http://schemas.openxmlformats.org/drawingml/2006/main">
              <a:ext uri="{FF2B5EF4-FFF2-40B4-BE49-F238E27FC236}">
                <a16:creationId xmlns:a16="http://schemas.microsoft.com/office/drawing/2014/main" id="{746C783E-3594-42D7-A4A1-DD437702B4D9}"/>
              </a:ext>
            </a:extLst>
          </p:cNvPr>
          <p:cNvSpPr>
            <a:spLocks xmlns:a="http://schemas.openxmlformats.org/drawingml/2006/main" noGrp="1"/>
          </p:cNvSpPr>
          <p:nvPr/>
        </p:nvSpPr>
        <p:spPr>
          <a:xfrm xmlns:a="http://schemas.openxmlformats.org/drawingml/2006/main">
            <a:off x="609600" y="5838825"/>
            <a:ext cx="10972800" cy="400050"/>
          </a:xfrm>
          <a:prstGeom xmlns:a="http://schemas.openxmlformats.org/drawingml/2006/main" prst="roundRect">
            <a:avLst>
              <a:gd name="adj" fmla="val 19048"/>
            </a:avLst>
          </a:prstGeom>
          <a:solidFill xmlns:a="http://schemas.openxmlformats.org/drawingml/2006/main">
            <a:srgbClr val="FFF0F0"/>
          </a:solidFill>
          <a:ln xmlns:a="http://schemas.openxmlformats.org/drawingml/2006/main" w="9525">
            <a:solidFill>
              <a:srgbClr val="FF7A79"/>
            </a:solidFill>
            <a:prstDash val="solid"/>
          </a:ln>
        </p:spPr>
      </p:sp>
      <p:sp>
        <p:nvSpPr>
          <p:cNvPr id="36" name="">
            <a:extLst xmlns:a="http://schemas.openxmlformats.org/drawingml/2006/main">
              <a:ext uri="{FF2B5EF4-FFF2-40B4-BE49-F238E27FC236}">
                <a16:creationId xmlns:a16="http://schemas.microsoft.com/office/drawing/2014/main" id="{8A35B07F-057D-4024-95FF-1604A16A53A9}"/>
              </a:ext>
            </a:extLst>
          </p:cNvPr>
          <p:cNvSpPr>
            <a:spLocks xmlns:a="http://schemas.openxmlformats.org/drawingml/2006/main" noGrp="1"/>
          </p:cNvSpPr>
          <p:nvPr/>
        </p:nvSpPr>
        <p:spPr>
          <a:xfrm xmlns:a="http://schemas.openxmlformats.org/drawingml/2006/main">
            <a:off x="762000" y="59340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7A79"/>
                </a:solidFill>
              </a:defRPr>
            </a:pPr>
            <a:r>
              <a:rPr sz="1125" b="1" i="0">
                <a:solidFill>
                  <a:srgbClr val="FF7A79"/>
                </a:solidFill>
              </a:rPr>
              <a:t>Not asking Snowflake for: legal opinions, compliance certification, generic customer introductions or a savings guarantee.</a:t>
            </a:r>
          </a:p>
        </p:txBody>
      </p:sp>
    </p:spTree>
    <p:extLst>
      <p:ext uri="{BB962C8B-B14F-4D97-AF65-F5344CB8AC3E}">
        <p14:creationId xmlns:p14="http://schemas.microsoft.com/office/powerpoint/2010/main" val="20426052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2913014-D770-4404-9692-1914F480B748}"/>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007A87"/>
                </a:solidFill>
              </a:defRPr>
            </a:pPr>
            <a:r>
              <a:rPr sz="825" b="1" i="0">
                <a:solidFill>
                  <a:srgbClr val="007A87"/>
                </a:solidFill>
              </a:rPr>
              <a:t>HLS GTM &amp; ARCHITECTURE PROPOSAL</a:t>
            </a:r>
          </a:p>
        </p:txBody>
      </p:sp>
      <p:sp>
        <p:nvSpPr>
          <p:cNvPr id="2" name="">
            <a:extLst xmlns:a="http://schemas.openxmlformats.org/drawingml/2006/main">
              <a:ext uri="{FF2B5EF4-FFF2-40B4-BE49-F238E27FC236}">
                <a16:creationId xmlns:a16="http://schemas.microsoft.com/office/drawing/2014/main" id="{8392DA44-CEEA-44AB-BDA0-A2AFFB5862D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CC43F707-DC58-40E2-94E7-70B1FF006A9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4ED39469-DAEA-4C8F-B588-938A75798811}"/>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96DF90EA-4FFA-4B92-A3A2-00063EB52707}"/>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A 90-Day Joint Validation Plan</a:t>
            </a:r>
          </a:p>
        </p:txBody>
      </p:sp>
      <p:sp>
        <p:nvSpPr>
          <p:cNvPr id="6" name="">
            <a:extLst xmlns:a="http://schemas.openxmlformats.org/drawingml/2006/main">
              <a:ext uri="{FF2B5EF4-FFF2-40B4-BE49-F238E27FC236}">
                <a16:creationId xmlns:a16="http://schemas.microsoft.com/office/drawing/2014/main" id="{B0D0E0F6-BDDB-4CC6-85EB-0F8BDA3E192F}"/>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The outcome is a validated architecture and one account-team use-case review, not a co-sell commitment.</a:t>
            </a:r>
          </a:p>
        </p:txBody>
      </p:sp>
      <p:sp>
        <p:nvSpPr>
          <p:cNvPr id="7" name="">
            <a:extLst xmlns:a="http://schemas.openxmlformats.org/drawingml/2006/main">
              <a:ext uri="{FF2B5EF4-FFF2-40B4-BE49-F238E27FC236}">
                <a16:creationId xmlns:a16="http://schemas.microsoft.com/office/drawing/2014/main" id="{47493EAB-5ABA-4AD0-96C2-708BE405C428}"/>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38BA8C69-3BB3-4E98-B2AC-9277D77C3D6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9" name="">
            <a:extLst xmlns:a="http://schemas.openxmlformats.org/drawingml/2006/main">
              <a:ext uri="{FF2B5EF4-FFF2-40B4-BE49-F238E27FC236}">
                <a16:creationId xmlns:a16="http://schemas.microsoft.com/office/drawing/2014/main" id="{39222DCC-2E46-4338-B341-13A70E2B5E0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882a173ab0f4ba6"/>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7F474CA-8B80-4E9E-BC88-F9EAA77F46F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8826ce1d7ce4ae4"/>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C5B49389-BC5A-4198-9884-D9EAE9587E77}"/>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092C7224-8B12-457C-BB42-63E0DEB82321}"/>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09</a:t>
            </a:r>
          </a:p>
        </p:txBody>
      </p:sp>
      <p:sp>
        <p:nvSpPr>
          <p:cNvPr id="15" name="">
            <a:extLst xmlns:a="http://schemas.openxmlformats.org/drawingml/2006/main">
              <a:ext uri="{FF2B5EF4-FFF2-40B4-BE49-F238E27FC236}">
                <a16:creationId xmlns:a16="http://schemas.microsoft.com/office/drawing/2014/main" id="{CB29672D-59A2-46C8-B354-33A976B0C1D9}"/>
              </a:ext>
            </a:extLst>
          </p:cNvPr>
          <p:cNvSpPr>
            <a:spLocks xmlns:a="http://schemas.openxmlformats.org/drawingml/2006/main" noGrp="1"/>
          </p:cNvSpPr>
          <p:nvPr/>
        </p:nvSpPr>
        <p:spPr>
          <a:xfrm xmlns:a="http://schemas.openxmlformats.org/drawingml/2006/main">
            <a:off x="609600" y="2076450"/>
            <a:ext cx="2400300" cy="2152650"/>
          </a:xfrm>
          <a:prstGeom xmlns:a="http://schemas.openxmlformats.org/drawingml/2006/main" prst="roundRect">
            <a:avLst>
              <a:gd name="adj" fmla="val 3540"/>
            </a:avLst>
          </a:prstGeom>
          <a:solidFill xmlns:a="http://schemas.openxmlformats.org/drawingml/2006/main">
            <a:srgbClr val="E8F5F5"/>
          </a:solidFill>
          <a:ln xmlns:a="http://schemas.openxmlformats.org/drawingml/2006/main" w="19050">
            <a:solidFill>
              <a:srgbClr val="007A87"/>
            </a:solidFill>
            <a:prstDash val="solid"/>
          </a:ln>
        </p:spPr>
      </p:sp>
      <p:sp>
        <p:nvSpPr>
          <p:cNvPr id="16" name="">
            <a:extLst xmlns:a="http://schemas.openxmlformats.org/drawingml/2006/main">
              <a:ext uri="{FF2B5EF4-FFF2-40B4-BE49-F238E27FC236}">
                <a16:creationId xmlns:a16="http://schemas.microsoft.com/office/drawing/2014/main" id="{CB9834E8-2EC3-472C-8DC6-F0ABD5D1AFEA}"/>
              </a:ext>
            </a:extLst>
          </p:cNvPr>
          <p:cNvSpPr>
            <a:spLocks xmlns:a="http://schemas.openxmlformats.org/drawingml/2006/main" noGrp="1"/>
          </p:cNvSpPr>
          <p:nvPr/>
        </p:nvSpPr>
        <p:spPr>
          <a:xfrm xmlns:a="http://schemas.openxmlformats.org/drawingml/2006/main">
            <a:off x="3381375" y="2076450"/>
            <a:ext cx="2400300" cy="2152650"/>
          </a:xfrm>
          <a:prstGeom xmlns:a="http://schemas.openxmlformats.org/drawingml/2006/main" prst="roundRect">
            <a:avLst>
              <a:gd name="adj" fmla="val 3540"/>
            </a:avLst>
          </a:prstGeom>
          <a:solidFill xmlns:a="http://schemas.openxmlformats.org/drawingml/2006/main">
            <a:srgbClr val="EAF7FC"/>
          </a:solidFill>
          <a:ln xmlns:a="http://schemas.openxmlformats.org/drawingml/2006/main" w="19050">
            <a:solidFill>
              <a:srgbClr val="29B5E8"/>
            </a:solidFill>
            <a:prstDash val="solid"/>
          </a:ln>
        </p:spPr>
      </p:sp>
      <p:sp>
        <p:nvSpPr>
          <p:cNvPr id="17" name="">
            <a:extLst xmlns:a="http://schemas.openxmlformats.org/drawingml/2006/main">
              <a:ext uri="{FF2B5EF4-FFF2-40B4-BE49-F238E27FC236}">
                <a16:creationId xmlns:a16="http://schemas.microsoft.com/office/drawing/2014/main" id="{9B01FD01-D2BF-4268-91C1-AC9B5D622456}"/>
              </a:ext>
            </a:extLst>
          </p:cNvPr>
          <p:cNvSpPr>
            <a:spLocks xmlns:a="http://schemas.openxmlformats.org/drawingml/2006/main" noGrp="1"/>
          </p:cNvSpPr>
          <p:nvPr/>
        </p:nvSpPr>
        <p:spPr>
          <a:xfrm xmlns:a="http://schemas.openxmlformats.org/drawingml/2006/main">
            <a:off x="6153150" y="2076450"/>
            <a:ext cx="2400300" cy="2152650"/>
          </a:xfrm>
          <a:prstGeom xmlns:a="http://schemas.openxmlformats.org/drawingml/2006/main" prst="roundRect">
            <a:avLst>
              <a:gd name="adj" fmla="val 3540"/>
            </a:avLst>
          </a:prstGeom>
          <a:solidFill xmlns:a="http://schemas.openxmlformats.org/drawingml/2006/main">
            <a:srgbClr val="FFF0F0"/>
          </a:solidFill>
          <a:ln xmlns:a="http://schemas.openxmlformats.org/drawingml/2006/main" w="19050">
            <a:solidFill>
              <a:srgbClr val="FF7A79"/>
            </a:solidFill>
            <a:prstDash val="solid"/>
          </a:ln>
        </p:spPr>
      </p:sp>
      <p:sp>
        <p:nvSpPr>
          <p:cNvPr id="18" name="">
            <a:extLst xmlns:a="http://schemas.openxmlformats.org/drawingml/2006/main">
              <a:ext uri="{FF2B5EF4-FFF2-40B4-BE49-F238E27FC236}">
                <a16:creationId xmlns:a16="http://schemas.microsoft.com/office/drawing/2014/main" id="{B5A82B0B-5A4C-4678-850D-3B122A41B142}"/>
              </a:ext>
            </a:extLst>
          </p:cNvPr>
          <p:cNvSpPr>
            <a:spLocks xmlns:a="http://schemas.openxmlformats.org/drawingml/2006/main" noGrp="1"/>
          </p:cNvSpPr>
          <p:nvPr/>
        </p:nvSpPr>
        <p:spPr>
          <a:xfrm xmlns:a="http://schemas.openxmlformats.org/drawingml/2006/main">
            <a:off x="8924925" y="2076450"/>
            <a:ext cx="2400300" cy="2152650"/>
          </a:xfrm>
          <a:prstGeom xmlns:a="http://schemas.openxmlformats.org/drawingml/2006/main" prst="roundRect">
            <a:avLst>
              <a:gd name="adj" fmla="val 3540"/>
            </a:avLst>
          </a:prstGeom>
          <a:solidFill xmlns:a="http://schemas.openxmlformats.org/drawingml/2006/main">
            <a:srgbClr val="FFF7E8"/>
          </a:solidFill>
          <a:ln xmlns:a="http://schemas.openxmlformats.org/drawingml/2006/main" w="19050">
            <a:solidFill>
              <a:srgbClr val="D99A24"/>
            </a:solidFill>
            <a:prstDash val="solid"/>
          </a:ln>
        </p:spPr>
      </p:sp>
      <p:cxnSp>
        <p:nvCxnSpPr>
          <p:cNvPr id="54" name=""/>
          <p:cNvCxnSpPr>
            <a:stCxn xmlns:a="http://schemas.openxmlformats.org/drawingml/2006/main" id="15" idx="3"/>
            <a:endCxn xmlns:a="http://schemas.openxmlformats.org/drawingml/2006/main" id="16" idx="1"/>
          </p:cNvCxnSpPr>
          <p:nvPr/>
        </p:nvCxnSpPr>
        <p:spPr>
          <a:xfrm xmlns:a="http://schemas.openxmlformats.org/drawingml/2006/main">
            <a:off x="3009900" y="3152775"/>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55" name=""/>
          <p:cNvCxnSpPr>
            <a:stCxn xmlns:a="http://schemas.openxmlformats.org/drawingml/2006/main" id="16" idx="3"/>
            <a:endCxn xmlns:a="http://schemas.openxmlformats.org/drawingml/2006/main" id="17" idx="1"/>
          </p:cNvCxnSpPr>
          <p:nvPr/>
        </p:nvCxnSpPr>
        <p:spPr>
          <a:xfrm xmlns:a="http://schemas.openxmlformats.org/drawingml/2006/main">
            <a:off x="5781675" y="3152775"/>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cxnSp>
        <p:nvCxnSpPr>
          <p:cNvPr id="56" name=""/>
          <p:cNvCxnSpPr>
            <a:stCxn xmlns:a="http://schemas.openxmlformats.org/drawingml/2006/main" id="17" idx="3"/>
            <a:endCxn xmlns:a="http://schemas.openxmlformats.org/drawingml/2006/main" id="18" idx="1"/>
          </p:cNvCxnSpPr>
          <p:nvPr/>
        </p:nvCxnSpPr>
        <p:spPr>
          <a:xfrm xmlns:a="http://schemas.openxmlformats.org/drawingml/2006/main">
            <a:off x="8553450" y="3152775"/>
            <a:ext cx="371475" cy="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22" name="">
            <a:extLst xmlns:a="http://schemas.openxmlformats.org/drawingml/2006/main">
              <a:ext uri="{FF2B5EF4-FFF2-40B4-BE49-F238E27FC236}">
                <a16:creationId xmlns:a16="http://schemas.microsoft.com/office/drawing/2014/main" id="{6A3E4154-4A2B-46E7-857F-A02ECEE0832F}"/>
              </a:ext>
            </a:extLst>
          </p:cNvPr>
          <p:cNvSpPr>
            <a:spLocks xmlns:a="http://schemas.openxmlformats.org/drawingml/2006/main" noGrp="1"/>
          </p:cNvSpPr>
          <p:nvPr/>
        </p:nvSpPr>
        <p:spPr>
          <a:xfrm xmlns:a="http://schemas.openxmlformats.org/drawingml/2006/main">
            <a:off x="781050"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007A87"/>
                </a:solidFill>
              </a:defRPr>
            </a:pPr>
            <a:r>
              <a:rPr sz="900" b="1" i="0">
                <a:solidFill>
                  <a:srgbClr val="007A87"/>
                </a:solidFill>
              </a:rPr>
              <a:t>DAYS 0-30</a:t>
            </a:r>
          </a:p>
        </p:txBody>
      </p:sp>
      <p:sp>
        <p:nvSpPr>
          <p:cNvPr id="23" name="">
            <a:extLst xmlns:a="http://schemas.openxmlformats.org/drawingml/2006/main">
              <a:ext uri="{FF2B5EF4-FFF2-40B4-BE49-F238E27FC236}">
                <a16:creationId xmlns:a16="http://schemas.microsoft.com/office/drawing/2014/main" id="{CC933FAD-4BC8-4AB7-B287-62B0E46CCFBF}"/>
              </a:ext>
            </a:extLst>
          </p:cNvPr>
          <p:cNvSpPr>
            <a:spLocks xmlns:a="http://schemas.openxmlformats.org/drawingml/2006/main" noGrp="1"/>
          </p:cNvSpPr>
          <p:nvPr/>
        </p:nvSpPr>
        <p:spPr>
          <a:xfrm xmlns:a="http://schemas.openxmlformats.org/drawingml/2006/main">
            <a:off x="781050"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ALIGN</a:t>
            </a:r>
          </a:p>
        </p:txBody>
      </p:sp>
      <p:sp>
        <p:nvSpPr>
          <p:cNvPr id="24" name="">
            <a:extLst xmlns:a="http://schemas.openxmlformats.org/drawingml/2006/main">
              <a:ext uri="{FF2B5EF4-FFF2-40B4-BE49-F238E27FC236}">
                <a16:creationId xmlns:a16="http://schemas.microsoft.com/office/drawing/2014/main" id="{4F4177BE-809C-4146-ACA4-69B77D186A8E}"/>
              </a:ext>
            </a:extLst>
          </p:cNvPr>
          <p:cNvSpPr>
            <a:spLocks xmlns:a="http://schemas.openxmlformats.org/drawingml/2006/main" noGrp="1"/>
          </p:cNvSpPr>
          <p:nvPr/>
        </p:nvSpPr>
        <p:spPr>
          <a:xfrm xmlns:a="http://schemas.openxmlformats.org/drawingml/2006/main">
            <a:off x="781050"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Sales play</a:t>
            </a:r>
          </a:p>
          <a:p xmlns:a="http://schemas.openxmlformats.org/drawingml/2006/main">
            <a:pPr algn="l">
              <a:defRPr sz="1125" b="0" i="0">
                <a:solidFill>
                  <a:srgbClr val="5B6B82"/>
                </a:solidFill>
              </a:defRPr>
            </a:pPr>
            <a:r>
              <a:rPr sz="1125" b="0" i="0">
                <a:solidFill>
                  <a:srgbClr val="5B6B82"/>
                </a:solidFill>
              </a:rPr>
              <a:t>Named stakeholders</a:t>
            </a:r>
          </a:p>
          <a:p xmlns:a="http://schemas.openxmlformats.org/drawingml/2006/main">
            <a:pPr algn="l">
              <a:defRPr sz="1125" b="0" i="0">
                <a:solidFill>
                  <a:srgbClr val="5B6B82"/>
                </a:solidFill>
              </a:defRPr>
            </a:pPr>
            <a:r>
              <a:rPr sz="1125" b="0" i="0">
                <a:solidFill>
                  <a:srgbClr val="5B6B82"/>
                </a:solidFill>
              </a:rPr>
              <a:t>U.S. account / region / BAA path</a:t>
            </a:r>
          </a:p>
          <a:p xmlns:a="http://schemas.openxmlformats.org/drawingml/2006/main">
            <a:pPr algn="l">
              <a:defRPr sz="1125" b="0" i="0">
                <a:solidFill>
                  <a:srgbClr val="5B6B82"/>
                </a:solidFill>
              </a:defRPr>
            </a:pPr>
            <a:r>
              <a:rPr sz="1125" b="0" i="0">
                <a:solidFill>
                  <a:srgbClr val="5B6B82"/>
                </a:solidFill>
              </a:rPr>
              <a:t>Architecture workshop</a:t>
            </a:r>
          </a:p>
        </p:txBody>
      </p:sp>
      <p:sp>
        <p:nvSpPr>
          <p:cNvPr id="25" name="">
            <a:extLst xmlns:a="http://schemas.openxmlformats.org/drawingml/2006/main">
              <a:ext uri="{FF2B5EF4-FFF2-40B4-BE49-F238E27FC236}">
                <a16:creationId xmlns:a16="http://schemas.microsoft.com/office/drawing/2014/main" id="{B3D31801-5B3F-4EC8-98D1-7C498E5477F1}"/>
              </a:ext>
            </a:extLst>
          </p:cNvPr>
          <p:cNvSpPr>
            <a:spLocks xmlns:a="http://schemas.openxmlformats.org/drawingml/2006/main" noGrp="1"/>
          </p:cNvSpPr>
          <p:nvPr/>
        </p:nvSpPr>
        <p:spPr>
          <a:xfrm xmlns:a="http://schemas.openxmlformats.org/drawingml/2006/main">
            <a:off x="3552825"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29B5E8"/>
                </a:solidFill>
              </a:defRPr>
            </a:pPr>
            <a:r>
              <a:rPr sz="900" b="1" i="0">
                <a:solidFill>
                  <a:srgbClr val="29B5E8"/>
                </a:solidFill>
              </a:rPr>
              <a:t>DAYS 31-60</a:t>
            </a:r>
          </a:p>
        </p:txBody>
      </p:sp>
      <p:sp>
        <p:nvSpPr>
          <p:cNvPr id="26" name="">
            <a:extLst xmlns:a="http://schemas.openxmlformats.org/drawingml/2006/main">
              <a:ext uri="{FF2B5EF4-FFF2-40B4-BE49-F238E27FC236}">
                <a16:creationId xmlns:a16="http://schemas.microsoft.com/office/drawing/2014/main" id="{E23CE2BF-F9D9-48C0-8CD3-AB341ADE1481}"/>
              </a:ext>
            </a:extLst>
          </p:cNvPr>
          <p:cNvSpPr>
            <a:spLocks xmlns:a="http://schemas.openxmlformats.org/drawingml/2006/main" noGrp="1"/>
          </p:cNvSpPr>
          <p:nvPr/>
        </p:nvSpPr>
        <p:spPr>
          <a:xfrm xmlns:a="http://schemas.openxmlformats.org/drawingml/2006/main">
            <a:off x="3552825"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DESIGN</a:t>
            </a:r>
          </a:p>
        </p:txBody>
      </p:sp>
      <p:sp>
        <p:nvSpPr>
          <p:cNvPr id="27" name="">
            <a:extLst xmlns:a="http://schemas.openxmlformats.org/drawingml/2006/main">
              <a:ext uri="{FF2B5EF4-FFF2-40B4-BE49-F238E27FC236}">
                <a16:creationId xmlns:a16="http://schemas.microsoft.com/office/drawing/2014/main" id="{E1891067-BE41-46FF-95A1-288A68623FF9}"/>
              </a:ext>
            </a:extLst>
          </p:cNvPr>
          <p:cNvSpPr>
            <a:spLocks xmlns:a="http://schemas.openxmlformats.org/drawingml/2006/main" noGrp="1"/>
          </p:cNvSpPr>
          <p:nvPr/>
        </p:nvSpPr>
        <p:spPr>
          <a:xfrm xmlns:a="http://schemas.openxmlformats.org/drawingml/2006/main">
            <a:off x="3552825"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Ingestion pattern</a:t>
            </a:r>
          </a:p>
          <a:p xmlns:a="http://schemas.openxmlformats.org/drawingml/2006/main">
            <a:pPr algn="l">
              <a:defRPr sz="1125" b="0" i="0">
                <a:solidFill>
                  <a:srgbClr val="5B6B82"/>
                </a:solidFill>
              </a:defRPr>
            </a:pPr>
            <a:r>
              <a:rPr sz="1125" b="0" i="0">
                <a:solidFill>
                  <a:srgbClr val="5B6B82"/>
                </a:solidFill>
              </a:rPr>
              <a:t>2.5K / 10K / 25K sizing</a:t>
            </a:r>
          </a:p>
          <a:p xmlns:a="http://schemas.openxmlformats.org/drawingml/2006/main">
            <a:pPr algn="l">
              <a:defRPr sz="1125" b="0" i="0">
                <a:solidFill>
                  <a:srgbClr val="5B6B82"/>
                </a:solidFill>
              </a:defRPr>
            </a:pPr>
            <a:r>
              <a:rPr sz="1125" b="0" i="0">
                <a:solidFill>
                  <a:srgbClr val="5B6B82"/>
                </a:solidFill>
              </a:rPr>
              <a:t>Security reference</a:t>
            </a:r>
          </a:p>
          <a:p xmlns:a="http://schemas.openxmlformats.org/drawingml/2006/main">
            <a:pPr algn="l">
              <a:defRPr sz="1125" b="0" i="0">
                <a:solidFill>
                  <a:srgbClr val="5B6B82"/>
                </a:solidFill>
              </a:defRPr>
            </a:pPr>
            <a:r>
              <a:rPr sz="1125" b="0" i="0">
                <a:solidFill>
                  <a:srgbClr val="5B6B82"/>
                </a:solidFill>
              </a:rPr>
              <a:t>Account matrix v1</a:t>
            </a:r>
          </a:p>
        </p:txBody>
      </p:sp>
      <p:sp>
        <p:nvSpPr>
          <p:cNvPr id="28" name="">
            <a:extLst xmlns:a="http://schemas.openxmlformats.org/drawingml/2006/main">
              <a:ext uri="{FF2B5EF4-FFF2-40B4-BE49-F238E27FC236}">
                <a16:creationId xmlns:a16="http://schemas.microsoft.com/office/drawing/2014/main" id="{06C50810-765E-425F-A2A0-C78F2C3DCCE0}"/>
              </a:ext>
            </a:extLst>
          </p:cNvPr>
          <p:cNvSpPr>
            <a:spLocks xmlns:a="http://schemas.openxmlformats.org/drawingml/2006/main" noGrp="1"/>
          </p:cNvSpPr>
          <p:nvPr/>
        </p:nvSpPr>
        <p:spPr>
          <a:xfrm xmlns:a="http://schemas.openxmlformats.org/drawingml/2006/main">
            <a:off x="6324600"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FF7A79"/>
                </a:solidFill>
              </a:defRPr>
            </a:pPr>
            <a:r>
              <a:rPr sz="900" b="1" i="0">
                <a:solidFill>
                  <a:srgbClr val="FF7A79"/>
                </a:solidFill>
              </a:rPr>
              <a:t>DAYS 61-90</a:t>
            </a:r>
          </a:p>
        </p:txBody>
      </p:sp>
      <p:sp>
        <p:nvSpPr>
          <p:cNvPr id="29" name="">
            <a:extLst xmlns:a="http://schemas.openxmlformats.org/drawingml/2006/main">
              <a:ext uri="{FF2B5EF4-FFF2-40B4-BE49-F238E27FC236}">
                <a16:creationId xmlns:a16="http://schemas.microsoft.com/office/drawing/2014/main" id="{6C973971-C939-4A1D-B49F-AB64A8D700B1}"/>
              </a:ext>
            </a:extLst>
          </p:cNvPr>
          <p:cNvSpPr>
            <a:spLocks xmlns:a="http://schemas.openxmlformats.org/drawingml/2006/main" noGrp="1"/>
          </p:cNvSpPr>
          <p:nvPr/>
        </p:nvSpPr>
        <p:spPr>
          <a:xfrm xmlns:a="http://schemas.openxmlformats.org/drawingml/2006/main">
            <a:off x="6324600"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VALIDATE</a:t>
            </a:r>
          </a:p>
        </p:txBody>
      </p:sp>
      <p:sp>
        <p:nvSpPr>
          <p:cNvPr id="30" name="">
            <a:extLst xmlns:a="http://schemas.openxmlformats.org/drawingml/2006/main">
              <a:ext uri="{FF2B5EF4-FFF2-40B4-BE49-F238E27FC236}">
                <a16:creationId xmlns:a16="http://schemas.microsoft.com/office/drawing/2014/main" id="{24353B11-A0EF-474D-9DE0-8ADA9A8A5E0C}"/>
              </a:ext>
            </a:extLst>
          </p:cNvPr>
          <p:cNvSpPr>
            <a:spLocks xmlns:a="http://schemas.openxmlformats.org/drawingml/2006/main" noGrp="1"/>
          </p:cNvSpPr>
          <p:nvPr/>
        </p:nvSpPr>
        <p:spPr>
          <a:xfrm xmlns:a="http://schemas.openxmlformats.org/drawingml/2006/main">
            <a:off x="6324600"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One payer/TPA account-team review</a:t>
            </a:r>
          </a:p>
          <a:p xmlns:a="http://schemas.openxmlformats.org/drawingml/2006/main">
            <a:pPr algn="l">
              <a:defRPr sz="1125" b="0" i="0">
                <a:solidFill>
                  <a:srgbClr val="5B6B82"/>
                </a:solidFill>
              </a:defRPr>
            </a:pPr>
            <a:r>
              <a:rPr sz="1125" b="0" i="0">
                <a:solidFill>
                  <a:srgbClr val="5B6B82"/>
                </a:solidFill>
              </a:rPr>
              <a:t>Partner checklist</a:t>
            </a:r>
          </a:p>
          <a:p xmlns:a="http://schemas.openxmlformats.org/drawingml/2006/main">
            <a:pPr algn="l">
              <a:defRPr sz="1125" b="0" i="0">
                <a:solidFill>
                  <a:srgbClr val="5B6B82"/>
                </a:solidFill>
              </a:defRPr>
            </a:pPr>
            <a:r>
              <a:rPr sz="1125" b="0" i="0">
                <a:solidFill>
                  <a:srgbClr val="5B6B82"/>
                </a:solidFill>
              </a:rPr>
              <a:t>Next / no-go decision</a:t>
            </a:r>
          </a:p>
        </p:txBody>
      </p:sp>
      <p:sp>
        <p:nvSpPr>
          <p:cNvPr id="31" name="">
            <a:extLst xmlns:a="http://schemas.openxmlformats.org/drawingml/2006/main">
              <a:ext uri="{FF2B5EF4-FFF2-40B4-BE49-F238E27FC236}">
                <a16:creationId xmlns:a16="http://schemas.microsoft.com/office/drawing/2014/main" id="{86D9B445-78FF-44C2-8963-849C68B2E456}"/>
              </a:ext>
            </a:extLst>
          </p:cNvPr>
          <p:cNvSpPr>
            <a:spLocks xmlns:a="http://schemas.openxmlformats.org/drawingml/2006/main" noGrp="1"/>
          </p:cNvSpPr>
          <p:nvPr/>
        </p:nvSpPr>
        <p:spPr>
          <a:xfrm xmlns:a="http://schemas.openxmlformats.org/drawingml/2006/main">
            <a:off x="9096375" y="2276475"/>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i="0">
                <a:solidFill>
                  <a:srgbClr val="D99A24"/>
                </a:solidFill>
              </a:defRPr>
            </a:pPr>
            <a:r>
              <a:rPr sz="900" b="1" i="0">
                <a:solidFill>
                  <a:srgbClr val="D99A24"/>
                </a:solidFill>
              </a:rPr>
              <a:t>CONDITIONAL</a:t>
            </a:r>
          </a:p>
        </p:txBody>
      </p:sp>
      <p:sp>
        <p:nvSpPr>
          <p:cNvPr id="32" name="">
            <a:extLst xmlns:a="http://schemas.openxmlformats.org/drawingml/2006/main">
              <a:ext uri="{FF2B5EF4-FFF2-40B4-BE49-F238E27FC236}">
                <a16:creationId xmlns:a16="http://schemas.microsoft.com/office/drawing/2014/main" id="{F0764589-9CA4-4814-9D97-D1D35158A2BA}"/>
              </a:ext>
            </a:extLst>
          </p:cNvPr>
          <p:cNvSpPr>
            <a:spLocks xmlns:a="http://schemas.openxmlformats.org/drawingml/2006/main" noGrp="1"/>
          </p:cNvSpPr>
          <p:nvPr/>
        </p:nvSpPr>
        <p:spPr>
          <a:xfrm xmlns:a="http://schemas.openxmlformats.org/drawingml/2006/main">
            <a:off x="9096375" y="260985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B2A4A"/>
                </a:solidFill>
              </a:defRPr>
            </a:pPr>
            <a:r>
              <a:rPr sz="1650" b="1" i="0">
                <a:solidFill>
                  <a:srgbClr val="1B2A4A"/>
                </a:solidFill>
              </a:rPr>
              <a:t>EXPAND</a:t>
            </a:r>
          </a:p>
        </p:txBody>
      </p:sp>
      <p:sp>
        <p:nvSpPr>
          <p:cNvPr id="33" name="">
            <a:extLst xmlns:a="http://schemas.openxmlformats.org/drawingml/2006/main">
              <a:ext uri="{FF2B5EF4-FFF2-40B4-BE49-F238E27FC236}">
                <a16:creationId xmlns:a16="http://schemas.microsoft.com/office/drawing/2014/main" id="{3242C509-6CFD-4AF1-9AF4-450C91816FA9}"/>
              </a:ext>
            </a:extLst>
          </p:cNvPr>
          <p:cNvSpPr>
            <a:spLocks xmlns:a="http://schemas.openxmlformats.org/drawingml/2006/main" noGrp="1"/>
          </p:cNvSpPr>
          <p:nvPr/>
        </p:nvSpPr>
        <p:spPr>
          <a:xfrm xmlns:a="http://schemas.openxmlformats.org/drawingml/2006/main">
            <a:off x="9096375" y="3067050"/>
            <a:ext cx="205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Native App</a:t>
            </a:r>
          </a:p>
          <a:p xmlns:a="http://schemas.openxmlformats.org/drawingml/2006/main">
            <a:pPr algn="l">
              <a:defRPr sz="1125" b="0" i="0">
                <a:solidFill>
                  <a:srgbClr val="5B6B82"/>
                </a:solidFill>
              </a:defRPr>
            </a:pPr>
            <a:r>
              <a:rPr sz="1125" b="0" i="0">
                <a:solidFill>
                  <a:srgbClr val="5B6B82"/>
                </a:solidFill>
              </a:rPr>
              <a:t>Multi-party Clean Room</a:t>
            </a:r>
          </a:p>
          <a:p xmlns:a="http://schemas.openxmlformats.org/drawingml/2006/main">
            <a:pPr algn="l">
              <a:defRPr sz="1125" b="0" i="0">
                <a:solidFill>
                  <a:srgbClr val="5B6B82"/>
                </a:solidFill>
              </a:defRPr>
            </a:pPr>
            <a:r>
              <a:rPr sz="1125" b="0" i="0">
                <a:solidFill>
                  <a:srgbClr val="5B6B82"/>
                </a:solidFill>
              </a:rPr>
              <a:t>Federated learning</a:t>
            </a:r>
          </a:p>
          <a:p xmlns:a="http://schemas.openxmlformats.org/drawingml/2006/main">
            <a:pPr algn="l">
              <a:defRPr sz="1125" b="0" i="0">
                <a:solidFill>
                  <a:srgbClr val="5B6B82"/>
                </a:solidFill>
              </a:defRPr>
            </a:pPr>
            <a:r>
              <a:rPr sz="1125" b="0" i="0">
                <a:solidFill>
                  <a:srgbClr val="5B6B82"/>
                </a:solidFill>
              </a:rPr>
              <a:t>Joint story / design partner</a:t>
            </a:r>
          </a:p>
        </p:txBody>
      </p:sp>
      <p:sp>
        <p:nvSpPr>
          <p:cNvPr id="34" name="">
            <a:extLst xmlns:a="http://schemas.openxmlformats.org/drawingml/2006/main">
              <a:ext uri="{FF2B5EF4-FFF2-40B4-BE49-F238E27FC236}">
                <a16:creationId xmlns:a16="http://schemas.microsoft.com/office/drawing/2014/main" id="{1DF490B7-A433-4F17-8DFC-0B30ABB98F00}"/>
              </a:ext>
            </a:extLst>
          </p:cNvPr>
          <p:cNvSpPr>
            <a:spLocks xmlns:a="http://schemas.openxmlformats.org/drawingml/2006/main" noGrp="1"/>
          </p:cNvSpPr>
          <p:nvPr/>
        </p:nvSpPr>
        <p:spPr>
          <a:xfrm xmlns:a="http://schemas.openxmlformats.org/drawingml/2006/main">
            <a:off x="609600" y="4591050"/>
            <a:ext cx="10972800" cy="1504950"/>
          </a:xfrm>
          <a:prstGeom xmlns:a="http://schemas.openxmlformats.org/drawingml/2006/main" prst="roundRect">
            <a:avLst>
              <a:gd name="adj" fmla="val 5063"/>
            </a:avLst>
          </a:prstGeom>
          <a:solidFill xmlns:a="http://schemas.openxmlformats.org/drawingml/2006/main">
            <a:srgbClr val="1B2A4A"/>
          </a:solidFill>
          <a:ln xmlns:a="http://schemas.openxmlformats.org/drawingml/2006/main" w="0">
            <a:solidFill>
              <a:srgbClr val="1B2A4A"/>
            </a:solidFill>
            <a:prstDash val="solid"/>
          </a:ln>
        </p:spPr>
      </p:sp>
      <p:sp>
        <p:nvSpPr>
          <p:cNvPr id="35" name="">
            <a:extLst xmlns:a="http://schemas.openxmlformats.org/drawingml/2006/main">
              <a:ext uri="{FF2B5EF4-FFF2-40B4-BE49-F238E27FC236}">
                <a16:creationId xmlns:a16="http://schemas.microsoft.com/office/drawing/2014/main" id="{4E7AE27C-D95E-4D09-A691-6D9DB8499320}"/>
              </a:ext>
            </a:extLst>
          </p:cNvPr>
          <p:cNvSpPr>
            <a:spLocks xmlns:a="http://schemas.openxmlformats.org/drawingml/2006/main" noGrp="1"/>
          </p:cNvSpPr>
          <p:nvPr/>
        </p:nvSpPr>
        <p:spPr>
          <a:xfrm xmlns:a="http://schemas.openxmlformats.org/drawingml/2006/main">
            <a:off x="914400" y="4914900"/>
            <a:ext cx="103632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We are not asking Snowflake to validate our dental AI or make ICLO compliant. We are asking Snowflake to help us determine whether this can become a repeatable, governed payer/TPA data-collaboration pattern—and what ICLO must prove to make that partnership commercially real.</a:t>
            </a:r>
          </a:p>
        </p:txBody>
      </p:sp>
    </p:spTree>
    <p:extLst>
      <p:ext uri="{BB962C8B-B14F-4D97-AF65-F5344CB8AC3E}">
        <p14:creationId xmlns:p14="http://schemas.microsoft.com/office/powerpoint/2010/main" val="17499215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63B94BD-B994-4660-909B-38F4E86CF484}"/>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F0A352F0-BFE2-448B-8126-1F799CD6C70C}"/>
              </a:ext>
            </a:extLst>
          </p:cNvPr>
          <p:cNvSpPr>
            <a:spLocks xmlns:a="http://schemas.openxmlformats.org/drawingml/2006/main" noGrp="1"/>
          </p:cNvSpPr>
          <p:nvPr/>
        </p:nvSpPr>
        <p:spPr>
          <a:xfrm xmlns:a="http://schemas.openxmlformats.org/drawingml/2006/main">
            <a:off x="7315200" y="209550"/>
            <a:ext cx="24384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7A87"/>
            </a:solidFill>
            <a:prstDash val="solid"/>
          </a:ln>
        </p:spPr>
      </p:sp>
      <p:sp>
        <p:nvSpPr>
          <p:cNvPr id="3" name="">
            <a:extLst xmlns:a="http://schemas.openxmlformats.org/drawingml/2006/main">
              <a:ext uri="{FF2B5EF4-FFF2-40B4-BE49-F238E27FC236}">
                <a16:creationId xmlns:a16="http://schemas.microsoft.com/office/drawing/2014/main" id="{E45928B0-3EDD-4F90-8B43-5D894F6C71E3}"/>
              </a:ext>
            </a:extLst>
          </p:cNvPr>
          <p:cNvSpPr>
            <a:spLocks xmlns:a="http://schemas.openxmlformats.org/drawingml/2006/main" noGrp="1"/>
          </p:cNvSpPr>
          <p:nvPr/>
        </p:nvSpPr>
        <p:spPr>
          <a:xfrm xmlns:a="http://schemas.openxmlformats.org/drawingml/2006/main">
            <a:off x="7315200" y="209550"/>
            <a:ext cx="57150" cy="285750"/>
          </a:xfrm>
          <a:prstGeom xmlns:a="http://schemas.openxmlformats.org/drawingml/2006/main" prst="rect">
            <a:avLst/>
          </a:prstGeom>
          <a:solidFill xmlns:a="http://schemas.openxmlformats.org/drawingml/2006/main">
            <a:srgbClr val="007A87"/>
          </a:solidFill>
          <a:ln xmlns:a="http://schemas.openxmlformats.org/drawingml/2006/main" w="0">
            <a:solidFill>
              <a:srgbClr val="007A87"/>
            </a:solidFill>
            <a:prstDash val="solid"/>
          </a:ln>
        </p:spPr>
      </p:sp>
      <p:sp>
        <p:nvSpPr>
          <p:cNvPr id="4" name="">
            <a:extLst xmlns:a="http://schemas.openxmlformats.org/drawingml/2006/main">
              <a:ext uri="{FF2B5EF4-FFF2-40B4-BE49-F238E27FC236}">
                <a16:creationId xmlns:a16="http://schemas.microsoft.com/office/drawing/2014/main" id="{22BF0C54-3449-45FA-9284-EA30A4D5BED6}"/>
              </a:ext>
            </a:extLst>
          </p:cNvPr>
          <p:cNvSpPr>
            <a:spLocks xmlns:a="http://schemas.openxmlformats.org/drawingml/2006/main" noGrp="1"/>
          </p:cNvSpPr>
          <p:nvPr/>
        </p:nvSpPr>
        <p:spPr>
          <a:xfrm xmlns:a="http://schemas.openxmlformats.org/drawingml/2006/main">
            <a:off x="7429500" y="257175"/>
            <a:ext cx="2266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007A87"/>
                </a:solidFill>
              </a:defRPr>
            </a:pPr>
            <a:r>
              <a:rPr sz="713" b="1" i="0">
                <a:solidFill>
                  <a:srgbClr val="007A87"/>
                </a:solidFill>
              </a:rPr>
              <a:t>ICLO PRODUCT DESIGN PRINCIPLE</a:t>
            </a:r>
          </a:p>
        </p:txBody>
      </p:sp>
      <p:sp>
        <p:nvSpPr>
          <p:cNvPr id="5" name="">
            <a:extLst xmlns:a="http://schemas.openxmlformats.org/drawingml/2006/main">
              <a:ext uri="{FF2B5EF4-FFF2-40B4-BE49-F238E27FC236}">
                <a16:creationId xmlns:a16="http://schemas.microsoft.com/office/drawing/2014/main" id="{B8D81299-4F55-4A9B-8466-D5F933A37BED}"/>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6" name="">
            <a:extLst xmlns:a="http://schemas.openxmlformats.org/drawingml/2006/main">
              <a:ext uri="{FF2B5EF4-FFF2-40B4-BE49-F238E27FC236}">
                <a16:creationId xmlns:a16="http://schemas.microsoft.com/office/drawing/2014/main" id="{F0DED2C9-C111-42C7-AF11-7B211534995A}"/>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7" name="">
            <a:extLst xmlns:a="http://schemas.openxmlformats.org/drawingml/2006/main">
              <a:ext uri="{FF2B5EF4-FFF2-40B4-BE49-F238E27FC236}">
                <a16:creationId xmlns:a16="http://schemas.microsoft.com/office/drawing/2014/main" id="{BC15329C-ADF5-40F9-B307-92ECDC96F87D}"/>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8" name="">
            <a:extLst xmlns:a="http://schemas.openxmlformats.org/drawingml/2006/main">
              <a:ext uri="{FF2B5EF4-FFF2-40B4-BE49-F238E27FC236}">
                <a16:creationId xmlns:a16="http://schemas.microsoft.com/office/drawing/2014/main" id="{97D86BA9-8C7E-4BCE-A04A-1B8765E2C110}"/>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Data and Responsibility Matrix</a:t>
            </a:r>
          </a:p>
        </p:txBody>
      </p:sp>
      <p:sp>
        <p:nvSpPr>
          <p:cNvPr id="9" name="">
            <a:extLst xmlns:a="http://schemas.openxmlformats.org/drawingml/2006/main">
              <a:ext uri="{FF2B5EF4-FFF2-40B4-BE49-F238E27FC236}">
                <a16:creationId xmlns:a16="http://schemas.microsoft.com/office/drawing/2014/main" id="{93A0C3A1-CBB5-4F40-8208-A0399275EC16}"/>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Platform responsibility, operating responsibility and legal judgment remain separate.</a:t>
            </a:r>
          </a:p>
        </p:txBody>
      </p:sp>
      <p:sp>
        <p:nvSpPr>
          <p:cNvPr id="10" name="">
            <a:extLst xmlns:a="http://schemas.openxmlformats.org/drawingml/2006/main">
              <a:ext uri="{FF2B5EF4-FFF2-40B4-BE49-F238E27FC236}">
                <a16:creationId xmlns:a16="http://schemas.microsoft.com/office/drawing/2014/main" id="{218CFACC-36FC-49C4-9E7D-70E03EC72E2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11" name="">
            <a:extLst xmlns:a="http://schemas.openxmlformats.org/drawingml/2006/main">
              <a:ext uri="{FF2B5EF4-FFF2-40B4-BE49-F238E27FC236}">
                <a16:creationId xmlns:a16="http://schemas.microsoft.com/office/drawing/2014/main" id="{8735FFD4-FF2E-4327-B9E2-F9FCAF49AE4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12" name="">
            <a:extLst xmlns:a="http://schemas.openxmlformats.org/drawingml/2006/main">
              <a:ext uri="{FF2B5EF4-FFF2-40B4-BE49-F238E27FC236}">
                <a16:creationId xmlns:a16="http://schemas.microsoft.com/office/drawing/2014/main" id="{77A375EB-EBD2-4D52-8C40-8FC162570BF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bdb002e499c4e1d"/>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9688917-E837-405C-9786-9EABFE3A3BE3}"/>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03d3b2789124f25"/>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B6F71BC3-AC5B-4679-B84A-5CABC34A98AB}"/>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7" name="">
            <a:extLst xmlns:a="http://schemas.openxmlformats.org/drawingml/2006/main">
              <a:ext uri="{FF2B5EF4-FFF2-40B4-BE49-F238E27FC236}">
                <a16:creationId xmlns:a16="http://schemas.microsoft.com/office/drawing/2014/main" id="{7F260614-0FFF-4E3A-8A07-E4B126C509CB}"/>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10</a:t>
            </a:r>
          </a:p>
        </p:txBody>
      </p:sp>
      <p:graphicFrame>
        <p:nvGraphicFramePr>
          <p:cNvPr id="36" name=""/>
          <p:cNvGraphicFramePr/>
          <p:nvPr/>
        </p:nvGraphicFramePr>
        <p:xfrm>
          <a:off xmlns:a="http://schemas.openxmlformats.org/drawingml/2006/main" x="609600" y="1952625"/>
          <a:ext xmlns:a="http://schemas.openxmlformats.org/drawingml/2006/main" cx="10972800" cy="4095750"/>
        </p:xfrm>
        <a:graphic xmlns:a="http://schemas.openxmlformats.org/drawingml/2006/main">
          <a:graphicData uri="http://schemas.openxmlformats.org/drawingml/2006/table">
            <a:tbl>
              <a:tblPr/>
              <a:tblGrid>
                <a:gridCol w="1600200"/>
                <a:gridCol w="2038350"/>
                <a:gridCol w="2381250"/>
                <a:gridCol w="2400300"/>
                <a:gridCol w="2552700"/>
              </a:tblGrid>
              <a:tr h="682625">
                <a:tc>
                  <a:txBody>
                    <a:bodyPr/>
                    <a:lstStyle/>
                    <a:p>
                      <a:r>
                        <a:rPr sz="825" b="1">
                          <a:solidFill>
                            <a:srgbClr val="FFFFFF"/>
                          </a:solidFill>
                        </a:rPr>
                        <a:t>Domain</a:t>
                      </a:r>
                    </a:p>
                  </a:txBody>
                  <a:tcPr marL="76200" marR="76200" marT="19050" marB="19050" anchor="ctr">
                    <a:solidFill>
                      <a:srgbClr val="007A87"/>
                    </a:solidFill>
                  </a:tcPr>
                </a:tc>
                <a:tc>
                  <a:txBody>
                    <a:bodyPr/>
                    <a:lstStyle/>
                    <a:p>
                      <a:r>
                        <a:rPr sz="825" b="1">
                          <a:solidFill>
                            <a:srgbClr val="FFFFFF"/>
                          </a:solidFill>
                        </a:rPr>
                        <a:t>ICLO</a:t>
                      </a:r>
                    </a:p>
                  </a:txBody>
                  <a:tcPr marL="76200" marR="76200" marT="19050" marB="19050" anchor="ctr">
                    <a:solidFill>
                      <a:srgbClr val="007A87"/>
                    </a:solidFill>
                  </a:tcPr>
                </a:tc>
                <a:tc>
                  <a:txBody>
                    <a:bodyPr/>
                    <a:lstStyle/>
                    <a:p>
                      <a:r>
                        <a:rPr sz="825" b="1">
                          <a:solidFill>
                            <a:srgbClr val="FFFFFF"/>
                          </a:solidFill>
                        </a:rPr>
                        <a:t>Employer / TPA / partner</a:t>
                      </a:r>
                    </a:p>
                  </a:txBody>
                  <a:tcPr marL="76200" marR="76200" marT="19050" marB="19050" anchor="ctr">
                    <a:solidFill>
                      <a:srgbClr val="007A87"/>
                    </a:solidFill>
                  </a:tcPr>
                </a:tc>
                <a:tc>
                  <a:txBody>
                    <a:bodyPr/>
                    <a:lstStyle/>
                    <a:p>
                      <a:r>
                        <a:rPr sz="825" b="1">
                          <a:solidFill>
                            <a:srgbClr val="FFFFFF"/>
                          </a:solidFill>
                        </a:rPr>
                        <a:t>Snowflake</a:t>
                      </a:r>
                    </a:p>
                  </a:txBody>
                  <a:tcPr marL="76200" marR="76200" marT="19050" marB="19050" anchor="ctr">
                    <a:solidFill>
                      <a:srgbClr val="007A87"/>
                    </a:solidFill>
                  </a:tcPr>
                </a:tc>
                <a:tc>
                  <a:txBody>
                    <a:bodyPr/>
                    <a:lstStyle/>
                    <a:p>
                      <a:r>
                        <a:rPr sz="825" b="1">
                          <a:solidFill>
                            <a:srgbClr val="FFFFFF"/>
                          </a:solidFill>
                        </a:rPr>
                        <a:t>Outside Snowflake scope</a:t>
                      </a:r>
                    </a:p>
                  </a:txBody>
                  <a:tcPr marL="76200" marR="76200" marT="19050" marB="19050" anchor="ctr">
                    <a:solidFill>
                      <a:srgbClr val="007A87"/>
                    </a:solidFill>
                  </a:tcPr>
                </a:tc>
              </a:tr>
              <a:tr h="682625">
                <a:tc>
                  <a:txBody>
                    <a:bodyPr/>
                    <a:lstStyle/>
                    <a:p>
                      <a:r>
                        <a:rPr sz="788">
                          <a:solidFill>
                            <a:srgbClr val="152238"/>
                          </a:solidFill>
                        </a:rPr>
                        <a:t>Employee navigation</a:t>
                      </a:r>
                    </a:p>
                  </a:txBody>
                  <a:tcPr marL="76200" marR="76200" marT="19050" marB="19050" anchor="ctr">
                    <a:solidFill>
                      <a:srgbClr val="FFFFFF"/>
                    </a:solidFill>
                  </a:tcPr>
                </a:tc>
                <a:tc>
                  <a:txBody>
                    <a:bodyPr/>
                    <a:lstStyle/>
                    <a:p>
                      <a:r>
                        <a:rPr sz="788">
                          <a:solidFill>
                            <a:srgbClr val="152238"/>
                          </a:solidFill>
                        </a:rPr>
                        <a:t>Product, events, consent UX</a:t>
                      </a:r>
                    </a:p>
                  </a:txBody>
                  <a:tcPr marL="76200" marR="76200" marT="19050" marB="19050" anchor="ctr">
                    <a:solidFill>
                      <a:srgbClr val="FFFFFF"/>
                    </a:solidFill>
                  </a:tcPr>
                </a:tc>
                <a:tc>
                  <a:txBody>
                    <a:bodyPr/>
                    <a:lstStyle/>
                    <a:p>
                      <a:r>
                        <a:rPr sz="788">
                          <a:solidFill>
                            <a:srgbClr val="152238"/>
                          </a:solidFill>
                        </a:rPr>
                        <a:t>Employee action; operational support</a:t>
                      </a:r>
                    </a:p>
                  </a:txBody>
                  <a:tcPr marL="76200" marR="76200" marT="19050" marB="19050" anchor="ctr">
                    <a:solidFill>
                      <a:srgbClr val="FFFFFF"/>
                    </a:solidFill>
                  </a:tcPr>
                </a:tc>
                <a:tc>
                  <a:txBody>
                    <a:bodyPr/>
                    <a:lstStyle/>
                    <a:p>
                      <a:r>
                        <a:rPr sz="788">
                          <a:solidFill>
                            <a:srgbClr val="152238"/>
                          </a:solidFill>
                        </a:rPr>
                        <a:t>Govern event data by purpose</a:t>
                      </a:r>
                    </a:p>
                  </a:txBody>
                  <a:tcPr marL="76200" marR="76200" marT="19050" marB="19050" anchor="ctr">
                    <a:solidFill>
                      <a:srgbClr val="FFFFFF"/>
                    </a:solidFill>
                  </a:tcPr>
                </a:tc>
                <a:tc>
                  <a:txBody>
                    <a:bodyPr/>
                    <a:lstStyle/>
                    <a:p>
                      <a:r>
                        <a:rPr sz="788" b="1">
                          <a:solidFill>
                            <a:srgbClr val="FF7A79"/>
                          </a:solidFill>
                        </a:rPr>
                        <a:t>Licensure / referral-law analysis</a:t>
                      </a:r>
                    </a:p>
                  </a:txBody>
                  <a:tcPr marL="76200" marR="76200" marT="19050" marB="19050" anchor="ctr">
                    <a:solidFill>
                      <a:srgbClr val="FFF0F0"/>
                    </a:solidFill>
                  </a:tcPr>
                </a:tc>
              </a:tr>
              <a:tr h="682625">
                <a:tc>
                  <a:txBody>
                    <a:bodyPr/>
                    <a:lstStyle/>
                    <a:p>
                      <a:r>
                        <a:rPr sz="788">
                          <a:solidFill>
                            <a:srgbClr val="152238"/>
                          </a:solidFill>
                        </a:rPr>
                        <a:t>Eligibility + plan + network</a:t>
                      </a:r>
                    </a:p>
                  </a:txBody>
                  <a:tcPr marL="76200" marR="76200" marT="19050" marB="19050" anchor="ctr">
                    <a:solidFill>
                      <a:srgbClr val="FFFFFF"/>
                    </a:solidFill>
                  </a:tcPr>
                </a:tc>
                <a:tc>
                  <a:txBody>
                    <a:bodyPr/>
                    <a:lstStyle/>
                    <a:p>
                      <a:r>
                        <a:rPr sz="788">
                          <a:solidFill>
                            <a:srgbClr val="152238"/>
                          </a:solidFill>
                        </a:rPr>
                        <a:t>Map and use context</a:t>
                      </a:r>
                    </a:p>
                  </a:txBody>
                  <a:tcPr marL="76200" marR="76200" marT="19050" marB="19050" anchor="ctr">
                    <a:solidFill>
                      <a:srgbClr val="FFFFFF"/>
                    </a:solidFill>
                  </a:tcPr>
                </a:tc>
                <a:tc>
                  <a:txBody>
                    <a:bodyPr/>
                    <a:lstStyle/>
                    <a:p>
                      <a:r>
                        <a:rPr sz="788">
                          <a:solidFill>
                            <a:srgbClr val="152238"/>
                          </a:solidFill>
                        </a:rPr>
                        <a:t>Provide under contract</a:t>
                      </a:r>
                    </a:p>
                  </a:txBody>
                  <a:tcPr marL="76200" marR="76200" marT="19050" marB="19050" anchor="ctr">
                    <a:solidFill>
                      <a:srgbClr val="FFFFFF"/>
                    </a:solidFill>
                  </a:tcPr>
                </a:tc>
                <a:tc>
                  <a:txBody>
                    <a:bodyPr/>
                    <a:lstStyle/>
                    <a:p>
                      <a:r>
                        <a:rPr sz="788">
                          <a:solidFill>
                            <a:srgbClr val="152238"/>
                          </a:solidFill>
                        </a:rPr>
                        <a:t>Canonical model + reconciliation</a:t>
                      </a:r>
                    </a:p>
                  </a:txBody>
                  <a:tcPr marL="76200" marR="76200" marT="19050" marB="19050" anchor="ctr">
                    <a:solidFill>
                      <a:srgbClr val="FFFFFF"/>
                    </a:solidFill>
                  </a:tcPr>
                </a:tc>
                <a:tc>
                  <a:txBody>
                    <a:bodyPr/>
                    <a:lstStyle/>
                    <a:p>
                      <a:r>
                        <a:rPr sz="788" b="1">
                          <a:solidFill>
                            <a:srgbClr val="FF7A79"/>
                          </a:solidFill>
                        </a:rPr>
                        <a:t>Data-rights determination</a:t>
                      </a:r>
                    </a:p>
                  </a:txBody>
                  <a:tcPr marL="76200" marR="76200" marT="19050" marB="19050" anchor="ctr">
                    <a:solidFill>
                      <a:srgbClr val="FFF0F0"/>
                    </a:solidFill>
                  </a:tcPr>
                </a:tc>
              </a:tr>
              <a:tr h="682625">
                <a:tc>
                  <a:txBody>
                    <a:bodyPr/>
                    <a:lstStyle/>
                    <a:p>
                      <a:r>
                        <a:rPr sz="788">
                          <a:solidFill>
                            <a:srgbClr val="152238"/>
                          </a:solidFill>
                        </a:rPr>
                        <a:t>Claims + outcomes</a:t>
                      </a:r>
                    </a:p>
                  </a:txBody>
                  <a:tcPr marL="76200" marR="76200" marT="19050" marB="19050" anchor="ctr">
                    <a:solidFill>
                      <a:srgbClr val="FFFFFF"/>
                    </a:solidFill>
                  </a:tcPr>
                </a:tc>
                <a:tc>
                  <a:txBody>
                    <a:bodyPr/>
                    <a:lstStyle/>
                    <a:p>
                      <a:r>
                        <a:rPr sz="788">
                          <a:solidFill>
                            <a:srgbClr val="152238"/>
                          </a:solidFill>
                        </a:rPr>
                        <a:t>Attribution logic</a:t>
                      </a:r>
                    </a:p>
                  </a:txBody>
                  <a:tcPr marL="76200" marR="76200" marT="19050" marB="19050" anchor="ctr">
                    <a:solidFill>
                      <a:srgbClr val="FFFFFF"/>
                    </a:solidFill>
                  </a:tcPr>
                </a:tc>
                <a:tc>
                  <a:txBody>
                    <a:bodyPr/>
                    <a:lstStyle/>
                    <a:p>
                      <a:r>
                        <a:rPr sz="788">
                          <a:solidFill>
                            <a:srgbClr val="152238"/>
                          </a:solidFill>
                        </a:rPr>
                        <a:t>Claims, run-out, completion</a:t>
                      </a:r>
                    </a:p>
                  </a:txBody>
                  <a:tcPr marL="76200" marR="76200" marT="19050" marB="19050" anchor="ctr">
                    <a:solidFill>
                      <a:srgbClr val="FFFFFF"/>
                    </a:solidFill>
                  </a:tcPr>
                </a:tc>
                <a:tc>
                  <a:txBody>
                    <a:bodyPr/>
                    <a:lstStyle/>
                    <a:p>
                      <a:r>
                        <a:rPr sz="788">
                          <a:solidFill>
                            <a:srgbClr val="152238"/>
                          </a:solidFill>
                        </a:rPr>
                        <a:t>Aggregate calculation + access</a:t>
                      </a:r>
                    </a:p>
                  </a:txBody>
                  <a:tcPr marL="76200" marR="76200" marT="19050" marB="19050" anchor="ctr">
                    <a:solidFill>
                      <a:srgbClr val="FFFFFF"/>
                    </a:solidFill>
                  </a:tcPr>
                </a:tc>
                <a:tc>
                  <a:txBody>
                    <a:bodyPr/>
                    <a:lstStyle/>
                    <a:p>
                      <a:r>
                        <a:rPr sz="788" b="1">
                          <a:solidFill>
                            <a:srgbClr val="FF7A79"/>
                          </a:solidFill>
                        </a:rPr>
                        <a:t>Savings validation</a:t>
                      </a:r>
                    </a:p>
                  </a:txBody>
                  <a:tcPr marL="76200" marR="76200" marT="19050" marB="19050" anchor="ctr">
                    <a:solidFill>
                      <a:srgbClr val="FFF0F0"/>
                    </a:solidFill>
                  </a:tcPr>
                </a:tc>
              </a:tr>
              <a:tr h="682625">
                <a:tc>
                  <a:txBody>
                    <a:bodyPr/>
                    <a:lstStyle/>
                    <a:p>
                      <a:r>
                        <a:rPr sz="788">
                          <a:solidFill>
                            <a:srgbClr val="152238"/>
                          </a:solidFill>
                        </a:rPr>
                        <a:t>Raw images + models</a:t>
                      </a:r>
                    </a:p>
                  </a:txBody>
                  <a:tcPr marL="76200" marR="76200" marT="19050" marB="19050" anchor="ctr">
                    <a:solidFill>
                      <a:srgbClr val="FFFFFF"/>
                    </a:solidFill>
                  </a:tcPr>
                </a:tc>
                <a:tc>
                  <a:txBody>
                    <a:bodyPr/>
                    <a:lstStyle/>
                    <a:p>
                      <a:r>
                        <a:rPr sz="788">
                          <a:solidFill>
                            <a:srgbClr val="152238"/>
                          </a:solidFill>
                        </a:rPr>
                        <a:t>Vault, inference, validation</a:t>
                      </a:r>
                    </a:p>
                  </a:txBody>
                  <a:tcPr marL="76200" marR="76200" marT="19050" marB="19050" anchor="ctr">
                    <a:solidFill>
                      <a:srgbClr val="FFFFFF"/>
                    </a:solidFill>
                  </a:tcPr>
                </a:tc>
                <a:tc>
                  <a:txBody>
                    <a:bodyPr/>
                    <a:lstStyle/>
                    <a:p>
                      <a:r>
                        <a:rPr sz="788">
                          <a:solidFill>
                            <a:srgbClr val="152238"/>
                          </a:solidFill>
                        </a:rPr>
                        <a:t>Clinical role as applicable</a:t>
                      </a:r>
                    </a:p>
                  </a:txBody>
                  <a:tcPr marL="76200" marR="76200" marT="19050" marB="19050" anchor="ctr">
                    <a:solidFill>
                      <a:srgbClr val="FFFFFF"/>
                    </a:solidFill>
                  </a:tcPr>
                </a:tc>
                <a:tc>
                  <a:txBody>
                    <a:bodyPr/>
                    <a:lstStyle/>
                    <a:p>
                      <a:r>
                        <a:rPr sz="788">
                          <a:solidFill>
                            <a:srgbClr val="152238"/>
                          </a:solidFill>
                        </a:rPr>
                        <a:t>URI + metadata + approved signal</a:t>
                      </a:r>
                    </a:p>
                  </a:txBody>
                  <a:tcPr marL="76200" marR="76200" marT="19050" marB="19050" anchor="ctr">
                    <a:solidFill>
                      <a:srgbClr val="FFFFFF"/>
                    </a:solidFill>
                  </a:tcPr>
                </a:tc>
                <a:tc>
                  <a:txBody>
                    <a:bodyPr/>
                    <a:lstStyle/>
                    <a:p>
                      <a:r>
                        <a:rPr sz="788" b="1">
                          <a:solidFill>
                            <a:srgbClr val="FF7A79"/>
                          </a:solidFill>
                        </a:rPr>
                        <a:t>Model endpoint validation</a:t>
                      </a:r>
                    </a:p>
                  </a:txBody>
                  <a:tcPr marL="76200" marR="76200" marT="19050" marB="19050" anchor="ctr">
                    <a:solidFill>
                      <a:srgbClr val="FFF0F0"/>
                    </a:solidFill>
                  </a:tcPr>
                </a:tc>
              </a:tr>
              <a:tr h="682625">
                <a:tc>
                  <a:txBody>
                    <a:bodyPr/>
                    <a:lstStyle/>
                    <a:p>
                      <a:r>
                        <a:rPr sz="788">
                          <a:solidFill>
                            <a:srgbClr val="152238"/>
                          </a:solidFill>
                        </a:rPr>
                        <a:t>Governance + compliance</a:t>
                      </a:r>
                    </a:p>
                  </a:txBody>
                  <a:tcPr marL="76200" marR="76200" marT="19050" marB="19050" anchor="ctr">
                    <a:solidFill>
                      <a:srgbClr val="FFFFFF"/>
                    </a:solidFill>
                  </a:tcPr>
                </a:tc>
                <a:tc>
                  <a:txBody>
                    <a:bodyPr/>
                    <a:lstStyle/>
                    <a:p>
                      <a:r>
                        <a:rPr sz="788">
                          <a:solidFill>
                            <a:srgbClr val="152238"/>
                          </a:solidFill>
                        </a:rPr>
                        <a:t>App controls + incident operations</a:t>
                      </a:r>
                    </a:p>
                  </a:txBody>
                  <a:tcPr marL="76200" marR="76200" marT="19050" marB="19050" anchor="ctr">
                    <a:solidFill>
                      <a:srgbClr val="FFFFFF"/>
                    </a:solidFill>
                  </a:tcPr>
                </a:tc>
                <a:tc>
                  <a:txBody>
                    <a:bodyPr/>
                    <a:lstStyle/>
                    <a:p>
                      <a:r>
                        <a:rPr sz="788">
                          <a:solidFill>
                            <a:srgbClr val="152238"/>
                          </a:solidFill>
                        </a:rPr>
                        <a:t>Source-system controls</a:t>
                      </a:r>
                    </a:p>
                  </a:txBody>
                  <a:tcPr marL="76200" marR="76200" marT="19050" marB="19050" anchor="ctr">
                    <a:solidFill>
                      <a:srgbClr val="FFFFFF"/>
                    </a:solidFill>
                  </a:tcPr>
                </a:tc>
                <a:tc>
                  <a:txBody>
                    <a:bodyPr/>
                    <a:lstStyle/>
                    <a:p>
                      <a:r>
                        <a:rPr sz="788">
                          <a:solidFill>
                            <a:srgbClr val="152238"/>
                          </a:solidFill>
                        </a:rPr>
                        <a:t>RBAC, masking, row policy, history</a:t>
                      </a:r>
                    </a:p>
                  </a:txBody>
                  <a:tcPr marL="76200" marR="76200" marT="19050" marB="19050" anchor="ctr">
                    <a:solidFill>
                      <a:srgbClr val="FFFFFF"/>
                    </a:solidFill>
                  </a:tcPr>
                </a:tc>
                <a:tc>
                  <a:txBody>
                    <a:bodyPr/>
                    <a:lstStyle/>
                    <a:p>
                      <a:r>
                        <a:rPr sz="788" b="1">
                          <a:solidFill>
                            <a:srgbClr val="FF7A79"/>
                          </a:solidFill>
                        </a:rPr>
                        <a:t>ICLO-wide compliance conclusion</a:t>
                      </a:r>
                    </a:p>
                  </a:txBody>
                  <a:tcPr marL="76200" marR="76200" marT="19050" marB="19050" anchor="ctr">
                    <a:solidFill>
                      <a:srgbClr val="FFF0F0"/>
                    </a:solidFill>
                  </a:tcPr>
                </a:tc>
              </a:tr>
            </a:tbl>
          </a:graphicData>
        </a:graphic>
      </p:graphicFrame>
    </p:spTree>
    <p:extLst>
      <p:ext uri="{BB962C8B-B14F-4D97-AF65-F5344CB8AC3E}">
        <p14:creationId xmlns:p14="http://schemas.microsoft.com/office/powerpoint/2010/main" val="21234324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A56177F-AFB1-41AA-A271-161DF683308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C2791EFA-F310-42AB-B74C-76B69114F9C7}"/>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6A556E10-AD9D-4DF9-8A9B-1CB5C7001681}"/>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DCC0FE70-442F-4396-BE5E-E2626B603155}"/>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C2D50D41-1643-4A2E-AC09-78F14ACF6C86}"/>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Detailed Snowflake Technical Questions</a:t>
            </a:r>
          </a:p>
        </p:txBody>
      </p:sp>
      <p:sp>
        <p:nvSpPr>
          <p:cNvPr id="6" name="">
            <a:extLst xmlns:a="http://schemas.openxmlformats.org/drawingml/2006/main">
              <a:ext uri="{FF2B5EF4-FFF2-40B4-BE49-F238E27FC236}">
                <a16:creationId xmlns:a16="http://schemas.microsoft.com/office/drawing/2014/main" id="{D47F81AF-BA8B-4528-A978-B9883B842237}"/>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Resolve the pilot pattern first; treat application packaging and multi-party ML as conditional.</a:t>
            </a:r>
          </a:p>
        </p:txBody>
      </p:sp>
      <p:sp>
        <p:nvSpPr>
          <p:cNvPr id="7" name="">
            <a:extLst xmlns:a="http://schemas.openxmlformats.org/drawingml/2006/main">
              <a:ext uri="{FF2B5EF4-FFF2-40B4-BE49-F238E27FC236}">
                <a16:creationId xmlns:a16="http://schemas.microsoft.com/office/drawing/2014/main" id="{187FA335-5CFE-4C13-BE96-62E81233F00D}"/>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F2E977D7-44A8-4E83-9EAC-47F0D455F18F}"/>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3DA659A-85F5-44CE-912D-89D05AFC60A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03e78a43c6e14bce"/>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322B111-9A98-4875-B081-16B56B0351D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c4229e4ea59049c8"/>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94F03A2-FD49-4A27-A82F-8D8BA8353D83}"/>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8E2571BD-B994-4BC9-BA3E-D44109BA82BC}"/>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11</a:t>
            </a:r>
          </a:p>
        </p:txBody>
      </p:sp>
      <p:sp>
        <p:nvSpPr>
          <p:cNvPr id="15" name="">
            <a:extLst xmlns:a="http://schemas.openxmlformats.org/drawingml/2006/main">
              <a:ext uri="{FF2B5EF4-FFF2-40B4-BE49-F238E27FC236}">
                <a16:creationId xmlns:a16="http://schemas.microsoft.com/office/drawing/2014/main" id="{7732A9A6-96B1-4568-B3D3-5A991AB21D92}"/>
              </a:ext>
            </a:extLst>
          </p:cNvPr>
          <p:cNvSpPr>
            <a:spLocks xmlns:a="http://schemas.openxmlformats.org/drawingml/2006/main" noGrp="1"/>
          </p:cNvSpPr>
          <p:nvPr/>
        </p:nvSpPr>
        <p:spPr>
          <a:xfrm xmlns:a="http://schemas.openxmlformats.org/drawingml/2006/main">
            <a:off x="609600" y="19907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PRIORITY NOW</a:t>
            </a:r>
          </a:p>
        </p:txBody>
      </p:sp>
      <p:sp>
        <p:nvSpPr>
          <p:cNvPr id="16" name="">
            <a:extLst xmlns:a="http://schemas.openxmlformats.org/drawingml/2006/main">
              <a:ext uri="{FF2B5EF4-FFF2-40B4-BE49-F238E27FC236}">
                <a16:creationId xmlns:a16="http://schemas.microsoft.com/office/drawing/2014/main" id="{6328A8B7-9FF0-489B-8D1F-85C3543DC8DB}"/>
              </a:ext>
            </a:extLst>
          </p:cNvPr>
          <p:cNvSpPr>
            <a:spLocks xmlns:a="http://schemas.openxmlformats.org/drawingml/2006/main" noGrp="1"/>
          </p:cNvSpPr>
          <p:nvPr/>
        </p:nvSpPr>
        <p:spPr>
          <a:xfrm xmlns:a="http://schemas.openxmlformats.org/drawingml/2006/main">
            <a:off x="609600" y="23812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17" name="">
            <a:extLst xmlns:a="http://schemas.openxmlformats.org/drawingml/2006/main">
              <a:ext uri="{FF2B5EF4-FFF2-40B4-BE49-F238E27FC236}">
                <a16:creationId xmlns:a16="http://schemas.microsoft.com/office/drawing/2014/main" id="{4AABAA59-EC9F-4C1C-A44F-4E29E33FAF95}"/>
              </a:ext>
            </a:extLst>
          </p:cNvPr>
          <p:cNvSpPr>
            <a:spLocks xmlns:a="http://schemas.openxmlformats.org/drawingml/2006/main" noGrp="1"/>
          </p:cNvSpPr>
          <p:nvPr/>
        </p:nvSpPr>
        <p:spPr>
          <a:xfrm xmlns:a="http://schemas.openxmlformats.org/drawingml/2006/main">
            <a:off x="609600" y="2409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1</a:t>
            </a:r>
          </a:p>
        </p:txBody>
      </p:sp>
      <p:sp>
        <p:nvSpPr>
          <p:cNvPr id="18" name="">
            <a:extLst xmlns:a="http://schemas.openxmlformats.org/drawingml/2006/main">
              <a:ext uri="{FF2B5EF4-FFF2-40B4-BE49-F238E27FC236}">
                <a16:creationId xmlns:a16="http://schemas.microsoft.com/office/drawing/2014/main" id="{C7DFD1A7-0D6F-45FD-9892-8D6F233420E3}"/>
              </a:ext>
            </a:extLst>
          </p:cNvPr>
          <p:cNvSpPr>
            <a:spLocks xmlns:a="http://schemas.openxmlformats.org/drawingml/2006/main" noGrp="1"/>
          </p:cNvSpPr>
          <p:nvPr/>
        </p:nvSpPr>
        <p:spPr>
          <a:xfrm xmlns:a="http://schemas.openxmlformats.org/drawingml/2006/main">
            <a:off x="1028700" y="2381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is the practical U.S. account, cloud/region, Business Critical and BAA path?</a:t>
            </a:r>
          </a:p>
        </p:txBody>
      </p:sp>
      <p:sp>
        <p:nvSpPr>
          <p:cNvPr id="19" name="">
            <a:extLst xmlns:a="http://schemas.openxmlformats.org/drawingml/2006/main">
              <a:ext uri="{FF2B5EF4-FFF2-40B4-BE49-F238E27FC236}">
                <a16:creationId xmlns:a16="http://schemas.microsoft.com/office/drawing/2014/main" id="{CD37B683-1A89-4BB9-ADD5-03BD6DAACA0A}"/>
              </a:ext>
            </a:extLst>
          </p:cNvPr>
          <p:cNvSpPr>
            <a:spLocks xmlns:a="http://schemas.openxmlformats.org/drawingml/2006/main" noGrp="1"/>
          </p:cNvSpPr>
          <p:nvPr/>
        </p:nvSpPr>
        <p:spPr>
          <a:xfrm xmlns:a="http://schemas.openxmlformats.org/drawingml/2006/main">
            <a:off x="609600" y="304800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0" name="">
            <a:extLst xmlns:a="http://schemas.openxmlformats.org/drawingml/2006/main">
              <a:ext uri="{FF2B5EF4-FFF2-40B4-BE49-F238E27FC236}">
                <a16:creationId xmlns:a16="http://schemas.microsoft.com/office/drawing/2014/main" id="{6330CFE8-84DA-4BF6-A63B-7975B82A8012}"/>
              </a:ext>
            </a:extLst>
          </p:cNvPr>
          <p:cNvSpPr>
            <a:spLocks xmlns:a="http://schemas.openxmlformats.org/drawingml/2006/main" noGrp="1"/>
          </p:cNvSpPr>
          <p:nvPr/>
        </p:nvSpPr>
        <p:spPr>
          <a:xfrm xmlns:a="http://schemas.openxmlformats.org/drawingml/2006/main">
            <a:off x="609600" y="30765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2</a:t>
            </a:r>
          </a:p>
        </p:txBody>
      </p:sp>
      <p:sp>
        <p:nvSpPr>
          <p:cNvPr id="21" name="">
            <a:extLst xmlns:a="http://schemas.openxmlformats.org/drawingml/2006/main">
              <a:ext uri="{FF2B5EF4-FFF2-40B4-BE49-F238E27FC236}">
                <a16:creationId xmlns:a16="http://schemas.microsoft.com/office/drawing/2014/main" id="{B56B080F-6F2E-4184-8DDC-66A2024674AA}"/>
              </a:ext>
            </a:extLst>
          </p:cNvPr>
          <p:cNvSpPr>
            <a:spLocks xmlns:a="http://schemas.openxmlformats.org/drawingml/2006/main" noGrp="1"/>
          </p:cNvSpPr>
          <p:nvPr/>
        </p:nvSpPr>
        <p:spPr>
          <a:xfrm xmlns:a="http://schemas.openxmlformats.org/drawingml/2006/main">
            <a:off x="1028700" y="30480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When should we use same-region Direct Share versus controlled SFTP/API staging?</a:t>
            </a:r>
          </a:p>
        </p:txBody>
      </p:sp>
      <p:sp>
        <p:nvSpPr>
          <p:cNvPr id="22" name="">
            <a:extLst xmlns:a="http://schemas.openxmlformats.org/drawingml/2006/main">
              <a:ext uri="{FF2B5EF4-FFF2-40B4-BE49-F238E27FC236}">
                <a16:creationId xmlns:a16="http://schemas.microsoft.com/office/drawing/2014/main" id="{1B2F570B-4755-48D8-83A1-178EE64F2D31}"/>
              </a:ext>
            </a:extLst>
          </p:cNvPr>
          <p:cNvSpPr>
            <a:spLocks xmlns:a="http://schemas.openxmlformats.org/drawingml/2006/main" noGrp="1"/>
          </p:cNvSpPr>
          <p:nvPr/>
        </p:nvSpPr>
        <p:spPr>
          <a:xfrm xmlns:a="http://schemas.openxmlformats.org/drawingml/2006/main">
            <a:off x="609600" y="37147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3" name="">
            <a:extLst xmlns:a="http://schemas.openxmlformats.org/drawingml/2006/main">
              <a:ext uri="{FF2B5EF4-FFF2-40B4-BE49-F238E27FC236}">
                <a16:creationId xmlns:a16="http://schemas.microsoft.com/office/drawing/2014/main" id="{4C297286-EE39-44AE-ADA6-DAB33502D71C}"/>
              </a:ext>
            </a:extLst>
          </p:cNvPr>
          <p:cNvSpPr>
            <a:spLocks xmlns:a="http://schemas.openxmlformats.org/drawingml/2006/main" noGrp="1"/>
          </p:cNvSpPr>
          <p:nvPr/>
        </p:nvSpPr>
        <p:spPr>
          <a:xfrm xmlns:a="http://schemas.openxmlformats.org/drawingml/2006/main">
            <a:off x="609600" y="37433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3</a:t>
            </a:r>
          </a:p>
        </p:txBody>
      </p:sp>
      <p:sp>
        <p:nvSpPr>
          <p:cNvPr id="24" name="">
            <a:extLst xmlns:a="http://schemas.openxmlformats.org/drawingml/2006/main">
              <a:ext uri="{FF2B5EF4-FFF2-40B4-BE49-F238E27FC236}">
                <a16:creationId xmlns:a16="http://schemas.microsoft.com/office/drawing/2014/main" id="{5DA42092-9C2A-45F2-B11C-3F87948F5F54}"/>
              </a:ext>
            </a:extLst>
          </p:cNvPr>
          <p:cNvSpPr>
            <a:spLocks xmlns:a="http://schemas.openxmlformats.org/drawingml/2006/main" noGrp="1"/>
          </p:cNvSpPr>
          <p:nvPr/>
        </p:nvSpPr>
        <p:spPr>
          <a:xfrm xmlns:a="http://schemas.openxmlformats.org/drawingml/2006/main">
            <a:off x="1028700" y="37147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tenancy, purpose-access, masking, row-policy and access-history pattern do you recommend?</a:t>
            </a:r>
          </a:p>
        </p:txBody>
      </p:sp>
      <p:sp>
        <p:nvSpPr>
          <p:cNvPr id="25" name="">
            <a:extLst xmlns:a="http://schemas.openxmlformats.org/drawingml/2006/main">
              <a:ext uri="{FF2B5EF4-FFF2-40B4-BE49-F238E27FC236}">
                <a16:creationId xmlns:a16="http://schemas.microsoft.com/office/drawing/2014/main" id="{7ED774C8-5D5C-4600-88D0-27D8E075D1B6}"/>
              </a:ext>
            </a:extLst>
          </p:cNvPr>
          <p:cNvSpPr>
            <a:spLocks xmlns:a="http://schemas.openxmlformats.org/drawingml/2006/main" noGrp="1"/>
          </p:cNvSpPr>
          <p:nvPr/>
        </p:nvSpPr>
        <p:spPr>
          <a:xfrm xmlns:a="http://schemas.openxmlformats.org/drawingml/2006/main">
            <a:off x="609600" y="438150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6" name="">
            <a:extLst xmlns:a="http://schemas.openxmlformats.org/drawingml/2006/main">
              <a:ext uri="{FF2B5EF4-FFF2-40B4-BE49-F238E27FC236}">
                <a16:creationId xmlns:a16="http://schemas.microsoft.com/office/drawing/2014/main" id="{CF1AA69E-7F25-43DD-933C-FDE98D2A4E24}"/>
              </a:ext>
            </a:extLst>
          </p:cNvPr>
          <p:cNvSpPr>
            <a:spLocks xmlns:a="http://schemas.openxmlformats.org/drawingml/2006/main" noGrp="1"/>
          </p:cNvSpPr>
          <p:nvPr/>
        </p:nvSpPr>
        <p:spPr>
          <a:xfrm xmlns:a="http://schemas.openxmlformats.org/drawingml/2006/main">
            <a:off x="609600" y="441007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4</a:t>
            </a:r>
          </a:p>
        </p:txBody>
      </p:sp>
      <p:sp>
        <p:nvSpPr>
          <p:cNvPr id="27" name="">
            <a:extLst xmlns:a="http://schemas.openxmlformats.org/drawingml/2006/main">
              <a:ext uri="{FF2B5EF4-FFF2-40B4-BE49-F238E27FC236}">
                <a16:creationId xmlns:a16="http://schemas.microsoft.com/office/drawing/2014/main" id="{562AB4BD-A366-4541-A937-4D7DB64FF480}"/>
              </a:ext>
            </a:extLst>
          </p:cNvPr>
          <p:cNvSpPr>
            <a:spLocks xmlns:a="http://schemas.openxmlformats.org/drawingml/2006/main" noGrp="1"/>
          </p:cNvSpPr>
          <p:nvPr/>
        </p:nvSpPr>
        <p:spPr>
          <a:xfrm xmlns:a="http://schemas.openxmlformats.org/drawingml/2006/main">
            <a:off x="1028700" y="438150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How should we size 2.5K / 10K / 25K populations and measure post-credit unit economics?</a:t>
            </a:r>
          </a:p>
        </p:txBody>
      </p:sp>
      <p:sp>
        <p:nvSpPr>
          <p:cNvPr id="28" name="">
            <a:extLst xmlns:a="http://schemas.openxmlformats.org/drawingml/2006/main">
              <a:ext uri="{FF2B5EF4-FFF2-40B4-BE49-F238E27FC236}">
                <a16:creationId xmlns:a16="http://schemas.microsoft.com/office/drawing/2014/main" id="{9989CC95-3D8F-4CC4-994E-65E63BAE5F20}"/>
              </a:ext>
            </a:extLst>
          </p:cNvPr>
          <p:cNvSpPr>
            <a:spLocks xmlns:a="http://schemas.openxmlformats.org/drawingml/2006/main" noGrp="1"/>
          </p:cNvSpPr>
          <p:nvPr/>
        </p:nvSpPr>
        <p:spPr>
          <a:xfrm xmlns:a="http://schemas.openxmlformats.org/drawingml/2006/main">
            <a:off x="609600" y="5048250"/>
            <a:ext cx="266700" cy="2667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29" name="">
            <a:extLst xmlns:a="http://schemas.openxmlformats.org/drawingml/2006/main">
              <a:ext uri="{FF2B5EF4-FFF2-40B4-BE49-F238E27FC236}">
                <a16:creationId xmlns:a16="http://schemas.microsoft.com/office/drawing/2014/main" id="{7A0C903B-80E0-42F9-A333-6C4B65D21044}"/>
              </a:ext>
            </a:extLst>
          </p:cNvPr>
          <p:cNvSpPr>
            <a:spLocks xmlns:a="http://schemas.openxmlformats.org/drawingml/2006/main" noGrp="1"/>
          </p:cNvSpPr>
          <p:nvPr/>
        </p:nvSpPr>
        <p:spPr>
          <a:xfrm xmlns:a="http://schemas.openxmlformats.org/drawingml/2006/main">
            <a:off x="609600" y="5076825"/>
            <a:ext cx="266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5</a:t>
            </a:r>
          </a:p>
        </p:txBody>
      </p:sp>
      <p:sp>
        <p:nvSpPr>
          <p:cNvPr id="30" name="">
            <a:extLst xmlns:a="http://schemas.openxmlformats.org/drawingml/2006/main">
              <a:ext uri="{FF2B5EF4-FFF2-40B4-BE49-F238E27FC236}">
                <a16:creationId xmlns:a16="http://schemas.microsoft.com/office/drawing/2014/main" id="{B0DB2893-8350-498E-A804-95D29397E5E1}"/>
              </a:ext>
            </a:extLst>
          </p:cNvPr>
          <p:cNvSpPr>
            <a:spLocks xmlns:a="http://schemas.openxmlformats.org/drawingml/2006/main" noGrp="1"/>
          </p:cNvSpPr>
          <p:nvPr/>
        </p:nvSpPr>
        <p:spPr>
          <a:xfrm xmlns:a="http://schemas.openxmlformats.org/drawingml/2006/main">
            <a:off x="1028700" y="5048250"/>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152238"/>
                </a:solidFill>
              </a:defRPr>
            </a:pPr>
            <a:r>
              <a:rPr sz="1163" b="0" i="0">
                <a:solidFill>
                  <a:srgbClr val="152238"/>
                </a:solidFill>
              </a:rPr>
              <a:t>What must ICLO prove for startup, partner, Powered by Snowflake or co-sell readiness?</a:t>
            </a:r>
          </a:p>
        </p:txBody>
      </p:sp>
      <p:sp>
        <p:nvSpPr>
          <p:cNvPr id="31" name="">
            <a:extLst xmlns:a="http://schemas.openxmlformats.org/drawingml/2006/main">
              <a:ext uri="{FF2B5EF4-FFF2-40B4-BE49-F238E27FC236}">
                <a16:creationId xmlns:a16="http://schemas.microsoft.com/office/drawing/2014/main" id="{65461505-7886-438C-9076-436036BC5A2B}"/>
              </a:ext>
            </a:extLst>
          </p:cNvPr>
          <p:cNvSpPr>
            <a:spLocks xmlns:a="http://schemas.openxmlformats.org/drawingml/2006/main" noGrp="1"/>
          </p:cNvSpPr>
          <p:nvPr/>
        </p:nvSpPr>
        <p:spPr>
          <a:xfrm xmlns:a="http://schemas.openxmlformats.org/drawingml/2006/main">
            <a:off x="6286500" y="1924050"/>
            <a:ext cx="5295900" cy="4095750"/>
          </a:xfrm>
          <a:prstGeom xmlns:a="http://schemas.openxmlformats.org/drawingml/2006/main" prst="roundRect">
            <a:avLst>
              <a:gd name="adj" fmla="val 1860"/>
            </a:avLst>
          </a:prstGeom>
          <a:solidFill xmlns:a="http://schemas.openxmlformats.org/drawingml/2006/main">
            <a:srgbClr val="FFF7E8"/>
          </a:solidFill>
          <a:ln xmlns:a="http://schemas.openxmlformats.org/drawingml/2006/main" w="14288">
            <a:solidFill>
              <a:srgbClr val="D99A24"/>
            </a:solidFill>
            <a:prstDash val="solid"/>
          </a:ln>
        </p:spPr>
      </p:sp>
      <p:sp>
        <p:nvSpPr>
          <p:cNvPr id="32" name="">
            <a:extLst xmlns:a="http://schemas.openxmlformats.org/drawingml/2006/main">
              <a:ext uri="{FF2B5EF4-FFF2-40B4-BE49-F238E27FC236}">
                <a16:creationId xmlns:a16="http://schemas.microsoft.com/office/drawing/2014/main" id="{34201D38-56FE-49D0-B0BC-47818F0A0EF8}"/>
              </a:ext>
            </a:extLst>
          </p:cNvPr>
          <p:cNvSpPr>
            <a:spLocks xmlns:a="http://schemas.openxmlformats.org/drawingml/2006/main" noGrp="1"/>
          </p:cNvSpPr>
          <p:nvPr/>
        </p:nvSpPr>
        <p:spPr>
          <a:xfrm xmlns:a="http://schemas.openxmlformats.org/drawingml/2006/main">
            <a:off x="6534150" y="211455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D99A24"/>
                </a:solidFill>
              </a:defRPr>
            </a:pPr>
            <a:r>
              <a:rPr sz="1200" b="1" i="0">
                <a:solidFill>
                  <a:srgbClr val="D99A24"/>
                </a:solidFill>
              </a:rPr>
              <a:t>CONDITIONAL / LATER</a:t>
            </a:r>
          </a:p>
        </p:txBody>
      </p:sp>
      <p:sp>
        <p:nvSpPr>
          <p:cNvPr id="33" name="">
            <a:extLst xmlns:a="http://schemas.openxmlformats.org/drawingml/2006/main">
              <a:ext uri="{FF2B5EF4-FFF2-40B4-BE49-F238E27FC236}">
                <a16:creationId xmlns:a16="http://schemas.microsoft.com/office/drawing/2014/main" id="{30DC109F-718A-4F1B-BDF5-A1911F4CE64E}"/>
              </a:ext>
            </a:extLst>
          </p:cNvPr>
          <p:cNvSpPr>
            <a:spLocks xmlns:a="http://schemas.openxmlformats.org/drawingml/2006/main" noGrp="1"/>
          </p:cNvSpPr>
          <p:nvPr/>
        </p:nvSpPr>
        <p:spPr>
          <a:xfrm xmlns:a="http://schemas.openxmlformats.org/drawingml/2006/main">
            <a:off x="6534150" y="25717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Native App</a:t>
            </a:r>
          </a:p>
        </p:txBody>
      </p:sp>
      <p:sp>
        <p:nvSpPr>
          <p:cNvPr id="34" name="">
            <a:extLst xmlns:a="http://schemas.openxmlformats.org/drawingml/2006/main">
              <a:ext uri="{FF2B5EF4-FFF2-40B4-BE49-F238E27FC236}">
                <a16:creationId xmlns:a16="http://schemas.microsoft.com/office/drawing/2014/main" id="{C9E234A1-55DA-4BD5-B67A-FC884BC95743}"/>
              </a:ext>
            </a:extLst>
          </p:cNvPr>
          <p:cNvSpPr>
            <a:spLocks xmlns:a="http://schemas.openxmlformats.org/drawingml/2006/main" noGrp="1"/>
          </p:cNvSpPr>
          <p:nvPr/>
        </p:nvSpPr>
        <p:spPr>
          <a:xfrm xmlns:a="http://schemas.openxmlformats.org/drawingml/2006/main">
            <a:off x="6534150" y="28765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When does customer-account execution create repeatability beyond a connector pattern?</a:t>
            </a:r>
          </a:p>
        </p:txBody>
      </p:sp>
      <p:sp>
        <p:nvSpPr>
          <p:cNvPr id="35" name="">
            <a:extLst xmlns:a="http://schemas.openxmlformats.org/drawingml/2006/main">
              <a:ext uri="{FF2B5EF4-FFF2-40B4-BE49-F238E27FC236}">
                <a16:creationId xmlns:a16="http://schemas.microsoft.com/office/drawing/2014/main" id="{06DDE29B-CCEA-48CF-8FAC-CC5A9FA95C03}"/>
              </a:ext>
            </a:extLst>
          </p:cNvPr>
          <p:cNvSpPr>
            <a:spLocks xmlns:a="http://schemas.openxmlformats.org/drawingml/2006/main" noGrp="1"/>
          </p:cNvSpPr>
          <p:nvPr/>
        </p:nvSpPr>
        <p:spPr>
          <a:xfrm xmlns:a="http://schemas.openxmlformats.org/drawingml/2006/main">
            <a:off x="6534150" y="34766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Clean Room</a:t>
            </a:r>
          </a:p>
        </p:txBody>
      </p:sp>
      <p:sp>
        <p:nvSpPr>
          <p:cNvPr id="36" name="">
            <a:extLst xmlns:a="http://schemas.openxmlformats.org/drawingml/2006/main">
              <a:ext uri="{FF2B5EF4-FFF2-40B4-BE49-F238E27FC236}">
                <a16:creationId xmlns:a16="http://schemas.microsoft.com/office/drawing/2014/main" id="{520CDC96-95F6-4DB1-B272-BCAE3DEBEF07}"/>
              </a:ext>
            </a:extLst>
          </p:cNvPr>
          <p:cNvSpPr>
            <a:spLocks xmlns:a="http://schemas.openxmlformats.org/drawingml/2006/main" noGrp="1"/>
          </p:cNvSpPr>
          <p:nvPr/>
        </p:nvSpPr>
        <p:spPr>
          <a:xfrm xmlns:a="http://schemas.openxmlformats.org/drawingml/2006/main">
            <a:off x="6534150" y="3781425"/>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What real multi-party payer / TPA / employer collaboration would justify it?</a:t>
            </a:r>
          </a:p>
        </p:txBody>
      </p:sp>
      <p:sp>
        <p:nvSpPr>
          <p:cNvPr id="37" name="">
            <a:extLst xmlns:a="http://schemas.openxmlformats.org/drawingml/2006/main">
              <a:ext uri="{FF2B5EF4-FFF2-40B4-BE49-F238E27FC236}">
                <a16:creationId xmlns:a16="http://schemas.microsoft.com/office/drawing/2014/main" id="{6F9916FA-12D0-45FE-8A14-1C1C57E083B8}"/>
              </a:ext>
            </a:extLst>
          </p:cNvPr>
          <p:cNvSpPr>
            <a:spLocks xmlns:a="http://schemas.openxmlformats.org/drawingml/2006/main" noGrp="1"/>
          </p:cNvSpPr>
          <p:nvPr/>
        </p:nvSpPr>
        <p:spPr>
          <a:xfrm xmlns:a="http://schemas.openxmlformats.org/drawingml/2006/main">
            <a:off x="6534150" y="43624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1B2A4A"/>
                </a:solidFill>
              </a:defRPr>
            </a:pPr>
            <a:r>
              <a:rPr sz="1275" b="1" i="0">
                <a:solidFill>
                  <a:srgbClr val="1B2A4A"/>
                </a:solidFill>
              </a:rPr>
              <a:t>Federated learning</a:t>
            </a:r>
          </a:p>
        </p:txBody>
      </p:sp>
      <p:sp>
        <p:nvSpPr>
          <p:cNvPr id="38" name="">
            <a:extLst xmlns:a="http://schemas.openxmlformats.org/drawingml/2006/main">
              <a:ext uri="{FF2B5EF4-FFF2-40B4-BE49-F238E27FC236}">
                <a16:creationId xmlns:a16="http://schemas.microsoft.com/office/drawing/2014/main" id="{C8B72BC5-7E1F-42A3-94E5-80B5B0062A3F}"/>
              </a:ext>
            </a:extLst>
          </p:cNvPr>
          <p:cNvSpPr>
            <a:spLocks xmlns:a="http://schemas.openxmlformats.org/drawingml/2006/main" noGrp="1"/>
          </p:cNvSpPr>
          <p:nvPr/>
        </p:nvSpPr>
        <p:spPr>
          <a:xfrm xmlns:a="http://schemas.openxmlformats.org/drawingml/2006/main">
            <a:off x="6534150" y="46672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5B6B82"/>
                </a:solidFill>
              </a:defRPr>
            </a:pPr>
            <a:r>
              <a:rPr sz="1125" b="0" i="0">
                <a:solidFill>
                  <a:srgbClr val="5B6B82"/>
                </a:solidFill>
              </a:rPr>
              <a:t>Does this mean true local training and parameter aggregation, or collaborative ML inside a Clean Room, Native App or customer-account execution pattern?</a:t>
            </a:r>
          </a:p>
        </p:txBody>
      </p:sp>
      <p:sp>
        <p:nvSpPr>
          <p:cNvPr id="39" name="">
            <a:extLst xmlns:a="http://schemas.openxmlformats.org/drawingml/2006/main">
              <a:ext uri="{FF2B5EF4-FFF2-40B4-BE49-F238E27FC236}">
                <a16:creationId xmlns:a16="http://schemas.microsoft.com/office/drawing/2014/main" id="{216BE996-3BEF-4040-874E-03E826C2F696}"/>
              </a:ext>
            </a:extLst>
          </p:cNvPr>
          <p:cNvSpPr>
            <a:spLocks xmlns:a="http://schemas.openxmlformats.org/drawingml/2006/main" noGrp="1"/>
          </p:cNvSpPr>
          <p:nvPr/>
        </p:nvSpPr>
        <p:spPr>
          <a:xfrm xmlns:a="http://schemas.openxmlformats.org/drawingml/2006/main">
            <a:off x="6534150" y="561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D99A24"/>
                </a:solidFill>
              </a:defRPr>
            </a:pPr>
            <a:r>
              <a:rPr sz="1050" b="1" i="0">
                <a:solidFill>
                  <a:srgbClr val="D99A24"/>
                </a:solidFill>
              </a:rPr>
              <a:t>Not required for the first employer pilot.</a:t>
            </a:r>
          </a:p>
        </p:txBody>
      </p:sp>
    </p:spTree>
    <p:extLst>
      <p:ext uri="{BB962C8B-B14F-4D97-AF65-F5344CB8AC3E}">
        <p14:creationId xmlns:p14="http://schemas.microsoft.com/office/powerpoint/2010/main" val="10068169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B9CE6896-357D-4887-8AD5-539EE92D2EF7}"/>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517EEE67-6F43-4558-A3B4-85BDA1AE3C74}"/>
              </a:ext>
            </a:extLst>
          </p:cNvPr>
          <p:cNvSpPr>
            <a:spLocks xmlns:a="http://schemas.openxmlformats.org/drawingml/2006/main" noGrp="1"/>
          </p:cNvSpPr>
          <p:nvPr/>
        </p:nvSpPr>
        <p:spPr>
          <a:xfrm xmlns:a="http://schemas.openxmlformats.org/drawingml/2006/main">
            <a:off x="9220200" y="209550"/>
            <a:ext cx="23622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D99A24"/>
            </a:solidFill>
            <a:prstDash val="solid"/>
          </a:ln>
        </p:spPr>
      </p:sp>
      <p:sp>
        <p:nvSpPr>
          <p:cNvPr id="3" name="">
            <a:extLst xmlns:a="http://schemas.openxmlformats.org/drawingml/2006/main">
              <a:ext uri="{FF2B5EF4-FFF2-40B4-BE49-F238E27FC236}">
                <a16:creationId xmlns:a16="http://schemas.microsoft.com/office/drawing/2014/main" id="{FCE7B058-9485-431B-8039-131A790F87CB}"/>
              </a:ext>
            </a:extLst>
          </p:cNvPr>
          <p:cNvSpPr>
            <a:spLocks xmlns:a="http://schemas.openxmlformats.org/drawingml/2006/main" noGrp="1"/>
          </p:cNvSpPr>
          <p:nvPr/>
        </p:nvSpPr>
        <p:spPr>
          <a:xfrm xmlns:a="http://schemas.openxmlformats.org/drawingml/2006/main">
            <a:off x="9220200" y="209550"/>
            <a:ext cx="57150" cy="285750"/>
          </a:xfrm>
          <a:prstGeom xmlns:a="http://schemas.openxmlformats.org/drawingml/2006/main" prst="rect">
            <a:avLst/>
          </a:prstGeom>
          <a:solidFill xmlns:a="http://schemas.openxmlformats.org/drawingml/2006/main">
            <a:srgbClr val="D99A24"/>
          </a:solidFill>
          <a:ln xmlns:a="http://schemas.openxmlformats.org/drawingml/2006/main" w="0">
            <a:solidFill>
              <a:srgbClr val="D99A24"/>
            </a:solidFill>
            <a:prstDash val="solid"/>
          </a:ln>
        </p:spPr>
      </p:sp>
      <p:sp>
        <p:nvSpPr>
          <p:cNvPr id="4" name="">
            <a:extLst xmlns:a="http://schemas.openxmlformats.org/drawingml/2006/main">
              <a:ext uri="{FF2B5EF4-FFF2-40B4-BE49-F238E27FC236}">
                <a16:creationId xmlns:a16="http://schemas.microsoft.com/office/drawing/2014/main" id="{280EE7BD-3659-4AAA-861F-4AB14A65BF43}"/>
              </a:ext>
            </a:extLst>
          </p:cNvPr>
          <p:cNvSpPr>
            <a:spLocks xmlns:a="http://schemas.openxmlformats.org/drawingml/2006/main" noGrp="1"/>
          </p:cNvSpPr>
          <p:nvPr/>
        </p:nvSpPr>
        <p:spPr>
          <a:xfrm xmlns:a="http://schemas.openxmlformats.org/drawingml/2006/main">
            <a:off x="9334500" y="257175"/>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D99A24"/>
                </a:solidFill>
              </a:defRPr>
            </a:pPr>
            <a:r>
              <a:rPr sz="713" b="1" i="0">
                <a:solidFill>
                  <a:srgbClr val="D99A24"/>
                </a:solidFill>
              </a:rPr>
              <a:t>HYPOTHESIS / TO BE VALIDATED</a:t>
            </a:r>
          </a:p>
        </p:txBody>
      </p:sp>
      <p:sp>
        <p:nvSpPr>
          <p:cNvPr id="5" name="">
            <a:extLst xmlns:a="http://schemas.openxmlformats.org/drawingml/2006/main">
              <a:ext uri="{FF2B5EF4-FFF2-40B4-BE49-F238E27FC236}">
                <a16:creationId xmlns:a16="http://schemas.microsoft.com/office/drawing/2014/main" id="{AAC4E150-78A0-49F2-8025-93AC78A38508}"/>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Employer J-Curve Simulation - Inputs and Outputs</a:t>
            </a:r>
          </a:p>
        </p:txBody>
      </p:sp>
      <p:sp>
        <p:nvSpPr>
          <p:cNvPr id="6" name="">
            <a:extLst xmlns:a="http://schemas.openxmlformats.org/drawingml/2006/main">
              <a:ext uri="{FF2B5EF4-FFF2-40B4-BE49-F238E27FC236}">
                <a16:creationId xmlns:a16="http://schemas.microsoft.com/office/drawing/2014/main" id="{27704D2F-5B37-4914-BDDA-77C89071048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A governed planning heuristic should expose assumptions, scenario versions and uncertainty.</a:t>
            </a:r>
          </a:p>
        </p:txBody>
      </p:sp>
      <p:sp>
        <p:nvSpPr>
          <p:cNvPr id="7" name="">
            <a:extLst xmlns:a="http://schemas.openxmlformats.org/drawingml/2006/main">
              <a:ext uri="{FF2B5EF4-FFF2-40B4-BE49-F238E27FC236}">
                <a16:creationId xmlns:a16="http://schemas.microsoft.com/office/drawing/2014/main" id="{CBF60099-5853-4B6F-B473-A2A108DDF74E}"/>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0E8B17E3-D052-4238-BF4A-6FC8CA10B39D}"/>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1B0E0A6E-5A60-431A-AA9A-42519C7686A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df61f2b6d3634da3"/>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C52205A-1DBF-4840-996B-377291FB0AB5}"/>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519badec04ae4e70"/>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186AB97-F871-483F-846D-D4AE629804D8}"/>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29C451F6-5517-456B-854A-FD793F6A2367}"/>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12</a:t>
            </a:r>
          </a:p>
        </p:txBody>
      </p:sp>
      <p:sp>
        <p:nvSpPr>
          <p:cNvPr id="15" name="">
            <a:extLst xmlns:a="http://schemas.openxmlformats.org/drawingml/2006/main">
              <a:ext uri="{FF2B5EF4-FFF2-40B4-BE49-F238E27FC236}">
                <a16:creationId xmlns:a16="http://schemas.microsoft.com/office/drawing/2014/main" id="{ECCB1D02-D831-47C8-8139-577E70E40746}"/>
              </a:ext>
            </a:extLst>
          </p:cNvPr>
          <p:cNvSpPr>
            <a:spLocks xmlns:a="http://schemas.openxmlformats.org/drawingml/2006/main" noGrp="1"/>
          </p:cNvSpPr>
          <p:nvPr/>
        </p:nvSpPr>
        <p:spPr>
          <a:xfrm xmlns:a="http://schemas.openxmlformats.org/drawingml/2006/main">
            <a:off x="609600" y="2057400"/>
            <a:ext cx="4286250" cy="742950"/>
          </a:xfrm>
          <a:prstGeom xmlns:a="http://schemas.openxmlformats.org/drawingml/2006/main" prst="roundRect">
            <a:avLst>
              <a:gd name="adj" fmla="val 10256"/>
            </a:avLst>
          </a:prstGeom>
          <a:solidFill xmlns:a="http://schemas.openxmlformats.org/drawingml/2006/main">
            <a:srgbClr val="EEF1F7"/>
          </a:solidFill>
          <a:ln xmlns:a="http://schemas.openxmlformats.org/drawingml/2006/main" w="14288">
            <a:solidFill>
              <a:srgbClr val="1B2A4A"/>
            </a:solidFill>
            <a:prstDash val="solid"/>
          </a:ln>
        </p:spPr>
      </p:sp>
      <p:sp>
        <p:nvSpPr>
          <p:cNvPr id="16" name="">
            <a:extLst xmlns:a="http://schemas.openxmlformats.org/drawingml/2006/main">
              <a:ext uri="{FF2B5EF4-FFF2-40B4-BE49-F238E27FC236}">
                <a16:creationId xmlns:a16="http://schemas.microsoft.com/office/drawing/2014/main" id="{57D4034D-CA18-408F-B05D-8642AF748D87}"/>
              </a:ext>
            </a:extLst>
          </p:cNvPr>
          <p:cNvSpPr>
            <a:spLocks xmlns:a="http://schemas.openxmlformats.org/drawingml/2006/main" noGrp="1"/>
          </p:cNvSpPr>
          <p:nvPr/>
        </p:nvSpPr>
        <p:spPr>
          <a:xfrm xmlns:a="http://schemas.openxmlformats.org/drawingml/2006/main">
            <a:off x="781050" y="21717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1B2A4A"/>
                </a:solidFill>
              </a:defRPr>
            </a:pPr>
            <a:r>
              <a:rPr sz="975" b="1" i="0">
                <a:solidFill>
                  <a:srgbClr val="1B2A4A"/>
                </a:solidFill>
              </a:rPr>
              <a:t>POPULATION</a:t>
            </a:r>
          </a:p>
        </p:txBody>
      </p:sp>
      <p:sp>
        <p:nvSpPr>
          <p:cNvPr id="17" name="">
            <a:extLst xmlns:a="http://schemas.openxmlformats.org/drawingml/2006/main">
              <a:ext uri="{FF2B5EF4-FFF2-40B4-BE49-F238E27FC236}">
                <a16:creationId xmlns:a16="http://schemas.microsoft.com/office/drawing/2014/main" id="{D3A3AF17-D7B9-4C40-8C3A-6961D11E1C7B}"/>
              </a:ext>
            </a:extLst>
          </p:cNvPr>
          <p:cNvSpPr>
            <a:spLocks xmlns:a="http://schemas.openxmlformats.org/drawingml/2006/main" noGrp="1"/>
          </p:cNvSpPr>
          <p:nvPr/>
        </p:nvSpPr>
        <p:spPr>
          <a:xfrm xmlns:a="http://schemas.openxmlformats.org/drawingml/2006/main">
            <a:off x="2286000" y="21526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Employee/dependent age distribution</a:t>
            </a:r>
          </a:p>
          <a:p xmlns:a="http://schemas.openxmlformats.org/drawingml/2006/main">
            <a:pPr algn="l">
              <a:defRPr sz="1088" b="0" i="0">
                <a:solidFill>
                  <a:srgbClr val="152238"/>
                </a:solidFill>
              </a:defRPr>
            </a:pPr>
            <a:r>
              <a:rPr sz="1088" b="0" i="0">
                <a:solidFill>
                  <a:srgbClr val="152238"/>
                </a:solidFill>
              </a:rPr>
              <a:t>Turnover + average tenure</a:t>
            </a:r>
          </a:p>
        </p:txBody>
      </p:sp>
      <p:sp>
        <p:nvSpPr>
          <p:cNvPr id="18" name="">
            <a:extLst xmlns:a="http://schemas.openxmlformats.org/drawingml/2006/main">
              <a:ext uri="{FF2B5EF4-FFF2-40B4-BE49-F238E27FC236}">
                <a16:creationId xmlns:a16="http://schemas.microsoft.com/office/drawing/2014/main" id="{FA377EC6-63B1-4610-AA9E-5BD1CE5AAF63}"/>
              </a:ext>
            </a:extLst>
          </p:cNvPr>
          <p:cNvSpPr>
            <a:spLocks xmlns:a="http://schemas.openxmlformats.org/drawingml/2006/main" noGrp="1"/>
          </p:cNvSpPr>
          <p:nvPr/>
        </p:nvSpPr>
        <p:spPr>
          <a:xfrm xmlns:a="http://schemas.openxmlformats.org/drawingml/2006/main">
            <a:off x="609600" y="2971800"/>
            <a:ext cx="4286250" cy="742950"/>
          </a:xfrm>
          <a:prstGeom xmlns:a="http://schemas.openxmlformats.org/drawingml/2006/main" prst="roundRect">
            <a:avLst>
              <a:gd name="adj" fmla="val 10256"/>
            </a:avLst>
          </a:prstGeom>
          <a:solidFill xmlns:a="http://schemas.openxmlformats.org/drawingml/2006/main">
            <a:srgbClr val="EAF7FC"/>
          </a:solidFill>
          <a:ln xmlns:a="http://schemas.openxmlformats.org/drawingml/2006/main" w="14288">
            <a:solidFill>
              <a:srgbClr val="29B5E8"/>
            </a:solidFill>
            <a:prstDash val="solid"/>
          </a:ln>
        </p:spPr>
      </p:sp>
      <p:sp>
        <p:nvSpPr>
          <p:cNvPr id="19" name="">
            <a:extLst xmlns:a="http://schemas.openxmlformats.org/drawingml/2006/main">
              <a:ext uri="{FF2B5EF4-FFF2-40B4-BE49-F238E27FC236}">
                <a16:creationId xmlns:a16="http://schemas.microsoft.com/office/drawing/2014/main" id="{9D4549CA-3E53-4113-86BD-5305FB8B75A7}"/>
              </a:ext>
            </a:extLst>
          </p:cNvPr>
          <p:cNvSpPr>
            <a:spLocks xmlns:a="http://schemas.openxmlformats.org/drawingml/2006/main" noGrp="1"/>
          </p:cNvSpPr>
          <p:nvPr/>
        </p:nvSpPr>
        <p:spPr>
          <a:xfrm xmlns:a="http://schemas.openxmlformats.org/drawingml/2006/main">
            <a:off x="781050" y="30861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29B5E8"/>
                </a:solidFill>
              </a:defRPr>
            </a:pPr>
            <a:r>
              <a:rPr sz="975" b="1" i="0">
                <a:solidFill>
                  <a:srgbClr val="29B5E8"/>
                </a:solidFill>
              </a:rPr>
              <a:t>ACCESS</a:t>
            </a:r>
          </a:p>
        </p:txBody>
      </p:sp>
      <p:sp>
        <p:nvSpPr>
          <p:cNvPr id="20" name="">
            <a:extLst xmlns:a="http://schemas.openxmlformats.org/drawingml/2006/main">
              <a:ext uri="{FF2B5EF4-FFF2-40B4-BE49-F238E27FC236}">
                <a16:creationId xmlns:a16="http://schemas.microsoft.com/office/drawing/2014/main" id="{8A0E112E-D502-428B-B97D-2C24133AC3D9}"/>
              </a:ext>
            </a:extLst>
          </p:cNvPr>
          <p:cNvSpPr>
            <a:spLocks xmlns:a="http://schemas.openxmlformats.org/drawingml/2006/main" noGrp="1"/>
          </p:cNvSpPr>
          <p:nvPr/>
        </p:nvSpPr>
        <p:spPr>
          <a:xfrm xmlns:a="http://schemas.openxmlformats.org/drawingml/2006/main">
            <a:off x="2286000" y="30670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Workforce geography</a:t>
            </a:r>
          </a:p>
          <a:p xmlns:a="http://schemas.openxmlformats.org/drawingml/2006/main">
            <a:pPr algn="l">
              <a:defRPr sz="1088" b="0" i="0">
                <a:solidFill>
                  <a:srgbClr val="152238"/>
                </a:solidFill>
              </a:defRPr>
            </a:pPr>
            <a:r>
              <a:rPr sz="1088" b="0" i="0">
                <a:solidFill>
                  <a:srgbClr val="152238"/>
                </a:solidFill>
              </a:rPr>
              <a:t>Network overlap + provider availability</a:t>
            </a:r>
          </a:p>
        </p:txBody>
      </p:sp>
      <p:sp>
        <p:nvSpPr>
          <p:cNvPr id="21" name="">
            <a:extLst xmlns:a="http://schemas.openxmlformats.org/drawingml/2006/main">
              <a:ext uri="{FF2B5EF4-FFF2-40B4-BE49-F238E27FC236}">
                <a16:creationId xmlns:a16="http://schemas.microsoft.com/office/drawing/2014/main" id="{21A900EB-333C-4AF2-BA03-31DE04598579}"/>
              </a:ext>
            </a:extLst>
          </p:cNvPr>
          <p:cNvSpPr>
            <a:spLocks xmlns:a="http://schemas.openxmlformats.org/drawingml/2006/main" noGrp="1"/>
          </p:cNvSpPr>
          <p:nvPr/>
        </p:nvSpPr>
        <p:spPr>
          <a:xfrm xmlns:a="http://schemas.openxmlformats.org/drawingml/2006/main">
            <a:off x="609600" y="3886200"/>
            <a:ext cx="4286250" cy="742950"/>
          </a:xfrm>
          <a:prstGeom xmlns:a="http://schemas.openxmlformats.org/drawingml/2006/main" prst="roundRect">
            <a:avLst>
              <a:gd name="adj" fmla="val 10256"/>
            </a:avLst>
          </a:prstGeom>
          <a:solidFill xmlns:a="http://schemas.openxmlformats.org/drawingml/2006/main">
            <a:srgbClr val="FFF0F0"/>
          </a:solidFill>
          <a:ln xmlns:a="http://schemas.openxmlformats.org/drawingml/2006/main" w="14288">
            <a:solidFill>
              <a:srgbClr val="FF7A79"/>
            </a:solidFill>
            <a:prstDash val="solid"/>
          </a:ln>
        </p:spPr>
      </p:sp>
      <p:sp>
        <p:nvSpPr>
          <p:cNvPr id="22" name="">
            <a:extLst xmlns:a="http://schemas.openxmlformats.org/drawingml/2006/main">
              <a:ext uri="{FF2B5EF4-FFF2-40B4-BE49-F238E27FC236}">
                <a16:creationId xmlns:a16="http://schemas.microsoft.com/office/drawing/2014/main" id="{EF62306C-8399-428E-BFC9-07AC5EB10C5C}"/>
              </a:ext>
            </a:extLst>
          </p:cNvPr>
          <p:cNvSpPr>
            <a:spLocks xmlns:a="http://schemas.openxmlformats.org/drawingml/2006/main" noGrp="1"/>
          </p:cNvSpPr>
          <p:nvPr/>
        </p:nvSpPr>
        <p:spPr>
          <a:xfrm xmlns:a="http://schemas.openxmlformats.org/drawingml/2006/main">
            <a:off x="781050" y="40005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FF7A79"/>
                </a:solidFill>
              </a:defRPr>
            </a:pPr>
            <a:r>
              <a:rPr sz="975" b="1" i="0">
                <a:solidFill>
                  <a:srgbClr val="FF7A79"/>
                </a:solidFill>
              </a:rPr>
              <a:t>PLAN</a:t>
            </a:r>
          </a:p>
        </p:txBody>
      </p:sp>
      <p:sp>
        <p:nvSpPr>
          <p:cNvPr id="23" name="">
            <a:extLst xmlns:a="http://schemas.openxmlformats.org/drawingml/2006/main">
              <a:ext uri="{FF2B5EF4-FFF2-40B4-BE49-F238E27FC236}">
                <a16:creationId xmlns:a16="http://schemas.microsoft.com/office/drawing/2014/main" id="{572E3EFD-2631-460B-B73C-2AE85EDE363D}"/>
              </a:ext>
            </a:extLst>
          </p:cNvPr>
          <p:cNvSpPr>
            <a:spLocks xmlns:a="http://schemas.openxmlformats.org/drawingml/2006/main" noGrp="1"/>
          </p:cNvSpPr>
          <p:nvPr/>
        </p:nvSpPr>
        <p:spPr>
          <a:xfrm xmlns:a="http://schemas.openxmlformats.org/drawingml/2006/main">
            <a:off x="2286000" y="39814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Plan design + annual maximum</a:t>
            </a:r>
          </a:p>
          <a:p xmlns:a="http://schemas.openxmlformats.org/drawingml/2006/main">
            <a:pPr algn="l">
              <a:defRPr sz="1088" b="0" i="0">
                <a:solidFill>
                  <a:srgbClr val="152238"/>
                </a:solidFill>
              </a:defRPr>
            </a:pPr>
            <a:r>
              <a:rPr sz="1088" b="0" i="0">
                <a:solidFill>
                  <a:srgbClr val="152238"/>
                </a:solidFill>
              </a:rPr>
              <a:t>Employer contribution + paid/OOP split</a:t>
            </a:r>
          </a:p>
        </p:txBody>
      </p:sp>
      <p:sp>
        <p:nvSpPr>
          <p:cNvPr id="24" name="">
            <a:extLst xmlns:a="http://schemas.openxmlformats.org/drawingml/2006/main">
              <a:ext uri="{FF2B5EF4-FFF2-40B4-BE49-F238E27FC236}">
                <a16:creationId xmlns:a16="http://schemas.microsoft.com/office/drawing/2014/main" id="{B2A45101-FA48-4ABE-B8D8-70D55A8B264B}"/>
              </a:ext>
            </a:extLst>
          </p:cNvPr>
          <p:cNvSpPr>
            <a:spLocks xmlns:a="http://schemas.openxmlformats.org/drawingml/2006/main" noGrp="1"/>
          </p:cNvSpPr>
          <p:nvPr/>
        </p:nvSpPr>
        <p:spPr>
          <a:xfrm xmlns:a="http://schemas.openxmlformats.org/drawingml/2006/main">
            <a:off x="609600" y="4800600"/>
            <a:ext cx="4286250" cy="742950"/>
          </a:xfrm>
          <a:prstGeom xmlns:a="http://schemas.openxmlformats.org/drawingml/2006/main" prst="roundRect">
            <a:avLst>
              <a:gd name="adj" fmla="val 10256"/>
            </a:avLst>
          </a:prstGeom>
          <a:solidFill xmlns:a="http://schemas.openxmlformats.org/drawingml/2006/main">
            <a:srgbClr val="FFF7E8"/>
          </a:solidFill>
          <a:ln xmlns:a="http://schemas.openxmlformats.org/drawingml/2006/main" w="14288">
            <a:solidFill>
              <a:srgbClr val="D99A24"/>
            </a:solidFill>
            <a:prstDash val="solid"/>
          </a:ln>
        </p:spPr>
      </p:sp>
      <p:sp>
        <p:nvSpPr>
          <p:cNvPr id="25" name="">
            <a:extLst xmlns:a="http://schemas.openxmlformats.org/drawingml/2006/main">
              <a:ext uri="{FF2B5EF4-FFF2-40B4-BE49-F238E27FC236}">
                <a16:creationId xmlns:a16="http://schemas.microsoft.com/office/drawing/2014/main" id="{20E6DA10-DAA3-4F96-B7AB-D2DCAA26562F}"/>
              </a:ext>
            </a:extLst>
          </p:cNvPr>
          <p:cNvSpPr>
            <a:spLocks xmlns:a="http://schemas.openxmlformats.org/drawingml/2006/main" noGrp="1"/>
          </p:cNvSpPr>
          <p:nvPr/>
        </p:nvSpPr>
        <p:spPr>
          <a:xfrm xmlns:a="http://schemas.openxmlformats.org/drawingml/2006/main">
            <a:off x="781050" y="49149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D99A24"/>
                </a:solidFill>
              </a:defRPr>
            </a:pPr>
            <a:r>
              <a:rPr sz="975" b="1" i="0">
                <a:solidFill>
                  <a:srgbClr val="D99A24"/>
                </a:solidFill>
              </a:rPr>
              <a:t>BASELINE + TIMING</a:t>
            </a:r>
          </a:p>
        </p:txBody>
      </p:sp>
      <p:sp>
        <p:nvSpPr>
          <p:cNvPr id="26" name="">
            <a:extLst xmlns:a="http://schemas.openxmlformats.org/drawingml/2006/main">
              <a:ext uri="{FF2B5EF4-FFF2-40B4-BE49-F238E27FC236}">
                <a16:creationId xmlns:a16="http://schemas.microsoft.com/office/drawing/2014/main" id="{D1DE956D-8E8D-4DBD-9B37-C3AABBF226D5}"/>
              </a:ext>
            </a:extLst>
          </p:cNvPr>
          <p:cNvSpPr>
            <a:spLocks xmlns:a="http://schemas.openxmlformats.org/drawingml/2006/main" noGrp="1"/>
          </p:cNvSpPr>
          <p:nvPr/>
        </p:nvSpPr>
        <p:spPr>
          <a:xfrm xmlns:a="http://schemas.openxmlformats.org/drawingml/2006/main">
            <a:off x="2286000" y="4895850"/>
            <a:ext cx="2400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88" b="0" i="0">
                <a:solidFill>
                  <a:srgbClr val="152238"/>
                </a:solidFill>
              </a:defRPr>
            </a:pPr>
            <a:r>
              <a:rPr sz="1088" b="0" i="0">
                <a:solidFill>
                  <a:srgbClr val="152238"/>
                </a:solidFill>
              </a:rPr>
              <a:t>Utilization + historical claims</a:t>
            </a:r>
          </a:p>
          <a:p xmlns:a="http://schemas.openxmlformats.org/drawingml/2006/main">
            <a:pPr algn="l">
              <a:defRPr sz="1088" b="0" i="0">
                <a:solidFill>
                  <a:srgbClr val="152238"/>
                </a:solidFill>
              </a:defRPr>
            </a:pPr>
            <a:r>
              <a:rPr sz="1088" b="0" i="0">
                <a:solidFill>
                  <a:srgbClr val="152238"/>
                </a:solidFill>
              </a:rPr>
              <a:t>Untreated need/incidence + run-out</a:t>
            </a:r>
          </a:p>
        </p:txBody>
      </p:sp>
      <p:sp>
        <p:nvSpPr>
          <p:cNvPr id="27" name="">
            <a:extLst xmlns:a="http://schemas.openxmlformats.org/drawingml/2006/main">
              <a:ext uri="{FF2B5EF4-FFF2-40B4-BE49-F238E27FC236}">
                <a16:creationId xmlns:a16="http://schemas.microsoft.com/office/drawing/2014/main" id="{08699F23-B5A8-4BCF-86ED-9E4CD3A1CCF0}"/>
              </a:ext>
            </a:extLst>
          </p:cNvPr>
          <p:cNvSpPr>
            <a:spLocks xmlns:a="http://schemas.openxmlformats.org/drawingml/2006/main" noGrp="1"/>
          </p:cNvSpPr>
          <p:nvPr/>
        </p:nvSpPr>
        <p:spPr>
          <a:xfrm xmlns:a="http://schemas.openxmlformats.org/drawingml/2006/main">
            <a:off x="5314950" y="3105150"/>
            <a:ext cx="2038350" cy="1390650"/>
          </a:xfrm>
          <a:prstGeom xmlns:a="http://schemas.openxmlformats.org/drawingml/2006/main" prst="roundRect">
            <a:avLst>
              <a:gd name="adj" fmla="val 5479"/>
            </a:avLst>
          </a:prstGeom>
          <a:solidFill xmlns:a="http://schemas.openxmlformats.org/drawingml/2006/main">
            <a:srgbClr val="1B2A4A"/>
          </a:solidFill>
          <a:ln xmlns:a="http://schemas.openxmlformats.org/drawingml/2006/main" w="0">
            <a:solidFill>
              <a:srgbClr val="1B2A4A"/>
            </a:solidFill>
            <a:prstDash val="solid"/>
          </a:ln>
        </p:spPr>
      </p:sp>
      <p:sp>
        <p:nvSpPr>
          <p:cNvPr id="28" name="">
            <a:extLst xmlns:a="http://schemas.openxmlformats.org/drawingml/2006/main">
              <a:ext uri="{FF2B5EF4-FFF2-40B4-BE49-F238E27FC236}">
                <a16:creationId xmlns:a16="http://schemas.microsoft.com/office/drawing/2014/main" id="{AA01D02D-D5EF-4DC5-AB4D-AE8D6510D3E5}"/>
              </a:ext>
            </a:extLst>
          </p:cNvPr>
          <p:cNvSpPr>
            <a:spLocks xmlns:a="http://schemas.openxmlformats.org/drawingml/2006/main" noGrp="1"/>
          </p:cNvSpPr>
          <p:nvPr/>
        </p:nvSpPr>
        <p:spPr>
          <a:xfrm xmlns:a="http://schemas.openxmlformats.org/drawingml/2006/main">
            <a:off x="5505450" y="3352800"/>
            <a:ext cx="16573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FFFFFF"/>
                </a:solidFill>
              </a:defRPr>
            </a:pPr>
            <a:r>
              <a:rPr sz="1500" b="1" i="0">
                <a:solidFill>
                  <a:srgbClr val="FFFFFF"/>
                </a:solidFill>
              </a:rPr>
              <a:t>GOVERNED</a:t>
            </a:r>
          </a:p>
          <a:p xmlns:a="http://schemas.openxmlformats.org/drawingml/2006/main">
            <a:pPr algn="ctr">
              <a:defRPr sz="1500" b="1" i="0">
                <a:solidFill>
                  <a:srgbClr val="FFFFFF"/>
                </a:solidFill>
              </a:defRPr>
            </a:pPr>
            <a:r>
              <a:rPr sz="1500" b="1" i="0">
                <a:solidFill>
                  <a:srgbClr val="FFFFFF"/>
                </a:solidFill>
              </a:rPr>
              <a:t>SCENARIO MODEL</a:t>
            </a:r>
          </a:p>
        </p:txBody>
      </p:sp>
      <p:sp>
        <p:nvSpPr>
          <p:cNvPr id="29" name="">
            <a:extLst xmlns:a="http://schemas.openxmlformats.org/drawingml/2006/main">
              <a:ext uri="{FF2B5EF4-FFF2-40B4-BE49-F238E27FC236}">
                <a16:creationId xmlns:a16="http://schemas.microsoft.com/office/drawing/2014/main" id="{3F01B6EA-5B33-4F7E-B76A-7D6463E5B023}"/>
              </a:ext>
            </a:extLst>
          </p:cNvPr>
          <p:cNvSpPr>
            <a:spLocks xmlns:a="http://schemas.openxmlformats.org/drawingml/2006/main" noGrp="1"/>
          </p:cNvSpPr>
          <p:nvPr/>
        </p:nvSpPr>
        <p:spPr>
          <a:xfrm xmlns:a="http://schemas.openxmlformats.org/drawingml/2006/main">
            <a:off x="5505450" y="4029075"/>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13" b="0" i="0">
                <a:solidFill>
                  <a:srgbClr val="D9E2F0"/>
                </a:solidFill>
              </a:defRPr>
            </a:pPr>
            <a:r>
              <a:rPr sz="1013" b="0" i="0">
                <a:solidFill>
                  <a:srgbClr val="D9E2F0"/>
                </a:solidFill>
              </a:rPr>
              <a:t>Lineage + version + uncertainty</a:t>
            </a:r>
          </a:p>
        </p:txBody>
      </p:sp>
      <p:sp>
        <p:nvSpPr>
          <p:cNvPr id="30" name="">
            <a:extLst xmlns:a="http://schemas.openxmlformats.org/drawingml/2006/main">
              <a:ext uri="{FF2B5EF4-FFF2-40B4-BE49-F238E27FC236}">
                <a16:creationId xmlns:a16="http://schemas.microsoft.com/office/drawing/2014/main" id="{47301A4F-1A70-4005-B5E5-4A687945B7FA}"/>
              </a:ext>
            </a:extLst>
          </p:cNvPr>
          <p:cNvSpPr>
            <a:spLocks xmlns:a="http://schemas.openxmlformats.org/drawingml/2006/main" noGrp="1"/>
          </p:cNvSpPr>
          <p:nvPr/>
        </p:nvSpPr>
        <p:spPr>
          <a:xfrm xmlns:a="http://schemas.openxmlformats.org/drawingml/2006/main">
            <a:off x="4991100" y="3581400"/>
            <a:ext cx="95250" cy="9525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cxnSp>
        <p:nvCxnSpPr>
          <p:cNvPr id="81" name=""/>
          <p:cNvCxnSpPr>
            <a:stCxn xmlns:a="http://schemas.openxmlformats.org/drawingml/2006/main" id="30" idx="6"/>
            <a:endCxn xmlns:a="http://schemas.openxmlformats.org/drawingml/2006/main" id="27" idx="1"/>
          </p:cNvCxnSpPr>
          <p:nvPr/>
        </p:nvCxnSpPr>
        <p:spPr>
          <a:xfrm xmlns:a="http://schemas.openxmlformats.org/drawingml/2006/main">
            <a:off x="5086350" y="3629025"/>
            <a:ext cx="228600" cy="171450"/>
          </a:xfrm>
          <a:prstGeom xmlns:a="http://schemas.openxmlformats.org/drawingml/2006/main" prst="straightConnector1">
            <a:avLst/>
          </a:prstGeom>
          <a:ln xmlns:a="http://schemas.openxmlformats.org/drawingml/2006/main" w="19050">
            <a:solidFill>
              <a:srgbClr val="5B6B82"/>
            </a:solidFill>
            <a:prstDash val="solid"/>
            <a:headEnd type="none" w="med" len="med"/>
            <a:tailEnd type="arrow" w="med" len="med"/>
          </a:ln>
        </p:spPr>
      </p:cxnSp>
      <p:sp>
        <p:nvSpPr>
          <p:cNvPr id="32" name="">
            <a:extLst xmlns:a="http://schemas.openxmlformats.org/drawingml/2006/main">
              <a:ext uri="{FF2B5EF4-FFF2-40B4-BE49-F238E27FC236}">
                <a16:creationId xmlns:a16="http://schemas.microsoft.com/office/drawing/2014/main" id="{D8C1F529-AE7E-40CD-8A1B-C211EB11B980}"/>
              </a:ext>
            </a:extLst>
          </p:cNvPr>
          <p:cNvSpPr>
            <a:spLocks xmlns:a="http://schemas.openxmlformats.org/drawingml/2006/main" noGrp="1"/>
          </p:cNvSpPr>
          <p:nvPr/>
        </p:nvSpPr>
        <p:spPr>
          <a:xfrm xmlns:a="http://schemas.openxmlformats.org/drawingml/2006/main">
            <a:off x="7772400" y="2057400"/>
            <a:ext cx="3810000" cy="3790950"/>
          </a:xfrm>
          <a:prstGeom xmlns:a="http://schemas.openxmlformats.org/drawingml/2006/main" prst="roundRect">
            <a:avLst>
              <a:gd name="adj" fmla="val 2010"/>
            </a:avLst>
          </a:prstGeom>
          <a:solidFill xmlns:a="http://schemas.openxmlformats.org/drawingml/2006/main">
            <a:srgbClr val="E8F5F5"/>
          </a:solidFill>
          <a:ln xmlns:a="http://schemas.openxmlformats.org/drawingml/2006/main" w="19050">
            <a:solidFill>
              <a:srgbClr val="007A87"/>
            </a:solidFill>
            <a:prstDash val="solid"/>
          </a:ln>
        </p:spPr>
      </p:sp>
      <p:cxnSp>
        <p:nvCxnSpPr>
          <p:cNvPr id="83" name=""/>
          <p:cNvCxnSpPr>
            <a:stCxn xmlns:a="http://schemas.openxmlformats.org/drawingml/2006/main" id="27" idx="3"/>
            <a:endCxn xmlns:a="http://schemas.openxmlformats.org/drawingml/2006/main" id="32" idx="1"/>
          </p:cNvCxnSpPr>
          <p:nvPr/>
        </p:nvCxnSpPr>
        <p:spPr>
          <a:xfrm xmlns:a="http://schemas.openxmlformats.org/drawingml/2006/main">
            <a:off x="7353300" y="3800475"/>
            <a:ext cx="419100" cy="152400"/>
          </a:xfrm>
          <a:prstGeom xmlns:a="http://schemas.openxmlformats.org/drawingml/2006/main" prst="straightConnector1">
            <a:avLst/>
          </a:prstGeom>
          <a:ln xmlns:a="http://schemas.openxmlformats.org/drawingml/2006/main" w="19050">
            <a:solidFill>
              <a:srgbClr val="007A87"/>
            </a:solidFill>
            <a:prstDash val="solid"/>
            <a:headEnd type="none" w="med" len="med"/>
            <a:tailEnd type="arrow" w="med" len="med"/>
          </a:ln>
        </p:spPr>
      </p:cxnSp>
      <p:sp>
        <p:nvSpPr>
          <p:cNvPr id="34" name="">
            <a:extLst xmlns:a="http://schemas.openxmlformats.org/drawingml/2006/main">
              <a:ext uri="{FF2B5EF4-FFF2-40B4-BE49-F238E27FC236}">
                <a16:creationId xmlns:a16="http://schemas.microsoft.com/office/drawing/2014/main" id="{7538565D-F5D3-40E2-8C99-BDC764B7BE3E}"/>
              </a:ext>
            </a:extLst>
          </p:cNvPr>
          <p:cNvSpPr>
            <a:spLocks xmlns:a="http://schemas.openxmlformats.org/drawingml/2006/main" noGrp="1"/>
          </p:cNvSpPr>
          <p:nvPr/>
        </p:nvSpPr>
        <p:spPr>
          <a:xfrm xmlns:a="http://schemas.openxmlformats.org/drawingml/2006/main">
            <a:off x="8020050" y="2276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007A87"/>
                </a:solidFill>
              </a:defRPr>
            </a:pPr>
            <a:r>
              <a:rPr sz="1200" b="1" i="0">
                <a:solidFill>
                  <a:srgbClr val="007A87"/>
                </a:solidFill>
              </a:rPr>
              <a:t>OUTPUTS</a:t>
            </a:r>
          </a:p>
        </p:txBody>
      </p:sp>
      <p:sp>
        <p:nvSpPr>
          <p:cNvPr id="35" name="">
            <a:extLst xmlns:a="http://schemas.openxmlformats.org/drawingml/2006/main">
              <a:ext uri="{FF2B5EF4-FFF2-40B4-BE49-F238E27FC236}">
                <a16:creationId xmlns:a16="http://schemas.microsoft.com/office/drawing/2014/main" id="{AA59A18E-467B-4431-9D8D-D894BCA2F0BF}"/>
              </a:ext>
            </a:extLst>
          </p:cNvPr>
          <p:cNvSpPr>
            <a:spLocks xmlns:a="http://schemas.openxmlformats.org/drawingml/2006/main" noGrp="1"/>
          </p:cNvSpPr>
          <p:nvPr/>
        </p:nvSpPr>
        <p:spPr>
          <a:xfrm xmlns:a="http://schemas.openxmlformats.org/drawingml/2006/main">
            <a:off x="8020050" y="27146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6" name="">
            <a:extLst xmlns:a="http://schemas.openxmlformats.org/drawingml/2006/main">
              <a:ext uri="{FF2B5EF4-FFF2-40B4-BE49-F238E27FC236}">
                <a16:creationId xmlns:a16="http://schemas.microsoft.com/office/drawing/2014/main" id="{0766AF6C-03E1-447D-B5A6-00DE3634745A}"/>
              </a:ext>
            </a:extLst>
          </p:cNvPr>
          <p:cNvSpPr>
            <a:spLocks xmlns:a="http://schemas.openxmlformats.org/drawingml/2006/main" noGrp="1"/>
          </p:cNvSpPr>
          <p:nvPr/>
        </p:nvSpPr>
        <p:spPr>
          <a:xfrm xmlns:a="http://schemas.openxmlformats.org/drawingml/2006/main">
            <a:off x="8229600" y="26479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Preventive utilization increase</a:t>
            </a:r>
          </a:p>
        </p:txBody>
      </p:sp>
      <p:sp>
        <p:nvSpPr>
          <p:cNvPr id="37" name="">
            <a:extLst xmlns:a="http://schemas.openxmlformats.org/drawingml/2006/main">
              <a:ext uri="{FF2B5EF4-FFF2-40B4-BE49-F238E27FC236}">
                <a16:creationId xmlns:a16="http://schemas.microsoft.com/office/drawing/2014/main" id="{427894F4-E047-43BD-9970-D245B2B37C63}"/>
              </a:ext>
            </a:extLst>
          </p:cNvPr>
          <p:cNvSpPr>
            <a:spLocks xmlns:a="http://schemas.openxmlformats.org/drawingml/2006/main" noGrp="1"/>
          </p:cNvSpPr>
          <p:nvPr/>
        </p:nvSpPr>
        <p:spPr>
          <a:xfrm xmlns:a="http://schemas.openxmlformats.org/drawingml/2006/main">
            <a:off x="8020050" y="31051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38" name="">
            <a:extLst xmlns:a="http://schemas.openxmlformats.org/drawingml/2006/main">
              <a:ext uri="{FF2B5EF4-FFF2-40B4-BE49-F238E27FC236}">
                <a16:creationId xmlns:a16="http://schemas.microsoft.com/office/drawing/2014/main" id="{D6D5DE8F-A38B-4E57-9624-E487BE135EBE}"/>
              </a:ext>
            </a:extLst>
          </p:cNvPr>
          <p:cNvSpPr>
            <a:spLocks xmlns:a="http://schemas.openxmlformats.org/drawingml/2006/main" noGrp="1"/>
          </p:cNvSpPr>
          <p:nvPr/>
        </p:nvSpPr>
        <p:spPr>
          <a:xfrm xmlns:a="http://schemas.openxmlformats.org/drawingml/2006/main">
            <a:off x="8229600" y="30384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Newly discovered treatment spend</a:t>
            </a:r>
          </a:p>
        </p:txBody>
      </p:sp>
      <p:sp>
        <p:nvSpPr>
          <p:cNvPr id="39" name="">
            <a:extLst xmlns:a="http://schemas.openxmlformats.org/drawingml/2006/main">
              <a:ext uri="{FF2B5EF4-FFF2-40B4-BE49-F238E27FC236}">
                <a16:creationId xmlns:a16="http://schemas.microsoft.com/office/drawing/2014/main" id="{89AC0CDD-8671-4792-9BAA-8DEA867C3C86}"/>
              </a:ext>
            </a:extLst>
          </p:cNvPr>
          <p:cNvSpPr>
            <a:spLocks xmlns:a="http://schemas.openxmlformats.org/drawingml/2006/main" noGrp="1"/>
          </p:cNvSpPr>
          <p:nvPr/>
        </p:nvSpPr>
        <p:spPr>
          <a:xfrm xmlns:a="http://schemas.openxmlformats.org/drawingml/2006/main">
            <a:off x="8020050" y="34956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0" name="">
            <a:extLst xmlns:a="http://schemas.openxmlformats.org/drawingml/2006/main">
              <a:ext uri="{FF2B5EF4-FFF2-40B4-BE49-F238E27FC236}">
                <a16:creationId xmlns:a16="http://schemas.microsoft.com/office/drawing/2014/main" id="{D762979E-F173-4B8F-87FE-073F5242686B}"/>
              </a:ext>
            </a:extLst>
          </p:cNvPr>
          <p:cNvSpPr>
            <a:spLocks xmlns:a="http://schemas.openxmlformats.org/drawingml/2006/main" noGrp="1"/>
          </p:cNvSpPr>
          <p:nvPr/>
        </p:nvSpPr>
        <p:spPr>
          <a:xfrm xmlns:a="http://schemas.openxmlformats.org/drawingml/2006/main">
            <a:off x="8229600" y="34290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Allowed / plan-paid / employee OOP separation</a:t>
            </a:r>
          </a:p>
        </p:txBody>
      </p:sp>
      <p:sp>
        <p:nvSpPr>
          <p:cNvPr id="41" name="">
            <a:extLst xmlns:a="http://schemas.openxmlformats.org/drawingml/2006/main">
              <a:ext uri="{FF2B5EF4-FFF2-40B4-BE49-F238E27FC236}">
                <a16:creationId xmlns:a16="http://schemas.microsoft.com/office/drawing/2014/main" id="{116BAACB-507B-4413-BB47-FD2B7313E030}"/>
              </a:ext>
            </a:extLst>
          </p:cNvPr>
          <p:cNvSpPr>
            <a:spLocks xmlns:a="http://schemas.openxmlformats.org/drawingml/2006/main" noGrp="1"/>
          </p:cNvSpPr>
          <p:nvPr/>
        </p:nvSpPr>
        <p:spPr>
          <a:xfrm xmlns:a="http://schemas.openxmlformats.org/drawingml/2006/main">
            <a:off x="8020050" y="388620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2" name="">
            <a:extLst xmlns:a="http://schemas.openxmlformats.org/drawingml/2006/main">
              <a:ext uri="{FF2B5EF4-FFF2-40B4-BE49-F238E27FC236}">
                <a16:creationId xmlns:a16="http://schemas.microsoft.com/office/drawing/2014/main" id="{3CBB4913-BECF-4F7B-9DEC-64247E712E54}"/>
              </a:ext>
            </a:extLst>
          </p:cNvPr>
          <p:cNvSpPr>
            <a:spLocks xmlns:a="http://schemas.openxmlformats.org/drawingml/2006/main" noGrp="1"/>
          </p:cNvSpPr>
          <p:nvPr/>
        </p:nvSpPr>
        <p:spPr>
          <a:xfrm xmlns:a="http://schemas.openxmlformats.org/drawingml/2006/main">
            <a:off x="8229600" y="38195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Year 1 / Year 2 / Year 3 scenarios</a:t>
            </a:r>
          </a:p>
        </p:txBody>
      </p:sp>
      <p:sp>
        <p:nvSpPr>
          <p:cNvPr id="43" name="">
            <a:extLst xmlns:a="http://schemas.openxmlformats.org/drawingml/2006/main">
              <a:ext uri="{FF2B5EF4-FFF2-40B4-BE49-F238E27FC236}">
                <a16:creationId xmlns:a16="http://schemas.microsoft.com/office/drawing/2014/main" id="{EA57EE44-71E8-4DAD-9FF9-F285A3D746DE}"/>
              </a:ext>
            </a:extLst>
          </p:cNvPr>
          <p:cNvSpPr>
            <a:spLocks xmlns:a="http://schemas.openxmlformats.org/drawingml/2006/main" noGrp="1"/>
          </p:cNvSpPr>
          <p:nvPr/>
        </p:nvSpPr>
        <p:spPr>
          <a:xfrm xmlns:a="http://schemas.openxmlformats.org/drawingml/2006/main">
            <a:off x="8020050" y="427672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4" name="">
            <a:extLst xmlns:a="http://schemas.openxmlformats.org/drawingml/2006/main">
              <a:ext uri="{FF2B5EF4-FFF2-40B4-BE49-F238E27FC236}">
                <a16:creationId xmlns:a16="http://schemas.microsoft.com/office/drawing/2014/main" id="{4F7D9F5D-CD7E-44B2-AE63-76E9191F0702}"/>
              </a:ext>
            </a:extLst>
          </p:cNvPr>
          <p:cNvSpPr>
            <a:spLocks xmlns:a="http://schemas.openxmlformats.org/drawingml/2006/main" noGrp="1"/>
          </p:cNvSpPr>
          <p:nvPr/>
        </p:nvSpPr>
        <p:spPr>
          <a:xfrm xmlns:a="http://schemas.openxmlformats.org/drawingml/2006/main">
            <a:off x="8229600" y="42100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Turnover sensitivity</a:t>
            </a:r>
          </a:p>
        </p:txBody>
      </p:sp>
      <p:sp>
        <p:nvSpPr>
          <p:cNvPr id="45" name="">
            <a:extLst xmlns:a="http://schemas.openxmlformats.org/drawingml/2006/main">
              <a:ext uri="{FF2B5EF4-FFF2-40B4-BE49-F238E27FC236}">
                <a16:creationId xmlns:a16="http://schemas.microsoft.com/office/drawing/2014/main" id="{982B2D3B-AD81-4432-BBB6-CEC98BB9A0D1}"/>
              </a:ext>
            </a:extLst>
          </p:cNvPr>
          <p:cNvSpPr>
            <a:spLocks xmlns:a="http://schemas.openxmlformats.org/drawingml/2006/main" noGrp="1"/>
          </p:cNvSpPr>
          <p:nvPr/>
        </p:nvSpPr>
        <p:spPr>
          <a:xfrm xmlns:a="http://schemas.openxmlformats.org/drawingml/2006/main">
            <a:off x="8020050" y="4667250"/>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6" name="">
            <a:extLst xmlns:a="http://schemas.openxmlformats.org/drawingml/2006/main">
              <a:ext uri="{FF2B5EF4-FFF2-40B4-BE49-F238E27FC236}">
                <a16:creationId xmlns:a16="http://schemas.microsoft.com/office/drawing/2014/main" id="{A4BC7C9C-6970-487C-AF69-513FA8AEC3CA}"/>
              </a:ext>
            </a:extLst>
          </p:cNvPr>
          <p:cNvSpPr>
            <a:spLocks xmlns:a="http://schemas.openxmlformats.org/drawingml/2006/main" noGrp="1"/>
          </p:cNvSpPr>
          <p:nvPr/>
        </p:nvSpPr>
        <p:spPr>
          <a:xfrm xmlns:a="http://schemas.openxmlformats.org/drawingml/2006/main">
            <a:off x="8229600" y="46005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Network-access sensitivity</a:t>
            </a:r>
          </a:p>
        </p:txBody>
      </p:sp>
      <p:sp>
        <p:nvSpPr>
          <p:cNvPr id="47" name="">
            <a:extLst xmlns:a="http://schemas.openxmlformats.org/drawingml/2006/main">
              <a:ext uri="{FF2B5EF4-FFF2-40B4-BE49-F238E27FC236}">
                <a16:creationId xmlns:a16="http://schemas.microsoft.com/office/drawing/2014/main" id="{81BAD1FD-2173-4F03-920D-0F55A2F604A3}"/>
              </a:ext>
            </a:extLst>
          </p:cNvPr>
          <p:cNvSpPr>
            <a:spLocks xmlns:a="http://schemas.openxmlformats.org/drawingml/2006/main" noGrp="1"/>
          </p:cNvSpPr>
          <p:nvPr/>
        </p:nvSpPr>
        <p:spPr>
          <a:xfrm xmlns:a="http://schemas.openxmlformats.org/drawingml/2006/main">
            <a:off x="8020050" y="5057775"/>
            <a:ext cx="76200" cy="76200"/>
          </a:xfrm>
          <a:prstGeom xmlns:a="http://schemas.openxmlformats.org/drawingml/2006/main" prst="ellipse">
            <a:avLst/>
          </a:prstGeom>
          <a:solidFill xmlns:a="http://schemas.openxmlformats.org/drawingml/2006/main">
            <a:srgbClr val="007A87"/>
          </a:solidFill>
          <a:ln xmlns:a="http://schemas.openxmlformats.org/drawingml/2006/main" w="0">
            <a:solidFill>
              <a:srgbClr val="007A87"/>
            </a:solidFill>
            <a:prstDash val="solid"/>
          </a:ln>
        </p:spPr>
      </p:sp>
      <p:sp>
        <p:nvSpPr>
          <p:cNvPr id="48" name="">
            <a:extLst xmlns:a="http://schemas.openxmlformats.org/drawingml/2006/main">
              <a:ext uri="{FF2B5EF4-FFF2-40B4-BE49-F238E27FC236}">
                <a16:creationId xmlns:a16="http://schemas.microsoft.com/office/drawing/2014/main" id="{7B89EC9A-AC37-42F2-B124-48FA08F1A253}"/>
              </a:ext>
            </a:extLst>
          </p:cNvPr>
          <p:cNvSpPr>
            <a:spLocks xmlns:a="http://schemas.openxmlformats.org/drawingml/2006/main" noGrp="1"/>
          </p:cNvSpPr>
          <p:nvPr/>
        </p:nvSpPr>
        <p:spPr>
          <a:xfrm xmlns:a="http://schemas.openxmlformats.org/drawingml/2006/main">
            <a:off x="8229600" y="4991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i="0">
                <a:solidFill>
                  <a:srgbClr val="152238"/>
                </a:solidFill>
              </a:defRPr>
            </a:pPr>
            <a:r>
              <a:rPr sz="1125" b="0" i="0">
                <a:solidFill>
                  <a:srgbClr val="152238"/>
                </a:solidFill>
              </a:rPr>
              <a:t>Expected data uncertainty</a:t>
            </a:r>
          </a:p>
        </p:txBody>
      </p:sp>
      <p:sp>
        <p:nvSpPr>
          <p:cNvPr id="49" name="">
            <a:extLst xmlns:a="http://schemas.openxmlformats.org/drawingml/2006/main">
              <a:ext uri="{FF2B5EF4-FFF2-40B4-BE49-F238E27FC236}">
                <a16:creationId xmlns:a16="http://schemas.microsoft.com/office/drawing/2014/main" id="{9A10A239-1803-4358-8D81-DD444D1DF68C}"/>
              </a:ext>
            </a:extLst>
          </p:cNvPr>
          <p:cNvSpPr>
            <a:spLocks xmlns:a="http://schemas.openxmlformats.org/drawingml/2006/main" noGrp="1"/>
          </p:cNvSpPr>
          <p:nvPr/>
        </p:nvSpPr>
        <p:spPr>
          <a:xfrm xmlns:a="http://schemas.openxmlformats.org/drawingml/2006/main">
            <a:off x="609600" y="6019800"/>
            <a:ext cx="10972800" cy="304800"/>
          </a:xfrm>
          <a:prstGeom xmlns:a="http://schemas.openxmlformats.org/drawingml/2006/main" prst="roundRect">
            <a:avLst>
              <a:gd name="adj" fmla="val 25000"/>
            </a:avLst>
          </a:prstGeom>
          <a:solidFill xmlns:a="http://schemas.openxmlformats.org/drawingml/2006/main">
            <a:srgbClr val="FFF7E8"/>
          </a:solidFill>
          <a:ln xmlns:a="http://schemas.openxmlformats.org/drawingml/2006/main" w="9525">
            <a:solidFill>
              <a:srgbClr val="D99A24"/>
            </a:solidFill>
            <a:prstDash val="solid"/>
          </a:ln>
        </p:spPr>
      </p:sp>
      <p:sp>
        <p:nvSpPr>
          <p:cNvPr id="50" name="">
            <a:extLst xmlns:a="http://schemas.openxmlformats.org/drawingml/2006/main">
              <a:ext uri="{FF2B5EF4-FFF2-40B4-BE49-F238E27FC236}">
                <a16:creationId xmlns:a16="http://schemas.microsoft.com/office/drawing/2014/main" id="{F882D28F-06CF-4E2C-A380-CC0ACB85DD89}"/>
              </a:ext>
            </a:extLst>
          </p:cNvPr>
          <p:cNvSpPr>
            <a:spLocks xmlns:a="http://schemas.openxmlformats.org/drawingml/2006/main" noGrp="1"/>
          </p:cNvSpPr>
          <p:nvPr/>
        </p:nvSpPr>
        <p:spPr>
          <a:xfrm xmlns:a="http://schemas.openxmlformats.org/drawingml/2006/main">
            <a:off x="762000" y="6096000"/>
            <a:ext cx="1066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D99A24"/>
                </a:solidFill>
              </a:defRPr>
            </a:pPr>
            <a:r>
              <a:rPr sz="1050" b="1" i="0">
                <a:solidFill>
                  <a:srgbClr val="D99A24"/>
                </a:solidFill>
              </a:rPr>
              <a:t>Planning heuristic - calibrate with customer data; not an ICLO outcome.</a:t>
            </a:r>
          </a:p>
        </p:txBody>
      </p:sp>
    </p:spTree>
    <p:extLst>
      <p:ext uri="{BB962C8B-B14F-4D97-AF65-F5344CB8AC3E}">
        <p14:creationId xmlns:p14="http://schemas.microsoft.com/office/powerpoint/2010/main" val="6731067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BCEE6D-21CF-4819-95FC-0E7BDF6A5AC6}"/>
              </a:ext>
            </a:extLst>
          </p:cNvPr>
          <p:cNvSpPr>
            <a:spLocks xmlns:a="http://schemas.openxmlformats.org/drawingml/2006/main" noGrp="1"/>
          </p:cNvSpPr>
          <p:nvPr/>
        </p:nvSpPr>
        <p:spPr>
          <a:xfrm xmlns:a="http://schemas.openxmlformats.org/drawingml/2006/main">
            <a:off x="609600" y="27622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i="0">
                <a:solidFill>
                  <a:srgbClr val="FF7A79"/>
                </a:solidFill>
              </a:defRPr>
            </a:pPr>
            <a:r>
              <a:rPr sz="825" b="1" i="0">
                <a:solidFill>
                  <a:srgbClr val="FF7A79"/>
                </a:solidFill>
              </a:rPr>
              <a:t>APPENDIX</a:t>
            </a:r>
          </a:p>
        </p:txBody>
      </p:sp>
      <p:sp>
        <p:nvSpPr>
          <p:cNvPr id="2" name="">
            <a:extLst xmlns:a="http://schemas.openxmlformats.org/drawingml/2006/main">
              <a:ext uri="{FF2B5EF4-FFF2-40B4-BE49-F238E27FC236}">
                <a16:creationId xmlns:a16="http://schemas.microsoft.com/office/drawing/2014/main" id="{3C0F7E40-F97E-4BC1-91B6-2035863ABA5C}"/>
              </a:ext>
            </a:extLst>
          </p:cNvPr>
          <p:cNvSpPr>
            <a:spLocks xmlns:a="http://schemas.openxmlformats.org/drawingml/2006/main" noGrp="1"/>
          </p:cNvSpPr>
          <p:nvPr/>
        </p:nvSpPr>
        <p:spPr>
          <a:xfrm xmlns:a="http://schemas.openxmlformats.org/drawingml/2006/main">
            <a:off x="9829800" y="209550"/>
            <a:ext cx="1752600"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29B5E8"/>
            </a:solidFill>
            <a:prstDash val="solid"/>
          </a:ln>
        </p:spPr>
      </p:sp>
      <p:sp>
        <p:nvSpPr>
          <p:cNvPr id="3" name="">
            <a:extLst xmlns:a="http://schemas.openxmlformats.org/drawingml/2006/main">
              <a:ext uri="{FF2B5EF4-FFF2-40B4-BE49-F238E27FC236}">
                <a16:creationId xmlns:a16="http://schemas.microsoft.com/office/drawing/2014/main" id="{00922E6D-6B71-4FB1-A93F-DD153DBADFF3}"/>
              </a:ext>
            </a:extLst>
          </p:cNvPr>
          <p:cNvSpPr>
            <a:spLocks xmlns:a="http://schemas.openxmlformats.org/drawingml/2006/main" noGrp="1"/>
          </p:cNvSpPr>
          <p:nvPr/>
        </p:nvSpPr>
        <p:spPr>
          <a:xfrm xmlns:a="http://schemas.openxmlformats.org/drawingml/2006/main">
            <a:off x="9829800" y="209550"/>
            <a:ext cx="57150" cy="285750"/>
          </a:xfrm>
          <a:prstGeom xmlns:a="http://schemas.openxmlformats.org/drawingml/2006/main" prst="rect">
            <a:avLst/>
          </a:prstGeom>
          <a:solidFill xmlns:a="http://schemas.openxmlformats.org/drawingml/2006/main">
            <a:srgbClr val="29B5E8"/>
          </a:solidFill>
          <a:ln xmlns:a="http://schemas.openxmlformats.org/drawingml/2006/main" w="0">
            <a:solidFill>
              <a:srgbClr val="29B5E8"/>
            </a:solidFill>
            <a:prstDash val="solid"/>
          </a:ln>
        </p:spPr>
      </p:sp>
      <p:sp>
        <p:nvSpPr>
          <p:cNvPr id="4" name="">
            <a:extLst xmlns:a="http://schemas.openxmlformats.org/drawingml/2006/main">
              <a:ext uri="{FF2B5EF4-FFF2-40B4-BE49-F238E27FC236}">
                <a16:creationId xmlns:a16="http://schemas.microsoft.com/office/drawing/2014/main" id="{E05D44CE-8C3A-42CB-9651-FF56570AE6B2}"/>
              </a:ext>
            </a:extLst>
          </p:cNvPr>
          <p:cNvSpPr>
            <a:spLocks xmlns:a="http://schemas.openxmlformats.org/drawingml/2006/main" noGrp="1"/>
          </p:cNvSpPr>
          <p:nvPr/>
        </p:nvSpPr>
        <p:spPr>
          <a:xfrm xmlns:a="http://schemas.openxmlformats.org/drawingml/2006/main">
            <a:off x="9944100" y="257175"/>
            <a:ext cx="1581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13" b="1" i="0">
                <a:solidFill>
                  <a:srgbClr val="29B5E8"/>
                </a:solidFill>
              </a:defRPr>
            </a:pPr>
            <a:r>
              <a:rPr sz="713" b="1" i="0">
                <a:solidFill>
                  <a:srgbClr val="29B5E8"/>
                </a:solidFill>
              </a:rPr>
              <a:t>REQUEST TO SNOWFLAKE</a:t>
            </a:r>
          </a:p>
        </p:txBody>
      </p:sp>
      <p:sp>
        <p:nvSpPr>
          <p:cNvPr id="5" name="">
            <a:extLst xmlns:a="http://schemas.openxmlformats.org/drawingml/2006/main">
              <a:ext uri="{FF2B5EF4-FFF2-40B4-BE49-F238E27FC236}">
                <a16:creationId xmlns:a16="http://schemas.microsoft.com/office/drawing/2014/main" id="{003E7DF6-5AE3-4EFE-882C-1A7B48B78AAB}"/>
              </a:ext>
            </a:extLst>
          </p:cNvPr>
          <p:cNvSpPr>
            <a:spLocks xmlns:a="http://schemas.openxmlformats.org/drawingml/2006/main" noGrp="1"/>
          </p:cNvSpPr>
          <p:nvPr/>
        </p:nvSpPr>
        <p:spPr>
          <a:xfrm xmlns:a="http://schemas.openxmlformats.org/drawingml/2006/main">
            <a:off x="609600" y="5905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B2A4A"/>
                </a:solidFill>
              </a:defRPr>
            </a:pPr>
            <a:r>
              <a:rPr sz="2700" b="1" i="0">
                <a:solidFill>
                  <a:srgbClr val="1B2A4A"/>
                </a:solidFill>
              </a:rPr>
              <a:t>Named-Account Diligence Template</a:t>
            </a:r>
          </a:p>
        </p:txBody>
      </p:sp>
      <p:sp>
        <p:nvSpPr>
          <p:cNvPr id="6" name="">
            <a:extLst xmlns:a="http://schemas.openxmlformats.org/drawingml/2006/main">
              <a:ext uri="{FF2B5EF4-FFF2-40B4-BE49-F238E27FC236}">
                <a16:creationId xmlns:a16="http://schemas.microsoft.com/office/drawing/2014/main" id="{127B490F-8C27-4AA8-8FA7-B7D79EEE9851}"/>
              </a:ext>
            </a:extLst>
          </p:cNvPr>
          <p:cNvSpPr>
            <a:spLocks xmlns:a="http://schemas.openxmlformats.org/drawingml/2006/main" noGrp="1"/>
          </p:cNvSpPr>
          <p:nvPr/>
        </p:nvSpPr>
        <p:spPr>
          <a:xfrm xmlns:a="http://schemas.openxmlformats.org/drawingml/2006/main">
            <a:off x="609600" y="11525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5B6B82"/>
                </a:solidFill>
              </a:defRPr>
            </a:pPr>
            <a:r>
              <a:rPr sz="1575" b="0" i="0">
                <a:solidFill>
                  <a:srgbClr val="5B6B82"/>
                </a:solidFill>
              </a:rPr>
              <a:t>Replace market-level assumptions with legal-entity, workload and readiness evidence.</a:t>
            </a:r>
          </a:p>
        </p:txBody>
      </p:sp>
      <p:sp>
        <p:nvSpPr>
          <p:cNvPr id="7" name="">
            <a:extLst xmlns:a="http://schemas.openxmlformats.org/drawingml/2006/main">
              <a:ext uri="{FF2B5EF4-FFF2-40B4-BE49-F238E27FC236}">
                <a16:creationId xmlns:a16="http://schemas.microsoft.com/office/drawing/2014/main" id="{0C28FF5B-4073-4D4F-9EC0-3A47B2DEEE26}"/>
              </a:ext>
            </a:extLst>
          </p:cNvPr>
          <p:cNvSpPr>
            <a:spLocks xmlns:a="http://schemas.openxmlformats.org/drawingml/2006/main" noGrp="1"/>
          </p:cNvSpPr>
          <p:nvPr/>
        </p:nvSpPr>
        <p:spPr>
          <a:xfrm xmlns:a="http://schemas.openxmlformats.org/drawingml/2006/main">
            <a:off x="609600" y="1685925"/>
            <a:ext cx="10972800" cy="19050"/>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sp>
        <p:nvSpPr>
          <p:cNvPr id="8" name="">
            <a:extLst xmlns:a="http://schemas.openxmlformats.org/drawingml/2006/main">
              <a:ext uri="{FF2B5EF4-FFF2-40B4-BE49-F238E27FC236}">
                <a16:creationId xmlns:a16="http://schemas.microsoft.com/office/drawing/2014/main" id="{4F33B7C4-660E-411D-BAA4-06DBBD7B9AB4}"/>
              </a:ext>
            </a:extLst>
          </p:cNvPr>
          <p:cNvSpPr>
            <a:spLocks xmlns:a="http://schemas.openxmlformats.org/drawingml/2006/main" noGrp="1"/>
          </p:cNvSpPr>
          <p:nvPr/>
        </p:nvSpPr>
        <p:spPr>
          <a:xfrm xmlns:a="http://schemas.openxmlformats.org/drawingml/2006/main">
            <a:off x="609600" y="1685925"/>
            <a:ext cx="838200" cy="19050"/>
          </a:xfrm>
          <a:prstGeom xmlns:a="http://schemas.openxmlformats.org/drawingml/2006/main" prst="rect">
            <a:avLst/>
          </a:prstGeom>
          <a:solidFill xmlns:a="http://schemas.openxmlformats.org/drawingml/2006/main">
            <a:srgbClr val="FF7A79"/>
          </a:solidFill>
          <a:ln xmlns:a="http://schemas.openxmlformats.org/drawingml/2006/main" w="0">
            <a:solidFill>
              <a:srgbClr val="FF7A79"/>
            </a:solidFill>
            <a:prstDash val="solid"/>
          </a:ln>
        </p:spPr>
      </p:sp>
      <p:sp>
        <p:nvSpPr>
          <p:cNvPr id="9" name="">
            <a:extLst xmlns:a="http://schemas.openxmlformats.org/drawingml/2006/main">
              <a:ext uri="{FF2B5EF4-FFF2-40B4-BE49-F238E27FC236}">
                <a16:creationId xmlns:a16="http://schemas.microsoft.com/office/drawing/2014/main" id="{7BA5A5AF-5214-40C8-A46A-68CC7F1D2F0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CE3EC"/>
          </a:solidFill>
          <a:ln xmlns:a="http://schemas.openxmlformats.org/drawingml/2006/main" w="0">
            <a:solidFill>
              <a:srgbClr val="DCE3EC"/>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3c25292284941b6"/>
          <a:stretch xmlns:a="http://schemas.openxmlformats.org/drawingml/2006/main"/>
        </p:blipFill>
        <p:spPr>
          <a:xfrm xmlns:a="http://schemas.openxmlformats.org/drawingml/2006/main">
            <a:off x="611832" y="6524625"/>
            <a:ext cx="547985" cy="2000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30BA233-3C47-45B6-8D15-A9495EDAEE46}"/>
              </a:ext>
            </a:extLst>
          </p:cNvPr>
          <p:cNvSpPr>
            <a:spLocks xmlns:a="http://schemas.openxmlformats.org/drawingml/2006/main" noGrp="1"/>
          </p:cNvSpPr>
          <p:nvPr/>
        </p:nvSpPr>
        <p:spPr>
          <a:xfrm xmlns:a="http://schemas.openxmlformats.org/drawingml/2006/main">
            <a:off x="1219200" y="6534150"/>
            <a:ext cx="171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i="0">
                <a:solidFill>
                  <a:srgbClr val="5B6B82"/>
                </a:solidFill>
              </a:defRPr>
            </a:pPr>
            <a:r>
              <a:rPr sz="825" b="1" i="0">
                <a:solidFill>
                  <a:srgbClr val="5B6B82"/>
                </a:solidFill>
              </a:rPr>
              <a:t>×</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1a60eeb45d846bb"/>
          <a:stretch xmlns:a="http://schemas.openxmlformats.org/drawingml/2006/main"/>
        </p:blipFill>
        <p:spPr>
          <a:xfrm xmlns:a="http://schemas.openxmlformats.org/drawingml/2006/main">
            <a:off x="1563284" y="6496050"/>
            <a:ext cx="473881" cy="266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5CAE0DF-CFBF-4F67-83E2-132BD2B4378A}"/>
              </a:ext>
            </a:extLst>
          </p:cNvPr>
          <p:cNvSpPr>
            <a:spLocks xmlns:a="http://schemas.openxmlformats.org/drawingml/2006/main" noGrp="1"/>
          </p:cNvSpPr>
          <p:nvPr/>
        </p:nvSpPr>
        <p:spPr>
          <a:xfrm xmlns:a="http://schemas.openxmlformats.org/drawingml/2006/main">
            <a:off x="23241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88" b="0" i="0">
                <a:solidFill>
                  <a:srgbClr val="5B6B82"/>
                </a:solidFill>
              </a:defRPr>
            </a:pPr>
            <a:r>
              <a:rPr sz="788" b="0" i="0">
                <a:solidFill>
                  <a:srgbClr val="5B6B82"/>
                </a:solidFill>
              </a:rPr>
              <a:t>External proposal · discussion material</a:t>
            </a:r>
          </a:p>
        </p:txBody>
      </p:sp>
      <p:sp>
        <p:nvSpPr>
          <p:cNvPr id="14" name="">
            <a:extLst xmlns:a="http://schemas.openxmlformats.org/drawingml/2006/main">
              <a:ext uri="{FF2B5EF4-FFF2-40B4-BE49-F238E27FC236}">
                <a16:creationId xmlns:a16="http://schemas.microsoft.com/office/drawing/2014/main" id="{FF5C11FA-BBA1-4EFF-8B53-1C26D0DD8B7C}"/>
              </a:ext>
            </a:extLst>
          </p:cNvPr>
          <p:cNvSpPr>
            <a:spLocks xmlns:a="http://schemas.openxmlformats.org/drawingml/2006/main" noGrp="1"/>
          </p:cNvSpPr>
          <p:nvPr/>
        </p:nvSpPr>
        <p:spPr>
          <a:xfrm xmlns:a="http://schemas.openxmlformats.org/drawingml/2006/main">
            <a:off x="11125200" y="6543675"/>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88" b="0" i="0">
                <a:solidFill>
                  <a:srgbClr val="5B6B82"/>
                </a:solidFill>
              </a:defRPr>
            </a:pPr>
            <a:r>
              <a:rPr sz="788" b="0" i="0">
                <a:solidFill>
                  <a:srgbClr val="5B6B82"/>
                </a:solidFill>
              </a:rPr>
              <a:t>13</a:t>
            </a:r>
          </a:p>
        </p:txBody>
      </p:sp>
      <p:sp>
        <p:nvSpPr>
          <p:cNvPr id="15" name="">
            <a:extLst xmlns:a="http://schemas.openxmlformats.org/drawingml/2006/main">
              <a:ext uri="{FF2B5EF4-FFF2-40B4-BE49-F238E27FC236}">
                <a16:creationId xmlns:a16="http://schemas.microsoft.com/office/drawing/2014/main" id="{E7508C6C-08C6-40F9-BBB0-889F279E1211}"/>
              </a:ext>
            </a:extLst>
          </p:cNvPr>
          <p:cNvSpPr>
            <a:spLocks xmlns:a="http://schemas.openxmlformats.org/drawingml/2006/main" noGrp="1"/>
          </p:cNvSpPr>
          <p:nvPr/>
        </p:nvSpPr>
        <p:spPr>
          <a:xfrm xmlns:a="http://schemas.openxmlformats.org/drawingml/2006/main">
            <a:off x="609600" y="1952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007A87"/>
                </a:solidFill>
              </a:defRPr>
            </a:pPr>
            <a:r>
              <a:rPr sz="1125" b="1" i="0">
                <a:solidFill>
                  <a:srgbClr val="007A87"/>
                </a:solidFill>
              </a:rPr>
              <a:t>ACCOUNT IDENTITY + DATA</a:t>
            </a:r>
          </a:p>
        </p:txBody>
      </p:sp>
      <p:graphicFrame>
        <p:nvGraphicFramePr>
          <p:cNvPr id="35" name=""/>
          <p:cNvGraphicFramePr/>
          <p:nvPr/>
        </p:nvGraphicFramePr>
        <p:xfrm>
          <a:off xmlns:a="http://schemas.openxmlformats.org/drawingml/2006/main" x="609600" y="2266950"/>
          <a:ext xmlns:a="http://schemas.openxmlformats.org/drawingml/2006/main" cx="10972800" cy="1600200"/>
        </p:xfrm>
        <a:graphic xmlns:a="http://schemas.openxmlformats.org/drawingml/2006/main">
          <a:graphicData uri="http://schemas.openxmlformats.org/drawingml/2006/table">
            <a:tbl>
              <a:tblPr/>
              <a:tblGrid>
                <a:gridCol w="2190750"/>
                <a:gridCol w="1619250"/>
                <a:gridCol w="1714500"/>
                <a:gridCol w="2000250"/>
                <a:gridCol w="2000250"/>
                <a:gridCol w="1447800"/>
              </a:tblGrid>
              <a:tr h="533400">
                <a:tc>
                  <a:txBody>
                    <a:bodyPr/>
                    <a:lstStyle/>
                    <a:p>
                      <a:r>
                        <a:rPr sz="938" b="1">
                          <a:solidFill>
                            <a:srgbClr val="FFFFFF"/>
                          </a:solidFill>
                        </a:rPr>
                        <a:t>Organization / legal entity</a:t>
                      </a:r>
                    </a:p>
                  </a:txBody>
                  <a:tcPr marL="76200" marR="76200" marT="38100" marB="38100" anchor="ctr">
                    <a:solidFill>
                      <a:srgbClr val="007A87"/>
                    </a:solidFill>
                  </a:tcPr>
                </a:tc>
                <a:tc>
                  <a:txBody>
                    <a:bodyPr/>
                    <a:lstStyle/>
                    <a:p>
                      <a:r>
                        <a:rPr sz="938" b="1">
                          <a:solidFill>
                            <a:srgbClr val="FFFFFF"/>
                          </a:solidFill>
                        </a:rPr>
                        <a:t>Account type</a:t>
                      </a:r>
                    </a:p>
                  </a:txBody>
                  <a:tcPr marL="76200" marR="76200" marT="38100" marB="38100" anchor="ctr">
                    <a:solidFill>
                      <a:srgbClr val="007A87"/>
                    </a:solidFill>
                  </a:tcPr>
                </a:tc>
                <a:tc>
                  <a:txBody>
                    <a:bodyPr/>
                    <a:lstStyle/>
                    <a:p>
                      <a:r>
                        <a:rPr sz="938" b="1">
                          <a:solidFill>
                            <a:srgbClr val="FFFFFF"/>
                          </a:solidFill>
                        </a:rPr>
                        <a:t>Self-funded dental admin?</a:t>
                      </a:r>
                    </a:p>
                  </a:txBody>
                  <a:tcPr marL="76200" marR="76200" marT="38100" marB="38100" anchor="ctr">
                    <a:solidFill>
                      <a:srgbClr val="007A87"/>
                    </a:solidFill>
                  </a:tcPr>
                </a:tc>
                <a:tc>
                  <a:txBody>
                    <a:bodyPr/>
                    <a:lstStyle/>
                    <a:p>
                      <a:r>
                        <a:rPr sz="938" b="1">
                          <a:solidFill>
                            <a:srgbClr val="FFFFFF"/>
                          </a:solidFill>
                        </a:rPr>
                        <a:t>Dental eligibility in Snowflake?</a:t>
                      </a:r>
                    </a:p>
                  </a:txBody>
                  <a:tcPr marL="76200" marR="76200" marT="38100" marB="38100" anchor="ctr">
                    <a:solidFill>
                      <a:srgbClr val="007A87"/>
                    </a:solidFill>
                  </a:tcPr>
                </a:tc>
                <a:tc>
                  <a:txBody>
                    <a:bodyPr/>
                    <a:lstStyle/>
                    <a:p>
                      <a:r>
                        <a:rPr sz="938" b="1">
                          <a:solidFill>
                            <a:srgbClr val="FFFFFF"/>
                          </a:solidFill>
                        </a:rPr>
                        <a:t>Claim-line data in Snowflake?</a:t>
                      </a:r>
                    </a:p>
                  </a:txBody>
                  <a:tcPr marL="76200" marR="76200" marT="38100" marB="38100" anchor="ctr">
                    <a:solidFill>
                      <a:srgbClr val="007A87"/>
                    </a:solidFill>
                  </a:tcPr>
                </a:tc>
                <a:tc>
                  <a:txBody>
                    <a:bodyPr/>
                    <a:lstStyle/>
                    <a:p>
                      <a:r>
                        <a:rPr sz="938" b="1">
                          <a:solidFill>
                            <a:srgbClr val="FFFFFF"/>
                          </a:solidFill>
                        </a:rPr>
                        <a:t>Cloud / region</a:t>
                      </a:r>
                    </a:p>
                  </a:txBody>
                  <a:tcPr marL="76200" marR="76200" marT="38100" marB="38100" anchor="ctr">
                    <a:solidFill>
                      <a:srgbClr val="007A87"/>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r h="53340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7" name="">
            <a:extLst xmlns:a="http://schemas.openxmlformats.org/drawingml/2006/main">
              <a:ext uri="{FF2B5EF4-FFF2-40B4-BE49-F238E27FC236}">
                <a16:creationId xmlns:a16="http://schemas.microsoft.com/office/drawing/2014/main" id="{8DF623A6-3EDA-4A34-9912-C46793A58F31}"/>
              </a:ext>
            </a:extLst>
          </p:cNvPr>
          <p:cNvSpPr>
            <a:spLocks xmlns:a="http://schemas.openxmlformats.org/drawingml/2006/main" noGrp="1"/>
          </p:cNvSpPr>
          <p:nvPr/>
        </p:nvSpPr>
        <p:spPr>
          <a:xfrm xmlns:a="http://schemas.openxmlformats.org/drawingml/2006/main">
            <a:off x="609600" y="41719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29B5E8"/>
                </a:solidFill>
              </a:defRPr>
            </a:pPr>
            <a:r>
              <a:rPr sz="1125" b="1" i="0">
                <a:solidFill>
                  <a:srgbClr val="29B5E8"/>
                </a:solidFill>
              </a:rPr>
              <a:t>COMMERCIAL + TECHNICAL READINESS</a:t>
            </a:r>
          </a:p>
        </p:txBody>
      </p:sp>
      <p:graphicFrame>
        <p:nvGraphicFramePr>
          <p:cNvPr id="37" name=""/>
          <p:cNvGraphicFramePr/>
          <p:nvPr/>
        </p:nvGraphicFramePr>
        <p:xfrm>
          <a:off xmlns:a="http://schemas.openxmlformats.org/drawingml/2006/main" x="609600" y="4486275"/>
          <a:ext xmlns:a="http://schemas.openxmlformats.org/drawingml/2006/main" cx="10972800" cy="1257300"/>
        </p:xfrm>
        <a:graphic xmlns:a="http://schemas.openxmlformats.org/drawingml/2006/main">
          <a:graphicData uri="http://schemas.openxmlformats.org/drawingml/2006/table">
            <a:tbl>
              <a:tblPr/>
              <a:tblGrid>
                <a:gridCol w="2476500"/>
                <a:gridCol w="2343150"/>
                <a:gridCol w="2000250"/>
                <a:gridCol w="2076450"/>
                <a:gridCol w="2076450"/>
              </a:tblGrid>
              <a:tr h="628650">
                <a:tc>
                  <a:txBody>
                    <a:bodyPr/>
                    <a:lstStyle/>
                    <a:p>
                      <a:r>
                        <a:rPr sz="938" b="1">
                          <a:solidFill>
                            <a:srgbClr val="FFFFFF"/>
                          </a:solidFill>
                        </a:rPr>
                        <a:t>Current navigation / teledentistry vendor</a:t>
                      </a:r>
                    </a:p>
                  </a:txBody>
                  <a:tcPr marL="76200" marR="76200" marT="38100" marB="38100" anchor="ctr">
                    <a:solidFill>
                      <a:srgbClr val="29B5E8"/>
                    </a:solidFill>
                  </a:tcPr>
                </a:tc>
                <a:tc>
                  <a:txBody>
                    <a:bodyPr/>
                    <a:lstStyle/>
                    <a:p>
                      <a:r>
                        <a:rPr sz="938" b="1">
                          <a:solidFill>
                            <a:srgbClr val="FFFFFF"/>
                          </a:solidFill>
                        </a:rPr>
                        <a:t>Potential ICLO whitespace</a:t>
                      </a:r>
                    </a:p>
                  </a:txBody>
                  <a:tcPr marL="76200" marR="76200" marT="38100" marB="38100" anchor="ctr">
                    <a:solidFill>
                      <a:srgbClr val="29B5E8"/>
                    </a:solidFill>
                  </a:tcPr>
                </a:tc>
                <a:tc>
                  <a:txBody>
                    <a:bodyPr/>
                    <a:lstStyle/>
                    <a:p>
                      <a:r>
                        <a:rPr sz="938" b="1">
                          <a:solidFill>
                            <a:srgbClr val="FFFFFF"/>
                          </a:solidFill>
                        </a:rPr>
                        <a:t>Snowflake account owner</a:t>
                      </a:r>
                    </a:p>
                  </a:txBody>
                  <a:tcPr marL="76200" marR="76200" marT="38100" marB="38100" anchor="ctr">
                    <a:solidFill>
                      <a:srgbClr val="29B5E8"/>
                    </a:solidFill>
                  </a:tcPr>
                </a:tc>
                <a:tc>
                  <a:txBody>
                    <a:bodyPr/>
                    <a:lstStyle/>
                    <a:p>
                      <a:r>
                        <a:rPr sz="938" b="1">
                          <a:solidFill>
                            <a:srgbClr val="FFFFFF"/>
                          </a:solidFill>
                        </a:rPr>
                        <a:t>Technical validation ready?</a:t>
                      </a:r>
                    </a:p>
                  </a:txBody>
                  <a:tcPr marL="76200" marR="76200" marT="38100" marB="38100" anchor="ctr">
                    <a:solidFill>
                      <a:srgbClr val="29B5E8"/>
                    </a:solidFill>
                  </a:tcPr>
                </a:tc>
                <a:tc>
                  <a:txBody>
                    <a:bodyPr/>
                    <a:lstStyle/>
                    <a:p>
                      <a:r>
                        <a:rPr sz="938" b="1">
                          <a:solidFill>
                            <a:srgbClr val="FFFFFF"/>
                          </a:solidFill>
                        </a:rPr>
                        <a:t>Customer introduction ready?</a:t>
                      </a:r>
                    </a:p>
                  </a:txBody>
                  <a:tcPr marL="76200" marR="76200" marT="38100" marB="38100" anchor="ctr">
                    <a:solidFill>
                      <a:srgbClr val="29B5E8"/>
                    </a:solidFill>
                  </a:tcPr>
                </a:tc>
              </a:tr>
              <a:tr h="628650">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c>
                  <a:txBody>
                    <a:bodyPr/>
                    <a:lstStyle/>
                    <a:p>
                      <a:r>
                        <a:rPr sz="863">
                          <a:solidFill>
                            <a:srgbClr val="152238"/>
                          </a:solidFill>
                        </a:rPr>
                        <a:t/>
                      </a:r>
                    </a:p>
                  </a:txBody>
                  <a:tcPr marL="76200" marR="76200" marT="38100" marB="38100" anchor="ctr">
                    <a:solidFill>
                      <a:srgbClr val="FFFFFF"/>
                    </a:solidFill>
                  </a:tcPr>
                </a:tc>
              </a:tr>
            </a:tbl>
          </a:graphicData>
        </a:graphic>
      </p:graphicFrame>
      <p:sp>
        <p:nvSpPr>
          <p:cNvPr id="19" name="">
            <a:extLst xmlns:a="http://schemas.openxmlformats.org/drawingml/2006/main">
              <a:ext uri="{FF2B5EF4-FFF2-40B4-BE49-F238E27FC236}">
                <a16:creationId xmlns:a16="http://schemas.microsoft.com/office/drawing/2014/main" id="{D2B0FD43-431F-4889-81DF-3DEA97759322}"/>
              </a:ext>
            </a:extLst>
          </p:cNvPr>
          <p:cNvSpPr>
            <a:spLocks xmlns:a="http://schemas.openxmlformats.org/drawingml/2006/main" noGrp="1"/>
          </p:cNvSpPr>
          <p:nvPr/>
        </p:nvSpPr>
        <p:spPr>
          <a:xfrm xmlns:a="http://schemas.openxmlformats.org/drawingml/2006/main">
            <a:off x="609600" y="61150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7A79"/>
                </a:solidFill>
              </a:defRPr>
            </a:pPr>
            <a:r>
              <a:rPr sz="1050" b="1" i="0">
                <a:solidFill>
                  <a:srgbClr val="FF7A79"/>
                </a:solidFill>
              </a:rPr>
              <a:t>No statement that 'many TPAs are on Snowflake' should be used before this matrix contains account evidence.</a:t>
            </a:r>
          </a:p>
        </p:txBody>
      </p:sp>
    </p:spTree>
    <p:extLst>
      <p:ext uri="{BB962C8B-B14F-4D97-AF65-F5344CB8AC3E}">
        <p14:creationId xmlns:p14="http://schemas.microsoft.com/office/powerpoint/2010/main" val="20514265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2026-08-05T10:39:23.9080000Z</dcterms:created>
  <dcterms:modified xsi:type="dcterms:W3CDTF">2026-08-05T10:39:23.9080000Z</dcterms:modified>
</coreProperties>
</file>