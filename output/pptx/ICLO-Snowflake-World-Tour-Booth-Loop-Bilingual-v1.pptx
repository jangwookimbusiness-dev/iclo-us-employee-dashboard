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c0d865396147e5" /><Relationship Type="http://schemas.openxmlformats.org/officeDocument/2006/relationships/extended-properties" Target="/docProps/app.xml" Id="Ra1a0ef69611f4827" /><Relationship Type="http://schemas.openxmlformats.org/officeDocument/2006/relationships/officeDocument" Target="/ppt/presentation.xml" Id="R7a93d7968ceb44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135e7aad2d413f"/>
  </p:sldMasterIdLst>
  <p:notesMasterIdLst>
    <p:notesMasterId xmlns:r="http://schemas.openxmlformats.org/officeDocument/2006/relationships" r:id="Rcf696659e73e499d"/>
  </p:notesMasterIdLst>
  <p:sldIdLst>
    <p:sldId xmlns:r="http://schemas.openxmlformats.org/officeDocument/2006/relationships" id="256" r:id="Rfb9600a5338647ba"/>
    <p:sldId xmlns:r="http://schemas.openxmlformats.org/officeDocument/2006/relationships" id="257" r:id="R0a2d7f3fb7fe4316"/>
    <p:sldId xmlns:r="http://schemas.openxmlformats.org/officeDocument/2006/relationships" id="258" r:id="R7656dfa5aa5444a3"/>
    <p:sldId xmlns:r="http://schemas.openxmlformats.org/officeDocument/2006/relationships" id="259" r:id="R9c24c63794644d30"/>
    <p:sldId xmlns:r="http://schemas.openxmlformats.org/officeDocument/2006/relationships" id="260" r:id="R03d56b0bfac64013"/>
    <p:sldId xmlns:r="http://schemas.openxmlformats.org/officeDocument/2006/relationships" id="261" r:id="R14e18341d9f643e9"/>
    <p:sldId xmlns:r="http://schemas.openxmlformats.org/officeDocument/2006/relationships" id="262" r:id="R3a4f3c48aa6148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80ce5b36174f16" /><Relationship Type="http://schemas.openxmlformats.org/officeDocument/2006/relationships/slideMaster" Target="/ppt/slideMasters/slideMaster1.xml" Id="R61135e7aad2d413f" /><Relationship Type="http://schemas.openxmlformats.org/officeDocument/2006/relationships/notesMaster" Target="/ppt/notesMasters/notesMaster1.xml" Id="Rcf696659e73e499d" /><Relationship Type="http://schemas.openxmlformats.org/officeDocument/2006/relationships/presProps" Target="/ppt/presProps.xml" Id="R004b5a2f31ef44c2" /><Relationship Type="http://schemas.openxmlformats.org/officeDocument/2006/relationships/tableStyles" Target="/ppt/tableStyles.xml" Id="R73ef206dc6c646cf" /><Relationship Type="http://schemas.openxmlformats.org/officeDocument/2006/relationships/slide" Target="/ppt/slides/slide1.xml" Id="Rfb9600a5338647ba" /><Relationship Type="http://schemas.openxmlformats.org/officeDocument/2006/relationships/slide" Target="/ppt/slides/slide2.xml" Id="R0a2d7f3fb7fe4316" /><Relationship Type="http://schemas.openxmlformats.org/officeDocument/2006/relationships/slide" Target="/ppt/slides/slide3.xml" Id="R7656dfa5aa5444a3" /><Relationship Type="http://schemas.openxmlformats.org/officeDocument/2006/relationships/slide" Target="/ppt/slides/slide4.xml" Id="R9c24c63794644d30" /><Relationship Type="http://schemas.openxmlformats.org/officeDocument/2006/relationships/slide" Target="/ppt/slides/slide5.xml" Id="R03d56b0bfac64013" /><Relationship Type="http://schemas.openxmlformats.org/officeDocument/2006/relationships/slide" Target="/ppt/slides/slide6.xml" Id="R14e18341d9f643e9" /><Relationship Type="http://schemas.openxmlformats.org/officeDocument/2006/relationships/slide" Target="/ppt/slides/slide7.xml" Id="R3a4f3c48aa6148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5b63ea08944d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6399d121584b75" /><Relationship Type="http://schemas.openxmlformats.org/officeDocument/2006/relationships/notesMaster" Target="/ppt/notesMasters/notesMaster1.xml" Id="R1e396d4bde914b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63cfa7bac44576" /><Relationship Type="http://schemas.openxmlformats.org/officeDocument/2006/relationships/notesMaster" Target="/ppt/notesMasters/notesMaster1.xml" Id="R16b4b26b0a4d48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a460d2c7194aa7" /><Relationship Type="http://schemas.openxmlformats.org/officeDocument/2006/relationships/notesMaster" Target="/ppt/notesMasters/notesMaster1.xml" Id="R6767a03cc40d40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2d935ff8034ea1" /><Relationship Type="http://schemas.openxmlformats.org/officeDocument/2006/relationships/notesMaster" Target="/ppt/notesMasters/notesMaster1.xml" Id="Ra3acfcc96d0249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db61a3155d46b0" /><Relationship Type="http://schemas.openxmlformats.org/officeDocument/2006/relationships/notesMaster" Target="/ppt/notesMasters/notesMaster1.xml" Id="R4ecf1376e1d74c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c53411ba2848c0" /><Relationship Type="http://schemas.openxmlformats.org/officeDocument/2006/relationships/notesMaster" Target="/ppt/notesMasters/notesMaster1.xml" Id="R95ee2f0f156e47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733b1603884a6f" /><Relationship Type="http://schemas.openxmlformats.org/officeDocument/2006/relationships/notesMaster" Target="/ppt/notesMasters/notesMaster1.xml" Id="R05cad0b43d074a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부스 첫 5초 화면. ICLO를 치아 사진 AI가 아니라 employee dental-benefit navigation과 claims-verified aggregate evidence로 소개한다. 실사 이미지는 생성형 이미지이지만 텍스트·로고·UI는 이미지 안에 합성하지 않고 편집 가능한 레이어로 분리했다.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/Users/jk0307/Downloads/[스타트업 프로그램 코호트사용] 260827 Snowflake World Tour - Seoul - Startup Village Guide Deck (1).pdf</a:t>
            </a:r>
          </a:p>
          <a:p xmlns:a="http://schemas.openxmlformats.org/drawingml/2006/main">
            <a:r>
              <a:t>- User-provided ICLO positioning</a:t>
            </a:r>
          </a:p>
          <a:p xmlns:a="http://schemas.openxmlformats.org/drawingml/2006/main">
            <a:r>
              <a:t>- /Users/jk0307/Documents/GitHub/iclo/iclo-us-employee-dashboard/tmp/iclo-world-tour-v1/assets/hero-employee.png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Snowflake 고객사 임직원이 즉시 공감할 수 있도록 미국 치과보험 friction을 network, cost sharing, real availability의 세 질문으로 압축한다. Provider choice는 plan/network rules에 따라 제한되거나 경제적으로 불리해질 수 있다는 수준으로만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ICLO Snowflake external briefing source material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Employee app events, eligibility, plan/provider context와 claims를 Snowflake governed evidence plane에서 연결하되 raw oral image는 별도 U.S. object storage/PHI vault 경로에 둔다. 모델 신호와 예약/임상 routing을 시스템적으로 분리하고 employer에는 개인 신호를 제공하지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ICLO Snowflake external briefing addendum 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성과가 아니라 synthetic sample이다. 현장 설명 시 employee lens와 member lens, eligibility/claims 기준일, lag, completeness, n≥20 suppression을 먼저 가리킨다. employer가 개인 PHI를 보지 않는다는 점을 명확히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https://jangwookimbusiness-dev.github.io/iclo-us-employee-dashboard/</a:t>
            </a:r>
          </a:p>
          <a:p xmlns:a="http://schemas.openxmlformats.org/drawingml/2006/main">
            <a:r>
              <a:t>- /Users/jk0307/Documents/GitHub/iclo/iclo-us-employee-dashboard/index.html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J-curve는 planning hypothesis다. 첫해 예방 이용과 미치료 상태 발견으로 allowed, plan-paid, employee OOP가 서로 다르게 움직일 수 있다. 실제 ICLO 성과값으로 제시하지 않으며 year-one savings guarantee를 하지 않는다. Turnover sensitivity는 Snowflake analytics use case로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ICLO Snowflake external briefing addendum 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선정 사실은 사용자가 확인한 정보다. 프로그램 선정은 금융사 협업을 위한 검증 채널과 준비도의 신호로만 설명하고, 완료된 제휴·계약·성과로 표현하지 않는다. 화면의 인물 사진은 생성형 실사 이미지이며 실제 프로그램 관계자가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confirmation: Fintech Cube 9 and Shinhan Future’s Lab 12 selection</a:t>
            </a:r>
          </a:p>
          <a:p xmlns:a="http://schemas.openxmlformats.org/drawingml/2006/main">
            <a:r>
              <a:t>- https://fintech.or.kr/</a:t>
            </a:r>
          </a:p>
          <a:p xmlns:a="http://schemas.openxmlformats.org/drawingml/2006/main">
            <a:r>
              <a:t>- https://www.futureslab.kr/</a:t>
            </a:r>
          </a:p>
          <a:p xmlns:a="http://schemas.openxmlformats.org/drawingml/2006/main">
            <a:r>
              <a:t>- /Users/jk0307/Documents/GitHub/iclo/iclo-us-employee-dashboard/tmp/iclo-world-tour-v1/assets/collaboration-team.png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QR은 공개 synthetic dashboard로 연결된다. 리드 스캐너가 제공되지 않으므로 현장에서 질문을 받은 뒤 데모 QR을 보여주고, 별도 폼 또는 명함 수집 프로세스와 연결한다. Snowflake가 ICLO를 보증하거나 co-sell한다는 의미로 설명하지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/Users/jk0307/Downloads/[스타트업 프로그램 코호트사용] 260827 Snowflake World Tour - Seoul - Startup Village Guide Deck (1).pdf</a:t>
            </a:r>
          </a:p>
          <a:p xmlns:a="http://schemas.openxmlformats.org/drawingml/2006/main">
            <a:r>
              <a:t>- https://jangwookimbusiness-dev.github.io/iclo-us-employee-dashboard/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4d2eaa34244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f714c2d1b6466a" /><Relationship Type="http://schemas.openxmlformats.org/officeDocument/2006/relationships/slideLayout" Target="/ppt/slideLayouts/slideLayout1.xml" Id="R1630b769cf644d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30b769cf644d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a3e52f600487c" /><Relationship Type="http://schemas.openxmlformats.org/officeDocument/2006/relationships/image" Target="/ppt/media/image.png" Id="Rcd6381654c5c4514" /><Relationship Type="http://schemas.openxmlformats.org/officeDocument/2006/relationships/image" Target="/ppt/media/image2.png" Id="R4b939651cad44cfb" /><Relationship Type="http://schemas.openxmlformats.org/officeDocument/2006/relationships/image" Target="/ppt/media/image3.png" Id="Rf0f35d7a8ca048e6" /><Relationship Type="http://schemas.openxmlformats.org/officeDocument/2006/relationships/notesSlide" Target="/ppt/notesSlides/notesSlide1.xml" Id="Raa374bd94eb34c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0e8e38e414b57" /><Relationship Type="http://schemas.openxmlformats.org/officeDocument/2006/relationships/image" Target="/ppt/media/image4.png" Id="R7495957971e74fe7" /><Relationship Type="http://schemas.openxmlformats.org/officeDocument/2006/relationships/image" Target="/ppt/media/image5.png" Id="R8434aa0ff26e4c0a" /><Relationship Type="http://schemas.openxmlformats.org/officeDocument/2006/relationships/notesSlide" Target="/ppt/notesSlides/notesSlide2.xml" Id="R27fc73192d804d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7627868104249" /><Relationship Type="http://schemas.openxmlformats.org/officeDocument/2006/relationships/image" Target="/ppt/media/image6.png" Id="R8c6554e0e6434656" /><Relationship Type="http://schemas.openxmlformats.org/officeDocument/2006/relationships/image" Target="/ppt/media/image7.png" Id="R9b0a37f90576403c" /><Relationship Type="http://schemas.openxmlformats.org/officeDocument/2006/relationships/notesSlide" Target="/ppt/notesSlides/notesSlide3.xml" Id="R03f837b83a2941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fb50789dc491f" /><Relationship Type="http://schemas.openxmlformats.org/officeDocument/2006/relationships/image" Target="/ppt/media/image8.png" Id="R361bab8b9c614d82" /><Relationship Type="http://schemas.openxmlformats.org/officeDocument/2006/relationships/image" Target="/ppt/media/image9.png" Id="R5fa73bed196d467a" /><Relationship Type="http://schemas.openxmlformats.org/officeDocument/2006/relationships/image" Target="/ppt/media/image10.png" Id="Rcd89ca4c27524004" /><Relationship Type="http://schemas.openxmlformats.org/officeDocument/2006/relationships/notesSlide" Target="/ppt/notesSlides/notesSlide4.xml" Id="R1b0e70873bb840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cb6515e7e430f" /><Relationship Type="http://schemas.openxmlformats.org/officeDocument/2006/relationships/image" Target="/ppt/media/image11.png" Id="R339378054c8d4649" /><Relationship Type="http://schemas.openxmlformats.org/officeDocument/2006/relationships/image" Target="/ppt/media/image12.png" Id="Rdbae2b6f2c2e42d4" /><Relationship Type="http://schemas.openxmlformats.org/officeDocument/2006/relationships/notesSlide" Target="/ppt/notesSlides/notesSlide5.xml" Id="Rd0f76383ae254b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e7d96c83a4d67" /><Relationship Type="http://schemas.openxmlformats.org/officeDocument/2006/relationships/image" Target="/ppt/media/image13.png" Id="R9d7b5b9c4e3b468d" /><Relationship Type="http://schemas.openxmlformats.org/officeDocument/2006/relationships/image" Target="/ppt/media/image14.png" Id="R3dd72ee7990e416a" /><Relationship Type="http://schemas.openxmlformats.org/officeDocument/2006/relationships/image" Target="/ppt/media/image15.png" Id="R70eb05b3bd104c84" /><Relationship Type="http://schemas.openxmlformats.org/officeDocument/2006/relationships/notesSlide" Target="/ppt/notesSlides/notesSlide6.xml" Id="R4b0ccb4afcaf48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6cee71068478f" /><Relationship Type="http://schemas.openxmlformats.org/officeDocument/2006/relationships/image" Target="/ppt/media/image16.png" Id="Rb82bcee287bb44a1" /><Relationship Type="http://schemas.openxmlformats.org/officeDocument/2006/relationships/image" Target="/ppt/media/image17.png" Id="R64740bf297704bd1" /><Relationship Type="http://schemas.openxmlformats.org/officeDocument/2006/relationships/image" Target="/ppt/media/image18.png" Id="R5ac67d865737469d" /><Relationship Type="http://schemas.openxmlformats.org/officeDocument/2006/relationships/notesSlide" Target="/ppt/notesSlides/notesSlide7.xml" Id="Re92bbd6a63414d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381654c5c451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11517-E838-4DBC-9C5E-94575B04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CFD97-12FD-4F95-B687-948489F5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39651cad44cfb"/>
          <a:stretch xmlns:a="http://schemas.openxmlformats.org/drawingml/2006/main"/>
        </p:blipFill>
        <p:spPr>
          <a:xfrm xmlns:a="http://schemas.openxmlformats.org/drawingml/2006/main">
            <a:off x="590585" y="400050"/>
            <a:ext cx="1352480" cy="49368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42208-71D1-4227-B93D-42BC1598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76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6A75"/>
                </a:solidFill>
              </a:defRPr>
            </a:pPr>
            <a:r>
              <a:rPr sz="1425" b="1" i="0">
                <a:solidFill>
                  <a:srgbClr val="5E6A75"/>
                </a:solidFill>
              </a:rPr>
              <a:t>×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35d7a8ca048e6"/>
          <a:stretch xmlns:a="http://schemas.openxmlformats.org/drawingml/2006/main"/>
        </p:blipFill>
        <p:spPr>
          <a:xfrm xmlns:a="http://schemas.openxmlformats.org/drawingml/2006/main">
            <a:off x="2400300" y="400115"/>
            <a:ext cx="2333625" cy="45376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F8B95-EFBF-4E18-A2CE-DBAB8EC4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7D82"/>
                </a:solidFill>
              </a:defRPr>
            </a:pPr>
            <a:r>
              <a:rPr sz="900" b="1" i="0">
                <a:solidFill>
                  <a:srgbClr val="167D82"/>
                </a:solidFill>
              </a:rPr>
              <a:t>EMPLOYEE DENTAL BENEFITS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08FD8-B7EB-4A3A-9B83-0B87AAF6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5810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12243A"/>
                </a:solidFill>
              </a:defRPr>
            </a:pPr>
            <a:r>
              <a:rPr sz="3675" b="1" i="0">
                <a:solidFill>
                  <a:srgbClr val="12243A"/>
                </a:solidFill>
              </a:rPr>
              <a:t>MAKE DENTAL BENEFITS</a:t>
            </a:r>
          </a:p>
          <a:p xmlns:a="http://schemas.openxmlformats.org/drawingml/2006/main">
            <a:pPr algn="l">
              <a:defRPr sz="3675" b="1" i="0">
                <a:solidFill>
                  <a:srgbClr val="12243A"/>
                </a:solidFill>
              </a:defRPr>
            </a:pPr>
            <a:r>
              <a:rPr sz="3675" b="1" i="0">
                <a:solidFill>
                  <a:srgbClr val="12243A"/>
                </a:solidFill>
              </a:rPr>
              <a:t>EASIER TO 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85D14-3DBD-4E87-8873-2D544E0B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4364C"/>
                </a:solidFill>
              </a:defRPr>
            </a:pPr>
            <a:r>
              <a:rPr sz="1650" b="1" i="0">
                <a:solidFill>
                  <a:srgbClr val="24364C"/>
                </a:solidFill>
              </a:rPr>
              <a:t>직원이 치과 혜택을 제대로 누리도록.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779B7-EE0E-4A1E-99BD-E9003B41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018D8-908B-4E40-A3AE-57BBBF15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64C"/>
                </a:solidFill>
              </a:defRPr>
            </a:pPr>
            <a:r>
              <a:rPr sz="1500" b="0" i="0">
                <a:solidFill>
                  <a:srgbClr val="24364C"/>
                </a:solidFill>
              </a:rPr>
              <a:t>직원은 혜택을 이해하고, 회사는 청구로 확인합니다.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D8274-BE45-447E-9500-8F2D37EA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E6A75"/>
                </a:solidFill>
              </a:defRPr>
            </a:pPr>
            <a:r>
              <a:rPr sz="1163" b="0" i="0">
                <a:solidFill>
                  <a:srgbClr val="5E6A75"/>
                </a:solidFill>
              </a:rPr>
              <a:t>Employees navigate care. Employers see claims-verified, aggregate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99DE2-F745-436E-8ED4-D4ED09E5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167D82"/>
                </a:solidFill>
              </a:defRPr>
            </a:pPr>
            <a:r>
              <a:rPr sz="938" b="1" i="0">
                <a:solidFill>
                  <a:srgbClr val="167D82"/>
                </a:solidFill>
              </a:rPr>
              <a:t>Employee navigation · Claims-verified evidence</a:t>
            </a:r>
          </a:p>
        </p:txBody>
      </p:sp>
    </p:spTree>
    <p:extLst>
      <p:ext uri="{BB962C8B-B14F-4D97-AF65-F5344CB8AC3E}">
        <p14:creationId xmlns:p14="http://schemas.microsoft.com/office/powerpoint/2010/main" val="9091888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5957971e74fe7"/>
          <a:stretch xmlns:a="http://schemas.openxmlformats.org/drawingml/2006/main"/>
        </p:blipFill>
        <p:spPr>
          <a:xfrm xmlns:a="http://schemas.openxmlformats.org/drawingml/2006/main">
            <a:off x="8601098" y="285750"/>
            <a:ext cx="876254" cy="319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04E5B-C59C-459B-A0DC-A0D4007B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33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6A75"/>
                </a:solidFill>
              </a:defRPr>
            </a:pPr>
            <a:r>
              <a:rPr sz="1425" b="1" i="0">
                <a:solidFill>
                  <a:srgbClr val="5E6A75"/>
                </a:solidFill>
              </a:rPr>
              <a:t>×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4aa0ff26e4c0a"/>
          <a:stretch xmlns:a="http://schemas.openxmlformats.org/drawingml/2006/main"/>
        </p:blipFill>
        <p:spPr>
          <a:xfrm xmlns:a="http://schemas.openxmlformats.org/drawingml/2006/main">
            <a:off x="9934575" y="285802"/>
            <a:ext cx="1866900" cy="36300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E7EF7-616C-4269-BA03-D4508DC3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953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243A"/>
                </a:solidFill>
              </a:defRPr>
            </a:pPr>
            <a:r>
              <a:rPr sz="2700" b="1" i="0">
                <a:solidFill>
                  <a:srgbClr val="12243A"/>
                </a:solidFill>
              </a:rPr>
              <a:t>Coverage does not solve navigation.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3F2A4-D110-4498-95D0-8849DD5C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795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A75"/>
                </a:solidFill>
              </a:defRPr>
            </a:pPr>
            <a:r>
              <a:rPr sz="1350" b="0" i="0">
                <a:solidFill>
                  <a:srgbClr val="5E6A75"/>
                </a:solidFill>
              </a:rPr>
              <a:t>보험이 있어도, 이용은 여전히 어렵습니다.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A7371-01F8-45AB-8EDA-2181DEAF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solidFill>
              <a:srgbClr val="D7DE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A8193-BCC1-46AE-BF5E-2F5C0FDE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38C4F-C612-4E5D-BB34-5E38F143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solidFill>
              <a:srgbClr val="D7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EDE8C-FD9F-49F0-972A-3E3B5151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E6A75"/>
                </a:solidFill>
              </a:defRPr>
            </a:pPr>
            <a:r>
              <a:rPr sz="788" b="0" i="0">
                <a:solidFill>
                  <a:srgbClr val="5E6A75"/>
                </a:solidFill>
              </a:rPr>
              <a:t>ICLO · SNOWFLAKE WORLD TOUR SEOUL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E478D-554E-48E6-928A-1B048EF7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5E6A75"/>
                </a:solidFill>
              </a:defRPr>
            </a:pPr>
            <a:r>
              <a:rPr sz="788" b="0" i="0">
                <a:solidFill>
                  <a:srgbClr val="5E6A7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26AFD-A24F-4381-8895-FEDCF49A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7D82"/>
                </a:solidFill>
              </a:defRPr>
            </a:pPr>
            <a:r>
              <a:rPr sz="825" b="1" i="0">
                <a:solidFill>
                  <a:srgbClr val="167D82"/>
                </a:solidFill>
              </a:rPr>
              <a:t>WHERE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7B166-C81C-4C6F-AF24-E790D08C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3000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2243A"/>
                </a:solidFill>
              </a:defRPr>
            </a:pPr>
            <a:r>
              <a:rPr sz="3600" b="1" i="0">
                <a:solidFill>
                  <a:srgbClr val="12243A"/>
                </a:solidFill>
              </a:rPr>
              <a:t>어디로?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11E76E-7A30-4DE6-B029-E4FA613A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364C"/>
                </a:solidFill>
              </a:defRPr>
            </a:pPr>
            <a:r>
              <a:rPr sz="1800" b="1" i="0">
                <a:solidFill>
                  <a:srgbClr val="24364C"/>
                </a:solidFill>
              </a:rPr>
              <a:t>네트워크 안의 치과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EB437-7DB4-4E33-806F-6A5FC806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A75"/>
                </a:solidFill>
              </a:defRPr>
            </a:pPr>
            <a:r>
              <a:rPr sz="1200" b="0" i="0">
                <a:solidFill>
                  <a:srgbClr val="5E6A75"/>
                </a:solidFill>
              </a:rPr>
              <a:t>In-network care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B890D-21AC-48CF-B78A-2C15C9AB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90750"/>
            <a:ext cx="95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solidFill>
              <a:srgbClr val="D7DE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9ABF3-994E-4490-AC90-35D86BA6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71700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7D82"/>
                </a:solidFill>
              </a:defRPr>
            </a:pPr>
            <a:r>
              <a:rPr sz="825" b="1" i="0">
                <a:solidFill>
                  <a:srgbClr val="167D82"/>
                </a:solidFill>
              </a:rPr>
              <a:t>HOW MUCH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CB25F4-1E5D-491F-8187-AA61E394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533650"/>
            <a:ext cx="3000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2243A"/>
                </a:solidFill>
              </a:defRPr>
            </a:pPr>
            <a:r>
              <a:rPr sz="3600" b="1" i="0">
                <a:solidFill>
                  <a:srgbClr val="12243A"/>
                </a:solidFill>
              </a:rPr>
              <a:t>얼마?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9515EF-BFFD-478F-9604-967D92A9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476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364C"/>
                </a:solidFill>
              </a:defRPr>
            </a:pPr>
            <a:r>
              <a:rPr sz="1800" b="1" i="0">
                <a:solidFill>
                  <a:srgbClr val="24364C"/>
                </a:solidFill>
              </a:rPr>
              <a:t>내 부담금과 한도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1B4A6F-24D6-4407-B14C-F5F0E869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000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A75"/>
                </a:solidFill>
              </a:defRPr>
            </a:pPr>
            <a:r>
              <a:rPr sz="1200" b="0" i="0">
                <a:solidFill>
                  <a:srgbClr val="5E6A75"/>
                </a:solidFill>
              </a:rPr>
              <a:t>OOP · deductible · annual maximum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963069-0F32-49A5-A921-A2C3B882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90750"/>
            <a:ext cx="95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solidFill>
              <a:srgbClr val="D7DE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1428A-E414-43FB-823C-A4D1F733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7D82"/>
                </a:solidFill>
              </a:defRPr>
            </a:pPr>
            <a:r>
              <a:rPr sz="825" b="1" i="0">
                <a:solidFill>
                  <a:srgbClr val="167D82"/>
                </a:solidFill>
              </a:rPr>
              <a:t>WHEN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29133C-D174-42F3-9AB6-3BA33FE7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33650"/>
            <a:ext cx="3000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2243A"/>
                </a:solidFill>
              </a:defRPr>
            </a:pPr>
            <a:r>
              <a:rPr sz="3600" b="1" i="0">
                <a:solidFill>
                  <a:srgbClr val="12243A"/>
                </a:solidFill>
              </a:rPr>
              <a:t>언제?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DF90F3-676E-448B-8C2A-414E08F3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76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364C"/>
                </a:solidFill>
              </a:defRPr>
            </a:pPr>
            <a:r>
              <a:rPr sz="1800" b="1" i="0">
                <a:solidFill>
                  <a:srgbClr val="24364C"/>
                </a:solidFill>
              </a:rPr>
              <a:t>실제 예약 가능 시간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65D4A8-FCA8-4DED-922B-A622247B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A75"/>
                </a:solidFill>
              </a:defRPr>
            </a:pPr>
            <a:r>
              <a:rPr sz="1200" b="0" i="0">
                <a:solidFill>
                  <a:srgbClr val="5E6A75"/>
                </a:solidFill>
              </a:rPr>
              <a:t>Directory ≠ real availability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D50DD6-2548-436B-9B27-B643C1A3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64595B-D18F-4A67-B228-8BE26670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43A"/>
                </a:solidFill>
              </a:defRPr>
            </a:pPr>
            <a:r>
              <a:rPr sz="1650" b="1" i="0">
                <a:solidFill>
                  <a:srgbClr val="12243A"/>
                </a:solidFill>
              </a:rPr>
              <a:t>직원은 이 세 가지를 한 번에 확인하기 어렵습니다.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199FF6-CC24-4B14-B6A3-2EF0AB5F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E6A75"/>
                </a:solidFill>
              </a:defRPr>
            </a:pPr>
            <a:r>
              <a:rPr sz="1163" b="0" i="0">
                <a:solidFill>
                  <a:srgbClr val="5E6A75"/>
                </a:solidFill>
              </a:rPr>
              <a:t>Employees rarely see all three in one place.</a:t>
            </a:r>
          </a:p>
        </p:txBody>
      </p:sp>
    </p:spTree>
    <p:extLst>
      <p:ext uri="{BB962C8B-B14F-4D97-AF65-F5344CB8AC3E}">
        <p14:creationId xmlns:p14="http://schemas.microsoft.com/office/powerpoint/2010/main" val="13065819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554e0e6434656"/>
          <a:stretch xmlns:a="http://schemas.openxmlformats.org/drawingml/2006/main"/>
        </p:blipFill>
        <p:spPr>
          <a:xfrm xmlns:a="http://schemas.openxmlformats.org/drawingml/2006/main">
            <a:off x="8601098" y="285750"/>
            <a:ext cx="876254" cy="319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E2053-B77B-4370-BFA4-C9DD5D23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33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6A75"/>
                </a:solidFill>
              </a:defRPr>
            </a:pPr>
            <a:r>
              <a:rPr sz="1425" b="1" i="0">
                <a:solidFill>
                  <a:srgbClr val="5E6A75"/>
                </a:solidFill>
              </a:rPr>
              <a:t>×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a37f90576403c"/>
          <a:stretch xmlns:a="http://schemas.openxmlformats.org/drawingml/2006/main"/>
        </p:blipFill>
        <p:spPr>
          <a:xfrm xmlns:a="http://schemas.openxmlformats.org/drawingml/2006/main">
            <a:off x="9934575" y="285802"/>
            <a:ext cx="1866900" cy="36300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5DFB6-9A9E-490B-AB42-4452B7FD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953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243A"/>
                </a:solidFill>
              </a:defRPr>
            </a:pPr>
            <a:r>
              <a:rPr sz="2700" b="1" i="0">
                <a:solidFill>
                  <a:srgbClr val="12243A"/>
                </a:solidFill>
              </a:rPr>
              <a:t>Navigation in front. Evidence in 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C9F28-754C-4B93-87B2-123CC825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795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A75"/>
                </a:solidFill>
              </a:defRPr>
            </a:pPr>
            <a:r>
              <a:rPr sz="1350" b="0" i="0">
                <a:solidFill>
                  <a:srgbClr val="5E6A75"/>
                </a:solidFill>
              </a:rPr>
              <a:t>앞에서는 내비게이션. 뒤에서는 증거.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C39A5-D9C0-44E8-9FF0-56C7CE68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solidFill>
              <a:srgbClr val="D7DE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AB238-3A39-4BC7-B1B2-D4EBBA99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F8328-D989-4156-B4AD-9AC96373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solidFill>
              <a:srgbClr val="D7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E7E33-CDD9-4EA3-A379-82AA077D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E6A75"/>
                </a:solidFill>
              </a:defRPr>
            </a:pPr>
            <a:r>
              <a:rPr sz="788" b="0" i="0">
                <a:solidFill>
                  <a:srgbClr val="5E6A75"/>
                </a:solidFill>
              </a:rPr>
              <a:t>ICLO · SNOWFLAKE WORLD TOUR SEOUL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38CD3-F59C-463B-A96D-87E6545F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5E6A75"/>
                </a:solidFill>
              </a:defRPr>
            </a:pPr>
            <a:r>
              <a:rPr sz="788" b="0" i="0">
                <a:solidFill>
                  <a:srgbClr val="5E6A7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670D9-8FE8-4BAD-BE65-BE81A997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2952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3F354-FB5F-4F9F-9E73-8F92AC31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76450"/>
            <a:ext cx="2952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122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1A0448-7790-4478-9AD7-E089B08A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66950"/>
            <a:ext cx="2952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7"/>
          </a:solidFill>
          <a:ln xmlns:a="http://schemas.openxmlformats.org/drawingml/2006/main" w="9525">
            <a:solidFill>
              <a:srgbClr val="55C5C8"/>
            </a:solidFill>
            <a:prstDash val="solid"/>
          </a:ln>
        </p:spPr>
      </p:sp>
      <p:cxnSp>
        <p:nvCxnSpPr>
          <p:cNvPr id="47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505200" y="3314700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D82"/>
            </a:solidFill>
            <a:prstDash val="solid"/>
            <a:headEnd type="none" w="med" len="med"/>
          </a:ln>
        </p:spPr>
      </p:cxnSp>
      <p:cxnSp>
        <p:nvCxnSpPr>
          <p:cNvPr id="48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572375" y="3314700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D82"/>
            </a:solidFill>
            <a:prstDash val="solid"/>
            <a:headEnd type="non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E05D5-88F3-4C51-8BFB-40306830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9085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67D82"/>
                </a:solidFill>
              </a:defRPr>
            </a:pPr>
            <a:r>
              <a:rPr sz="2550" b="1" i="0">
                <a:solidFill>
                  <a:srgbClr val="167D8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499B0E-4337-4E94-A6E4-852292B2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99085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67D82"/>
                </a:solidFill>
              </a:defRPr>
            </a:pPr>
            <a:r>
              <a:rPr sz="2550" b="1" i="0">
                <a:solidFill>
                  <a:srgbClr val="167D82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5B4230-05B5-4885-A28A-E6CAD257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2243A"/>
                </a:solidFill>
              </a:defRPr>
            </a:pPr>
            <a:r>
              <a:rPr sz="1950" b="1" i="0">
                <a:solidFill>
                  <a:srgbClr val="12243A"/>
                </a:solidFill>
              </a:rPr>
              <a:t>직원 경험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6A004B-293A-4850-975A-5845BEE3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A75"/>
                </a:solidFill>
              </a:defRPr>
            </a:pPr>
            <a:r>
              <a:rPr sz="1050" b="0" i="0">
                <a:solidFill>
                  <a:srgbClr val="5E6A75"/>
                </a:solidFill>
              </a:rPr>
              <a:t>Employee experience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CCE89E-DA21-4B3B-A586-EC8C049F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64C"/>
                </a:solidFill>
              </a:defRPr>
            </a:pPr>
            <a:r>
              <a:rPr sz="1350" b="0" i="0">
                <a:solidFill>
                  <a:srgbClr val="24364C"/>
                </a:solidFill>
              </a:rPr>
              <a:t>혜택 이해</a:t>
            </a:r>
          </a:p>
          <a:p xmlns:a="http://schemas.openxmlformats.org/drawingml/2006/main">
            <a:pPr algn="l">
              <a:defRPr sz="1350" b="0" i="0">
                <a:solidFill>
                  <a:srgbClr val="24364C"/>
                </a:solidFill>
              </a:defRPr>
            </a:pPr>
            <a:r>
              <a:rPr sz="1350" b="0" i="0">
                <a:solidFill>
                  <a:srgbClr val="24364C"/>
                </a:solidFill>
              </a:rPr>
              <a:t>네트워크 확인</a:t>
            </a:r>
          </a:p>
          <a:p xmlns:a="http://schemas.openxmlformats.org/drawingml/2006/main">
            <a:pPr algn="l">
              <a:defRPr sz="1350" b="0" i="0">
                <a:solidFill>
                  <a:srgbClr val="24364C"/>
                </a:solidFill>
              </a:defRPr>
            </a:pPr>
            <a:r>
              <a:rPr sz="1350" b="0" i="0">
                <a:solidFill>
                  <a:srgbClr val="24364C"/>
                </a:solidFill>
              </a:rPr>
              <a:t>직원 요청 예약 지원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7D0053-9EEF-4D8D-91A1-F86A5390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371725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Snowflake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68AD82-2D89-49DE-BCAC-4D542796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6225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BFD1DD"/>
                </a:solidFill>
              </a:defRPr>
            </a:pPr>
            <a:r>
              <a:rPr sz="1050" b="0" i="0">
                <a:solidFill>
                  <a:srgbClr val="BFD1DD"/>
                </a:solidFill>
              </a:rPr>
              <a:t>governed evidence plane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7A037F-647F-4E08-9BF0-32051839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9087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068F0A-0A88-4FC2-843B-9ED2ABE8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099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Eligibility + plan</a:t>
            </a:r>
          </a:p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app events + claims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4DC539-E548-4423-9190-40BBAE9A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241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2243A"/>
                </a:solidFill>
              </a:defRPr>
            </a:pPr>
            <a:r>
              <a:rPr sz="1950" b="1" i="0">
                <a:solidFill>
                  <a:srgbClr val="12243A"/>
                </a:solidFill>
              </a:rPr>
              <a:t>회사 집계 근거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35F64D-6871-4C50-975D-80197AF9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14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67D82"/>
                </a:solidFill>
              </a:defRPr>
            </a:pPr>
            <a:r>
              <a:rPr sz="1050" b="0" i="0">
                <a:solidFill>
                  <a:srgbClr val="167D82"/>
                </a:solidFill>
              </a:rPr>
              <a:t>Employer aggregate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249D88-8B76-4F07-B608-FE591848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147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64C"/>
                </a:solidFill>
              </a:defRPr>
            </a:pPr>
            <a:r>
              <a:rPr sz="1350" b="0" i="0">
                <a:solidFill>
                  <a:srgbClr val="24364C"/>
                </a:solidFill>
              </a:rPr>
              <a:t>청구로 확인된 이용</a:t>
            </a:r>
          </a:p>
          <a:p xmlns:a="http://schemas.openxmlformats.org/drawingml/2006/main">
            <a:pPr algn="l">
              <a:defRPr sz="1350" b="0" i="0">
                <a:solidFill>
                  <a:srgbClr val="24364C"/>
                </a:solidFill>
              </a:defRPr>
            </a:pPr>
            <a:r>
              <a:rPr sz="1350" b="0" i="0">
                <a:solidFill>
                  <a:srgbClr val="24364C"/>
                </a:solidFill>
              </a:rPr>
              <a:t>allowed / plan-paid / OOP</a:t>
            </a:r>
          </a:p>
          <a:p xmlns:a="http://schemas.openxmlformats.org/drawingml/2006/main">
            <a:pPr algn="l">
              <a:defRPr sz="1350" b="0" i="0">
                <a:solidFill>
                  <a:srgbClr val="24364C"/>
                </a:solidFill>
              </a:defRPr>
            </a:pPr>
            <a:r>
              <a:rPr sz="1350" b="0" i="0">
                <a:solidFill>
                  <a:srgbClr val="24364C"/>
                </a:solidFill>
              </a:rPr>
              <a:t>개인 PHI 없음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1147DC-FB89-488B-B47D-4D1C7686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815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solidFill>
              <a:srgbClr val="D7DE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A57A5C-EC93-47B6-909D-5A9A36C4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A75"/>
                </a:solidFill>
              </a:defRPr>
            </a:pPr>
            <a:r>
              <a:rPr sz="1050" b="1" i="0">
                <a:solidFill>
                  <a:srgbClr val="5E6A75"/>
                </a:solidFill>
              </a:rPr>
              <a:t>Raw oral image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D8717E-17D3-4EC1-BB86-EDCAB2A0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238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A75"/>
                </a:solidFill>
              </a:defRPr>
            </a:pPr>
            <a:r>
              <a:rPr sz="1050" b="0" i="0">
                <a:solidFill>
                  <a:srgbClr val="5E6A75"/>
                </a:solidFill>
              </a:rPr>
              <a:t>→ Controlled U.S. object storage / PHI vault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9CB3A4-5232-4975-87D6-CB9A2845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38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D82"/>
                </a:solidFill>
              </a:defRPr>
            </a:pPr>
            <a:r>
              <a:rPr sz="1050" b="1" i="0">
                <a:solidFill>
                  <a:srgbClr val="167D82"/>
                </a:solidFill>
              </a:rPr>
              <a:t>Snowflake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9D9CB9-A11C-4236-A9EC-22F51C38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38750"/>
            <a:ext cx="415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A75"/>
                </a:solidFill>
              </a:defRPr>
            </a:pPr>
            <a:r>
              <a:rPr sz="1050" b="0" i="0">
                <a:solidFill>
                  <a:srgbClr val="5E6A75"/>
                </a:solidFill>
              </a:rPr>
              <a:t>→ structured data + approved metadata / derived signals only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68AE1-4E9F-432B-A32F-B017B594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1108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24364C"/>
                </a:solidFill>
              </a:defRPr>
            </a:pPr>
            <a:r>
              <a:rPr sz="1088" b="0" i="0">
                <a:solidFill>
                  <a:srgbClr val="24364C"/>
                </a:solidFill>
              </a:rPr>
              <a:t>이미지 신호는 자동 임상 라우팅과 분리합니다. / Model signals remain separate from automated clinical routing.</a:t>
            </a:r>
          </a:p>
        </p:txBody>
      </p:sp>
    </p:spTree>
    <p:extLst>
      <p:ext uri="{BB962C8B-B14F-4D97-AF65-F5344CB8AC3E}">
        <p14:creationId xmlns:p14="http://schemas.microsoft.com/office/powerpoint/2010/main" val="10772372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bab8b9c614d82"/>
          <a:stretch xmlns:a="http://schemas.openxmlformats.org/drawingml/2006/main"/>
        </p:blipFill>
        <p:spPr>
          <a:xfrm xmlns:a="http://schemas.openxmlformats.org/drawingml/2006/main">
            <a:off x="8601098" y="285750"/>
            <a:ext cx="876254" cy="319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31E03-6D40-4259-B1FB-99085F80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33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6A75"/>
                </a:solidFill>
              </a:defRPr>
            </a:pPr>
            <a:r>
              <a:rPr sz="1425" b="1" i="0">
                <a:solidFill>
                  <a:srgbClr val="5E6A75"/>
                </a:solidFill>
              </a:rPr>
              <a:t>×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73bed196d467a"/>
          <a:stretch xmlns:a="http://schemas.openxmlformats.org/drawingml/2006/main"/>
        </p:blipFill>
        <p:spPr>
          <a:xfrm xmlns:a="http://schemas.openxmlformats.org/drawingml/2006/main">
            <a:off x="9934575" y="285802"/>
            <a:ext cx="1866900" cy="36300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78F41-E8C5-4AE6-A2A5-CC6FC545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953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243A"/>
                </a:solidFill>
              </a:defRPr>
            </a:pPr>
            <a:r>
              <a:rPr sz="2700" b="1" i="0">
                <a:solidFill>
                  <a:srgbClr val="12243A"/>
                </a:solidFill>
              </a:rPr>
              <a:t>Evidence begins with transparent definitions.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2D064-0D5B-4336-84D7-B330D16B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795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A75"/>
                </a:solidFill>
              </a:defRPr>
            </a:pPr>
            <a:r>
              <a:rPr sz="1350" b="0" i="0">
                <a:solidFill>
                  <a:srgbClr val="5E6A75"/>
                </a:solidFill>
              </a:rPr>
              <a:t>증거는 숫자보다 먼저, 정의가 보여야 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EC74E-88AA-4FD5-96E4-AF492230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solidFill>
              <a:srgbClr val="D7DE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1DA7A-4FDF-407B-AA08-CA6CE4B4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2D206-73BC-4044-8A10-B42D7850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solidFill>
              <a:srgbClr val="D7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D754A-3035-4D3F-8D4E-64E9C06E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E6A75"/>
                </a:solidFill>
              </a:defRPr>
            </a:pPr>
            <a:r>
              <a:rPr sz="788" b="0" i="0">
                <a:solidFill>
                  <a:srgbClr val="5E6A75"/>
                </a:solidFill>
              </a:rPr>
              <a:t>ICLO · SNOWFLAKE WORLD TOUR SEOUL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66A76-2D0E-436C-B701-4747D4C2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5E6A75"/>
                </a:solidFill>
              </a:defRPr>
            </a:pPr>
            <a:r>
              <a:rPr sz="788" b="0" i="0">
                <a:solidFill>
                  <a:srgbClr val="5E6A75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3251E-BDBC-4D56-9FCE-9AF0B243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71675"/>
            <a:ext cx="75247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9ca4c27524004"/>
          <a:stretch xmlns:a="http://schemas.openxmlformats.org/drawingml/2006/main"/>
        </p:blipFill>
        <p:spPr>
          <a:xfrm xmlns:a="http://schemas.openxmlformats.org/drawingml/2006/main">
            <a:off x="628650" y="2925630"/>
            <a:ext cx="7296150" cy="233071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5D7CA-3484-493F-932B-69C7A294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762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40215-E221-40DB-A283-3798C8C8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431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43A"/>
                </a:solidFill>
              </a:defRPr>
            </a:pPr>
            <a:r>
              <a:rPr sz="1350" b="1" i="0">
                <a:solidFill>
                  <a:srgbClr val="12243A"/>
                </a:solidFill>
              </a:rPr>
              <a:t>합성 데이터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E1243-99AC-4694-902D-E863F730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479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5E6A75"/>
                </a:solidFill>
              </a:defRPr>
            </a:pPr>
            <a:r>
              <a:rPr sz="1013" b="0" i="0">
                <a:solidFill>
                  <a:srgbClr val="5E6A75"/>
                </a:solidFill>
              </a:rPr>
              <a:t>Synthetic — illustrative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977EF-92D9-46F4-B026-88188A14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90850"/>
            <a:ext cx="762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6F2AD-6728-40A6-BF4A-F49F1090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813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43A"/>
                </a:solidFill>
              </a:defRPr>
            </a:pPr>
            <a:r>
              <a:rPr sz="1350" b="1" i="0">
                <a:solidFill>
                  <a:srgbClr val="12243A"/>
                </a:solidFill>
              </a:rPr>
              <a:t>직원 / 가입자 기준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A88131-6A6C-46AB-8500-74FECEF9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861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5E6A75"/>
                </a:solidFill>
              </a:defRPr>
            </a:pPr>
            <a:r>
              <a:rPr sz="1013" b="0" i="0">
                <a:solidFill>
                  <a:srgbClr val="5E6A75"/>
                </a:solidFill>
              </a:rPr>
              <a:t>Employees / Members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A1603-367E-427B-AAF7-BE5D7DF4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29050"/>
            <a:ext cx="762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9DE399-E271-4B23-A611-5B869A59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195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43A"/>
                </a:solidFill>
              </a:defRPr>
            </a:pPr>
            <a:r>
              <a:rPr sz="1350" b="1" i="0">
                <a:solidFill>
                  <a:srgbClr val="12243A"/>
                </a:solidFill>
              </a:rPr>
              <a:t>기준일 · 청구 지연 · 완결성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8D860-640B-45B2-8181-BD7029C8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243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5E6A75"/>
                </a:solidFill>
              </a:defRPr>
            </a:pPr>
            <a:r>
              <a:rPr sz="1013" b="0" i="0">
                <a:solidFill>
                  <a:srgbClr val="5E6A75"/>
                </a:solidFill>
              </a:rPr>
              <a:t>Freshness · claims lag · completeness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F5D3CA-B106-4A29-AFCA-5E007AB3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67250"/>
            <a:ext cx="762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6D07B7-65EC-4369-AF84-68FF041F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577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43A"/>
                </a:solidFill>
              </a:defRPr>
            </a:pPr>
            <a:r>
              <a:rPr sz="1350" b="1" i="0">
                <a:solidFill>
                  <a:srgbClr val="12243A"/>
                </a:solidFill>
              </a:rPr>
              <a:t>집계 전용 · n≥20 · 개인 PHI 없음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48552A-3817-45D6-AB79-B4A69DE0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62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5E6A75"/>
                </a:solidFill>
              </a:defRPr>
            </a:pPr>
            <a:r>
              <a:rPr sz="1013" b="0" i="0">
                <a:solidFill>
                  <a:srgbClr val="5E6A75"/>
                </a:solidFill>
              </a:rPr>
              <a:t>Aggregate only · suppression · no PHI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EAEAD9-AD62-4764-BD9A-AC2AD72A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81650"/>
            <a:ext cx="320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24364C"/>
                </a:solidFill>
              </a:defRPr>
            </a:pPr>
            <a:r>
              <a:rPr sz="1163" b="1" i="0">
                <a:solidFill>
                  <a:srgbClr val="24364C"/>
                </a:solidFill>
              </a:rPr>
              <a:t>성과 주장 화면이 아닙니다. 구매자가 분모·최신성·프라이버시·완결성을 확인하는 방식의 데모입니다.</a:t>
            </a:r>
          </a:p>
        </p:txBody>
      </p:sp>
    </p:spTree>
    <p:extLst>
      <p:ext uri="{BB962C8B-B14F-4D97-AF65-F5344CB8AC3E}">
        <p14:creationId xmlns:p14="http://schemas.microsoft.com/office/powerpoint/2010/main" val="7180353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378054c8d4649"/>
          <a:stretch xmlns:a="http://schemas.openxmlformats.org/drawingml/2006/main"/>
        </p:blipFill>
        <p:spPr>
          <a:xfrm xmlns:a="http://schemas.openxmlformats.org/drawingml/2006/main">
            <a:off x="8601098" y="285750"/>
            <a:ext cx="876254" cy="319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14139-CC52-4988-8398-CDE6D12C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33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×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e2b6f2c2e42d4"/>
          <a:stretch xmlns:a="http://schemas.openxmlformats.org/drawingml/2006/main"/>
        </p:blipFill>
        <p:spPr>
          <a:xfrm xmlns:a="http://schemas.openxmlformats.org/drawingml/2006/main">
            <a:off x="9934575" y="285802"/>
            <a:ext cx="1866900" cy="36300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B0002-D079-468A-81B9-6D24C156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953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No year-one savings promise.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AF435-C6C8-43EB-B3BC-CF859B9D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795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9D5DF"/>
                </a:solidFill>
              </a:defRPr>
            </a:pPr>
            <a:r>
              <a:rPr sz="1350" b="0" i="0">
                <a:solidFill>
                  <a:srgbClr val="C9D5DF"/>
                </a:solidFill>
              </a:rPr>
              <a:t>첫해 절감을 약속하지 않습니다.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4CAF8-2A0B-4263-9D4B-041B70C2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8"/>
          </a:solidFill>
          <a:ln xmlns:a="http://schemas.openxmlformats.org/drawingml/2006/main" w="0">
            <a:solidFill>
              <a:srgbClr val="3143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EE900-9967-4569-8045-B9222137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EDE26-D518-4E3C-88F7-AE62C4B2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8"/>
          </a:solidFill>
          <a:ln xmlns:a="http://schemas.openxmlformats.org/drawingml/2006/main" w="0">
            <a:solidFill>
              <a:srgbClr val="31435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9D58A-2E27-4124-B363-D542D695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B7C4D0"/>
                </a:solidFill>
              </a:defRPr>
            </a:pPr>
            <a:r>
              <a:rPr sz="788" b="0" i="0">
                <a:solidFill>
                  <a:srgbClr val="B7C4D0"/>
                </a:solidFill>
              </a:rPr>
              <a:t>ICLO · SNOWFLAKE WORLD TOUR SEOUL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10819-B78D-4510-B9C2-D940D8BA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B7C4D0"/>
                </a:solidFill>
              </a:defRPr>
            </a:pPr>
            <a:r>
              <a:rPr sz="788" b="0" i="0">
                <a:solidFill>
                  <a:srgbClr val="B7C4D0"/>
                </a:solidFill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8D067E-82FB-4EBB-A8B5-2ADC26B0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D7922C"/>
                </a:solidFill>
              </a:defRPr>
            </a:pPr>
            <a:r>
              <a:rPr sz="863" b="1" i="0">
                <a:solidFill>
                  <a:srgbClr val="D7922C"/>
                </a:solidFill>
              </a:rPr>
              <a:t>ILLUSTRATIVE HYPOTHESIS — NOT AN 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07852-4854-4E03-89F3-6E1F657F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552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D7E"/>
          </a:solidFill>
          <a:ln xmlns:a="http://schemas.openxmlformats.org/drawingml/2006/main" w="0">
            <a:solidFill>
              <a:srgbClr val="5B6D7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55B57-4887-4E6B-ABB7-4656AC51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D7E"/>
          </a:solidFill>
          <a:ln xmlns:a="http://schemas.openxmlformats.org/drawingml/2006/main" w="0">
            <a:solidFill>
              <a:srgbClr val="5B6D7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10EF3-0993-4DA1-ADBF-88372EFD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AEBBC5"/>
                </a:solidFill>
              </a:defRPr>
            </a:pPr>
            <a:r>
              <a:rPr sz="825" b="0" i="0">
                <a:solidFill>
                  <a:srgbClr val="AEBBC5"/>
                </a:solidFill>
              </a:rPr>
              <a:t>plan-paid claims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1B7566-3438-4247-A293-AAC0132F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95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1C2DF3-49A0-408C-9430-9D4AFAD6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922C"/>
          </a:solidFill>
          <a:ln xmlns:a="http://schemas.openxmlformats.org/drawingml/2006/main" w="0">
            <a:solidFill>
              <a:srgbClr val="D792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0F3893-2EE3-41F4-8E86-74EB1B52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76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F67EAB-87BE-47E5-83CB-74622A30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90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cxnSp>
        <p:nvCxnSpPr>
          <p:cNvPr id="57" name=""/>
          <p:cNvCxnSpPr>
            <a:stCxn xmlns:a="http://schemas.openxmlformats.org/drawingml/2006/main" id="15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1504950" y="3124200"/>
            <a:ext cx="125730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5C5C8"/>
            </a:solidFill>
            <a:prstDash val="solid"/>
            <a:headEnd type="none" w="med" len="med"/>
          </a:ln>
        </p:spPr>
      </p:cxnSp>
      <p:cxnSp>
        <p:nvCxnSpPr>
          <p:cNvPr id="58" name=""/>
          <p:cNvCxnSpPr>
            <a:stCxn xmlns:a="http://schemas.openxmlformats.org/drawingml/2006/main" id="16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>
            <a:off x="2914650" y="3124200"/>
            <a:ext cx="13144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5C5C8"/>
            </a:solidFill>
            <a:prstDash val="solid"/>
            <a:headEnd type="none" w="med" len="med"/>
          </a:ln>
        </p:spPr>
      </p:cxnSp>
      <p:cxnSp>
        <p:nvCxnSpPr>
          <p:cNvPr id="59" name=""/>
          <p:cNvCxnSpPr>
            <a:stCxn xmlns:a="http://schemas.openxmlformats.org/drawingml/2006/main" id="17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4381500" y="3552825"/>
            <a:ext cx="131445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5C5C8"/>
            </a:solidFill>
            <a:prstDash val="solid"/>
            <a:headEnd type="non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D92DA8-ADE4-4861-9446-C539158D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C4D0D9"/>
                </a:solidFill>
              </a:defRPr>
            </a:pPr>
            <a:r>
              <a:rPr sz="938" b="0" i="0">
                <a:solidFill>
                  <a:srgbClr val="C4D0D9"/>
                </a:solidFill>
              </a:rPr>
              <a:t>Baseline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91CC6C-1AB1-42F5-A1A2-3F6BE9BC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C4D0D9"/>
                </a:solidFill>
              </a:defRPr>
            </a:pPr>
            <a:r>
              <a:rPr sz="938" b="0" i="0">
                <a:solidFill>
                  <a:srgbClr val="C4D0D9"/>
                </a:solidFill>
              </a:rPr>
              <a:t>Year 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8DAB21-0EF6-4B15-9230-E821A42F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219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C4D0D9"/>
                </a:solidFill>
              </a:defRPr>
            </a:pPr>
            <a:r>
              <a:rPr sz="938" b="0" i="0">
                <a:solidFill>
                  <a:srgbClr val="C4D0D9"/>
                </a:solidFill>
              </a:rPr>
              <a:t>Year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E34F08-2FA1-45F1-AE22-CF0E517B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219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C4D0D9"/>
                </a:solidFill>
              </a:defRPr>
            </a:pPr>
            <a:r>
              <a:rPr sz="938" b="0" i="0">
                <a:solidFill>
                  <a:srgbClr val="C4D0D9"/>
                </a:solidFill>
              </a:rPr>
              <a:t>Year 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986F72-E545-421D-ADFD-EFB48EB0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09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D7922C"/>
                </a:solidFill>
              </a:defRPr>
            </a:pPr>
            <a:r>
              <a:rPr sz="1200" b="1" i="0">
                <a:solidFill>
                  <a:srgbClr val="D7922C"/>
                </a:solidFill>
              </a:rPr>
              <a:t>예방 이용 + 미치료 상태 발견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51A3C3-7F2B-4140-A205-74568659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6702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D6C09D"/>
                </a:solidFill>
              </a:defRPr>
            </a:pPr>
            <a:r>
              <a:rPr sz="863" b="0" i="0">
                <a:solidFill>
                  <a:srgbClr val="D6C09D"/>
                </a:solidFill>
              </a:rPr>
              <a:t>Prevention + discovered treatment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20053F-6658-4A83-82FD-ECCBF5DC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90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5C5C8"/>
                </a:solidFill>
              </a:defRPr>
            </a:pPr>
            <a:r>
              <a:rPr sz="1125" b="1" i="0">
                <a:solidFill>
                  <a:srgbClr val="55C5C8"/>
                </a:solidFill>
              </a:rPr>
              <a:t>Year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FB1F10-1BF9-40CB-B1F3-7B484DCB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860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예방진료와 발견된 치료로 plan-paid가 오를 수 있습니다.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F27FF5-56FE-4E96-AEF7-3C59D8F0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479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B7C4D0"/>
                </a:solidFill>
              </a:defRPr>
            </a:pPr>
            <a:r>
              <a:rPr sz="938" b="0" i="0">
                <a:solidFill>
                  <a:srgbClr val="B7C4D0"/>
                </a:solidFill>
              </a:rPr>
              <a:t>Preventive use and discovered treatment can raise plan-paid claims.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114B81-B4CD-4D39-8D0E-E35253B4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14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5C5C8"/>
                </a:solidFill>
              </a:defRPr>
            </a:pPr>
            <a:r>
              <a:rPr sz="1125" b="1" i="0">
                <a:solidFill>
                  <a:srgbClr val="55C5C8"/>
                </a:solidFill>
              </a:rPr>
              <a:t>Years 2–3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0A865E-4DDB-4FF2-A55C-C3FC9755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099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치료 믹스 변화는 시간이 지나야 측정할 수 있습니다.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97A5A3-56AD-4C57-A846-BDB9C3C5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719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B7C4D0"/>
                </a:solidFill>
              </a:defRPr>
            </a:pPr>
            <a:r>
              <a:rPr sz="938" b="0" i="0">
                <a:solidFill>
                  <a:srgbClr val="B7C4D0"/>
                </a:solidFill>
              </a:rPr>
              <a:t>Treatment-mix change becomes measurable over time.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46E175-34B4-4413-96AE-18471C29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38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5C5C8"/>
                </a:solidFill>
              </a:defRPr>
            </a:pPr>
            <a:r>
              <a:rPr sz="1125" b="1" i="0">
                <a:solidFill>
                  <a:srgbClr val="55C5C8"/>
                </a:solidFill>
              </a:rPr>
              <a:t>Turnover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9E9281-54C5-42DE-AE3D-E53DB879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339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근속기간에 따라 비용·경험 가치의 판매 논리가 달라집니다.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215DBF-24BA-4B65-BFEF-F9DC1F91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958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B7C4D0"/>
                </a:solidFill>
              </a:defRPr>
            </a:pPr>
            <a:r>
              <a:rPr sz="938" b="0" i="0">
                <a:solidFill>
                  <a:srgbClr val="B7C4D0"/>
                </a:solidFill>
              </a:rPr>
              <a:t>Tenure changes the economic and employee-experience case.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98DD26-BD1E-4078-8A22-29D23130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657850"/>
            <a:ext cx="428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22C"/>
          </a:solidFill>
          <a:ln xmlns:a="http://schemas.openxmlformats.org/drawingml/2006/main" w="0">
            <a:solidFill>
              <a:srgbClr val="D7922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CE6792-C704-4EF6-BF30-C3CB838D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8293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FFFFFF"/>
                </a:solidFill>
              </a:defRPr>
            </a:pPr>
            <a:r>
              <a:rPr sz="1013" b="0" i="0">
                <a:solidFill>
                  <a:srgbClr val="FFFFFF"/>
                </a:solidFill>
              </a:rPr>
              <a:t>Allowed / plan-paid / employee OOP를 분리해 봅니다. / Measure allowed, plan-paid and employee OOP separately.</a:t>
            </a:r>
          </a:p>
        </p:txBody>
      </p:sp>
    </p:spTree>
    <p:extLst>
      <p:ext uri="{BB962C8B-B14F-4D97-AF65-F5344CB8AC3E}">
        <p14:creationId xmlns:p14="http://schemas.microsoft.com/office/powerpoint/2010/main" val="2547511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b5b9c4e3b468d"/>
          <a:srcRect xmlns:a="http://schemas.openxmlformats.org/drawingml/2006/main" l="12519" t="0" r="125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6DBEA-0B78-4F7E-BB4D-DD371B5B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72ee7990e416a"/>
          <a:stretch xmlns:a="http://schemas.openxmlformats.org/drawingml/2006/main"/>
        </p:blipFill>
        <p:spPr>
          <a:xfrm xmlns:a="http://schemas.openxmlformats.org/drawingml/2006/main">
            <a:off x="7258078" y="361950"/>
            <a:ext cx="1066744" cy="38938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EE211-CEB7-41E4-B2BB-84E34B15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95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6A75"/>
                </a:solidFill>
              </a:defRPr>
            </a:pPr>
            <a:r>
              <a:rPr sz="1425" b="1" i="0">
                <a:solidFill>
                  <a:srgbClr val="5E6A75"/>
                </a:solidFill>
              </a:rPr>
              <a:t>×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b05b3bd104c84"/>
          <a:stretch xmlns:a="http://schemas.openxmlformats.org/drawingml/2006/main"/>
        </p:blipFill>
        <p:spPr>
          <a:xfrm xmlns:a="http://schemas.openxmlformats.org/drawingml/2006/main">
            <a:off x="8782050" y="362015"/>
            <a:ext cx="2343150" cy="45561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78BC1-9317-41CD-A3CE-D448E46D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6680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243A"/>
                </a:solidFill>
              </a:defRPr>
            </a:pPr>
            <a:r>
              <a:rPr sz="2325" b="1" i="0">
                <a:solidFill>
                  <a:srgbClr val="12243A"/>
                </a:solidFill>
              </a:rPr>
              <a:t>SELECTED FOR TWO FINANCIAL</a:t>
            </a:r>
          </a:p>
          <a:p xmlns:a="http://schemas.openxmlformats.org/drawingml/2006/main">
            <a:pPr algn="l">
              <a:defRPr sz="2325" b="1" i="0">
                <a:solidFill>
                  <a:srgbClr val="12243A"/>
                </a:solidFill>
              </a:defRPr>
            </a:pPr>
            <a:r>
              <a:rPr sz="2325" b="1" i="0">
                <a:solidFill>
                  <a:srgbClr val="12243A"/>
                </a:solidFill>
              </a:rPr>
              <a:t>INNOVATION COHORTS.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8D126-6239-4B08-823D-A6BD46DC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38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E6A75"/>
                </a:solidFill>
              </a:defRPr>
            </a:pPr>
            <a:r>
              <a:rPr sz="1350" b="1" i="0">
                <a:solidFill>
                  <a:srgbClr val="5E6A75"/>
                </a:solidFill>
              </a:rPr>
              <a:t>핀테크 큐브 9기 · 신한퓨처스랩 12기 선정 완료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64B60-E5C6-4A5B-B650-8D9796DE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194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solidFill>
              <a:srgbClr val="D7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853AA-7928-4DC5-9D24-8DA8CA5A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9567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2243A"/>
                </a:solidFill>
              </a:defRPr>
            </a:pPr>
            <a:r>
              <a:rPr sz="1725" b="1" i="0">
                <a:solidFill>
                  <a:srgbClr val="12243A"/>
                </a:solidFill>
              </a:rPr>
              <a:t>핀테크 큐브 9기 선정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4D5EC-492B-4F84-9704-341F6B4C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766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67D82"/>
                </a:solidFill>
              </a:defRPr>
            </a:pPr>
            <a:r>
              <a:rPr sz="1050" b="0" i="0">
                <a:solidFill>
                  <a:srgbClr val="167D82"/>
                </a:solidFill>
              </a:rPr>
              <a:t>Selected · Fintech Cube 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48170-1785-4BF0-928C-FD9F18FF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529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solidFill>
              <a:srgbClr val="D7DE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88684-5024-43D0-A117-82F98CFF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29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2243A"/>
                </a:solidFill>
              </a:defRPr>
            </a:pPr>
            <a:r>
              <a:rPr sz="1725" b="1" i="0">
                <a:solidFill>
                  <a:srgbClr val="12243A"/>
                </a:solidFill>
              </a:rPr>
              <a:t>신한퓨처스랩 12기 선정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C7251-2AFB-4A33-B58E-17C39C66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101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67D82"/>
                </a:solidFill>
              </a:defRPr>
            </a:pPr>
            <a:r>
              <a:rPr sz="1050" b="0" i="0">
                <a:solidFill>
                  <a:srgbClr val="167D82"/>
                </a:solidFill>
              </a:rPr>
              <a:t>Selected · Shinhan Future’s Lab 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BA292-330B-41B5-BB12-5C4FDA61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657850"/>
            <a:ext cx="476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7"/>
          </a:solidFill>
          <a:ln xmlns:a="http://schemas.openxmlformats.org/drawingml/2006/main" w="9525">
            <a:solidFill>
              <a:srgbClr val="55C5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10E6CA-40C5-48CB-A655-36CA7732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8483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1" i="0">
                <a:solidFill>
                  <a:srgbClr val="167D82"/>
                </a:solidFill>
              </a:defRPr>
            </a:pPr>
            <a:r>
              <a:rPr sz="1088" b="1" i="0">
                <a:solidFill>
                  <a:srgbClr val="167D82"/>
                </a:solidFill>
              </a:rPr>
              <a:t>협업 과제 발굴·검증 중  /  Collaboration scoping and validation in progress</a:t>
            </a:r>
          </a:p>
        </p:txBody>
      </p:sp>
    </p:spTree>
    <p:extLst>
      <p:ext uri="{BB962C8B-B14F-4D97-AF65-F5344CB8AC3E}">
        <p14:creationId xmlns:p14="http://schemas.microsoft.com/office/powerpoint/2010/main" val="20559357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bcee287bb44a1"/>
          <a:stretch xmlns:a="http://schemas.openxmlformats.org/drawingml/2006/main"/>
        </p:blipFill>
        <p:spPr>
          <a:xfrm xmlns:a="http://schemas.openxmlformats.org/drawingml/2006/main">
            <a:off x="609637" y="400050"/>
            <a:ext cx="1428676" cy="52149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7C988-7DDD-4762-8D8D-DBC5A47F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476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×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40bf297704bd1"/>
          <a:stretch xmlns:a="http://schemas.openxmlformats.org/drawingml/2006/main"/>
        </p:blipFill>
        <p:spPr>
          <a:xfrm xmlns:a="http://schemas.openxmlformats.org/drawingml/2006/main">
            <a:off x="2495550" y="400116"/>
            <a:ext cx="2381250" cy="46302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954B3-C9AC-4499-93B0-B5FC5557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742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FFF"/>
                </a:solidFill>
              </a:defRPr>
            </a:pPr>
            <a:r>
              <a:rPr sz="2925" b="1" i="0">
                <a:solidFill>
                  <a:srgbClr val="FFFFFF"/>
                </a:solidFill>
              </a:rPr>
              <a:t>CAN YOUR COMPANY PROVE</a:t>
            </a:r>
          </a:p>
          <a:p xmlns:a="http://schemas.openxmlformats.org/drawingml/2006/main">
            <a:pPr algn="l">
              <a:defRPr sz="2925" b="1" i="0">
                <a:solidFill>
                  <a:srgbClr val="FFFFFF"/>
                </a:solidFill>
              </a:defRPr>
            </a:pPr>
            <a:r>
              <a:rPr sz="2925" b="1" i="0">
                <a:solidFill>
                  <a:srgbClr val="FFFFFF"/>
                </a:solidFill>
              </a:rPr>
              <a:t>HOW DENTAL BENEFITS ARE USED?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607A9-1760-433F-BC8F-ACFFD737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D6E0E7"/>
                </a:solidFill>
              </a:defRPr>
            </a:pPr>
            <a:r>
              <a:rPr sz="1575" b="1" i="0">
                <a:solidFill>
                  <a:srgbClr val="D6E0E7"/>
                </a:solidFill>
              </a:rPr>
              <a:t>회사의 치과 혜택 이용을 근거로 설명할 수 있나요?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5891D-E5F5-4FB7-9F67-F6215C57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9097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C60DF-FF6E-446B-9076-03A45108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148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테크·금융 기업의 HR · Benefits · Data 팀을 찾습니다.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1FE47-3D57-4CD2-8789-378B7188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72025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B7C4D0"/>
                </a:solidFill>
              </a:defRPr>
            </a:pPr>
            <a:r>
              <a:rPr sz="1163" b="0" i="0">
                <a:solidFill>
                  <a:srgbClr val="B7C4D0"/>
                </a:solidFill>
              </a:rPr>
              <a:t>Looking for HR, Benefits and Data teams at technology and financial-services companies.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BEFC5-B296-49CF-8C3F-5EA0DF4C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5C5C8"/>
                </a:solidFill>
              </a:defRPr>
            </a:pPr>
            <a:r>
              <a:rPr sz="1275" b="1" i="0">
                <a:solidFill>
                  <a:srgbClr val="55C5C8"/>
                </a:solidFill>
              </a:rPr>
              <a:t>Snowflake에서 구현할 governed evidence pattern을 함께 검증합니다.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0F081-F835-43F1-978B-671A8DEA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293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B7C4D0"/>
                </a:solidFill>
              </a:defRPr>
            </a:pPr>
            <a:r>
              <a:rPr sz="1013" b="0" i="0">
                <a:solidFill>
                  <a:srgbClr val="B7C4D0"/>
                </a:solidFill>
              </a:rPr>
              <a:t>Help validate the governed evidence pattern on Snowflake.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E00FD-B142-4185-AB40-98D0450C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9810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5C5C8"/>
                </a:solidFill>
              </a:defRPr>
            </a:pPr>
            <a:r>
              <a:rPr sz="900" b="1" i="0">
                <a:solidFill>
                  <a:srgbClr val="55C5C8"/>
                </a:solidFill>
              </a:rPr>
              <a:t>LIVE SYNTHETIC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9E2CF-77BB-4281-A1F1-C418D2BC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352550"/>
            <a:ext cx="27432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67d865737469d"/>
          <a:stretch xmlns:a="http://schemas.openxmlformats.org/drawingml/2006/main"/>
        </p:blipFill>
        <p:spPr>
          <a:xfrm xmlns:a="http://schemas.openxmlformats.org/drawingml/2006/main">
            <a:off x="8667750" y="1495425"/>
            <a:ext cx="2457450" cy="24574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BFCB77-C65F-4927-9A25-ED3401BB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91025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합성 데이터 · 집계 전용 · 개인 PHI 없음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BF9D9-9B63-4CEC-8F69-8EF89B45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339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B7C4D0"/>
                </a:solidFill>
              </a:defRPr>
            </a:pPr>
            <a:r>
              <a:rPr sz="938" b="0" i="0">
                <a:solidFill>
                  <a:srgbClr val="B7C4D0"/>
                </a:solidFill>
              </a:rPr>
              <a:t>Synthetic data · aggregate only · no individual PHI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189AF-6310-429E-9BFB-AE228058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24475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55C5C8"/>
                </a:solidFill>
              </a:defRPr>
            </a:pPr>
            <a:r>
              <a:rPr sz="788" b="0" i="0">
                <a:solidFill>
                  <a:srgbClr val="55C5C8"/>
                </a:solidFill>
              </a:rPr>
              <a:t>jangwookimbusiness-dev.github.io/iclo-us-employee-dashboard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0F7E15-A8DF-413E-85C4-AB6D3206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626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SCAN TO OPEN</a:t>
            </a:r>
          </a:p>
        </p:txBody>
      </p:sp>
    </p:spTree>
    <p:extLst>
      <p:ext uri="{BB962C8B-B14F-4D97-AF65-F5344CB8AC3E}">
        <p14:creationId xmlns:p14="http://schemas.microsoft.com/office/powerpoint/2010/main" val="13197025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2026-08-05T03:15:10.8160000Z</dcterms:created>
  <dcterms:modified xsi:type="dcterms:W3CDTF">2026-08-05T03:15:10.8160000Z</dcterms:modified>
</coreProperties>
</file>