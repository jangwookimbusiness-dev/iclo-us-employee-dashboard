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720b79898e840b7" /><Relationship Type="http://schemas.openxmlformats.org/officeDocument/2006/relationships/extended-properties" Target="/docProps/app.xml" Id="R1bc72339f6084e92" /><Relationship Type="http://schemas.openxmlformats.org/officeDocument/2006/relationships/officeDocument" Target="/ppt/presentation.xml" Id="Rdc61082be88c47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470df7f0d34688"/>
  </p:sldMasterIdLst>
  <p:notesMasterIdLst>
    <p:notesMasterId xmlns:r="http://schemas.openxmlformats.org/officeDocument/2006/relationships" r:id="R87295a63fb0b4bf3"/>
  </p:notesMasterIdLst>
  <p:sldIdLst>
    <p:sldId xmlns:r="http://schemas.openxmlformats.org/officeDocument/2006/relationships" id="256" r:id="R96825dbd06bb4307"/>
    <p:sldId xmlns:r="http://schemas.openxmlformats.org/officeDocument/2006/relationships" id="257" r:id="Ra30bbb2f36cd41d4"/>
    <p:sldId xmlns:r="http://schemas.openxmlformats.org/officeDocument/2006/relationships" id="258" r:id="R0adec736c86840be"/>
    <p:sldId xmlns:r="http://schemas.openxmlformats.org/officeDocument/2006/relationships" id="259" r:id="R5863f6c93a544faa"/>
    <p:sldId xmlns:r="http://schemas.openxmlformats.org/officeDocument/2006/relationships" id="260" r:id="Rf9524bb70d5843a8"/>
    <p:sldId xmlns:r="http://schemas.openxmlformats.org/officeDocument/2006/relationships" id="261" r:id="Rd7a46e10e327400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3202f7c417c420c" /><Relationship Type="http://schemas.openxmlformats.org/officeDocument/2006/relationships/slideMaster" Target="/ppt/slideMasters/slideMaster1.xml" Id="R9f470df7f0d34688" /><Relationship Type="http://schemas.openxmlformats.org/officeDocument/2006/relationships/notesMaster" Target="/ppt/notesMasters/notesMaster1.xml" Id="R87295a63fb0b4bf3" /><Relationship Type="http://schemas.openxmlformats.org/officeDocument/2006/relationships/presProps" Target="/ppt/presProps.xml" Id="R2b4e2e7d34c04dbd" /><Relationship Type="http://schemas.openxmlformats.org/officeDocument/2006/relationships/tableStyles" Target="/ppt/tableStyles.xml" Id="Rf99142ff03de4ee5" /><Relationship Type="http://schemas.openxmlformats.org/officeDocument/2006/relationships/slide" Target="/ppt/slides/slide1.xml" Id="R96825dbd06bb4307" /><Relationship Type="http://schemas.openxmlformats.org/officeDocument/2006/relationships/slide" Target="/ppt/slides/slide2.xml" Id="Ra30bbb2f36cd41d4" /><Relationship Type="http://schemas.openxmlformats.org/officeDocument/2006/relationships/slide" Target="/ppt/slides/slide3.xml" Id="R0adec736c86840be" /><Relationship Type="http://schemas.openxmlformats.org/officeDocument/2006/relationships/slide" Target="/ppt/slides/slide4.xml" Id="R5863f6c93a544faa" /><Relationship Type="http://schemas.openxmlformats.org/officeDocument/2006/relationships/slide" Target="/ppt/slides/slide5.xml" Id="Rf9524bb70d5843a8" /><Relationship Type="http://schemas.openxmlformats.org/officeDocument/2006/relationships/slide" Target="/ppt/slides/slide6.xml" Id="Rd7a46e10e327400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49877a8c834478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de92646c7724e77" /><Relationship Type="http://schemas.openxmlformats.org/officeDocument/2006/relationships/notesMaster" Target="/ppt/notesMasters/notesMaster1.xml" Id="R7bd2fbd950164d5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9536d4a3a52447b" /><Relationship Type="http://schemas.openxmlformats.org/officeDocument/2006/relationships/notesMaster" Target="/ppt/notesMasters/notesMaster1.xml" Id="R69b00f2a03d7405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d34537fe87f4e6c" /><Relationship Type="http://schemas.openxmlformats.org/officeDocument/2006/relationships/notesMaster" Target="/ppt/notesMasters/notesMaster1.xml" Id="Re1b3404ea8c3447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0208d67bcd4555" /><Relationship Type="http://schemas.openxmlformats.org/officeDocument/2006/relationships/notesMaster" Target="/ppt/notesMasters/notesMaster1.xml" Id="Re74f9ca344dd4b0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3df54b0cb814495" /><Relationship Type="http://schemas.openxmlformats.org/officeDocument/2006/relationships/notesMaster" Target="/ppt/notesMasters/notesMaster1.xml" Id="R508a4bc58312432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19b52627286497a" /><Relationship Type="http://schemas.openxmlformats.org/officeDocument/2006/relationships/notesMaster" Target="/ppt/notesMasters/notesMaster1.xml" Id="R71f1bd9901694be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B′의 첫 화면이다. 미국 치과보험 및 employee benefits의 접근성을 lead로 두고, ICLO의 employee navigation과 claims-verified evidence를 한 문장으로 연결한다. 보험 판매, 개별 인수, 자동 청구심사 또는 자동 임상 라우팅을 제안하지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/Users/jk0307/Downloads/[스타트업 프로그램 코호트사용] 260827 Snowflake World Tour - Seoul - Startup Village Guide Deck (1).pdf</a:t>
            </a:r>
          </a:p>
          <a:p xmlns:a="http://schemas.openxmlformats.org/drawingml/2006/main">
            <a:r>
              <a:t>- /Users/jk0307/Documents/GitHub/iclo/iclo-us-employee-dashboard/output/imagegen/ICLO-World-Tour-BPrime-US-Access-Hero-v1.png</a:t>
            </a:r>
          </a:p>
          <a:p xmlns:a="http://schemas.openxmlformats.org/drawingml/2006/main">
            <a:r>
              <a:t>- /Users/jk0307/Documents/GitHub/iclo/iclo-us-employee-dashboard/tmp/iclo-bprime-v1/Snowflake-Corporate-Logo-User-Supplied-Clean-v1.png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미국 치과보험 friction을 find, understand, act 세 동사로 설명한다. 네트워크 밖 진료가 절대 불가능하다고 말하지 않고, plan/network rules에 따라 선택이 제한되거나 경제적 불이익이 생길 수 있다고 표현한다.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ICLO Snowflake external briefing source material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B′는 소비자 진단 앱이 아니라 employee-initiated navigation이다. 초기에는 직원 action 또는 human-assisted support를 포함하며 image-derived signal은 provider, urgency, treatment pathway를 자동 결정하지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ICLO Snowflake external briefing source material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Snowflake를 employee app과 claims를 이어주는 governed evidence plane으로 설명한다. employer에게는 aggregate output만 제공하고 개인 routing/health signal은 제공하지 않는다. Raw oral image는 controlled U.S. object storage 또는 PHI vault에 두며, Snowflake에는 승인된 structured data와 metadata만 저장한다.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ICLO Snowflake external briefing source material</a:t>
            </a:r>
          </a:p>
          <a:p xmlns:a="http://schemas.openxmlformats.org/drawingml/2006/main">
            <a:r>
              <a:t>- /Users/jk0307/Documents/GitHub/iclo/iclo-us-employee-dashboard/tmp/iclo-bprime-v1/Snowflake-Corporate-Logo-User-Supplied-Clean-v1.png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Dashboard는 synthetic data를 이용한 visual proof다. 성과 주장이 아니라 employees/members lens, eligibility/claims 기준일, claims lag, completeness, aggregate-only, n≥20 suppression을 구매자에게 보여주는 방식의 데모다.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https://jangwookimbusiness-dev.github.io/iclo-us-employee-dashboard/</a:t>
            </a:r>
          </a:p>
          <a:p xmlns:a="http://schemas.openxmlformats.org/drawingml/2006/main">
            <a:r>
              <a:t>- /Users/jk0307/Documents/GitHub/iclo/iclo-us-employee-dashboard/tmp/iclo-snowflake-briefing-v1/assets/employer-dashboard-overview.png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부스 대화의 CTA다. U.S. employer-benefits, payer/TPA, HR, data team과 eligibility, plan, claims를 연결하는 working session을 요청한다. Snowflake 고객 소개를 막연히 요청하지 않고 governed data-collaboration pattern의 account-level validation을 요청한다.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/Users/jk0307/Downloads/[스타트업 프로그램 코호트사용] 260827 Snowflake World Tour - Seoul - Startup Village Guide Deck (1).pdf</a:t>
            </a:r>
          </a:p>
          <a:p xmlns:a="http://schemas.openxmlformats.org/drawingml/2006/main">
            <a:r>
              <a:t>- https://jangwookimbusiness-dev.github.io/iclo-us-employee-dashboard/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4bdc97330347d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c92ce3b53041f7" /><Relationship Type="http://schemas.openxmlformats.org/officeDocument/2006/relationships/slideLayout" Target="/ppt/slideLayouts/slideLayout1.xml" Id="R675f7f8e55004f3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5f7f8e55004f3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bf33d709774e9c" /><Relationship Type="http://schemas.openxmlformats.org/officeDocument/2006/relationships/image" Target="/ppt/media/image.png" Id="Re066c512e7024322" /><Relationship Type="http://schemas.openxmlformats.org/officeDocument/2006/relationships/image" Target="/ppt/media/image2.png" Id="R21e10c0baf404d8e" /><Relationship Type="http://schemas.openxmlformats.org/officeDocument/2006/relationships/image" Target="/ppt/media/image3.png" Id="Rc9e8eb6de22c49d8" /><Relationship Type="http://schemas.openxmlformats.org/officeDocument/2006/relationships/notesSlide" Target="/ppt/notesSlides/notesSlide1.xml" Id="R00206a78d44344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2af9f9bea64bb3" /><Relationship Type="http://schemas.openxmlformats.org/officeDocument/2006/relationships/image" Target="/ppt/media/image4.png" Id="Re60c15e7ed954ef1" /><Relationship Type="http://schemas.openxmlformats.org/officeDocument/2006/relationships/image" Target="/ppt/media/image5.png" Id="Red5608385e7147d3" /><Relationship Type="http://schemas.openxmlformats.org/officeDocument/2006/relationships/notesSlide" Target="/ppt/notesSlides/notesSlide2.xml" Id="Rd0846498c824418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242db16fee4525" /><Relationship Type="http://schemas.openxmlformats.org/officeDocument/2006/relationships/image" Target="/ppt/media/image6.png" Id="Rbd06aa3eb2a34533" /><Relationship Type="http://schemas.openxmlformats.org/officeDocument/2006/relationships/image" Target="/ppt/media/image7.png" Id="R0a9bbb8897f84f50" /><Relationship Type="http://schemas.openxmlformats.org/officeDocument/2006/relationships/notesSlide" Target="/ppt/notesSlides/notesSlide3.xml" Id="Rbc3fe1658e3542e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c107862d2e4307" /><Relationship Type="http://schemas.openxmlformats.org/officeDocument/2006/relationships/image" Target="/ppt/media/image8.png" Id="R080b9092a9984e0e" /><Relationship Type="http://schemas.openxmlformats.org/officeDocument/2006/relationships/image" Target="/ppt/media/image9.png" Id="R1231dd14b2e24996" /><Relationship Type="http://schemas.openxmlformats.org/officeDocument/2006/relationships/image" Target="/ppt/media/image10.png" Id="R4d473dd7786a45bc" /><Relationship Type="http://schemas.openxmlformats.org/officeDocument/2006/relationships/notesSlide" Target="/ppt/notesSlides/notesSlide4.xml" Id="R6a6673b170954c4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e4429d778240b4" /><Relationship Type="http://schemas.openxmlformats.org/officeDocument/2006/relationships/image" Target="/ppt/media/image11.png" Id="R7c99dea8a64b49c6" /><Relationship Type="http://schemas.openxmlformats.org/officeDocument/2006/relationships/image" Target="/ppt/media/image12.png" Id="R4e2970b9f7dd4982" /><Relationship Type="http://schemas.openxmlformats.org/officeDocument/2006/relationships/image" Target="/ppt/media/image13.png" Id="Ra3d89590fc054c63" /><Relationship Type="http://schemas.openxmlformats.org/officeDocument/2006/relationships/notesSlide" Target="/ppt/notesSlides/notesSlide5.xml" Id="R8d3a870189aa4e9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25f316ed524ce5" /><Relationship Type="http://schemas.openxmlformats.org/officeDocument/2006/relationships/image" Target="/ppt/media/image14.png" Id="R1a23a59a88f743fc" /><Relationship Type="http://schemas.openxmlformats.org/officeDocument/2006/relationships/image" Target="/ppt/media/image15.png" Id="Rc8a9aad1bc944e1e" /><Relationship Type="http://schemas.openxmlformats.org/officeDocument/2006/relationships/image" Target="/ppt/media/image16.png" Id="R85afa2c0f0934225" /><Relationship Type="http://schemas.openxmlformats.org/officeDocument/2006/relationships/notesSlide" Target="/ppt/notesSlides/notesSlide6.xml" Id="Rf3941b391f4747e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66c512e7024322"/>
          <a:srcRect xmlns:a="http://schemas.openxmlformats.org/drawingml/2006/main" l="23814" t="0" r="2381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0" y="0"/>
            <a:ext cx="6381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485C2F-6E97-437D-86AF-0857ECA46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3651A4-4EF1-442D-862C-CFC1860A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5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e10c0baf404d8e"/>
          <a:stretch xmlns:a="http://schemas.openxmlformats.org/drawingml/2006/main"/>
        </p:blipFill>
        <p:spPr>
          <a:xfrm xmlns:a="http://schemas.openxmlformats.org/drawingml/2006/main">
            <a:off x="590550" y="570728"/>
            <a:ext cx="1066800" cy="389402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649465-4489-4670-994F-511D9459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5619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64717C"/>
                </a:solidFill>
              </a:defRPr>
            </a:pPr>
            <a:r>
              <a:rPr sz="1275" b="1" i="0">
                <a:solidFill>
                  <a:srgbClr val="64717C"/>
                </a:solidFill>
              </a:rPr>
              <a:t>×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e8eb6de22c49d8"/>
          <a:stretch xmlns:a="http://schemas.openxmlformats.org/drawingml/2006/main"/>
        </p:blipFill>
        <p:spPr>
          <a:xfrm xmlns:a="http://schemas.openxmlformats.org/drawingml/2006/main">
            <a:off x="2038350" y="266858"/>
            <a:ext cx="1571625" cy="88450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706378-1641-4523-8003-D27717D0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57300"/>
            <a:ext cx="542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47E84"/>
                </a:solidFill>
              </a:defRPr>
            </a:pPr>
            <a:r>
              <a:rPr sz="900" b="1" i="0">
                <a:solidFill>
                  <a:srgbClr val="147E84"/>
                </a:solidFill>
              </a:rPr>
              <a:t>U.S. DENTAL INSURANCE &amp; EMPLOYEE BENEFITS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D296C6-3E44-4EA3-94F1-CD253B627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28775"/>
            <a:ext cx="57150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12243A"/>
                </a:solidFill>
              </a:defRPr>
            </a:pPr>
            <a:r>
              <a:rPr sz="3300" b="1" i="0">
                <a:solidFill>
                  <a:srgbClr val="12243A"/>
                </a:solidFill>
              </a:rPr>
              <a:t>MAKE DENTAL INSURANCE</a:t>
            </a:r>
          </a:p>
          <a:p xmlns:a="http://schemas.openxmlformats.org/drawingml/2006/main">
            <a:pPr algn="l">
              <a:defRPr sz="3300" b="1" i="0">
                <a:solidFill>
                  <a:srgbClr val="12243A"/>
                </a:solidFill>
              </a:defRPr>
            </a:pPr>
            <a:r>
              <a:rPr sz="3300" b="1" i="0">
                <a:solidFill>
                  <a:srgbClr val="12243A"/>
                </a:solidFill>
              </a:rPr>
              <a:t>AND BENEFITS</a:t>
            </a:r>
          </a:p>
          <a:p xmlns:a="http://schemas.openxmlformats.org/drawingml/2006/main">
            <a:pPr algn="l">
              <a:defRPr sz="3300" b="1" i="0">
                <a:solidFill>
                  <a:srgbClr val="12243A"/>
                </a:solidFill>
              </a:defRPr>
            </a:pPr>
            <a:r>
              <a:rPr sz="3300" b="1" i="0">
                <a:solidFill>
                  <a:srgbClr val="12243A"/>
                </a:solidFill>
              </a:rPr>
              <a:t>MORE ACCESSIBLE.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4457F1-E355-4E43-AF1E-4CF39B28D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43350"/>
            <a:ext cx="5429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63A50"/>
                </a:solidFill>
              </a:defRPr>
            </a:pPr>
            <a:r>
              <a:rPr sz="1650" b="1" i="0">
                <a:solidFill>
                  <a:srgbClr val="263A50"/>
                </a:solidFill>
              </a:rPr>
              <a:t>미국의 치과보험과 복지 혜택을</a:t>
            </a:r>
          </a:p>
          <a:p xmlns:a="http://schemas.openxmlformats.org/drawingml/2006/main">
            <a:pPr algn="l">
              <a:defRPr sz="1650" b="1" i="0">
                <a:solidFill>
                  <a:srgbClr val="263A50"/>
                </a:solidFill>
              </a:defRPr>
            </a:pPr>
            <a:r>
              <a:rPr sz="1650" b="1" i="0">
                <a:solidFill>
                  <a:srgbClr val="263A50"/>
                </a:solidFill>
              </a:rPr>
              <a:t>더 쉽게 이해하고 이용하도록.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1B8493-4301-4258-BABA-1AA735252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19675"/>
            <a:ext cx="952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5E8"/>
          </a:solidFill>
          <a:ln xmlns:a="http://schemas.openxmlformats.org/drawingml/2006/main" w="0">
            <a:solidFill>
              <a:srgbClr val="29B5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11A399-474A-428F-A3AF-FCB66FD1C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14950"/>
            <a:ext cx="5476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63A50"/>
                </a:solidFill>
              </a:defRPr>
            </a:pPr>
            <a:r>
              <a:rPr sz="1275" b="1" i="0">
                <a:solidFill>
                  <a:srgbClr val="263A50"/>
                </a:solidFill>
              </a:rPr>
              <a:t>Employee navigation in front. Claims-verified evidence in back.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4F4377-817D-438E-B486-71D657D78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72175"/>
            <a:ext cx="547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64717C"/>
                </a:solidFill>
              </a:defRPr>
            </a:pPr>
            <a:r>
              <a:rPr sz="938" b="0" i="0">
                <a:solidFill>
                  <a:srgbClr val="64717C"/>
                </a:solidFill>
              </a:rPr>
              <a:t>Navigation support—not insurance sales, underwriting or automated clinical routing.</a:t>
            </a:r>
          </a:p>
        </p:txBody>
      </p:sp>
    </p:spTree>
    <p:extLst>
      <p:ext uri="{BB962C8B-B14F-4D97-AF65-F5344CB8AC3E}">
        <p14:creationId xmlns:p14="http://schemas.microsoft.com/office/powerpoint/2010/main" val="768503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BB507B-D98B-4ED8-AAE2-9802B363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12243A"/>
                </a:solidFill>
              </a:defRPr>
            </a:pPr>
            <a:r>
              <a:rPr sz="2775" b="1" i="0">
                <a:solidFill>
                  <a:srgbClr val="12243A"/>
                </a:solidFill>
              </a:rPr>
              <a:t>Coverage is not the same as access.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E9AE9E-DAE1-4B55-8AF6-A1E25EEBD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4717C"/>
                </a:solidFill>
              </a:defRPr>
            </a:pPr>
            <a:r>
              <a:rPr sz="1350" b="0" i="0">
                <a:solidFill>
                  <a:srgbClr val="64717C"/>
                </a:solidFill>
              </a:rPr>
              <a:t>보험 가입만으로 실제 이용이 쉬워지지는 않습니다.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0c15e7ed954ef1"/>
          <a:stretch xmlns:a="http://schemas.openxmlformats.org/drawingml/2006/main"/>
        </p:blipFill>
        <p:spPr>
          <a:xfrm xmlns:a="http://schemas.openxmlformats.org/drawingml/2006/main">
            <a:off x="8810625" y="480148"/>
            <a:ext cx="723900" cy="26423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54B13A-5744-4397-B27A-AF05FD8C6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048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64717C"/>
                </a:solidFill>
              </a:defRPr>
            </a:pPr>
            <a:r>
              <a:rPr sz="1275" b="1" i="0">
                <a:solidFill>
                  <a:srgbClr val="64717C"/>
                </a:solidFill>
              </a:rPr>
              <a:t>×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5608385e7147d3"/>
          <a:stretch xmlns:a="http://schemas.openxmlformats.org/drawingml/2006/main"/>
        </p:blipFill>
        <p:spPr>
          <a:xfrm xmlns:a="http://schemas.openxmlformats.org/drawingml/2006/main">
            <a:off x="9915525" y="209674"/>
            <a:ext cx="1238250" cy="696886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7A2535-023A-4089-B474-DA4B92871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F"/>
          </a:solidFill>
          <a:ln xmlns:a="http://schemas.openxmlformats.org/drawingml/2006/main" w="0">
            <a:solidFill>
              <a:srgbClr val="D6DE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E6B025-C2CB-4F97-B86F-101151553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5E8"/>
          </a:solidFill>
          <a:ln xmlns:a="http://schemas.openxmlformats.org/drawingml/2006/main" w="0">
            <a:solidFill>
              <a:srgbClr val="29B5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8F599B-A8BF-4A7F-B80E-4FDA01044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F"/>
          </a:solidFill>
          <a:ln xmlns:a="http://schemas.openxmlformats.org/drawingml/2006/main" w="0">
            <a:solidFill>
              <a:srgbClr val="D6DE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9025F7-AD19-481B-9972-F7843D37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7225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64717C"/>
                </a:solidFill>
              </a:defRPr>
            </a:pPr>
            <a:r>
              <a:rPr sz="788" b="0" i="0">
                <a:solidFill>
                  <a:srgbClr val="64717C"/>
                </a:solidFill>
              </a:rPr>
              <a:t>ICLO · SNOWFLAKE WORLD TOUR SEOUL 2026 · B′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98399C-24D7-4F10-8119-3B441F024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722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 i="0">
                <a:solidFill>
                  <a:srgbClr val="64717C"/>
                </a:solidFill>
              </a:defRPr>
            </a:pPr>
            <a:r>
              <a:rPr sz="788" b="0" i="0">
                <a:solidFill>
                  <a:srgbClr val="64717C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D306FC-7355-48F3-80F0-F80183087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29B5E8"/>
                </a:solidFill>
              </a:defRPr>
            </a:pPr>
            <a:r>
              <a:rPr sz="2250" b="1" i="0">
                <a:solidFill>
                  <a:srgbClr val="29B5E8"/>
                </a:solidFill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541E31-CF19-49E8-BFDF-73EBFFB5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1526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47E84"/>
                </a:solidFill>
              </a:defRPr>
            </a:pPr>
            <a:r>
              <a:rPr sz="1800" b="1" i="0">
                <a:solidFill>
                  <a:srgbClr val="147E84"/>
                </a:solidFill>
              </a:rPr>
              <a:t>FIND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7D2396-6DF8-4D89-B425-FD84BE9C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4312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263A50"/>
                </a:solidFill>
              </a:defRPr>
            </a:pPr>
            <a:r>
              <a:rPr sz="1725" b="1" i="0">
                <a:solidFill>
                  <a:srgbClr val="263A50"/>
                </a:solidFill>
              </a:rPr>
              <a:t>In-network care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2F64B5-FFCA-4137-AA86-203023F1B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527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64717C"/>
                </a:solidFill>
              </a:defRPr>
            </a:pPr>
            <a:r>
              <a:rPr sz="1238" b="0" i="0">
                <a:solidFill>
                  <a:srgbClr val="64717C"/>
                </a:solidFill>
              </a:rPr>
              <a:t>내 plan에 맞는 네트워크 치과를 찾기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449C4D-022D-42F1-986B-CF1EE42E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71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F"/>
          </a:solidFill>
          <a:ln xmlns:a="http://schemas.openxmlformats.org/drawingml/2006/main" w="0">
            <a:solidFill>
              <a:srgbClr val="D6DE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E5BF83-AB27-48E3-AE4E-0CEFC8F1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0517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29B5E8"/>
                </a:solidFill>
              </a:defRPr>
            </a:pPr>
            <a:r>
              <a:rPr sz="2250" b="1" i="0">
                <a:solidFill>
                  <a:srgbClr val="29B5E8"/>
                </a:solidFill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6A09DD-DDF5-4A74-9AB2-0DE08E522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3242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47E84"/>
                </a:solidFill>
              </a:defRPr>
            </a:pPr>
            <a:r>
              <a:rPr sz="1800" b="1" i="0">
                <a:solidFill>
                  <a:srgbClr val="147E84"/>
                </a:solidFill>
              </a:rPr>
              <a:t>UNDERSTAND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438749-F4D2-438F-906F-9685262D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147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263A50"/>
                </a:solidFill>
              </a:defRPr>
            </a:pPr>
            <a:r>
              <a:rPr sz="1725" b="1" i="0">
                <a:solidFill>
                  <a:srgbClr val="263A50"/>
                </a:solidFill>
              </a:rPr>
              <a:t>Deductible · coinsurance · annual maximum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876BA0-BA80-4274-A70E-3E8AA9573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24275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64717C"/>
                </a:solidFill>
              </a:defRPr>
            </a:pPr>
            <a:r>
              <a:rPr sz="1238" b="0" i="0">
                <a:solidFill>
                  <a:srgbClr val="64717C"/>
                </a:solidFill>
              </a:rPr>
              <a:t>공제액·본인부담률·연간 한도를 이해하기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4C6CDE-3C11-4BC1-BD57-A0F7C93E0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433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F"/>
          </a:solidFill>
          <a:ln xmlns:a="http://schemas.openxmlformats.org/drawingml/2006/main" w="0">
            <a:solidFill>
              <a:srgbClr val="D6DE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73FB0B-E82C-47D3-A100-6CA3360C0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29B5E8"/>
                </a:solidFill>
              </a:defRPr>
            </a:pPr>
            <a:r>
              <a:rPr sz="2250" b="1" i="0">
                <a:solidFill>
                  <a:srgbClr val="29B5E8"/>
                </a:solidFill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0D99EE-7E3B-4D7E-80B6-90100D89B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4958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47E84"/>
                </a:solidFill>
              </a:defRPr>
            </a:pPr>
            <a:r>
              <a:rPr sz="1800" b="1" i="0">
                <a:solidFill>
                  <a:srgbClr val="147E84"/>
                </a:solidFill>
              </a:rPr>
              <a:t>ACT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EB6E28-4EF6-4521-955D-7212F4B30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8627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263A50"/>
                </a:solidFill>
              </a:defRPr>
            </a:pPr>
            <a:r>
              <a:rPr sz="1725" b="1" i="0">
                <a:solidFill>
                  <a:srgbClr val="263A50"/>
                </a:solidFill>
              </a:rPr>
              <a:t>Real availability and appointment preparation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F2386E-0B7D-4595-86B9-2EFED3991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958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64717C"/>
                </a:solidFill>
              </a:defRPr>
            </a:pPr>
            <a:r>
              <a:rPr sz="1238" b="0" i="0">
                <a:solidFill>
                  <a:srgbClr val="64717C"/>
                </a:solidFill>
              </a:rPr>
              <a:t>실제 예약 가능성과 방문 준비를 연결하기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435A5B-17B9-426C-A6EB-B61F63AB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149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F"/>
          </a:solidFill>
          <a:ln xmlns:a="http://schemas.openxmlformats.org/drawingml/2006/main" w="0">
            <a:solidFill>
              <a:srgbClr val="D6DED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2FF6B6-C2CA-416C-B5C9-658C2AAA9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9120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B24A56"/>
                </a:solidFill>
              </a:defRPr>
            </a:pPr>
            <a:r>
              <a:rPr sz="1275" b="1" i="0">
                <a:solidFill>
                  <a:srgbClr val="B24A56"/>
                </a:solidFill>
              </a:rPr>
              <a:t>Provider choice may be constrained or economically penalized by network and plan rules.</a:t>
            </a:r>
          </a:p>
        </p:txBody>
      </p:sp>
    </p:spTree>
    <p:extLst>
      <p:ext uri="{BB962C8B-B14F-4D97-AF65-F5344CB8AC3E}">
        <p14:creationId xmlns:p14="http://schemas.microsoft.com/office/powerpoint/2010/main" val="10843774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BA687E-A53F-44BA-8AA5-F06529364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12243A"/>
                </a:solidFill>
              </a:defRPr>
            </a:pPr>
            <a:r>
              <a:rPr sz="2775" b="1" i="0">
                <a:solidFill>
                  <a:srgbClr val="12243A"/>
                </a:solidFill>
              </a:rPr>
              <a:t>Turn benefits into employee action.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37D879-0897-4CE1-B1FB-26B9CE25B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4717C"/>
                </a:solidFill>
              </a:defRPr>
            </a:pPr>
            <a:r>
              <a:rPr sz="1350" b="0" i="0">
                <a:solidFill>
                  <a:srgbClr val="64717C"/>
                </a:solidFill>
              </a:rPr>
              <a:t>혜택 정보가 실제 예방진료와 적절한 in-network care로 이어지게 합니다.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06aa3eb2a34533"/>
          <a:stretch xmlns:a="http://schemas.openxmlformats.org/drawingml/2006/main"/>
        </p:blipFill>
        <p:spPr>
          <a:xfrm xmlns:a="http://schemas.openxmlformats.org/drawingml/2006/main">
            <a:off x="8810625" y="480148"/>
            <a:ext cx="723900" cy="26423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018DC7-5CE2-4A38-B422-9456FA0B7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048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64717C"/>
                </a:solidFill>
              </a:defRPr>
            </a:pPr>
            <a:r>
              <a:rPr sz="1275" b="1" i="0">
                <a:solidFill>
                  <a:srgbClr val="64717C"/>
                </a:solidFill>
              </a:rPr>
              <a:t>×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9bbb8897f84f50"/>
          <a:stretch xmlns:a="http://schemas.openxmlformats.org/drawingml/2006/main"/>
        </p:blipFill>
        <p:spPr>
          <a:xfrm xmlns:a="http://schemas.openxmlformats.org/drawingml/2006/main">
            <a:off x="9915525" y="209674"/>
            <a:ext cx="1238250" cy="696886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3DC2C6-E0A2-45A8-A2C3-D238AD1B0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F"/>
          </a:solidFill>
          <a:ln xmlns:a="http://schemas.openxmlformats.org/drawingml/2006/main" w="0">
            <a:solidFill>
              <a:srgbClr val="D6DE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2ABA94-E7CE-4643-9F3F-B2561755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5E8"/>
          </a:solidFill>
          <a:ln xmlns:a="http://schemas.openxmlformats.org/drawingml/2006/main" w="0">
            <a:solidFill>
              <a:srgbClr val="29B5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5286A0-05B4-4A38-82AD-CC985124B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F"/>
          </a:solidFill>
          <a:ln xmlns:a="http://schemas.openxmlformats.org/drawingml/2006/main" w="0">
            <a:solidFill>
              <a:srgbClr val="D6DE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97C882-7A70-400D-9331-6F051462F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7225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64717C"/>
                </a:solidFill>
              </a:defRPr>
            </a:pPr>
            <a:r>
              <a:rPr sz="788" b="0" i="0">
                <a:solidFill>
                  <a:srgbClr val="64717C"/>
                </a:solidFill>
              </a:rPr>
              <a:t>ICLO · SNOWFLAKE WORLD TOUR SEOUL 2026 · B′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DA194A-1672-48C0-BCD1-3CFC102A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722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 i="0">
                <a:solidFill>
                  <a:srgbClr val="64717C"/>
                </a:solidFill>
              </a:defRPr>
            </a:pPr>
            <a:r>
              <a:rPr sz="788" b="0" i="0">
                <a:solidFill>
                  <a:srgbClr val="64717C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A00345-CF81-4C5A-BED1-B61B8F98D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71700"/>
            <a:ext cx="533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 i="0">
                <a:solidFill>
                  <a:srgbClr val="29B5E8"/>
                </a:solidFill>
              </a:defRPr>
            </a:pPr>
            <a:r>
              <a:rPr sz="3300" b="1" i="0">
                <a:solidFill>
                  <a:srgbClr val="29B5E8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EED8F9-127D-4ED7-AEFA-CE1230FD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23837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2243A"/>
                </a:solidFill>
              </a:defRPr>
            </a:pPr>
            <a:r>
              <a:rPr sz="1725" b="1" i="0">
                <a:solidFill>
                  <a:srgbClr val="12243A"/>
                </a:solidFill>
              </a:rPr>
              <a:t>UNDERSTAND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5BE69B-C355-42EC-8191-8156010A4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43225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F"/>
          </a:solidFill>
          <a:ln xmlns:a="http://schemas.openxmlformats.org/drawingml/2006/main" w="0">
            <a:solidFill>
              <a:srgbClr val="D6DE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6CF6F9-1CD3-419B-BC63-D77B74167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76600"/>
            <a:ext cx="323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63A50"/>
                </a:solidFill>
              </a:defRPr>
            </a:pPr>
            <a:r>
              <a:rPr sz="1500" b="1" i="0">
                <a:solidFill>
                  <a:srgbClr val="263A50"/>
                </a:solidFill>
              </a:rPr>
              <a:t>Eligibility · coverage rules · OOP context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EB7726-D743-4BE9-A152-D1C8EC1F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7195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64717C"/>
                </a:solidFill>
              </a:defRPr>
            </a:pPr>
            <a:r>
              <a:rPr sz="1238" b="0" i="0">
                <a:solidFill>
                  <a:srgbClr val="64717C"/>
                </a:solidFill>
              </a:rPr>
              <a:t>자격·보장 규칙·예상 부담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544ED7-B1A9-42FF-AE01-B2FA2AFFA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171700"/>
            <a:ext cx="533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 i="0">
                <a:solidFill>
                  <a:srgbClr val="29B5E8"/>
                </a:solidFill>
              </a:defRPr>
            </a:pPr>
            <a:r>
              <a:rPr sz="3300" b="1" i="0">
                <a:solidFill>
                  <a:srgbClr val="29B5E8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A25C61-4C34-4B60-83DC-42046B4BA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3837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2243A"/>
                </a:solidFill>
              </a:defRPr>
            </a:pPr>
            <a:r>
              <a:rPr sz="1725" b="1" i="0">
                <a:solidFill>
                  <a:srgbClr val="12243A"/>
                </a:solidFill>
              </a:rPr>
              <a:t>NAVIGATE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72C8DF-BC11-437C-81E5-0EA80F3EA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943225"/>
            <a:ext cx="323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5C8"/>
          </a:solidFill>
          <a:ln xmlns:a="http://schemas.openxmlformats.org/drawingml/2006/main" w="0">
            <a:solidFill>
              <a:srgbClr val="55C5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51F49F-8285-4E7A-87E1-B3B6B9B2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276600"/>
            <a:ext cx="323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63A50"/>
                </a:solidFill>
              </a:defRPr>
            </a:pPr>
            <a:r>
              <a:rPr sz="1500" b="1" i="0">
                <a:solidFill>
                  <a:srgbClr val="263A50"/>
                </a:solidFill>
              </a:rPr>
              <a:t>Network and provider context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382D5E-D09A-42FC-94D9-63DAEFC69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17195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64717C"/>
                </a:solidFill>
              </a:defRPr>
            </a:pPr>
            <a:r>
              <a:rPr sz="1238" b="0" i="0">
                <a:solidFill>
                  <a:srgbClr val="64717C"/>
                </a:solidFill>
              </a:rPr>
              <a:t>네트워크·provider 정보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9101A7-D176-4D76-AE6D-3D5551BF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71700"/>
            <a:ext cx="533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 i="0">
                <a:solidFill>
                  <a:srgbClr val="29B5E8"/>
                </a:solidFill>
              </a:defRPr>
            </a:pPr>
            <a:r>
              <a:rPr sz="3300" b="1" i="0">
                <a:solidFill>
                  <a:srgbClr val="29B5E8"/>
                </a:solidFill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89ACE9-BC04-49F3-B314-796A57887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23837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2243A"/>
                </a:solidFill>
              </a:defRPr>
            </a:pPr>
            <a:r>
              <a:rPr sz="1725" b="1" i="0">
                <a:solidFill>
                  <a:srgbClr val="12243A"/>
                </a:solidFill>
              </a:rPr>
              <a:t>PREPARE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3973CD-08F6-42F6-94E0-73DFC4A95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43225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F"/>
          </a:solidFill>
          <a:ln xmlns:a="http://schemas.openxmlformats.org/drawingml/2006/main" w="0">
            <a:solidFill>
              <a:srgbClr val="D6DED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EFE75E-7A84-42CC-B581-055D93A1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76600"/>
            <a:ext cx="323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63A50"/>
                </a:solidFill>
              </a:defRPr>
            </a:pPr>
            <a:r>
              <a:rPr sz="1500" b="1" i="0">
                <a:solidFill>
                  <a:srgbClr val="263A50"/>
                </a:solidFill>
              </a:rPr>
              <a:t>Employee-requested appointment support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B6C303-18B8-42BF-98BC-B560F1954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7195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64717C"/>
                </a:solidFill>
              </a:defRPr>
            </a:pPr>
            <a:r>
              <a:rPr sz="1238" b="0" i="0">
                <a:solidFill>
                  <a:srgbClr val="64717C"/>
                </a:solidFill>
              </a:rPr>
              <a:t>직원이 요청한 예약·방문 준비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94E8EC-634B-4A69-904C-A7F053EB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347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9"/>
          </a:solidFill>
          <a:ln xmlns:a="http://schemas.openxmlformats.org/drawingml/2006/main" w="9525">
            <a:solidFill>
              <a:srgbClr val="55C5C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4543A7-BA6B-4412-9F2D-F14AFBC4F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1972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47E84"/>
                </a:solidFill>
              </a:defRPr>
            </a:pPr>
            <a:r>
              <a:rPr sz="1200" b="1" i="0">
                <a:solidFill>
                  <a:srgbClr val="147E84"/>
                </a:solidFill>
              </a:rPr>
              <a:t>Product redline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11B020-065C-4B13-93B8-1B8DD2C1F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39115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63A50"/>
                </a:solidFill>
              </a:defRPr>
            </a:pPr>
            <a:r>
              <a:rPr sz="1350" b="1" i="0">
                <a:solidFill>
                  <a:srgbClr val="263A50"/>
                </a:solidFill>
              </a:rPr>
              <a:t>Image-derived signals remain separate from automated provider, urgency or treatment routing.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5622D7-8E18-41BF-AF2D-47C0AB140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705475"/>
            <a:ext cx="866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 i="0">
                <a:solidFill>
                  <a:srgbClr val="64717C"/>
                </a:solidFill>
              </a:defRPr>
            </a:pPr>
            <a:r>
              <a:rPr sz="1088" b="0" i="0">
                <a:solidFill>
                  <a:srgbClr val="64717C"/>
                </a:solidFill>
              </a:rPr>
              <a:t>이미지 기반 신호는 provider·긴급도·치료 경로 자동 결정과 분리합니다.</a:t>
            </a:r>
          </a:p>
        </p:txBody>
      </p:sp>
    </p:spTree>
    <p:extLst>
      <p:ext uri="{BB962C8B-B14F-4D97-AF65-F5344CB8AC3E}">
        <p14:creationId xmlns:p14="http://schemas.microsoft.com/office/powerpoint/2010/main" val="15378646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24AC2B-9468-4778-8466-F5F07FA40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12243A"/>
                </a:solidFill>
              </a:defRPr>
            </a:pPr>
            <a:r>
              <a:rPr sz="2775" b="1" i="0">
                <a:solidFill>
                  <a:srgbClr val="12243A"/>
                </a:solidFill>
              </a:rPr>
              <a:t>Connect access to claims-verified evidence.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9C318F-4B16-4122-A9B2-2FD5941F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4717C"/>
                </a:solidFill>
              </a:defRPr>
            </a:pPr>
            <a:r>
              <a:rPr sz="1350" b="0" i="0">
                <a:solidFill>
                  <a:srgbClr val="64717C"/>
                </a:solidFill>
              </a:rPr>
              <a:t>개인 건강신호를 employer에게 노출하지 않고 이용 여정을 집계 근거로 연결합니다.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0b9092a9984e0e"/>
          <a:stretch xmlns:a="http://schemas.openxmlformats.org/drawingml/2006/main"/>
        </p:blipFill>
        <p:spPr>
          <a:xfrm xmlns:a="http://schemas.openxmlformats.org/drawingml/2006/main">
            <a:off x="8810625" y="480148"/>
            <a:ext cx="723900" cy="26423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20E364-EC6A-4B7E-9892-5DF5A4CED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048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64717C"/>
                </a:solidFill>
              </a:defRPr>
            </a:pPr>
            <a:r>
              <a:rPr sz="1275" b="1" i="0">
                <a:solidFill>
                  <a:srgbClr val="64717C"/>
                </a:solidFill>
              </a:rPr>
              <a:t>×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31dd14b2e24996"/>
          <a:stretch xmlns:a="http://schemas.openxmlformats.org/drawingml/2006/main"/>
        </p:blipFill>
        <p:spPr>
          <a:xfrm xmlns:a="http://schemas.openxmlformats.org/drawingml/2006/main">
            <a:off x="9915525" y="209674"/>
            <a:ext cx="1238250" cy="696886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BECE83-303D-4712-B9C8-1500EE7F6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F"/>
          </a:solidFill>
          <a:ln xmlns:a="http://schemas.openxmlformats.org/drawingml/2006/main" w="0">
            <a:solidFill>
              <a:srgbClr val="D6DE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3FD199-31F2-4503-B3CB-CFB0B661A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5E8"/>
          </a:solidFill>
          <a:ln xmlns:a="http://schemas.openxmlformats.org/drawingml/2006/main" w="0">
            <a:solidFill>
              <a:srgbClr val="29B5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C42819-BE03-4D3A-9B50-12549E507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F"/>
          </a:solidFill>
          <a:ln xmlns:a="http://schemas.openxmlformats.org/drawingml/2006/main" w="0">
            <a:solidFill>
              <a:srgbClr val="D6DE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0DEA9B-A69D-4BD4-88D9-67F31F8A0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7225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64717C"/>
                </a:solidFill>
              </a:defRPr>
            </a:pPr>
            <a:r>
              <a:rPr sz="788" b="0" i="0">
                <a:solidFill>
                  <a:srgbClr val="64717C"/>
                </a:solidFill>
              </a:rPr>
              <a:t>ICLO · SNOWFLAKE WORLD TOUR SEOUL 2026 · B′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EE32B1-DBC4-4481-8E28-23A4AC37D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722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 i="0">
                <a:solidFill>
                  <a:srgbClr val="64717C"/>
                </a:solidFill>
              </a:defRPr>
            </a:pPr>
            <a:r>
              <a:rPr sz="788" b="0" i="0">
                <a:solidFill>
                  <a:srgbClr val="64717C"/>
                </a:solidFill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5E3411-77C6-4A98-B4E5-0691C1E0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193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47E84"/>
                </a:solidFill>
              </a:defRPr>
            </a:pPr>
            <a:r>
              <a:rPr sz="975" b="1" i="0">
                <a:solidFill>
                  <a:srgbClr val="147E84"/>
                </a:solidFill>
              </a:rPr>
              <a:t>EMPLOYEE + PLAN CONTEXT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4FB7B4-910B-4C02-9DC0-08BD23FA3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193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29B5E8"/>
                </a:solidFill>
              </a:defRPr>
            </a:pPr>
            <a:r>
              <a:rPr sz="975" b="1" i="0">
                <a:solidFill>
                  <a:srgbClr val="29B5E8"/>
                </a:solidFill>
              </a:rPr>
              <a:t>SNOWFLAKE GOVERNED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806FAF-0A50-475D-AEB9-73BA42A4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193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147E84"/>
                </a:solidFill>
              </a:defRPr>
            </a:pPr>
            <a:r>
              <a:rPr sz="975" b="1" i="0">
                <a:solidFill>
                  <a:srgbClr val="147E84"/>
                </a:solidFill>
              </a:rPr>
              <a:t>EMPLOYER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89EC52-A2F2-46B2-A2CC-BC92E456E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52775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147E84"/>
                </a:solidFill>
              </a:defRPr>
            </a:pPr>
            <a:r>
              <a:rPr sz="2550" b="1" i="0">
                <a:solidFill>
                  <a:srgbClr val="147E84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4A85D6-0788-4516-B38B-82934BE5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52775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147E84"/>
                </a:solidFill>
              </a:defRPr>
            </a:pPr>
            <a:r>
              <a:rPr sz="2550" b="1" i="0">
                <a:solidFill>
                  <a:srgbClr val="147E84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74FCF9-C6D4-42CD-BB44-B81FC5B3C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90775"/>
            <a:ext cx="31432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6"/>
          </a:solidFill>
          <a:ln xmlns:a="http://schemas.openxmlformats.org/drawingml/2006/main" w="9525">
            <a:solidFill>
              <a:srgbClr val="D6DE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E8B2A1-4E5C-4017-99F6-C760DA25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26098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63A50"/>
                </a:solidFill>
              </a:defRPr>
            </a:pPr>
            <a:r>
              <a:rPr sz="1500" b="1" i="0">
                <a:solidFill>
                  <a:srgbClr val="263A50"/>
                </a:solidFill>
              </a:rPr>
              <a:t>Eligibility + plan rules</a:t>
            </a:r>
          </a:p>
          <a:p xmlns:a="http://schemas.openxmlformats.org/drawingml/2006/main">
            <a:pPr algn="l">
              <a:defRPr sz="1500" b="1" i="0">
                <a:solidFill>
                  <a:srgbClr val="263A50"/>
                </a:solidFill>
              </a:defRPr>
            </a:pPr>
            <a:r>
              <a:rPr sz="1500" b="1" i="0">
                <a:solidFill>
                  <a:srgbClr val="263A50"/>
                </a:solidFill>
              </a:rPr>
              <a:t>Provider/network context</a:t>
            </a:r>
          </a:p>
          <a:p xmlns:a="http://schemas.openxmlformats.org/drawingml/2006/main">
            <a:pPr algn="l">
              <a:defRPr sz="1500" b="1" i="0">
                <a:solidFill>
                  <a:srgbClr val="263A50"/>
                </a:solidFill>
              </a:defRPr>
            </a:pPr>
            <a:r>
              <a:rPr sz="1500" b="1" i="0">
                <a:solidFill>
                  <a:srgbClr val="263A50"/>
                </a:solidFill>
              </a:rPr>
              <a:t>Employee app events</a:t>
            </a:r>
          </a:p>
          <a:p xmlns:a="http://schemas.openxmlformats.org/drawingml/2006/main">
            <a:pPr algn="l">
              <a:defRPr sz="1500" b="1" i="0">
                <a:solidFill>
                  <a:srgbClr val="263A50"/>
                </a:solidFill>
              </a:defRPr>
            </a:pPr>
            <a:r>
              <a:rPr sz="1500" b="1" i="0">
                <a:solidFill>
                  <a:srgbClr val="263A50"/>
                </a:solidFill>
              </a:rPr>
              <a:t>TPA/carrier dental claims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169755-E23E-47C2-9AFC-2EB198B79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90775"/>
            <a:ext cx="3619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43A"/>
          </a:solidFill>
          <a:ln xmlns:a="http://schemas.openxmlformats.org/drawingml/2006/main" w="0">
            <a:solidFill>
              <a:srgbClr val="12243A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473dd7786a45bc"/>
          <a:stretch xmlns:a="http://schemas.openxmlformats.org/drawingml/2006/main"/>
        </p:blipFill>
        <p:spPr>
          <a:xfrm xmlns:a="http://schemas.openxmlformats.org/drawingml/2006/main">
            <a:off x="5219700" y="2602444"/>
            <a:ext cx="1752600" cy="986362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63C6DA-1576-4BBC-B7F4-37077375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14750"/>
            <a:ext cx="3009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Purpose · access · lineage</a:t>
            </a:r>
          </a:p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Quality · reconciliation · aggregate views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D4E0BB-0989-4F86-8B3B-23486F157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90775"/>
            <a:ext cx="31432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C"/>
          </a:solidFill>
          <a:ln xmlns:a="http://schemas.openxmlformats.org/drawingml/2006/main" w="9525">
            <a:solidFill>
              <a:srgbClr val="29B5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63302D-D427-4ADD-8CF8-83C122D6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05100"/>
            <a:ext cx="26289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1" i="0">
                <a:solidFill>
                  <a:srgbClr val="263A50"/>
                </a:solidFill>
              </a:defRPr>
            </a:pPr>
            <a:r>
              <a:rPr sz="1388" b="1" i="0">
                <a:solidFill>
                  <a:srgbClr val="263A50"/>
                </a:solidFill>
              </a:rPr>
              <a:t>Claims-confirmed utilization</a:t>
            </a:r>
          </a:p>
          <a:p xmlns:a="http://schemas.openxmlformats.org/drawingml/2006/main">
            <a:pPr algn="l">
              <a:defRPr sz="1388" b="1" i="0">
                <a:solidFill>
                  <a:srgbClr val="263A50"/>
                </a:solidFill>
              </a:defRPr>
            </a:pPr>
            <a:r>
              <a:rPr sz="1388" b="1" i="0">
                <a:solidFill>
                  <a:srgbClr val="263A50"/>
                </a:solidFill>
              </a:rPr>
              <a:t>Allowed / plan-paid / employee OOP</a:t>
            </a:r>
          </a:p>
          <a:p xmlns:a="http://schemas.openxmlformats.org/drawingml/2006/main">
            <a:pPr algn="l">
              <a:defRPr sz="1388" b="1" i="0">
                <a:solidFill>
                  <a:srgbClr val="263A50"/>
                </a:solidFill>
              </a:defRPr>
            </a:pPr>
            <a:r>
              <a:rPr sz="1388" b="1" i="0">
                <a:solidFill>
                  <a:srgbClr val="263A50"/>
                </a:solidFill>
              </a:rPr>
              <a:t>Freshness · lag · completeness</a:t>
            </a:r>
          </a:p>
          <a:p xmlns:a="http://schemas.openxmlformats.org/drawingml/2006/main">
            <a:pPr algn="l">
              <a:defRPr sz="1388" b="1" i="0">
                <a:solidFill>
                  <a:srgbClr val="263A50"/>
                </a:solidFill>
              </a:defRPr>
            </a:pPr>
            <a:r>
              <a:rPr sz="1388" b="1" i="0">
                <a:solidFill>
                  <a:srgbClr val="263A50"/>
                </a:solidFill>
              </a:rPr>
              <a:t>Aggregate only · no individual PHI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D35703-2B34-4264-97BE-8689620C4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816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F"/>
          </a:solidFill>
          <a:ln xmlns:a="http://schemas.openxmlformats.org/drawingml/2006/main" w="0">
            <a:solidFill>
              <a:srgbClr val="D6DED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4C917B-B1EB-4096-A73A-13E1689A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292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1" i="0">
                <a:solidFill>
                  <a:srgbClr val="B24A56"/>
                </a:solidFill>
              </a:defRPr>
            </a:pPr>
            <a:r>
              <a:rPr sz="1163" b="1" i="0">
                <a:solidFill>
                  <a:srgbClr val="B24A56"/>
                </a:solidFill>
              </a:rPr>
              <a:t>Raw oral images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31A547-0328-416E-B252-47E11CBCE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429250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64717C"/>
                </a:solidFill>
              </a:defRPr>
            </a:pPr>
            <a:r>
              <a:rPr sz="1163" b="0" i="0">
                <a:solidFill>
                  <a:srgbClr val="64717C"/>
                </a:solidFill>
              </a:rPr>
              <a:t>→ controlled U.S. object storage / PHI vault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97B1C7-A11D-4909-86C6-9661C981C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372100"/>
            <a:ext cx="518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64717C"/>
                </a:solidFill>
              </a:defRPr>
            </a:pPr>
            <a:r>
              <a:rPr sz="1125" b="0" i="0">
                <a:solidFill>
                  <a:srgbClr val="64717C"/>
                </a:solidFill>
              </a:rPr>
              <a:t>Snowflake stores authorized structured data, metadata, model version and approved derived signals only.</a:t>
            </a:r>
          </a:p>
        </p:txBody>
      </p:sp>
    </p:spTree>
    <p:extLst>
      <p:ext uri="{BB962C8B-B14F-4D97-AF65-F5344CB8AC3E}">
        <p14:creationId xmlns:p14="http://schemas.microsoft.com/office/powerpoint/2010/main" val="1217445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87B51C-59A8-4E9D-BFE6-3993533D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12243A"/>
                </a:solidFill>
              </a:defRPr>
            </a:pPr>
            <a:r>
              <a:rPr sz="2775" b="1" i="0">
                <a:solidFill>
                  <a:srgbClr val="12243A"/>
                </a:solidFill>
              </a:rPr>
              <a:t>Measure access—not individual employees.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74C9EB-A360-40BC-AE6D-A1B36181B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4717C"/>
                </a:solidFill>
              </a:defRPr>
            </a:pPr>
            <a:r>
              <a:rPr sz="1350" b="0" i="0">
                <a:solidFill>
                  <a:srgbClr val="64717C"/>
                </a:solidFill>
              </a:rPr>
              <a:t>분모·최신성·완결성·프라이버시가 보이는 aggregate evidence입니다.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99dea8a64b49c6"/>
          <a:stretch xmlns:a="http://schemas.openxmlformats.org/drawingml/2006/main"/>
        </p:blipFill>
        <p:spPr>
          <a:xfrm xmlns:a="http://schemas.openxmlformats.org/drawingml/2006/main">
            <a:off x="8810625" y="480148"/>
            <a:ext cx="723900" cy="26423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ACD522-1BD9-4AAA-8201-1323B8330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048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64717C"/>
                </a:solidFill>
              </a:defRPr>
            </a:pPr>
            <a:r>
              <a:rPr sz="1275" b="1" i="0">
                <a:solidFill>
                  <a:srgbClr val="64717C"/>
                </a:solidFill>
              </a:rPr>
              <a:t>×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2970b9f7dd4982"/>
          <a:stretch xmlns:a="http://schemas.openxmlformats.org/drawingml/2006/main"/>
        </p:blipFill>
        <p:spPr>
          <a:xfrm xmlns:a="http://schemas.openxmlformats.org/drawingml/2006/main">
            <a:off x="9915525" y="209674"/>
            <a:ext cx="1238250" cy="696886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EF0E59-3BAB-4E69-B563-4C228A31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F"/>
          </a:solidFill>
          <a:ln xmlns:a="http://schemas.openxmlformats.org/drawingml/2006/main" w="0">
            <a:solidFill>
              <a:srgbClr val="D6DE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D56AC6-D589-4D2D-9251-C11AA3CA7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5E8"/>
          </a:solidFill>
          <a:ln xmlns:a="http://schemas.openxmlformats.org/drawingml/2006/main" w="0">
            <a:solidFill>
              <a:srgbClr val="29B5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0C6398-FC29-40B0-A5AF-DFCEE60F6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F"/>
          </a:solidFill>
          <a:ln xmlns:a="http://schemas.openxmlformats.org/drawingml/2006/main" w="0">
            <a:solidFill>
              <a:srgbClr val="D6DE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3A8EF3-2DDD-4EE9-8925-1C67279C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7225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64717C"/>
                </a:solidFill>
              </a:defRPr>
            </a:pPr>
            <a:r>
              <a:rPr sz="788" b="0" i="0">
                <a:solidFill>
                  <a:srgbClr val="64717C"/>
                </a:solidFill>
              </a:rPr>
              <a:t>ICLO · SNOWFLAKE WORLD TOUR SEOUL 2026 · B′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D934EA-EB7E-4EB9-831E-241D4EFC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722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 i="0">
                <a:solidFill>
                  <a:srgbClr val="64717C"/>
                </a:solidFill>
              </a:defRPr>
            </a:pPr>
            <a:r>
              <a:rPr sz="788" b="0" i="0">
                <a:solidFill>
                  <a:srgbClr val="64717C"/>
                </a:solidFill>
              </a:rPr>
              <a:t>05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C7A48E-F82A-47BF-9954-FE50346C0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754380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2FE552-7B42-4B1E-AB00-407186200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66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147E84"/>
                </a:solidFill>
              </a:defRPr>
            </a:pPr>
            <a:r>
              <a:rPr sz="938" b="1" i="0">
                <a:solidFill>
                  <a:srgbClr val="147E84"/>
                </a:solidFill>
              </a:rPr>
              <a:t>EMPLOYER DASHBOARD · SYNTHETIC DATA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d89590fc054c63"/>
          <a:stretch xmlns:a="http://schemas.openxmlformats.org/drawingml/2006/main"/>
        </p:blipFill>
        <p:spPr>
          <a:xfrm xmlns:a="http://schemas.openxmlformats.org/drawingml/2006/main">
            <a:off x="708163" y="2657475"/>
            <a:ext cx="7156174" cy="22860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D7757B-07D1-4368-BD93-97A6BB770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9550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5E8"/>
          </a:solidFill>
          <a:ln xmlns:a="http://schemas.openxmlformats.org/drawingml/2006/main" w="0">
            <a:solidFill>
              <a:srgbClr val="29B5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F57004-5A7F-4524-BC55-F87152D7B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764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1" i="0">
                <a:solidFill>
                  <a:srgbClr val="147E84"/>
                </a:solidFill>
              </a:defRPr>
            </a:pPr>
            <a:r>
              <a:rPr sz="1238" b="1" i="0">
                <a:solidFill>
                  <a:srgbClr val="147E84"/>
                </a:solidFill>
              </a:rPr>
              <a:t>SYNTHETIC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4A760F-1C6B-4C22-8BDA-03C9F8871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812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63A50"/>
                </a:solidFill>
              </a:defRPr>
            </a:pPr>
            <a:r>
              <a:rPr sz="1125" b="0" i="0">
                <a:solidFill>
                  <a:srgbClr val="263A50"/>
                </a:solidFill>
              </a:rPr>
              <a:t>Illustrative only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7AEA58-147C-45FA-B487-481AF09A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3370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5E8"/>
          </a:solidFill>
          <a:ln xmlns:a="http://schemas.openxmlformats.org/drawingml/2006/main" w="0">
            <a:solidFill>
              <a:srgbClr val="29B5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D6B43A-2075-452D-9B76-C568BB38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146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1" i="0">
                <a:solidFill>
                  <a:srgbClr val="147E84"/>
                </a:solidFill>
              </a:defRPr>
            </a:pPr>
            <a:r>
              <a:rPr sz="1238" b="1" i="0">
                <a:solidFill>
                  <a:srgbClr val="147E84"/>
                </a:solidFill>
              </a:rPr>
              <a:t>DENOMINATOR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3F1BD9-5A02-4322-877F-FE3166727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194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63A50"/>
                </a:solidFill>
              </a:defRPr>
            </a:pPr>
            <a:r>
              <a:rPr sz="1125" b="0" i="0">
                <a:solidFill>
                  <a:srgbClr val="263A50"/>
                </a:solidFill>
              </a:rPr>
              <a:t>Employees / Members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66F43C-40F9-4063-AF27-40BFCAA10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7190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5E8"/>
          </a:solidFill>
          <a:ln xmlns:a="http://schemas.openxmlformats.org/drawingml/2006/main" w="0">
            <a:solidFill>
              <a:srgbClr val="29B5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20521F-C1B0-4B3F-87B8-41582487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7528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1" i="0">
                <a:solidFill>
                  <a:srgbClr val="147E84"/>
                </a:solidFill>
              </a:defRPr>
            </a:pPr>
            <a:r>
              <a:rPr sz="1238" b="1" i="0">
                <a:solidFill>
                  <a:srgbClr val="147E84"/>
                </a:solidFill>
              </a:rPr>
              <a:t>FRESHNESS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429D06-628E-4436-9905-BBE50F551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576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63A50"/>
                </a:solidFill>
              </a:defRPr>
            </a:pPr>
            <a:r>
              <a:rPr sz="1125" b="0" i="0">
                <a:solidFill>
                  <a:srgbClr val="263A50"/>
                </a:solidFill>
              </a:rPr>
              <a:t>Eligibility date · claims lag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422A64-84FD-4BA1-B487-3E00DE9F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61010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5E8"/>
          </a:solidFill>
          <a:ln xmlns:a="http://schemas.openxmlformats.org/drawingml/2006/main" w="0">
            <a:solidFill>
              <a:srgbClr val="29B5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9F3F29-5905-4A25-BBCD-4BCD52A6F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5910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1" i="0">
                <a:solidFill>
                  <a:srgbClr val="147E84"/>
                </a:solidFill>
              </a:defRPr>
            </a:pPr>
            <a:r>
              <a:rPr sz="1238" b="1" i="0">
                <a:solidFill>
                  <a:srgbClr val="147E84"/>
                </a:solidFill>
              </a:rPr>
              <a:t>PRIVACY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DA0A34-EA2B-48F0-9986-1F9D3ACBD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8958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63A50"/>
                </a:solidFill>
              </a:defRPr>
            </a:pPr>
            <a:r>
              <a:rPr sz="1125" b="0" i="0">
                <a:solidFill>
                  <a:srgbClr val="263A50"/>
                </a:solidFill>
              </a:rPr>
              <a:t>Aggregate only · n≥20 · no PHI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27D889-06F0-407D-950F-365757F2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543550"/>
            <a:ext cx="320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1" i="0">
                <a:solidFill>
                  <a:srgbClr val="B24A56"/>
                </a:solidFill>
              </a:defRPr>
            </a:pPr>
            <a:r>
              <a:rPr sz="1163" b="1" i="0">
                <a:solidFill>
                  <a:srgbClr val="B24A56"/>
                </a:solidFill>
              </a:rPr>
              <a:t>This is not a performance claim. It demonstrates how access, data quality and privacy become visible to the buyer.</a:t>
            </a:r>
          </a:p>
        </p:txBody>
      </p:sp>
    </p:spTree>
    <p:extLst>
      <p:ext uri="{BB962C8B-B14F-4D97-AF65-F5344CB8AC3E}">
        <p14:creationId xmlns:p14="http://schemas.microsoft.com/office/powerpoint/2010/main" val="10183825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224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6240E5-044B-4CF2-AAB7-6ABF42B72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CAADDC-1744-4EEE-866B-039406AE8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3429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23a59a88f743fc"/>
          <a:stretch xmlns:a="http://schemas.openxmlformats.org/drawingml/2006/main"/>
        </p:blipFill>
        <p:spPr>
          <a:xfrm xmlns:a="http://schemas.openxmlformats.org/drawingml/2006/main">
            <a:off x="742950" y="595828"/>
            <a:ext cx="933450" cy="34072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1EB0B8-D78C-4EA4-A2F6-ADDD8A03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6000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64717C"/>
                </a:solidFill>
              </a:defRPr>
            </a:pPr>
            <a:r>
              <a:rPr sz="1275" b="1" i="0">
                <a:solidFill>
                  <a:srgbClr val="64717C"/>
                </a:solidFill>
              </a:rPr>
              <a:t>×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a9aad1bc944e1e"/>
          <a:stretch xmlns:a="http://schemas.openxmlformats.org/drawingml/2006/main"/>
        </p:blipFill>
        <p:spPr>
          <a:xfrm xmlns:a="http://schemas.openxmlformats.org/drawingml/2006/main">
            <a:off x="2057400" y="304940"/>
            <a:ext cx="1390650" cy="782656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DDF73C-53EC-4544-A86E-C82BD0F0A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00200"/>
            <a:ext cx="723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FFFFF"/>
                </a:solidFill>
              </a:defRPr>
            </a:pPr>
            <a:r>
              <a:rPr sz="2925" b="1" i="0">
                <a:solidFill>
                  <a:srgbClr val="FFFFFF"/>
                </a:solidFill>
              </a:rPr>
              <a:t>CAN YOUR COMPANY MAKE</a:t>
            </a:r>
          </a:p>
          <a:p xmlns:a="http://schemas.openxmlformats.org/drawingml/2006/main">
            <a:pPr algn="l">
              <a:defRPr sz="2925" b="1" i="0">
                <a:solidFill>
                  <a:srgbClr val="FFFFFF"/>
                </a:solidFill>
              </a:defRPr>
            </a:pPr>
            <a:r>
              <a:rPr sz="2925" b="1" i="0">
                <a:solidFill>
                  <a:srgbClr val="FFFFFF"/>
                </a:solidFill>
              </a:rPr>
              <a:t>DENTAL BENEFITS EASIER TO ACCESS?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66572D-E60F-45EE-BBB1-09085AAD4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33725"/>
            <a:ext cx="695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D6E0E7"/>
                </a:solidFill>
              </a:defRPr>
            </a:pPr>
            <a:r>
              <a:rPr sz="1575" b="1" i="0">
                <a:solidFill>
                  <a:srgbClr val="D6E0E7"/>
                </a:solidFill>
              </a:rPr>
              <a:t>미국의 치과보험과 복지 혜택을 더 쉽게 만들 준비가 되어 있나요?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15D643-ED0D-4B19-9D81-A42DAACD7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1480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5E8"/>
          </a:solidFill>
          <a:ln xmlns:a="http://schemas.openxmlformats.org/drawingml/2006/main" w="0">
            <a:solidFill>
              <a:srgbClr val="29B5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ED12B3-2607-4F17-AF0D-6C03A91BE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386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Looking for U.S. employer-benefits, payer/TPA, HR and data teams.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E0C846-D4E8-4AE3-8138-641932BA3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4825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B9C7D1"/>
                </a:solidFill>
              </a:defRPr>
            </a:pPr>
            <a:r>
              <a:rPr sz="1238" b="0" i="0">
                <a:solidFill>
                  <a:srgbClr val="B9C7D1"/>
                </a:solidFill>
              </a:rPr>
              <a:t>Let’s validate a governed eligibility + plan + claims collaboration pattern on Snowflake.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322A40-B9C7-4166-8089-109787549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685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9B5E8"/>
                </a:solidFill>
              </a:defRPr>
            </a:pPr>
            <a:r>
              <a:rPr sz="1050" b="1" i="0">
                <a:solidFill>
                  <a:srgbClr val="29B5E8"/>
                </a:solidFill>
              </a:rPr>
              <a:t>Synthetic demo · aggregate only · no individual PHI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D595A3-D6A4-49AA-8328-AEF48A76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219200"/>
            <a:ext cx="27241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afa2c0f0934225"/>
          <a:stretch xmlns:a="http://schemas.openxmlformats.org/drawingml/2006/main"/>
        </p:blipFill>
        <p:spPr>
          <a:xfrm xmlns:a="http://schemas.openxmlformats.org/drawingml/2006/main">
            <a:off x="8705850" y="1352550"/>
            <a:ext cx="2457450" cy="24574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6DA737-8E13-4A73-B200-787154106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838200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38" b="1" i="0">
                <a:solidFill>
                  <a:srgbClr val="29B5E8"/>
                </a:solidFill>
              </a:defRPr>
            </a:pPr>
            <a:r>
              <a:rPr sz="938" b="1" i="0">
                <a:solidFill>
                  <a:srgbClr val="29B5E8"/>
                </a:solidFill>
              </a:rPr>
              <a:t>LIVE SYNTHETIC DEMO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38BC26-05DD-42DF-8450-7CB970F5A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38625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SCAN TO OPEN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108758-743D-48D8-A596-EE0068A20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62500"/>
            <a:ext cx="3486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B9C7D1"/>
                </a:solidFill>
              </a:defRPr>
            </a:pPr>
            <a:r>
              <a:rPr sz="863" b="0" i="0">
                <a:solidFill>
                  <a:srgbClr val="B9C7D1"/>
                </a:solidFill>
              </a:rPr>
              <a:t>jangwookimbusiness-dev.github.io/</a:t>
            </a:r>
          </a:p>
          <a:p xmlns:a="http://schemas.openxmlformats.org/drawingml/2006/main">
            <a:pPr algn="ctr">
              <a:defRPr sz="863" b="0" i="0">
                <a:solidFill>
                  <a:srgbClr val="B9C7D1"/>
                </a:solidFill>
              </a:defRPr>
            </a:pPr>
            <a:r>
              <a:rPr sz="863" b="0" i="0">
                <a:solidFill>
                  <a:srgbClr val="B9C7D1"/>
                </a:solidFill>
              </a:rPr>
              <a:t>iclo-us-employee-dashboard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6CD8E0-5156-4A4C-908D-6A99BED7A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848350"/>
            <a:ext cx="3486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29B5E8"/>
                </a:solidFill>
              </a:defRPr>
            </a:pPr>
            <a:r>
              <a:rPr sz="975" b="1" i="0">
                <a:solidFill>
                  <a:srgbClr val="29B5E8"/>
                </a:solidFill>
              </a:rPr>
              <a:t>Navigation—not insurance sales or underwriting.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63716D-9249-450D-B2C0-29DA4A7B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065"/>
          </a:solidFill>
          <a:ln xmlns:a="http://schemas.openxmlformats.org/drawingml/2006/main" w="0">
            <a:solidFill>
              <a:srgbClr val="36506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39C19C-4B1B-4E56-AFFC-B83995EBE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7225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B9C7D1"/>
                </a:solidFill>
              </a:defRPr>
            </a:pPr>
            <a:r>
              <a:rPr sz="788" b="0" i="0">
                <a:solidFill>
                  <a:srgbClr val="B9C7D1"/>
                </a:solidFill>
              </a:rPr>
              <a:t>ICLO · SNOWFLAKE WORLD TOUR SEOUL 2026 · B′ CONCEPT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AF5FB8-84CC-45AD-BBBA-67E2AF1E7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722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 i="0">
                <a:solidFill>
                  <a:srgbClr val="B9C7D1"/>
                </a:solidFill>
              </a:defRPr>
            </a:pPr>
            <a:r>
              <a:rPr sz="788" b="0" i="0">
                <a:solidFill>
                  <a:srgbClr val="B9C7D1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195919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2026-08-05T04:24:50.3440000Z</dcterms:created>
  <dcterms:modified xsi:type="dcterms:W3CDTF">2026-08-05T04:24:50.3440000Z</dcterms:modified>
</coreProperties>
</file>